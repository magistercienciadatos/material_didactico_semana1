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4"/>
  </p:notesMasterIdLst>
  <p:sldIdLst>
    <p:sldId id="256" r:id="rId2"/>
    <p:sldId id="257" r:id="rId3"/>
    <p:sldId id="258" r:id="rId4"/>
    <p:sldId id="259" r:id="rId5"/>
    <p:sldId id="260" r:id="rId6"/>
    <p:sldId id="261" r:id="rId7"/>
    <p:sldId id="262" r:id="rId8"/>
    <p:sldId id="263" r:id="rId9"/>
    <p:sldId id="264" r:id="rId10"/>
    <p:sldId id="265" r:id="rId11"/>
    <p:sldId id="266" r:id="rId12"/>
    <p:sldId id="281" r:id="rId13"/>
    <p:sldId id="282" r:id="rId14"/>
    <p:sldId id="283" r:id="rId15"/>
    <p:sldId id="284" r:id="rId16"/>
    <p:sldId id="286" r:id="rId17"/>
    <p:sldId id="287" r:id="rId18"/>
    <p:sldId id="288" r:id="rId19"/>
    <p:sldId id="289" r:id="rId20"/>
    <p:sldId id="291" r:id="rId21"/>
    <p:sldId id="292" r:id="rId22"/>
    <p:sldId id="267" r:id="rId23"/>
    <p:sldId id="268" r:id="rId24"/>
    <p:sldId id="269" r:id="rId25"/>
    <p:sldId id="270" r:id="rId26"/>
    <p:sldId id="387" r:id="rId27"/>
    <p:sldId id="271" r:id="rId28"/>
    <p:sldId id="272" r:id="rId29"/>
    <p:sldId id="273" r:id="rId30"/>
    <p:sldId id="274" r:id="rId31"/>
    <p:sldId id="275" r:id="rId32"/>
    <p:sldId id="276" r:id="rId33"/>
    <p:sldId id="277" r:id="rId34"/>
    <p:sldId id="278" r:id="rId35"/>
    <p:sldId id="279" r:id="rId36"/>
    <p:sldId id="374" r:id="rId37"/>
    <p:sldId id="375" r:id="rId38"/>
    <p:sldId id="376" r:id="rId39"/>
    <p:sldId id="377" r:id="rId40"/>
    <p:sldId id="378" r:id="rId41"/>
    <p:sldId id="379" r:id="rId42"/>
    <p:sldId id="380" r:id="rId43"/>
    <p:sldId id="381" r:id="rId44"/>
    <p:sldId id="382" r:id="rId45"/>
    <p:sldId id="383" r:id="rId46"/>
    <p:sldId id="384" r:id="rId47"/>
    <p:sldId id="385" r:id="rId48"/>
    <p:sldId id="386" r:id="rId49"/>
    <p:sldId id="325" r:id="rId50"/>
    <p:sldId id="326" r:id="rId51"/>
    <p:sldId id="327" r:id="rId52"/>
    <p:sldId id="328" r:id="rId53"/>
    <p:sldId id="329" r:id="rId54"/>
    <p:sldId id="330" r:id="rId55"/>
    <p:sldId id="331" r:id="rId56"/>
    <p:sldId id="332" r:id="rId57"/>
    <p:sldId id="333" r:id="rId58"/>
    <p:sldId id="334" r:id="rId59"/>
    <p:sldId id="335" r:id="rId60"/>
    <p:sldId id="336" r:id="rId61"/>
    <p:sldId id="337" r:id="rId62"/>
    <p:sldId id="338" r:id="rId63"/>
    <p:sldId id="339" r:id="rId64"/>
    <p:sldId id="340" r:id="rId65"/>
    <p:sldId id="341" r:id="rId66"/>
    <p:sldId id="308" r:id="rId67"/>
    <p:sldId id="310" r:id="rId68"/>
    <p:sldId id="311" r:id="rId69"/>
    <p:sldId id="315" r:id="rId70"/>
    <p:sldId id="316" r:id="rId71"/>
    <p:sldId id="317" r:id="rId72"/>
    <p:sldId id="318" r:id="rId73"/>
    <p:sldId id="319" r:id="rId74"/>
    <p:sldId id="320" r:id="rId75"/>
    <p:sldId id="321" r:id="rId76"/>
    <p:sldId id="322" r:id="rId77"/>
    <p:sldId id="323" r:id="rId78"/>
    <p:sldId id="343" r:id="rId79"/>
    <p:sldId id="344" r:id="rId80"/>
    <p:sldId id="345" r:id="rId81"/>
    <p:sldId id="346" r:id="rId82"/>
    <p:sldId id="349" r:id="rId83"/>
    <p:sldId id="350" r:id="rId84"/>
    <p:sldId id="351" r:id="rId85"/>
    <p:sldId id="352" r:id="rId86"/>
    <p:sldId id="353" r:id="rId87"/>
    <p:sldId id="354" r:id="rId88"/>
    <p:sldId id="355" r:id="rId89"/>
    <p:sldId id="356" r:id="rId90"/>
    <p:sldId id="357" r:id="rId91"/>
    <p:sldId id="358" r:id="rId92"/>
    <p:sldId id="359" r:id="rId9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075"/>
    <p:restoredTop sz="94610"/>
  </p:normalViewPr>
  <p:slideViewPr>
    <p:cSldViewPr snapToGrid="0" snapToObjects="1">
      <p:cViewPr varScale="1">
        <p:scale>
          <a:sx n="121" d="100"/>
          <a:sy n="121" d="100"/>
        </p:scale>
        <p:origin x="200"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2058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presentandose y agradeciendo. Si es posible, grabar esta bienvenida en video corto para el modulo Bienvenida del aula.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Insistir en la idea central: la diferencia entre programar y trabajar con datos de forma profesional es la trazabilidad y la reproducibilidad.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los RA rapido. Lo importante es que entiendan que no son cuatro cursos paralelos, sino cuatro capas del mismo proyecto.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mejor argumento motivacional del curso: el producto final es mostrable. Muchos estudiantes de magister no tienen repositorio propio y este es el primero.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ponderacion de la semana 3 suma el 30% del proyecto final mas el 10% de la coevaluacion.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Confirmar las fechas de cada entrega en el calendario de Canvas antes de la sesion.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Sugerir que verifiquen la primera semana que los cuatro pueden hacer push sin error de permisos. Descubrirlo la noche de la entrega es tarde.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Ajustar la cifra de dedicacion segun el programa: el curso considera 36 horas personales para las tres semanas.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Recordar que la guia tiene una version por sistema operativo y que la parte II cubre la instalacion completa desde cero.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Remitir a la pagina de uso etico de la IA publicada en el aula. Es el unico recurso teorico del modulo que esta completo.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la parte informativa aqui y abrir a preguntas. Dejar tiempo: la primera sesion suele generar muchas dudas operativas.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Encuadrar: los recursos del aula estan ordenados en una secuencia pedagogica intencionada. Esta sesion recorre esa secuencia y explica que aporta cada pieza.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Insistir en la diferencia de carga: 30 minutos de lectura en una fase y 90 en la otra. Quien reparta el tiempo por igual llega corto a la Fase 2.</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Aclarar que el octavo recurso viene despues de la formativa en el orden del aula, porque apunta a la sumativa. Si el grupo va con tiempo, conviene adelantarlo.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Vincular cada recurso con un elemento del mapa: el interactivo de Git alimenta la estructura del repositorio, el de Jupyter la vinculacion codigo-documentacion.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Notar que la Fase 2 anticipa RA4, que se completa en la Fase 4 con las visualizaciones. Aqui solo se cubre la parte de preprocesamiento.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cuatro apuntes marcados son descargables en PDF y Word. Recomendar leerlos junto al cuaderno de practica, no de corrido.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Hacer explicita la correspondencia apunte-criterio: es el mejor argumento para que los lean y no solo los descarguen.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tres actividades corresponden al ciclo del ABP: input, aplicacion y metacognicion. La sumativa integra las tres.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Confirmar dia y hora de la sesion con el grupo. Recordar que el enlace se envia por anuncio y correo, no esta fijo en el modulo.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como sugerencia. Lo unico no negociable es empezar el primer dia: la semana concentra dos fases y dos entregas.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Aclarar el proposito de esta sesion: no es la instruccion de la actividad ni el tutorial de herramientas, sino los conceptos que dan sentido a ambos. El mapa conceptual se evalua por precision conceptual, y esa precision se construye aqui.</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Usar esta lamina como indice. Advertir que el sexto concepto es el instrumento con que se representan los cinco primeros: por eso el mapa no es un dibujo decorativo.</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Contrastar con la intuicion habitual del estudiante: querer empezar a programar de inmediato. Explicar que definir es tambien una decision tecnica, y que en la industria se le dedica una proporcion alta del tiempo del proyecto.</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Pedir a un grupo que enuncie su situacion y trabajarla en vivo hasta convertirla en pregunta analizable. Es el ejercicio mas util de la sesion.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EE618-41F8-B308-CCA2-F3820A0644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8CC7B-BD38-6DE8-1BA3-E5C57B45CD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C51618-6E3F-28AD-D47A-4D97945B623C}"/>
              </a:ext>
            </a:extLst>
          </p:cNvPr>
          <p:cNvSpPr>
            <a:spLocks noGrp="1"/>
          </p:cNvSpPr>
          <p:nvPr>
            <p:ph type="body" idx="1"/>
          </p:nvPr>
        </p:nvSpPr>
        <p:spPr/>
        <p:txBody>
          <a:bodyPr/>
          <a:lstStyle/>
          <a:p>
            <a:r>
              <a:rPr lang="en-US" dirty="0"/>
              <a:t>Pedir a un grupo que enuncie su situacion y trabajarla en vivo hasta convertirla en pregunta analizable. Es el ejercicio mas util de la sesion.</a:t>
            </a:r>
          </a:p>
        </p:txBody>
      </p:sp>
      <p:sp>
        <p:nvSpPr>
          <p:cNvPr id="4" name="Slide Number Placeholder 3">
            <a:extLst>
              <a:ext uri="{FF2B5EF4-FFF2-40B4-BE49-F238E27FC236}">
                <a16:creationId xmlns:a16="http://schemas.microsoft.com/office/drawing/2014/main" id="{443F57C2-BC94-F54D-18CB-A625F69E86B6}"/>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31252557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Subrayar la no linealidad: los estudiantes tienden a representar el ciclo como una flecha recta. Un mapa que muestra retornos evidencia mejor comprension del proceso real.</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distincion reproducibilidad/replicabilidad se pregunta con frecuencia. Dejarla clara: lo que este curso exige es lo primero. Si falta cualquiera de las tres condiciones, el trabajo no es reproducible aunque el analisis sea correcto.</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Distinguir bien los dos conceptos: reproducibilidad es sobre el resultado, trazabilidad sobre el proceso. Un trabajo puede ser reproducible y no trazable: corre perfecto, pero nadie sabe como se llego a esa version.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Vincular con la Unidad tematica 1, que define el notebook como herramienta de documentacion y comunicacion cientifica. El nivel justificativo es lo que despues permite escribir el informe sin reconstruir de memoria.</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contenidos se practican en la parte practica de la semana. Aqui interesa el principio: por que se organiza asi el codigo, no como se escribe la sintaxis.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criterio tecnico del mapa y el que mas diferencia una entrega buena de una excelente. Proponer que lean su propio mapa en voz alta, flecha por flecha, antes de entregarlo.</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Insistir en el orden: conceptos, jerarquia, relaciones, etiquetas. La herramienta grafica se abre al final, no al principio.</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el vinculo entre teoria y rubrica. Si un grupo no logra ubicar un concepto en la columna del medio, probablemente aun no lo comprendio.</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cinco minutos de trabajo en grupo con estas preguntas antes de cerrar. Las respuestas revelan que conceptos quedaron debiles y permiten reforzarlos en el momento.</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preguntando quienes han usado Git antes. El grupo suele ser muy heterogeneo. Anticipar que esta sesion no es un tutorial de comandos, sino el mapa de como se articulan las cuatro piezas.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Pedir que levanten la mano quienes reconocen la carpeta de la izquierda. Sirve para instalar la idea de que el problema es real y no una exigencia burocratica del curso.</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lamina es el indice de la sesion: cada pieza tiene despues su propia diapositiva. Detenerse en la distincion Git/GitHub, que es la que mas se confunde en los mapas conceptuales.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Analogia util: el entorno virtual es como una caja de herramientas por proyecto. Nadie usa la misma llave desgastada para todo. Mencionar que el comando exacto cambia entre Windows y macOS, y remitir a la guia de Git del curso.</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Mencionar el caso Anaconda: pip freeze puede escribir rutas locales que fallan en otro equipo. La alternativa es pip list --format=freeze. Esta en la guia del curso.</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en vivo, si se puede, un notebook con celdas ejecutadas fuera de orden y el efecto de reiniciar el kernel. Es mucho mas convincente que explicarlo.</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Aclarar la aparente contradiccion: la rubrica pide notebook ejecutado, pero el repositorio conviene mantenerlo limpio. La solucion es exportar a PDF o HTML el notebook ejecutado y adjuntarlo al informe.</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staging suele parecer un paso innecesario. Explicar su razon de ser: permite separar en dos commits distintos dos cambios que se hicieron a la vez pero no tienen relacion entre si.</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Advertir contra el patron habitual: una persona recibe los archivos por mensajeria y los sube. Eso produce un repositorio con un solo autor y contradice el trabajo colaborativo que se evalua.</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lamina central de la sesion. Recorrerla dos veces: primero de izquierda a derecha (yo trabajo y subo), luego de derecha a izquierda (traigo lo que hicieron los demas).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Insistir en el paso 1 y el paso 6: el pull antes de empezar y el pull antes del push. Omitirlos es la causa de la mayoria de los conflictos en trabajo grupal.</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hay tiempo, hacer el ejercicio en vivo con dos voluntarios editando la misma linea. Ver el conflicto resolverse quita el miedo.</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la tabla rapido y decir que esta reproducida en la guia de Git del curso, con el mensaje de error textual de cada caso.</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Encuadrar: elegir el dataset no es un paso administrativo previo al proyecto. Es la decision que determina que tan interesante y que tan exigente sera el trabajo de las cuatro fases.</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Contar el caso tipico: un grupo elige rapido un dataset limpio de Kaggle, y en la Fase 2 descubre que no hay nada que preprocesar ni pregunta interesante que hacer. Cambiar entonces cuesta rehacer el mapa y el repositorio.</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Advertir tambien que pandas 3.0 cambio el tipo de las columnas de texto: ya no son object, sino un tipo str propio. Los tutoriales antiguos dicen otra cosa.</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Detenerse en ordinal frente a nominal: bajo-medio-alto tiene orden, region no. Codificar mal esa diferencia produce un modelo entrenado sobre una escala inventada.</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los numeros rapido; lo importante es que sepan que existe un umbral objetivo y que hay un script que lo verifica.</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punto que mas sorprende y el que mas conviene repetir. Un dataset ya limpio no es una ventaja: es la perdida del criterio con mas peso de la entrega.</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el porque del primer punto: no es un capricho. Con esos datasets el trabajo se puede copiar y ademas no queda preprocesamiento real que hacer.</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Aclarar que estas seis lineas orientan la busqueda pero no la limitan. Lo que si es obligatorio es que exista un dataset abierto que sostenga la pregunta.</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Recomendar empezar por aqui antes que por Kaggle: los datos chilenos son mas contingentes, vienen mas sucios y por eso dan mas trabajo evaluable.</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una ficha completa para mostrar como se lee: fuente, unidad de observacion, roles disponibles y advertencia practica. Las demas se leen igual.</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Insistir en la ultima linea: la friccion de la descarga y la lectura es parte del trabajo evaluado, no un obstaculo previo a el.</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cuatro fricciones aparecen practicamente siempre con datos publicos chilenos. Anticiparlas evita que un grupo abandone una buena fuente por un problema de lectura.</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diccionario de variables es un buen filtro rapido: un dataset sin documentacion de sus columnas dara problemas toda la Fase 2.</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 explicito con la contrapartida: estos conjuntos tienen muchos analisis publicados. Se aceptan, pero el grupo debe aportar una pregunta propia y no replicar un notebook existente. Los clasicos tipo Titanic o Iris siguen excluidos.</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el script corriendo en vivo si es posible. Aclarar que devuelve codigo de salida 0 o 1, asi que tambien sirve como verificacion automatica.</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la columna izquierda: cada variable tiene un rol distinto, y por eso este dataset da trabajo evaluable en las cuatro fases. Notar que solo dos variables tienen nulos: suficiente para justificar una imputacion.</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Enlazar con la presentacion de conceptos teoricos, donde se desarrolla la progresion situacion - problema - pregunta analizable.</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situando la actividad: es el primer avance del proyecto transversal y no pondera, pero su resultado se integra despues en la evaluacion sumativa de la Fase 1. Insistir en que la retroalimentacion es el verdadero producto de esta entrega.</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malentendido mas frecuente: los grupos intentan mostrar codigo o capturas de GitHub. Aclarar que se evalua la representacion conceptual, no la implementacion.</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Vincular cada indicador con lo que se vera en el mapa: 1.1 con las herramientas identificadas, 1.2 con la estructura del repositorio y los commits proyectados, 1.3 con la articulacion codigo-narrativa-referencias.</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Recordar que la actividad es asincronica y de un solo intento. Sugerir que se repartan los seis elementos del mapa entre los integrantes y luego los integren en una sesion comun.</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Leerlos como una lista de verificacion. Advertir que la leyenda no es decorativa: es lo que permite interpretar el mapa sin explicacion oral, y es criterio evaluado.</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Aclarar que la estructura es un ejemplo y no un requisito de la rubrica: lo exigido es que representen carpetas principales, archivos clave, commits proyectados y criterios de versionamiento.</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Revisar en voz alta el nombre del archivo: es el error formal mas frecuente. Mostrar en Canvas donde esta el boton Examinar mi equipo.</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la rubrica en Canvas. Explicar que los cinco criterios comparten el mismo estandar de logro: representacion completa, coherente y tecnicamente precisa, con jerarquia clara y reflexion grupal evidente.</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diapositiva mas util para calibrar expectativas. Sugerir que, antes de entregar, revisen su propio texto buscando frases del tipo 'usaremos X' sin funcion ni etapa asociada.</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Pedir que levanten la mano quienes ya usan Git. Suele haber mucha heterogeneidad; aprovechar para sugerir que los grupos se armen mezclando niveles de experiencia.</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esta lamina recordando que la Formativa 1 es la unica instancia del modulo donde equivocarse no tiene costo en la nota.</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mostrando la continuidad: nada de lo que hagan esta semana se descarta. Es la razon por la que conviene invertir tiempo en un mapa bien pensado.</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Encuadrar: esta sesion no explica conceptos, explica que hay que hacer y en que orden. Los conceptos estan en la presentacion de la Fase 1 y en la del ecosistema cientifico.</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Aclarar la duda mas frecuente: si va un notebook o dos. Ambas formas se aceptan; lo que no se acepta es que las fases se mezclen y no se pueda distinguir cual es cual.</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reparto suele sorprender. Los grupos tienden a concentrarse en el codigo y a redactar el informe la ultima noche. Insistir en que el informe vale mas que cualquier criterio individual del notebook.</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la ruta completa antes de entrar al detalle. Sugerir que se repartan los bloques entre integrantes, pero que todos entiendan la secuencia completa.</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notebook de referencia del curso hace exactamente eso: compone el README con f-strings desde el diccionario de configuracion.</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mensaje central de toda la sesion. Repetirlo: primero medir, despues decidir, y justificar con la medicion.</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Advertir el caso en que las cuatro estrategias dan casi lo mismo: entonces la eleccion importa poco y hay que declararlo asi. Lo que no se acepta es argumentar asimetria cuando la tabla muestra asimetria nula.</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Preguntar al curso que variables de su dataset son ordinales. Suele haber mas de las que creen, y casi siempre las tratan como nominales.</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los boxplots comparativos del notebook de referencia: con MinMax se ve de inmediato como un valor extremo comprime al resto.</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assert son baratos y detectan el problema donde se origina, no veinte celdas despues. Insistir en el caso limite: es el que casi nadie escribe.</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Esa linea de bitacora es literalmente la frase que hay que justificar en el informe, con la cifra ya calculada. Es el mejor argumento para que adopten el habito.</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Recordar el maximo de paginas y el formato institucional. Sugerir escribir la metodologia directamente desde la bitacora exportada.</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Pedir que verifiquen esta misma semana que los cuatro pueden hacer push sin error de permisos. Descubrirlo la noche de la entrega es tarde.</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seis se detectan en cinco minutos revisando el propio trabajo. Sugerir que se los repartan como lista de verificacion cruzada entre integrantes.</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recordando que el notebook de referencia del curso implementa esta ruta completa y puede usarse como plantilla, adaptando la configuracion al dataset de cada grupo.</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2.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52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55000"/>
          </a:blip>
          <a:stretch>
            <a:fillRect/>
          </a:stretch>
        </p:blipFill>
        <p:spPr>
          <a:xfrm>
            <a:off x="6675120" y="0"/>
            <a:ext cx="5513832" cy="3227832"/>
          </a:xfrm>
          <a:prstGeom prst="rect">
            <a:avLst/>
          </a:prstGeom>
        </p:spPr>
      </p:pic>
      <p:sp>
        <p:nvSpPr>
          <p:cNvPr id="3" name="Shape 0"/>
          <p:cNvSpPr/>
          <p:nvPr/>
        </p:nvSpPr>
        <p:spPr>
          <a:xfrm>
            <a:off x="6675120" y="0"/>
            <a:ext cx="5513832" cy="3227832"/>
          </a:xfrm>
          <a:prstGeom prst="rect">
            <a:avLst/>
          </a:prstGeom>
          <a:solidFill>
            <a:srgbClr val="0A1526">
              <a:alpha val="45000"/>
            </a:srgbClr>
          </a:solidFill>
          <a:ln w="12700">
            <a:solidFill>
              <a:srgbClr val="0A1526">
                <a:alpha val="0"/>
              </a:srgbClr>
            </a:solidFill>
            <a:prstDash val="solid"/>
          </a:ln>
        </p:spPr>
        <p:txBody>
          <a:bodyPr/>
          <a:lstStyle/>
          <a:p>
            <a:endParaRPr lang="es-CL"/>
          </a:p>
        </p:txBody>
      </p:sp>
      <p:pic>
        <p:nvPicPr>
          <p:cNvPr id="4" name="Image 1" descr="preencoded.png"/>
          <p:cNvPicPr>
            <a:picLocks noChangeAspect="1"/>
          </p:cNvPicPr>
          <p:nvPr/>
        </p:nvPicPr>
        <p:blipFill>
          <a:blip r:embed="rId4"/>
          <a:stretch>
            <a:fillRect/>
          </a:stretch>
        </p:blipFill>
        <p:spPr>
          <a:xfrm>
            <a:off x="548640" y="457200"/>
            <a:ext cx="4754880" cy="886968"/>
          </a:xfrm>
          <a:prstGeom prst="rect">
            <a:avLst/>
          </a:prstGeom>
        </p:spPr>
      </p:pic>
      <p:sp>
        <p:nvSpPr>
          <p:cNvPr id="5" name="Text 1"/>
          <p:cNvSpPr/>
          <p:nvPr/>
        </p:nvSpPr>
        <p:spPr>
          <a:xfrm>
            <a:off x="548640" y="1828800"/>
            <a:ext cx="7680960" cy="640080"/>
          </a:xfrm>
          <a:prstGeom prst="rect">
            <a:avLst/>
          </a:prstGeom>
          <a:noFill/>
          <a:ln/>
        </p:spPr>
        <p:txBody>
          <a:bodyPr wrap="square" lIns="0" tIns="0" rIns="0" bIns="0" rtlCol="0" anchor="ctr"/>
          <a:lstStyle/>
          <a:p>
            <a:pPr marL="0" indent="0">
              <a:buNone/>
            </a:pPr>
            <a:r>
              <a:rPr lang="en-US" sz="4200" b="1" kern="0" spc="200" dirty="0">
                <a:solidFill>
                  <a:srgbClr val="FFFFFF"/>
                </a:solidFill>
                <a:latin typeface="Cambria" pitchFamily="34" charset="0"/>
                <a:ea typeface="Cambria" pitchFamily="34" charset="-122"/>
                <a:cs typeface="Cambria" pitchFamily="34" charset="-120"/>
              </a:rPr>
              <a:t>BIENVENIDOS</a:t>
            </a:r>
            <a:endParaRPr lang="en-US" sz="4200" dirty="0"/>
          </a:p>
        </p:txBody>
      </p:sp>
      <p:sp>
        <p:nvSpPr>
          <p:cNvPr id="6" name="Text 2"/>
          <p:cNvSpPr/>
          <p:nvPr/>
        </p:nvSpPr>
        <p:spPr>
          <a:xfrm>
            <a:off x="548640" y="2578608"/>
            <a:ext cx="7680960" cy="502920"/>
          </a:xfrm>
          <a:prstGeom prst="rect">
            <a:avLst/>
          </a:prstGeom>
          <a:noFill/>
          <a:ln/>
        </p:spPr>
        <p:txBody>
          <a:bodyPr wrap="square" lIns="0" tIns="0" rIns="0" bIns="0" rtlCol="0" anchor="ctr"/>
          <a:lstStyle/>
          <a:p>
            <a:pPr marL="0" indent="0">
              <a:buNone/>
            </a:pPr>
            <a:r>
              <a:rPr lang="en-US" sz="2500" dirty="0">
                <a:solidFill>
                  <a:srgbClr val="D7E3EE"/>
                </a:solidFill>
                <a:latin typeface="Cambria" pitchFamily="34" charset="0"/>
                <a:ea typeface="Cambria" pitchFamily="34" charset="-122"/>
                <a:cs typeface="Cambria" pitchFamily="34" charset="-120"/>
              </a:rPr>
              <a:t>Programación para la Ciencia de Datos</a:t>
            </a:r>
            <a:endParaRPr lang="en-US" sz="2500" dirty="0"/>
          </a:p>
        </p:txBody>
      </p:sp>
      <p:sp>
        <p:nvSpPr>
          <p:cNvPr id="7" name="Shape 3"/>
          <p:cNvSpPr/>
          <p:nvPr/>
        </p:nvSpPr>
        <p:spPr>
          <a:xfrm>
            <a:off x="548640" y="3310128"/>
            <a:ext cx="1280160" cy="45720"/>
          </a:xfrm>
          <a:prstGeom prst="rect">
            <a:avLst/>
          </a:prstGeom>
          <a:solidFill>
            <a:srgbClr val="AC212E"/>
          </a:solidFill>
          <a:ln w="12700">
            <a:solidFill>
              <a:srgbClr val="AC212E"/>
            </a:solidFill>
            <a:prstDash val="solid"/>
          </a:ln>
        </p:spPr>
        <p:txBody>
          <a:bodyPr/>
          <a:lstStyle/>
          <a:p>
            <a:endParaRPr lang="es-CL"/>
          </a:p>
        </p:txBody>
      </p:sp>
      <p:sp>
        <p:nvSpPr>
          <p:cNvPr id="8" name="Text 4"/>
          <p:cNvSpPr/>
          <p:nvPr/>
        </p:nvSpPr>
        <p:spPr>
          <a:xfrm>
            <a:off x="548640" y="3584448"/>
            <a:ext cx="7863840" cy="457200"/>
          </a:xfrm>
          <a:prstGeom prst="rect">
            <a:avLst/>
          </a:prstGeom>
          <a:noFill/>
          <a:ln/>
        </p:spPr>
        <p:txBody>
          <a:bodyPr wrap="square" lIns="0" tIns="0" rIns="0" bIns="0" rtlCol="0" anchor="ctr"/>
          <a:lstStyle/>
          <a:p>
            <a:pPr marL="0" indent="0">
              <a:buNone/>
            </a:pPr>
            <a:r>
              <a:rPr lang="en-US" sz="1700" dirty="0">
                <a:solidFill>
                  <a:srgbClr val="D7E3EE"/>
                </a:solidFill>
                <a:latin typeface="Calibri" pitchFamily="34" charset="0"/>
                <a:ea typeface="Calibri" pitchFamily="34" charset="-122"/>
                <a:cs typeface="Calibri" pitchFamily="34" charset="-120"/>
              </a:rPr>
              <a:t>Magíster en Ciencia de Datos e Inteligencia Artificial</a:t>
            </a:r>
            <a:endParaRPr lang="en-US" sz="1700" dirty="0"/>
          </a:p>
        </p:txBody>
      </p:sp>
      <p:sp>
        <p:nvSpPr>
          <p:cNvPr id="9" name="Text 5"/>
          <p:cNvSpPr/>
          <p:nvPr/>
        </p:nvSpPr>
        <p:spPr>
          <a:xfrm>
            <a:off x="548640" y="5943600"/>
            <a:ext cx="11064240" cy="365760"/>
          </a:xfrm>
          <a:prstGeom prst="rect">
            <a:avLst/>
          </a:prstGeom>
          <a:noFill/>
          <a:ln/>
        </p:spPr>
        <p:txBody>
          <a:bodyPr wrap="square" lIns="0" tIns="0" rIns="0" bIns="0" rtlCol="0" anchor="ctr"/>
          <a:lstStyle/>
          <a:p>
            <a:pPr marL="0" indent="0">
              <a:buNone/>
            </a:pPr>
            <a:r>
              <a:rPr lang="en-US" sz="1200" dirty="0">
                <a:solidFill>
                  <a:srgbClr val="5A6B7B"/>
                </a:solidFill>
                <a:latin typeface="Calibri" pitchFamily="34" charset="0"/>
                <a:ea typeface="Calibri" pitchFamily="34" charset="-122"/>
                <a:cs typeface="Calibri" pitchFamily="34" charset="-120"/>
              </a:rPr>
              <a:t>MCDI500   |   Modalidad online   |   3 semanas   |   3 SCT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De qué se </a:t>
            </a:r>
            <a:r>
              <a:rPr lang="en-US" sz="3000" b="1" dirty="0" err="1">
                <a:solidFill>
                  <a:srgbClr val="06304A"/>
                </a:solidFill>
                <a:latin typeface="Cambria" pitchFamily="34" charset="0"/>
                <a:ea typeface="Cambria" pitchFamily="34" charset="-122"/>
                <a:cs typeface="Cambria" pitchFamily="34" charset="-120"/>
              </a:rPr>
              <a:t>trata</a:t>
            </a:r>
            <a:r>
              <a:rPr lang="en-US" sz="3000" b="1" dirty="0">
                <a:solidFill>
                  <a:srgbClr val="06304A"/>
                </a:solidFill>
                <a:latin typeface="Cambria" pitchFamily="34" charset="0"/>
                <a:ea typeface="Cambria" pitchFamily="34" charset="-122"/>
                <a:cs typeface="Cambria" pitchFamily="34" charset="-120"/>
              </a:rPr>
              <a:t> </a:t>
            </a:r>
            <a:r>
              <a:rPr lang="en-US" sz="3000" b="1" dirty="0" err="1">
                <a:solidFill>
                  <a:srgbClr val="06304A"/>
                </a:solidFill>
                <a:latin typeface="Cambria" pitchFamily="34" charset="0"/>
                <a:ea typeface="Cambria" pitchFamily="34" charset="-122"/>
                <a:cs typeface="Cambria" pitchFamily="34" charset="-120"/>
              </a:rPr>
              <a:t>este</a:t>
            </a:r>
            <a:r>
              <a:rPr lang="en-US" sz="3000" b="1" dirty="0">
                <a:solidFill>
                  <a:srgbClr val="06304A"/>
                </a:solidFill>
                <a:latin typeface="Cambria" pitchFamily="34" charset="0"/>
                <a:ea typeface="Cambria" pitchFamily="34" charset="-122"/>
                <a:cs typeface="Cambria" pitchFamily="34" charset="-120"/>
              </a:rPr>
              <a:t> </a:t>
            </a:r>
            <a:r>
              <a:rPr lang="en-US" sz="3000" b="1" dirty="0" err="1">
                <a:solidFill>
                  <a:srgbClr val="06304A"/>
                </a:solidFill>
                <a:latin typeface="Cambria" pitchFamily="34" charset="0"/>
                <a:ea typeface="Cambria" pitchFamily="34" charset="-122"/>
                <a:cs typeface="Cambria" pitchFamily="34" charset="-120"/>
              </a:rPr>
              <a:t>módulo</a:t>
            </a:r>
            <a:endParaRPr lang="en-US" sz="3000" dirty="0"/>
          </a:p>
        </p:txBody>
      </p:sp>
      <p:sp>
        <p:nvSpPr>
          <p:cNvPr id="4" name="Shape 2"/>
          <p:cNvSpPr/>
          <p:nvPr/>
        </p:nvSpPr>
        <p:spPr>
          <a:xfrm>
            <a:off x="548640" y="1783080"/>
            <a:ext cx="11064240" cy="1371600"/>
          </a:xfrm>
          <a:prstGeom prst="roundRect">
            <a:avLst>
              <a:gd name="adj" fmla="val 6000"/>
            </a:avLst>
          </a:prstGeom>
          <a:solidFill>
            <a:srgbClr val="F6E7E9"/>
          </a:solidFill>
          <a:ln w="12700">
            <a:solidFill>
              <a:srgbClr val="F6E7E9"/>
            </a:solidFill>
            <a:prstDash val="solid"/>
          </a:ln>
        </p:spPr>
        <p:txBody>
          <a:bodyPr/>
          <a:lstStyle/>
          <a:p>
            <a:endParaRPr lang="es-CL"/>
          </a:p>
        </p:txBody>
      </p:sp>
      <p:sp>
        <p:nvSpPr>
          <p:cNvPr id="5" name="Text 3"/>
          <p:cNvSpPr/>
          <p:nvPr/>
        </p:nvSpPr>
        <p:spPr>
          <a:xfrm>
            <a:off x="868680" y="1783080"/>
            <a:ext cx="10424160" cy="1371600"/>
          </a:xfrm>
          <a:prstGeom prst="rect">
            <a:avLst/>
          </a:prstGeom>
          <a:noFill/>
          <a:ln/>
        </p:spPr>
        <p:txBody>
          <a:bodyPr wrap="square" lIns="0" tIns="0" rIns="0" bIns="0" rtlCol="0" anchor="ctr"/>
          <a:lstStyle/>
          <a:p>
            <a:pPr marL="0" indent="0">
              <a:lnSpc>
                <a:spcPts val="2200"/>
              </a:lnSpc>
              <a:buNone/>
            </a:pPr>
            <a:r>
              <a:rPr lang="en-US" sz="1500" dirty="0">
                <a:solidFill>
                  <a:srgbClr val="AC212E"/>
                </a:solidFill>
                <a:latin typeface="Calibri" pitchFamily="34" charset="0"/>
                <a:ea typeface="Calibri" pitchFamily="34" charset="-122"/>
                <a:cs typeface="Calibri" pitchFamily="34" charset="-120"/>
              </a:rPr>
              <a:t>Saber programar y saber trabajar con datos no son lo mismo. Un análisis vale por su resultado, pero también por poder demostrar cómo se llegó a él, quién hizo qué, y que otra persona pueda reproducirlo. Eso es lo que van a aprender aquí.</a:t>
            </a:r>
            <a:endParaRPr lang="en-US" sz="1500" dirty="0"/>
          </a:p>
        </p:txBody>
      </p:sp>
      <p:sp>
        <p:nvSpPr>
          <p:cNvPr id="6" name="Shape 4"/>
          <p:cNvSpPr/>
          <p:nvPr/>
        </p:nvSpPr>
        <p:spPr>
          <a:xfrm>
            <a:off x="548640" y="3429000"/>
            <a:ext cx="3520440" cy="2011680"/>
          </a:xfrm>
          <a:prstGeom prst="roundRect">
            <a:avLst>
              <a:gd name="adj" fmla="val 4091"/>
            </a:avLst>
          </a:prstGeom>
          <a:solidFill>
            <a:srgbClr val="F4F7FA"/>
          </a:solidFill>
          <a:ln w="12700">
            <a:solidFill>
              <a:srgbClr val="F4F7FA"/>
            </a:solidFill>
            <a:prstDash val="solid"/>
          </a:ln>
        </p:spPr>
        <p:txBody>
          <a:bodyPr/>
          <a:lstStyle/>
          <a:p>
            <a:endParaRPr lang="es-CL"/>
          </a:p>
        </p:txBody>
      </p:sp>
      <p:sp>
        <p:nvSpPr>
          <p:cNvPr id="7" name="Shape 5"/>
          <p:cNvSpPr/>
          <p:nvPr/>
        </p:nvSpPr>
        <p:spPr>
          <a:xfrm>
            <a:off x="804672" y="3639312"/>
            <a:ext cx="457200" cy="457200"/>
          </a:xfrm>
          <a:prstGeom prst="ellipse">
            <a:avLst/>
          </a:prstGeom>
          <a:solidFill>
            <a:srgbClr val="AC212E"/>
          </a:solidFill>
          <a:ln/>
        </p:spPr>
        <p:txBody>
          <a:bodyPr/>
          <a:lstStyle/>
          <a:p>
            <a:endParaRPr lang="es-CL"/>
          </a:p>
        </p:txBody>
      </p:sp>
      <p:sp>
        <p:nvSpPr>
          <p:cNvPr id="8" name="Text 6"/>
          <p:cNvSpPr/>
          <p:nvPr/>
        </p:nvSpPr>
        <p:spPr>
          <a:xfrm>
            <a:off x="804672" y="363931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804672" y="4224528"/>
            <a:ext cx="3017520" cy="640080"/>
          </a:xfrm>
          <a:prstGeom prst="rect">
            <a:avLst/>
          </a:prstGeom>
          <a:noFill/>
          <a:ln/>
        </p:spPr>
        <p:txBody>
          <a:bodyPr wrap="square" lIns="0" tIns="0" rIns="0" bIns="0" rtlCol="0" anchor="ctr"/>
          <a:lstStyle/>
          <a:p>
            <a:pPr marL="0" indent="0">
              <a:lnSpc>
                <a:spcPts val="1900"/>
              </a:lnSpc>
              <a:buNone/>
            </a:pPr>
            <a:r>
              <a:rPr lang="en-US" sz="1450" b="1" dirty="0">
                <a:solidFill>
                  <a:srgbClr val="06304A"/>
                </a:solidFill>
                <a:latin typeface="Calibri" pitchFamily="34" charset="0"/>
                <a:ea typeface="Calibri" pitchFamily="34" charset="-122"/>
                <a:cs typeface="Calibri" pitchFamily="34" charset="-120"/>
              </a:rPr>
              <a:t>Escribir código que otros puedan leer</a:t>
            </a:r>
            <a:endParaRPr lang="en-US" sz="1450" dirty="0"/>
          </a:p>
        </p:txBody>
      </p:sp>
      <p:sp>
        <p:nvSpPr>
          <p:cNvPr id="10" name="Text 8"/>
          <p:cNvSpPr/>
          <p:nvPr/>
        </p:nvSpPr>
        <p:spPr>
          <a:xfrm>
            <a:off x="804672" y="4846320"/>
            <a:ext cx="3017520" cy="54864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Funciones, módulos, manejo de errores y documentación técnica.</a:t>
            </a:r>
            <a:endParaRPr lang="en-US" sz="1250" dirty="0"/>
          </a:p>
        </p:txBody>
      </p:sp>
      <p:sp>
        <p:nvSpPr>
          <p:cNvPr id="11" name="Shape 9"/>
          <p:cNvSpPr/>
          <p:nvPr/>
        </p:nvSpPr>
        <p:spPr>
          <a:xfrm>
            <a:off x="4325112" y="3429000"/>
            <a:ext cx="3520440" cy="2011680"/>
          </a:xfrm>
          <a:prstGeom prst="roundRect">
            <a:avLst>
              <a:gd name="adj" fmla="val 4091"/>
            </a:avLst>
          </a:prstGeom>
          <a:solidFill>
            <a:srgbClr val="F4F7FA"/>
          </a:solidFill>
          <a:ln w="12700">
            <a:solidFill>
              <a:srgbClr val="F4F7FA"/>
            </a:solidFill>
            <a:prstDash val="solid"/>
          </a:ln>
        </p:spPr>
        <p:txBody>
          <a:bodyPr/>
          <a:lstStyle/>
          <a:p>
            <a:endParaRPr lang="es-CL"/>
          </a:p>
        </p:txBody>
      </p:sp>
      <p:sp>
        <p:nvSpPr>
          <p:cNvPr id="12" name="Shape 10"/>
          <p:cNvSpPr/>
          <p:nvPr/>
        </p:nvSpPr>
        <p:spPr>
          <a:xfrm>
            <a:off x="4581144" y="3639312"/>
            <a:ext cx="457200" cy="457200"/>
          </a:xfrm>
          <a:prstGeom prst="ellipse">
            <a:avLst/>
          </a:prstGeom>
          <a:solidFill>
            <a:srgbClr val="AC212E"/>
          </a:solidFill>
          <a:ln/>
        </p:spPr>
        <p:txBody>
          <a:bodyPr/>
          <a:lstStyle/>
          <a:p>
            <a:endParaRPr lang="es-CL"/>
          </a:p>
        </p:txBody>
      </p:sp>
      <p:sp>
        <p:nvSpPr>
          <p:cNvPr id="13" name="Text 11"/>
          <p:cNvSpPr/>
          <p:nvPr/>
        </p:nvSpPr>
        <p:spPr>
          <a:xfrm>
            <a:off x="4581144" y="363931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4581144" y="4224528"/>
            <a:ext cx="3017520" cy="640080"/>
          </a:xfrm>
          <a:prstGeom prst="rect">
            <a:avLst/>
          </a:prstGeom>
          <a:noFill/>
          <a:ln/>
        </p:spPr>
        <p:txBody>
          <a:bodyPr wrap="square" lIns="0" tIns="0" rIns="0" bIns="0" rtlCol="0" anchor="ctr"/>
          <a:lstStyle/>
          <a:p>
            <a:pPr marL="0" indent="0">
              <a:lnSpc>
                <a:spcPts val="1900"/>
              </a:lnSpc>
              <a:buNone/>
            </a:pPr>
            <a:r>
              <a:rPr lang="en-US" sz="1450" b="1" dirty="0">
                <a:solidFill>
                  <a:srgbClr val="06304A"/>
                </a:solidFill>
                <a:latin typeface="Calibri" pitchFamily="34" charset="0"/>
                <a:ea typeface="Calibri" pitchFamily="34" charset="-122"/>
                <a:cs typeface="Calibri" pitchFamily="34" charset="-120"/>
              </a:rPr>
              <a:t>Preparar datos reales</a:t>
            </a:r>
            <a:endParaRPr lang="en-US" sz="1450" dirty="0"/>
          </a:p>
        </p:txBody>
      </p:sp>
      <p:sp>
        <p:nvSpPr>
          <p:cNvPr id="15" name="Text 13"/>
          <p:cNvSpPr/>
          <p:nvPr/>
        </p:nvSpPr>
        <p:spPr>
          <a:xfrm>
            <a:off x="4581144" y="4846320"/>
            <a:ext cx="3017520" cy="54864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Obtención, limpieza y transformación con NumPy y Pandas.</a:t>
            </a:r>
            <a:endParaRPr lang="en-US" sz="1250" dirty="0"/>
          </a:p>
        </p:txBody>
      </p:sp>
      <p:sp>
        <p:nvSpPr>
          <p:cNvPr id="16" name="Shape 14"/>
          <p:cNvSpPr/>
          <p:nvPr/>
        </p:nvSpPr>
        <p:spPr>
          <a:xfrm>
            <a:off x="8101584" y="3429000"/>
            <a:ext cx="3520440" cy="2011680"/>
          </a:xfrm>
          <a:prstGeom prst="roundRect">
            <a:avLst>
              <a:gd name="adj" fmla="val 4091"/>
            </a:avLst>
          </a:prstGeom>
          <a:solidFill>
            <a:srgbClr val="F4F7FA"/>
          </a:solidFill>
          <a:ln w="12700">
            <a:solidFill>
              <a:srgbClr val="F4F7FA"/>
            </a:solidFill>
            <a:prstDash val="solid"/>
          </a:ln>
        </p:spPr>
        <p:txBody>
          <a:bodyPr/>
          <a:lstStyle/>
          <a:p>
            <a:endParaRPr lang="es-CL"/>
          </a:p>
        </p:txBody>
      </p:sp>
      <p:sp>
        <p:nvSpPr>
          <p:cNvPr id="17" name="Shape 15"/>
          <p:cNvSpPr/>
          <p:nvPr/>
        </p:nvSpPr>
        <p:spPr>
          <a:xfrm>
            <a:off x="8357616" y="3639312"/>
            <a:ext cx="457200" cy="457200"/>
          </a:xfrm>
          <a:prstGeom prst="ellipse">
            <a:avLst/>
          </a:prstGeom>
          <a:solidFill>
            <a:srgbClr val="AC212E"/>
          </a:solidFill>
          <a:ln/>
        </p:spPr>
        <p:txBody>
          <a:bodyPr/>
          <a:lstStyle/>
          <a:p>
            <a:endParaRPr lang="es-CL"/>
          </a:p>
        </p:txBody>
      </p:sp>
      <p:sp>
        <p:nvSpPr>
          <p:cNvPr id="18" name="Text 16"/>
          <p:cNvSpPr/>
          <p:nvPr/>
        </p:nvSpPr>
        <p:spPr>
          <a:xfrm>
            <a:off x="8357616" y="363931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8357616" y="4224528"/>
            <a:ext cx="3017520" cy="640080"/>
          </a:xfrm>
          <a:prstGeom prst="rect">
            <a:avLst/>
          </a:prstGeom>
          <a:noFill/>
          <a:ln/>
        </p:spPr>
        <p:txBody>
          <a:bodyPr wrap="square" lIns="0" tIns="0" rIns="0" bIns="0" rtlCol="0" anchor="ctr"/>
          <a:lstStyle/>
          <a:p>
            <a:pPr marL="0" indent="0">
              <a:lnSpc>
                <a:spcPts val="1900"/>
              </a:lnSpc>
              <a:buNone/>
            </a:pPr>
            <a:r>
              <a:rPr lang="en-US" sz="1450" b="1" dirty="0">
                <a:solidFill>
                  <a:srgbClr val="06304A"/>
                </a:solidFill>
                <a:latin typeface="Calibri" pitchFamily="34" charset="0"/>
                <a:ea typeface="Calibri" pitchFamily="34" charset="-122"/>
                <a:cs typeface="Calibri" pitchFamily="34" charset="-120"/>
              </a:rPr>
              <a:t>Trabajar de forma reproducible</a:t>
            </a:r>
            <a:endParaRPr lang="en-US" sz="1450" dirty="0"/>
          </a:p>
        </p:txBody>
      </p:sp>
      <p:sp>
        <p:nvSpPr>
          <p:cNvPr id="20" name="Text 18"/>
          <p:cNvSpPr/>
          <p:nvPr/>
        </p:nvSpPr>
        <p:spPr>
          <a:xfrm>
            <a:off x="8357616" y="4846320"/>
            <a:ext cx="3017520" cy="54864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Entornos, control de versiones y repositorios compartidos.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Qué van a lograr</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Cuatro resultados de aprendizaje, uno por unidad temática.</a:t>
            </a:r>
            <a:endParaRPr lang="en-US" sz="1400" dirty="0"/>
          </a:p>
        </p:txBody>
      </p:sp>
      <p:sp>
        <p:nvSpPr>
          <p:cNvPr id="4" name="Shape 2"/>
          <p:cNvSpPr/>
          <p:nvPr/>
        </p:nvSpPr>
        <p:spPr>
          <a:xfrm>
            <a:off x="548640" y="1783080"/>
            <a:ext cx="11064240" cy="896112"/>
          </a:xfrm>
          <a:prstGeom prst="roundRect">
            <a:avLst>
              <a:gd name="adj" fmla="val 9184"/>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68680" y="1783080"/>
            <a:ext cx="1005840" cy="896112"/>
          </a:xfrm>
          <a:prstGeom prst="rect">
            <a:avLst/>
          </a:prstGeom>
          <a:noFill/>
          <a:ln/>
        </p:spPr>
        <p:txBody>
          <a:bodyPr wrap="square" lIns="0" tIns="0" rIns="0" bIns="0" rtlCol="0" anchor="ctr"/>
          <a:lstStyle/>
          <a:p>
            <a:pPr marL="0" indent="0">
              <a:buNone/>
            </a:pPr>
            <a:r>
              <a:rPr lang="en-US" sz="2000" b="1" dirty="0">
                <a:solidFill>
                  <a:srgbClr val="AC212E"/>
                </a:solidFill>
                <a:latin typeface="Cambria" pitchFamily="34" charset="0"/>
                <a:ea typeface="Cambria" pitchFamily="34" charset="-122"/>
                <a:cs typeface="Cambria" pitchFamily="34" charset="-120"/>
              </a:rPr>
              <a:t>RA1</a:t>
            </a:r>
            <a:endParaRPr lang="en-US" sz="2000" dirty="0"/>
          </a:p>
        </p:txBody>
      </p:sp>
      <p:sp>
        <p:nvSpPr>
          <p:cNvPr id="6" name="Text 4"/>
          <p:cNvSpPr/>
          <p:nvPr/>
        </p:nvSpPr>
        <p:spPr>
          <a:xfrm>
            <a:off x="1965960" y="1783080"/>
            <a:ext cx="9326880" cy="896112"/>
          </a:xfrm>
          <a:prstGeom prst="rect">
            <a:avLst/>
          </a:prstGeom>
          <a:noFill/>
          <a:ln/>
        </p:spPr>
        <p:txBody>
          <a:bodyPr wrap="square" lIns="0" tIns="0" rIns="0" bIns="0" rtlCol="0" anchor="ctr"/>
          <a:lstStyle/>
          <a:p>
            <a:pPr marL="0" indent="0">
              <a:lnSpc>
                <a:spcPts val="1900"/>
              </a:lnSpc>
              <a:buNone/>
            </a:pPr>
            <a:r>
              <a:rPr lang="en-US" sz="1350" dirty="0">
                <a:solidFill>
                  <a:srgbClr val="06304A"/>
                </a:solidFill>
                <a:latin typeface="Calibri" pitchFamily="34" charset="0"/>
                <a:ea typeface="Calibri" pitchFamily="34" charset="-122"/>
                <a:cs typeface="Calibri" pitchFamily="34" charset="-120"/>
              </a:rPr>
              <a:t>Aplicar buenas prácticas y herramientas de software científico —GitHub, Jupyter— para la gestión y documentación reproducible.</a:t>
            </a:r>
            <a:endParaRPr lang="en-US" sz="1350" dirty="0"/>
          </a:p>
        </p:txBody>
      </p:sp>
      <p:sp>
        <p:nvSpPr>
          <p:cNvPr id="7" name="Shape 5"/>
          <p:cNvSpPr/>
          <p:nvPr/>
        </p:nvSpPr>
        <p:spPr>
          <a:xfrm>
            <a:off x="548640" y="2834640"/>
            <a:ext cx="11064240" cy="896112"/>
          </a:xfrm>
          <a:prstGeom prst="roundRect">
            <a:avLst>
              <a:gd name="adj" fmla="val 9184"/>
            </a:avLst>
          </a:prstGeom>
          <a:solidFill>
            <a:srgbClr val="F4F7FA"/>
          </a:solidFill>
          <a:ln w="12700">
            <a:solidFill>
              <a:srgbClr val="F4F7FA"/>
            </a:solidFill>
            <a:prstDash val="solid"/>
          </a:ln>
        </p:spPr>
        <p:txBody>
          <a:bodyPr/>
          <a:lstStyle/>
          <a:p>
            <a:endParaRPr lang="es-CL"/>
          </a:p>
        </p:txBody>
      </p:sp>
      <p:sp>
        <p:nvSpPr>
          <p:cNvPr id="8" name="Text 6"/>
          <p:cNvSpPr/>
          <p:nvPr/>
        </p:nvSpPr>
        <p:spPr>
          <a:xfrm>
            <a:off x="868680" y="2834640"/>
            <a:ext cx="1005840" cy="896112"/>
          </a:xfrm>
          <a:prstGeom prst="rect">
            <a:avLst/>
          </a:prstGeom>
          <a:noFill/>
          <a:ln/>
        </p:spPr>
        <p:txBody>
          <a:bodyPr wrap="square" lIns="0" tIns="0" rIns="0" bIns="0" rtlCol="0" anchor="ctr"/>
          <a:lstStyle/>
          <a:p>
            <a:pPr marL="0" indent="0">
              <a:buNone/>
            </a:pPr>
            <a:r>
              <a:rPr lang="en-US" sz="2000" b="1" dirty="0">
                <a:solidFill>
                  <a:srgbClr val="AC212E"/>
                </a:solidFill>
                <a:latin typeface="Cambria" pitchFamily="34" charset="0"/>
                <a:ea typeface="Cambria" pitchFamily="34" charset="-122"/>
                <a:cs typeface="Cambria" pitchFamily="34" charset="-120"/>
              </a:rPr>
              <a:t>RA2</a:t>
            </a:r>
            <a:endParaRPr lang="en-US" sz="2000" dirty="0"/>
          </a:p>
        </p:txBody>
      </p:sp>
      <p:sp>
        <p:nvSpPr>
          <p:cNvPr id="9" name="Text 7"/>
          <p:cNvSpPr/>
          <p:nvPr/>
        </p:nvSpPr>
        <p:spPr>
          <a:xfrm>
            <a:off x="1965960" y="2834640"/>
            <a:ext cx="9326880" cy="896112"/>
          </a:xfrm>
          <a:prstGeom prst="rect">
            <a:avLst/>
          </a:prstGeom>
          <a:noFill/>
          <a:ln/>
        </p:spPr>
        <p:txBody>
          <a:bodyPr wrap="square" lIns="0" tIns="0" rIns="0" bIns="0" rtlCol="0" anchor="ctr"/>
          <a:lstStyle/>
          <a:p>
            <a:pPr marL="0" indent="0">
              <a:lnSpc>
                <a:spcPts val="1900"/>
              </a:lnSpc>
              <a:buNone/>
            </a:pPr>
            <a:r>
              <a:rPr lang="en-US" sz="1350" dirty="0">
                <a:solidFill>
                  <a:srgbClr val="06304A"/>
                </a:solidFill>
                <a:latin typeface="Calibri" pitchFamily="34" charset="0"/>
                <a:ea typeface="Calibri" pitchFamily="34" charset="-122"/>
                <a:cs typeface="Calibri" pitchFamily="34" charset="-120"/>
              </a:rPr>
              <a:t>Diseñar soluciones algorítmicas eficientes con programación estructurada y recursiva en Python.</a:t>
            </a:r>
            <a:endParaRPr lang="en-US" sz="1350" dirty="0"/>
          </a:p>
        </p:txBody>
      </p:sp>
      <p:sp>
        <p:nvSpPr>
          <p:cNvPr id="10" name="Shape 8"/>
          <p:cNvSpPr/>
          <p:nvPr/>
        </p:nvSpPr>
        <p:spPr>
          <a:xfrm>
            <a:off x="548640" y="3886200"/>
            <a:ext cx="11064240" cy="896112"/>
          </a:xfrm>
          <a:prstGeom prst="roundRect">
            <a:avLst>
              <a:gd name="adj" fmla="val 9184"/>
            </a:avLst>
          </a:prstGeom>
          <a:solidFill>
            <a:srgbClr val="F4F7FA"/>
          </a:solidFill>
          <a:ln w="12700">
            <a:solidFill>
              <a:srgbClr val="F4F7FA"/>
            </a:solidFill>
            <a:prstDash val="solid"/>
          </a:ln>
        </p:spPr>
        <p:txBody>
          <a:bodyPr/>
          <a:lstStyle/>
          <a:p>
            <a:endParaRPr lang="es-CL"/>
          </a:p>
        </p:txBody>
      </p:sp>
      <p:sp>
        <p:nvSpPr>
          <p:cNvPr id="11" name="Text 9"/>
          <p:cNvSpPr/>
          <p:nvPr/>
        </p:nvSpPr>
        <p:spPr>
          <a:xfrm>
            <a:off x="868680" y="3886200"/>
            <a:ext cx="1005840" cy="896112"/>
          </a:xfrm>
          <a:prstGeom prst="rect">
            <a:avLst/>
          </a:prstGeom>
          <a:noFill/>
          <a:ln/>
        </p:spPr>
        <p:txBody>
          <a:bodyPr wrap="square" lIns="0" tIns="0" rIns="0" bIns="0" rtlCol="0" anchor="ctr"/>
          <a:lstStyle/>
          <a:p>
            <a:pPr marL="0" indent="0">
              <a:buNone/>
            </a:pPr>
            <a:r>
              <a:rPr lang="en-US" sz="2000" b="1" dirty="0">
                <a:solidFill>
                  <a:srgbClr val="AC212E"/>
                </a:solidFill>
                <a:latin typeface="Cambria" pitchFamily="34" charset="0"/>
                <a:ea typeface="Cambria" pitchFamily="34" charset="-122"/>
                <a:cs typeface="Cambria" pitchFamily="34" charset="-120"/>
              </a:rPr>
              <a:t>RA3</a:t>
            </a:r>
            <a:endParaRPr lang="en-US" sz="2000" dirty="0"/>
          </a:p>
        </p:txBody>
      </p:sp>
      <p:sp>
        <p:nvSpPr>
          <p:cNvPr id="12" name="Text 10"/>
          <p:cNvSpPr/>
          <p:nvPr/>
        </p:nvSpPr>
        <p:spPr>
          <a:xfrm>
            <a:off x="1965960" y="3886200"/>
            <a:ext cx="9326880" cy="896112"/>
          </a:xfrm>
          <a:prstGeom prst="rect">
            <a:avLst/>
          </a:prstGeom>
          <a:noFill/>
          <a:ln/>
        </p:spPr>
        <p:txBody>
          <a:bodyPr wrap="square" lIns="0" tIns="0" rIns="0" bIns="0" rtlCol="0" anchor="ctr"/>
          <a:lstStyle/>
          <a:p>
            <a:pPr marL="0" indent="0">
              <a:lnSpc>
                <a:spcPts val="1900"/>
              </a:lnSpc>
              <a:buNone/>
            </a:pPr>
            <a:r>
              <a:rPr lang="en-US" sz="1350" dirty="0">
                <a:solidFill>
                  <a:srgbClr val="06304A"/>
                </a:solidFill>
                <a:latin typeface="Calibri" pitchFamily="34" charset="0"/>
                <a:ea typeface="Calibri" pitchFamily="34" charset="-122"/>
                <a:cs typeface="Calibri" pitchFamily="34" charset="-120"/>
              </a:rPr>
              <a:t>Implementar código modular y robusto aplicando los principios de la programación orientada a objetos.</a:t>
            </a:r>
            <a:endParaRPr lang="en-US" sz="1350" dirty="0"/>
          </a:p>
        </p:txBody>
      </p:sp>
      <p:sp>
        <p:nvSpPr>
          <p:cNvPr id="13" name="Shape 11"/>
          <p:cNvSpPr/>
          <p:nvPr/>
        </p:nvSpPr>
        <p:spPr>
          <a:xfrm>
            <a:off x="548640" y="4937760"/>
            <a:ext cx="11064240" cy="896112"/>
          </a:xfrm>
          <a:prstGeom prst="roundRect">
            <a:avLst>
              <a:gd name="adj" fmla="val 9184"/>
            </a:avLst>
          </a:prstGeom>
          <a:solidFill>
            <a:srgbClr val="F4F7FA"/>
          </a:solidFill>
          <a:ln w="12700">
            <a:solidFill>
              <a:srgbClr val="F4F7FA"/>
            </a:solidFill>
            <a:prstDash val="solid"/>
          </a:ln>
        </p:spPr>
        <p:txBody>
          <a:bodyPr/>
          <a:lstStyle/>
          <a:p>
            <a:endParaRPr lang="es-CL"/>
          </a:p>
        </p:txBody>
      </p:sp>
      <p:sp>
        <p:nvSpPr>
          <p:cNvPr id="14" name="Text 12"/>
          <p:cNvSpPr/>
          <p:nvPr/>
        </p:nvSpPr>
        <p:spPr>
          <a:xfrm>
            <a:off x="868680" y="4937760"/>
            <a:ext cx="1005840" cy="896112"/>
          </a:xfrm>
          <a:prstGeom prst="rect">
            <a:avLst/>
          </a:prstGeom>
          <a:noFill/>
          <a:ln/>
        </p:spPr>
        <p:txBody>
          <a:bodyPr wrap="square" lIns="0" tIns="0" rIns="0" bIns="0" rtlCol="0" anchor="ctr"/>
          <a:lstStyle/>
          <a:p>
            <a:pPr marL="0" indent="0">
              <a:buNone/>
            </a:pPr>
            <a:r>
              <a:rPr lang="en-US" sz="2000" b="1" dirty="0">
                <a:solidFill>
                  <a:srgbClr val="AC212E"/>
                </a:solidFill>
                <a:latin typeface="Cambria" pitchFamily="34" charset="0"/>
                <a:ea typeface="Cambria" pitchFamily="34" charset="-122"/>
                <a:cs typeface="Cambria" pitchFamily="34" charset="-120"/>
              </a:rPr>
              <a:t>RA4</a:t>
            </a:r>
            <a:endParaRPr lang="en-US" sz="2000" dirty="0"/>
          </a:p>
        </p:txBody>
      </p:sp>
      <p:sp>
        <p:nvSpPr>
          <p:cNvPr id="15" name="Text 13"/>
          <p:cNvSpPr/>
          <p:nvPr/>
        </p:nvSpPr>
        <p:spPr>
          <a:xfrm>
            <a:off x="1965960" y="4937760"/>
            <a:ext cx="9326880" cy="896112"/>
          </a:xfrm>
          <a:prstGeom prst="rect">
            <a:avLst/>
          </a:prstGeom>
          <a:noFill/>
          <a:ln/>
        </p:spPr>
        <p:txBody>
          <a:bodyPr wrap="square" lIns="0" tIns="0" rIns="0" bIns="0" rtlCol="0" anchor="ctr"/>
          <a:lstStyle/>
          <a:p>
            <a:pPr marL="0" indent="0">
              <a:lnSpc>
                <a:spcPts val="1900"/>
              </a:lnSpc>
              <a:buNone/>
            </a:pPr>
            <a:r>
              <a:rPr lang="en-US" sz="1350" dirty="0">
                <a:solidFill>
                  <a:srgbClr val="06304A"/>
                </a:solidFill>
                <a:latin typeface="Calibri" pitchFamily="34" charset="0"/>
                <a:ea typeface="Calibri" pitchFamily="34" charset="-122"/>
                <a:cs typeface="Calibri" pitchFamily="34" charset="-120"/>
              </a:rPr>
              <a:t>Construir visualizaciones efectivas con el ecosistema científico de Python para explorar datos y comunicar hallazgos.</a:t>
            </a:r>
            <a:endParaRPr lang="en-US" sz="1350" dirty="0"/>
          </a:p>
        </p:txBody>
      </p:sp>
      <p:sp>
        <p:nvSpPr>
          <p:cNvPr id="16" name="Shape 14"/>
          <p:cNvSpPr/>
          <p:nvPr/>
        </p:nvSpPr>
        <p:spPr>
          <a:xfrm>
            <a:off x="548640" y="6035040"/>
            <a:ext cx="11064240" cy="0"/>
          </a:xfrm>
          <a:prstGeom prst="roundRect">
            <a:avLst>
              <a:gd name="adj" fmla="val Infinity"/>
            </a:avLst>
          </a:prstGeom>
          <a:solidFill>
            <a:srgbClr val="F4F7FA"/>
          </a:solidFill>
          <a:ln w="12700">
            <a:solidFill>
              <a:srgbClr val="F4F7FA"/>
            </a:solidFill>
            <a:prstDash val="solid"/>
          </a:ln>
        </p:spPr>
        <p:txBody>
          <a:bodyPr/>
          <a:lstStyle/>
          <a:p>
            <a:endParaRPr lang="es-CL"/>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526"/>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Todo gira en torno a un proyecto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D7E3EE"/>
                </a:solidFill>
                <a:latin typeface="Calibri" pitchFamily="34" charset="0"/>
                <a:ea typeface="Calibri" pitchFamily="34" charset="-122"/>
                <a:cs typeface="Calibri" pitchFamily="34" charset="-120"/>
              </a:rPr>
              <a:t>Aprendizaje basado en proyecto: se aprende construyendo, no acumulando temas sueltos.</a:t>
            </a:r>
            <a:endParaRPr lang="en-US" sz="1400" dirty="0"/>
          </a:p>
        </p:txBody>
      </p:sp>
      <p:sp>
        <p:nvSpPr>
          <p:cNvPr id="4" name="Shape 2"/>
          <p:cNvSpPr/>
          <p:nvPr/>
        </p:nvSpPr>
        <p:spPr>
          <a:xfrm>
            <a:off x="548640" y="1874520"/>
            <a:ext cx="2606040" cy="2286000"/>
          </a:xfrm>
          <a:prstGeom prst="roundRect">
            <a:avLst>
              <a:gd name="adj" fmla="val 3600"/>
            </a:avLst>
          </a:prstGeom>
          <a:solidFill>
            <a:srgbClr val="12203A"/>
          </a:solidFill>
          <a:ln w="12700">
            <a:solidFill>
              <a:srgbClr val="12203A"/>
            </a:solidFill>
            <a:prstDash val="solid"/>
          </a:ln>
        </p:spPr>
        <p:txBody>
          <a:bodyPr/>
          <a:lstStyle/>
          <a:p>
            <a:endParaRPr lang="es-CL"/>
          </a:p>
        </p:txBody>
      </p:sp>
      <p:sp>
        <p:nvSpPr>
          <p:cNvPr id="5" name="Text 3"/>
          <p:cNvSpPr/>
          <p:nvPr/>
        </p:nvSpPr>
        <p:spPr>
          <a:xfrm>
            <a:off x="804672" y="2057400"/>
            <a:ext cx="1097280" cy="502920"/>
          </a:xfrm>
          <a:prstGeom prst="rect">
            <a:avLst/>
          </a:prstGeom>
          <a:noFill/>
          <a:ln/>
        </p:spPr>
        <p:txBody>
          <a:bodyPr wrap="square" lIns="0" tIns="0" rIns="0" bIns="0" rtlCol="0" anchor="ctr"/>
          <a:lstStyle/>
          <a:p>
            <a:pPr marL="0" indent="0">
              <a:buNone/>
            </a:pPr>
            <a:r>
              <a:rPr lang="en-US" sz="2600" b="1" dirty="0">
                <a:solidFill>
                  <a:srgbClr val="AC212E"/>
                </a:solidFill>
                <a:latin typeface="Cambria" pitchFamily="34" charset="0"/>
                <a:ea typeface="Cambria" pitchFamily="34" charset="-122"/>
                <a:cs typeface="Cambria" pitchFamily="34" charset="-120"/>
              </a:rPr>
              <a:t>F1</a:t>
            </a:r>
            <a:endParaRPr lang="en-US" sz="2600" dirty="0"/>
          </a:p>
        </p:txBody>
      </p:sp>
      <p:sp>
        <p:nvSpPr>
          <p:cNvPr id="6" name="Text 4"/>
          <p:cNvSpPr/>
          <p:nvPr/>
        </p:nvSpPr>
        <p:spPr>
          <a:xfrm>
            <a:off x="804672" y="2606040"/>
            <a:ext cx="2093976"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Definición</a:t>
            </a:r>
            <a:endParaRPr lang="en-US" sz="1500" dirty="0"/>
          </a:p>
        </p:txBody>
      </p:sp>
      <p:sp>
        <p:nvSpPr>
          <p:cNvPr id="7" name="Text 5"/>
          <p:cNvSpPr/>
          <p:nvPr/>
        </p:nvSpPr>
        <p:spPr>
          <a:xfrm>
            <a:off x="804672" y="3017520"/>
            <a:ext cx="2093976" cy="91440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Problema, entorno reproducible y repositorio</a:t>
            </a:r>
            <a:endParaRPr lang="en-US" sz="1250" dirty="0"/>
          </a:p>
        </p:txBody>
      </p:sp>
      <p:sp>
        <p:nvSpPr>
          <p:cNvPr id="8" name="Text 6"/>
          <p:cNvSpPr/>
          <p:nvPr/>
        </p:nvSpPr>
        <p:spPr>
          <a:xfrm>
            <a:off x="3154680" y="2743200"/>
            <a:ext cx="265176" cy="365760"/>
          </a:xfrm>
          <a:prstGeom prst="rect">
            <a:avLst/>
          </a:prstGeom>
          <a:noFill/>
          <a:ln/>
        </p:spPr>
        <p:txBody>
          <a:bodyPr wrap="square" lIns="0" tIns="0" rIns="0" bIns="0" rtlCol="0" anchor="ctr"/>
          <a:lstStyle/>
          <a:p>
            <a:pPr marL="0" indent="0" algn="ctr">
              <a:buNone/>
            </a:pPr>
            <a:r>
              <a:rPr lang="en-US" sz="1800" dirty="0">
                <a:solidFill>
                  <a:srgbClr val="AC212E"/>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3419856" y="1874520"/>
            <a:ext cx="2606040" cy="2286000"/>
          </a:xfrm>
          <a:prstGeom prst="roundRect">
            <a:avLst>
              <a:gd name="adj" fmla="val 3600"/>
            </a:avLst>
          </a:prstGeom>
          <a:solidFill>
            <a:srgbClr val="12203A"/>
          </a:solidFill>
          <a:ln w="12700">
            <a:solidFill>
              <a:srgbClr val="12203A"/>
            </a:solidFill>
            <a:prstDash val="solid"/>
          </a:ln>
        </p:spPr>
        <p:txBody>
          <a:bodyPr/>
          <a:lstStyle/>
          <a:p>
            <a:endParaRPr lang="es-CL"/>
          </a:p>
        </p:txBody>
      </p:sp>
      <p:sp>
        <p:nvSpPr>
          <p:cNvPr id="10" name="Text 8"/>
          <p:cNvSpPr/>
          <p:nvPr/>
        </p:nvSpPr>
        <p:spPr>
          <a:xfrm>
            <a:off x="3675888" y="2057400"/>
            <a:ext cx="1097280" cy="502920"/>
          </a:xfrm>
          <a:prstGeom prst="rect">
            <a:avLst/>
          </a:prstGeom>
          <a:noFill/>
          <a:ln/>
        </p:spPr>
        <p:txBody>
          <a:bodyPr wrap="square" lIns="0" tIns="0" rIns="0" bIns="0" rtlCol="0" anchor="ctr"/>
          <a:lstStyle/>
          <a:p>
            <a:pPr marL="0" indent="0">
              <a:buNone/>
            </a:pPr>
            <a:r>
              <a:rPr lang="en-US" sz="2600" b="1" dirty="0">
                <a:solidFill>
                  <a:srgbClr val="AC212E"/>
                </a:solidFill>
                <a:latin typeface="Cambria" pitchFamily="34" charset="0"/>
                <a:ea typeface="Cambria" pitchFamily="34" charset="-122"/>
                <a:cs typeface="Cambria" pitchFamily="34" charset="-120"/>
              </a:rPr>
              <a:t>F2</a:t>
            </a:r>
            <a:endParaRPr lang="en-US" sz="2600" dirty="0"/>
          </a:p>
        </p:txBody>
      </p:sp>
      <p:sp>
        <p:nvSpPr>
          <p:cNvPr id="11" name="Text 9"/>
          <p:cNvSpPr/>
          <p:nvPr/>
        </p:nvSpPr>
        <p:spPr>
          <a:xfrm>
            <a:off x="3675888" y="2606040"/>
            <a:ext cx="2093976"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Datos</a:t>
            </a:r>
            <a:endParaRPr lang="en-US" sz="1500" dirty="0"/>
          </a:p>
        </p:txBody>
      </p:sp>
      <p:sp>
        <p:nvSpPr>
          <p:cNvPr id="12" name="Text 10"/>
          <p:cNvSpPr/>
          <p:nvPr/>
        </p:nvSpPr>
        <p:spPr>
          <a:xfrm>
            <a:off x="3675888" y="3017520"/>
            <a:ext cx="2093976" cy="91440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Obtención, limpieza y transformación</a:t>
            </a:r>
            <a:endParaRPr lang="en-US" sz="1250" dirty="0"/>
          </a:p>
        </p:txBody>
      </p:sp>
      <p:sp>
        <p:nvSpPr>
          <p:cNvPr id="13" name="Text 11"/>
          <p:cNvSpPr/>
          <p:nvPr/>
        </p:nvSpPr>
        <p:spPr>
          <a:xfrm>
            <a:off x="6025896" y="2743200"/>
            <a:ext cx="265176" cy="365760"/>
          </a:xfrm>
          <a:prstGeom prst="rect">
            <a:avLst/>
          </a:prstGeom>
          <a:noFill/>
          <a:ln/>
        </p:spPr>
        <p:txBody>
          <a:bodyPr wrap="square" lIns="0" tIns="0" rIns="0" bIns="0" rtlCol="0" anchor="ctr"/>
          <a:lstStyle/>
          <a:p>
            <a:pPr marL="0" indent="0" algn="ctr">
              <a:buNone/>
            </a:pPr>
            <a:r>
              <a:rPr lang="en-US" sz="1800" dirty="0">
                <a:solidFill>
                  <a:srgbClr val="AC212E"/>
                </a:solidFill>
                <a:latin typeface="Calibri" pitchFamily="34" charset="0"/>
                <a:ea typeface="Calibri" pitchFamily="34" charset="-122"/>
                <a:cs typeface="Calibri" pitchFamily="34" charset="-120"/>
              </a:rPr>
              <a:t>→</a:t>
            </a:r>
            <a:endParaRPr lang="en-US" sz="1800" dirty="0"/>
          </a:p>
        </p:txBody>
      </p:sp>
      <p:sp>
        <p:nvSpPr>
          <p:cNvPr id="14" name="Shape 12"/>
          <p:cNvSpPr/>
          <p:nvPr/>
        </p:nvSpPr>
        <p:spPr>
          <a:xfrm>
            <a:off x="6291072" y="1874520"/>
            <a:ext cx="2606040" cy="2286000"/>
          </a:xfrm>
          <a:prstGeom prst="roundRect">
            <a:avLst>
              <a:gd name="adj" fmla="val 3600"/>
            </a:avLst>
          </a:prstGeom>
          <a:solidFill>
            <a:srgbClr val="12203A"/>
          </a:solidFill>
          <a:ln w="12700">
            <a:solidFill>
              <a:srgbClr val="12203A"/>
            </a:solidFill>
            <a:prstDash val="solid"/>
          </a:ln>
        </p:spPr>
        <p:txBody>
          <a:bodyPr/>
          <a:lstStyle/>
          <a:p>
            <a:endParaRPr lang="es-CL"/>
          </a:p>
        </p:txBody>
      </p:sp>
      <p:sp>
        <p:nvSpPr>
          <p:cNvPr id="15" name="Text 13"/>
          <p:cNvSpPr/>
          <p:nvPr/>
        </p:nvSpPr>
        <p:spPr>
          <a:xfrm>
            <a:off x="6547104" y="2057400"/>
            <a:ext cx="1097280" cy="502920"/>
          </a:xfrm>
          <a:prstGeom prst="rect">
            <a:avLst/>
          </a:prstGeom>
          <a:noFill/>
          <a:ln/>
        </p:spPr>
        <p:txBody>
          <a:bodyPr wrap="square" lIns="0" tIns="0" rIns="0" bIns="0" rtlCol="0" anchor="ctr"/>
          <a:lstStyle/>
          <a:p>
            <a:pPr marL="0" indent="0">
              <a:buNone/>
            </a:pPr>
            <a:r>
              <a:rPr lang="en-US" sz="2600" b="1" dirty="0">
                <a:solidFill>
                  <a:srgbClr val="AC212E"/>
                </a:solidFill>
                <a:latin typeface="Cambria" pitchFamily="34" charset="0"/>
                <a:ea typeface="Cambria" pitchFamily="34" charset="-122"/>
                <a:cs typeface="Cambria" pitchFamily="34" charset="-120"/>
              </a:rPr>
              <a:t>F3</a:t>
            </a:r>
            <a:endParaRPr lang="en-US" sz="2600" dirty="0"/>
          </a:p>
        </p:txBody>
      </p:sp>
      <p:sp>
        <p:nvSpPr>
          <p:cNvPr id="16" name="Text 14"/>
          <p:cNvSpPr/>
          <p:nvPr/>
        </p:nvSpPr>
        <p:spPr>
          <a:xfrm>
            <a:off x="6547104" y="2606040"/>
            <a:ext cx="2093976"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Algoritmos</a:t>
            </a:r>
            <a:endParaRPr lang="en-US" sz="1500" dirty="0"/>
          </a:p>
        </p:txBody>
      </p:sp>
      <p:sp>
        <p:nvSpPr>
          <p:cNvPr id="17" name="Text 15"/>
          <p:cNvSpPr/>
          <p:nvPr/>
        </p:nvSpPr>
        <p:spPr>
          <a:xfrm>
            <a:off x="6547104" y="3017520"/>
            <a:ext cx="2093976" cy="91440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Núcleo algorítmico, eficiencia y POO</a:t>
            </a:r>
            <a:endParaRPr lang="en-US" sz="1250" dirty="0"/>
          </a:p>
        </p:txBody>
      </p:sp>
      <p:sp>
        <p:nvSpPr>
          <p:cNvPr id="18" name="Text 16"/>
          <p:cNvSpPr/>
          <p:nvPr/>
        </p:nvSpPr>
        <p:spPr>
          <a:xfrm>
            <a:off x="8897112" y="2743200"/>
            <a:ext cx="265176" cy="365760"/>
          </a:xfrm>
          <a:prstGeom prst="rect">
            <a:avLst/>
          </a:prstGeom>
          <a:noFill/>
          <a:ln/>
        </p:spPr>
        <p:txBody>
          <a:bodyPr wrap="square" lIns="0" tIns="0" rIns="0" bIns="0" rtlCol="0" anchor="ctr"/>
          <a:lstStyle/>
          <a:p>
            <a:pPr marL="0" indent="0" algn="ctr">
              <a:buNone/>
            </a:pPr>
            <a:r>
              <a:rPr lang="en-US" sz="1800" dirty="0">
                <a:solidFill>
                  <a:srgbClr val="AC212E"/>
                </a:solidFill>
                <a:latin typeface="Calibri" pitchFamily="34" charset="0"/>
                <a:ea typeface="Calibri" pitchFamily="34" charset="-122"/>
                <a:cs typeface="Calibri" pitchFamily="34" charset="-120"/>
              </a:rPr>
              <a:t>→</a:t>
            </a:r>
            <a:endParaRPr lang="en-US" sz="1800" dirty="0"/>
          </a:p>
        </p:txBody>
      </p:sp>
      <p:sp>
        <p:nvSpPr>
          <p:cNvPr id="19" name="Shape 17"/>
          <p:cNvSpPr/>
          <p:nvPr/>
        </p:nvSpPr>
        <p:spPr>
          <a:xfrm>
            <a:off x="9162288" y="1874520"/>
            <a:ext cx="2606040" cy="2286000"/>
          </a:xfrm>
          <a:prstGeom prst="roundRect">
            <a:avLst>
              <a:gd name="adj" fmla="val 3600"/>
            </a:avLst>
          </a:prstGeom>
          <a:solidFill>
            <a:srgbClr val="12203A"/>
          </a:solidFill>
          <a:ln w="12700">
            <a:solidFill>
              <a:srgbClr val="12203A"/>
            </a:solidFill>
            <a:prstDash val="solid"/>
          </a:ln>
        </p:spPr>
        <p:txBody>
          <a:bodyPr/>
          <a:lstStyle/>
          <a:p>
            <a:endParaRPr lang="es-CL"/>
          </a:p>
        </p:txBody>
      </p:sp>
      <p:sp>
        <p:nvSpPr>
          <p:cNvPr id="20" name="Text 18"/>
          <p:cNvSpPr/>
          <p:nvPr/>
        </p:nvSpPr>
        <p:spPr>
          <a:xfrm>
            <a:off x="9418320" y="2057400"/>
            <a:ext cx="1097280" cy="502920"/>
          </a:xfrm>
          <a:prstGeom prst="rect">
            <a:avLst/>
          </a:prstGeom>
          <a:noFill/>
          <a:ln/>
        </p:spPr>
        <p:txBody>
          <a:bodyPr wrap="square" lIns="0" tIns="0" rIns="0" bIns="0" rtlCol="0" anchor="ctr"/>
          <a:lstStyle/>
          <a:p>
            <a:pPr marL="0" indent="0">
              <a:buNone/>
            </a:pPr>
            <a:r>
              <a:rPr lang="en-US" sz="2600" b="1" dirty="0">
                <a:solidFill>
                  <a:srgbClr val="AC212E"/>
                </a:solidFill>
                <a:latin typeface="Cambria" pitchFamily="34" charset="0"/>
                <a:ea typeface="Cambria" pitchFamily="34" charset="-122"/>
                <a:cs typeface="Cambria" pitchFamily="34" charset="-120"/>
              </a:rPr>
              <a:t>F4</a:t>
            </a:r>
            <a:endParaRPr lang="en-US" sz="2600" dirty="0"/>
          </a:p>
        </p:txBody>
      </p:sp>
      <p:sp>
        <p:nvSpPr>
          <p:cNvPr id="21" name="Text 19"/>
          <p:cNvSpPr/>
          <p:nvPr/>
        </p:nvSpPr>
        <p:spPr>
          <a:xfrm>
            <a:off x="9418320" y="2606040"/>
            <a:ext cx="2093976"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Comunicación</a:t>
            </a:r>
            <a:endParaRPr lang="en-US" sz="1500" dirty="0"/>
          </a:p>
        </p:txBody>
      </p:sp>
      <p:sp>
        <p:nvSpPr>
          <p:cNvPr id="22" name="Text 20"/>
          <p:cNvSpPr/>
          <p:nvPr/>
        </p:nvSpPr>
        <p:spPr>
          <a:xfrm>
            <a:off x="9418320" y="3017520"/>
            <a:ext cx="2093976" cy="91440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Visualización, informe y presentación</a:t>
            </a:r>
            <a:endParaRPr lang="en-US" sz="1250" dirty="0"/>
          </a:p>
        </p:txBody>
      </p:sp>
      <p:sp>
        <p:nvSpPr>
          <p:cNvPr id="23" name="Shape 21"/>
          <p:cNvSpPr/>
          <p:nvPr/>
        </p:nvSpPr>
        <p:spPr>
          <a:xfrm>
            <a:off x="548640" y="4480560"/>
            <a:ext cx="11064240" cy="1463040"/>
          </a:xfrm>
          <a:prstGeom prst="roundRect">
            <a:avLst>
              <a:gd name="adj" fmla="val 5625"/>
            </a:avLst>
          </a:prstGeom>
          <a:solidFill>
            <a:srgbClr val="12203A"/>
          </a:solidFill>
          <a:ln w="12700">
            <a:solidFill>
              <a:srgbClr val="12203A"/>
            </a:solidFill>
            <a:prstDash val="solid"/>
          </a:ln>
        </p:spPr>
        <p:txBody>
          <a:bodyPr/>
          <a:lstStyle/>
          <a:p>
            <a:endParaRPr lang="es-CL"/>
          </a:p>
        </p:txBody>
      </p:sp>
      <p:sp>
        <p:nvSpPr>
          <p:cNvPr id="24" name="Text 22"/>
          <p:cNvSpPr/>
          <p:nvPr/>
        </p:nvSpPr>
        <p:spPr>
          <a:xfrm>
            <a:off x="868680" y="4645152"/>
            <a:ext cx="5486400" cy="347472"/>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Al final tendrán algo que mostrar</a:t>
            </a:r>
            <a:endParaRPr lang="en-US" sz="1500" dirty="0"/>
          </a:p>
        </p:txBody>
      </p:sp>
      <p:sp>
        <p:nvSpPr>
          <p:cNvPr id="25" name="Text 23"/>
          <p:cNvSpPr/>
          <p:nvPr/>
        </p:nvSpPr>
        <p:spPr>
          <a:xfrm>
            <a:off x="868680" y="5010912"/>
            <a:ext cx="10424160" cy="777240"/>
          </a:xfrm>
          <a:prstGeom prst="rect">
            <a:avLst/>
          </a:prstGeom>
          <a:noFill/>
          <a:ln/>
        </p:spPr>
        <p:txBody>
          <a:bodyPr wrap="square" lIns="0" tIns="0" rIns="0" bIns="0" rtlCol="0" anchor="ctr"/>
          <a:lstStyle/>
          <a:p>
            <a:pPr marL="0" indent="0">
              <a:lnSpc>
                <a:spcPts val="1900"/>
              </a:lnSpc>
              <a:buNone/>
            </a:pPr>
            <a:r>
              <a:rPr lang="en-US" sz="1350" dirty="0">
                <a:solidFill>
                  <a:srgbClr val="D7E3EE"/>
                </a:solidFill>
                <a:latin typeface="Calibri" pitchFamily="34" charset="0"/>
                <a:ea typeface="Calibri" pitchFamily="34" charset="-122"/>
                <a:cs typeface="Calibri" pitchFamily="34" charset="-120"/>
              </a:rPr>
              <a:t>Un repositorio público con historial de trabajo real, notebooks reproducibles, un informe técnico y una presentación audiovisual. No un ejercicio de clase: un proyecto que pueden poner en su portafolio profesional.</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Cómo se organizan las tres semanas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Cada semana cierra con una entrega. El ritmo es exigente desde el primer día.</a:t>
            </a:r>
            <a:endParaRPr lang="en-US" sz="1400" dirty="0"/>
          </a:p>
        </p:txBody>
      </p:sp>
      <p:sp>
        <p:nvSpPr>
          <p:cNvPr id="4" name="Shape 2"/>
          <p:cNvSpPr/>
          <p:nvPr/>
        </p:nvSpPr>
        <p:spPr>
          <a:xfrm>
            <a:off x="548640" y="1783080"/>
            <a:ext cx="11064240" cy="1188720"/>
          </a:xfrm>
          <a:prstGeom prst="roundRect">
            <a:avLst>
              <a:gd name="adj" fmla="val 6923"/>
            </a:avLst>
          </a:prstGeom>
          <a:solidFill>
            <a:srgbClr val="F6E7E9"/>
          </a:solidFill>
          <a:ln w="12700">
            <a:solidFill>
              <a:srgbClr val="F6E7E9"/>
            </a:solidFill>
            <a:prstDash val="solid"/>
          </a:ln>
        </p:spPr>
        <p:txBody>
          <a:bodyPr/>
          <a:lstStyle/>
          <a:p>
            <a:endParaRPr lang="es-CL"/>
          </a:p>
        </p:txBody>
      </p:sp>
      <p:sp>
        <p:nvSpPr>
          <p:cNvPr id="5" name="Text 3"/>
          <p:cNvSpPr/>
          <p:nvPr/>
        </p:nvSpPr>
        <p:spPr>
          <a:xfrm>
            <a:off x="868680" y="1892808"/>
            <a:ext cx="1737360" cy="411480"/>
          </a:xfrm>
          <a:prstGeom prst="rect">
            <a:avLst/>
          </a:prstGeom>
          <a:noFill/>
          <a:ln/>
        </p:spPr>
        <p:txBody>
          <a:bodyPr wrap="square" lIns="0" tIns="0" rIns="0" bIns="0" rtlCol="0" anchor="ctr"/>
          <a:lstStyle/>
          <a:p>
            <a:pPr marL="0" indent="0">
              <a:buNone/>
            </a:pPr>
            <a:r>
              <a:rPr lang="en-US" sz="1800" b="1" dirty="0">
                <a:solidFill>
                  <a:srgbClr val="AC212E"/>
                </a:solidFill>
                <a:latin typeface="Cambria" pitchFamily="34" charset="0"/>
                <a:ea typeface="Cambria" pitchFamily="34" charset="-122"/>
                <a:cs typeface="Cambria" pitchFamily="34" charset="-120"/>
              </a:rPr>
              <a:t>Semana 1</a:t>
            </a:r>
            <a:endParaRPr lang="en-US" sz="1800" dirty="0"/>
          </a:p>
        </p:txBody>
      </p:sp>
      <p:sp>
        <p:nvSpPr>
          <p:cNvPr id="6" name="Text 4"/>
          <p:cNvSpPr/>
          <p:nvPr/>
        </p:nvSpPr>
        <p:spPr>
          <a:xfrm>
            <a:off x="868680" y="2350008"/>
            <a:ext cx="3840480" cy="45720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Fundamentos de Python · NumPy y Pandas</a:t>
            </a:r>
            <a:endParaRPr lang="en-US" sz="1250" dirty="0"/>
          </a:p>
        </p:txBody>
      </p:sp>
      <p:sp>
        <p:nvSpPr>
          <p:cNvPr id="7" name="Text 5"/>
          <p:cNvSpPr/>
          <p:nvPr/>
        </p:nvSpPr>
        <p:spPr>
          <a:xfrm>
            <a:off x="4937760" y="1783080"/>
            <a:ext cx="5120640" cy="1188720"/>
          </a:xfrm>
          <a:prstGeom prst="rect">
            <a:avLst/>
          </a:prstGeom>
          <a:noFill/>
          <a:ln/>
        </p:spPr>
        <p:txBody>
          <a:bodyPr wrap="square" lIns="0" tIns="0" rIns="0" bIns="0" rtlCol="0" anchor="ctr"/>
          <a:lstStyle/>
          <a:p>
            <a:pPr marL="0" indent="0">
              <a:lnSpc>
                <a:spcPts val="1800"/>
              </a:lnSpc>
              <a:buNone/>
            </a:pPr>
            <a:r>
              <a:rPr lang="en-US" sz="1300" dirty="0">
                <a:solidFill>
                  <a:srgbClr val="06304A"/>
                </a:solidFill>
                <a:latin typeface="Calibri" pitchFamily="34" charset="0"/>
                <a:ea typeface="Calibri" pitchFamily="34" charset="-122"/>
                <a:cs typeface="Calibri" pitchFamily="34" charset="-120"/>
              </a:rPr>
              <a:t>Fases 1 y 2: definición del proyecto, entorno reproducible y pipeline de datos</a:t>
            </a:r>
            <a:endParaRPr lang="en-US" sz="1300" dirty="0"/>
          </a:p>
        </p:txBody>
      </p:sp>
      <p:sp>
        <p:nvSpPr>
          <p:cNvPr id="8" name="Text 6"/>
          <p:cNvSpPr/>
          <p:nvPr/>
        </p:nvSpPr>
        <p:spPr>
          <a:xfrm>
            <a:off x="10241280" y="1783080"/>
            <a:ext cx="1097280" cy="1188720"/>
          </a:xfrm>
          <a:prstGeom prst="rect">
            <a:avLst/>
          </a:prstGeom>
          <a:noFill/>
          <a:ln/>
        </p:spPr>
        <p:txBody>
          <a:bodyPr wrap="square" lIns="0" tIns="0" rIns="0" bIns="0" rtlCol="0" anchor="ctr"/>
          <a:lstStyle/>
          <a:p>
            <a:pPr marL="0" indent="0" algn="r">
              <a:buNone/>
            </a:pPr>
            <a:r>
              <a:rPr lang="en-US" sz="2400" b="1" dirty="0">
                <a:solidFill>
                  <a:srgbClr val="AC212E"/>
                </a:solidFill>
                <a:latin typeface="Cambria" pitchFamily="34" charset="0"/>
                <a:ea typeface="Cambria" pitchFamily="34" charset="-122"/>
                <a:cs typeface="Cambria" pitchFamily="34" charset="-120"/>
              </a:rPr>
              <a:t>40%</a:t>
            </a:r>
            <a:endParaRPr lang="en-US" sz="2400" dirty="0"/>
          </a:p>
        </p:txBody>
      </p:sp>
      <p:sp>
        <p:nvSpPr>
          <p:cNvPr id="9" name="Shape 7"/>
          <p:cNvSpPr/>
          <p:nvPr/>
        </p:nvSpPr>
        <p:spPr>
          <a:xfrm>
            <a:off x="548640" y="3154680"/>
            <a:ext cx="11064240" cy="1188720"/>
          </a:xfrm>
          <a:prstGeom prst="roundRect">
            <a:avLst>
              <a:gd name="adj" fmla="val 6923"/>
            </a:avLst>
          </a:prstGeom>
          <a:solidFill>
            <a:srgbClr val="F4F7FA"/>
          </a:solidFill>
          <a:ln w="12700">
            <a:solidFill>
              <a:srgbClr val="F4F7FA"/>
            </a:solidFill>
            <a:prstDash val="solid"/>
          </a:ln>
        </p:spPr>
        <p:txBody>
          <a:bodyPr/>
          <a:lstStyle/>
          <a:p>
            <a:endParaRPr lang="es-CL"/>
          </a:p>
        </p:txBody>
      </p:sp>
      <p:sp>
        <p:nvSpPr>
          <p:cNvPr id="10" name="Text 8"/>
          <p:cNvSpPr/>
          <p:nvPr/>
        </p:nvSpPr>
        <p:spPr>
          <a:xfrm>
            <a:off x="868680" y="3264408"/>
            <a:ext cx="1737360" cy="411480"/>
          </a:xfrm>
          <a:prstGeom prst="rect">
            <a:avLst/>
          </a:prstGeom>
          <a:noFill/>
          <a:ln/>
        </p:spPr>
        <p:txBody>
          <a:bodyPr wrap="square" lIns="0" tIns="0" rIns="0" bIns="0" rtlCol="0" anchor="ctr"/>
          <a:lstStyle/>
          <a:p>
            <a:pPr marL="0" indent="0">
              <a:buNone/>
            </a:pPr>
            <a:r>
              <a:rPr lang="en-US" sz="1800" b="1" dirty="0">
                <a:solidFill>
                  <a:srgbClr val="06304A"/>
                </a:solidFill>
                <a:latin typeface="Cambria" pitchFamily="34" charset="0"/>
                <a:ea typeface="Cambria" pitchFamily="34" charset="-122"/>
                <a:cs typeface="Cambria" pitchFamily="34" charset="-120"/>
              </a:rPr>
              <a:t>Semana 2</a:t>
            </a:r>
            <a:endParaRPr lang="en-US" sz="1800" dirty="0"/>
          </a:p>
        </p:txBody>
      </p:sp>
      <p:sp>
        <p:nvSpPr>
          <p:cNvPr id="11" name="Text 9"/>
          <p:cNvSpPr/>
          <p:nvPr/>
        </p:nvSpPr>
        <p:spPr>
          <a:xfrm>
            <a:off x="868680" y="3721608"/>
            <a:ext cx="3840480" cy="45720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Programación estructurada y recursiva · POO</a:t>
            </a:r>
            <a:endParaRPr lang="en-US" sz="1250" dirty="0"/>
          </a:p>
        </p:txBody>
      </p:sp>
      <p:sp>
        <p:nvSpPr>
          <p:cNvPr id="12" name="Text 10"/>
          <p:cNvSpPr/>
          <p:nvPr/>
        </p:nvSpPr>
        <p:spPr>
          <a:xfrm>
            <a:off x="4937760" y="3154680"/>
            <a:ext cx="5120640" cy="1188720"/>
          </a:xfrm>
          <a:prstGeom prst="rect">
            <a:avLst/>
          </a:prstGeom>
          <a:noFill/>
          <a:ln/>
        </p:spPr>
        <p:txBody>
          <a:bodyPr wrap="square" lIns="0" tIns="0" rIns="0" bIns="0" rtlCol="0" anchor="ctr"/>
          <a:lstStyle/>
          <a:p>
            <a:pPr marL="0" indent="0">
              <a:lnSpc>
                <a:spcPts val="1800"/>
              </a:lnSpc>
              <a:buNone/>
            </a:pPr>
            <a:r>
              <a:rPr lang="en-US" sz="1300" dirty="0">
                <a:solidFill>
                  <a:srgbClr val="06304A"/>
                </a:solidFill>
                <a:latin typeface="Calibri" pitchFamily="34" charset="0"/>
                <a:ea typeface="Calibri" pitchFamily="34" charset="-122"/>
                <a:cs typeface="Calibri" pitchFamily="34" charset="-120"/>
              </a:rPr>
              <a:t>Fase 3: núcleo algorítmico, eficiencia y orientación a objetos</a:t>
            </a:r>
            <a:endParaRPr lang="en-US" sz="1300" dirty="0"/>
          </a:p>
        </p:txBody>
      </p:sp>
      <p:sp>
        <p:nvSpPr>
          <p:cNvPr id="13" name="Text 11"/>
          <p:cNvSpPr/>
          <p:nvPr/>
        </p:nvSpPr>
        <p:spPr>
          <a:xfrm>
            <a:off x="10241280" y="3154680"/>
            <a:ext cx="1097280" cy="1188720"/>
          </a:xfrm>
          <a:prstGeom prst="rect">
            <a:avLst/>
          </a:prstGeom>
          <a:noFill/>
          <a:ln/>
        </p:spPr>
        <p:txBody>
          <a:bodyPr wrap="square" lIns="0" tIns="0" rIns="0" bIns="0" rtlCol="0" anchor="ctr"/>
          <a:lstStyle/>
          <a:p>
            <a:pPr marL="0" indent="0" algn="r">
              <a:buNone/>
            </a:pPr>
            <a:r>
              <a:rPr lang="en-US" sz="2400" b="1" dirty="0">
                <a:solidFill>
                  <a:srgbClr val="AC212E"/>
                </a:solidFill>
                <a:latin typeface="Cambria" pitchFamily="34" charset="0"/>
                <a:ea typeface="Cambria" pitchFamily="34" charset="-122"/>
                <a:cs typeface="Cambria" pitchFamily="34" charset="-120"/>
              </a:rPr>
              <a:t>20%</a:t>
            </a:r>
            <a:endParaRPr lang="en-US" sz="2400" dirty="0"/>
          </a:p>
        </p:txBody>
      </p:sp>
      <p:sp>
        <p:nvSpPr>
          <p:cNvPr id="14" name="Shape 12"/>
          <p:cNvSpPr/>
          <p:nvPr/>
        </p:nvSpPr>
        <p:spPr>
          <a:xfrm>
            <a:off x="548640" y="4526280"/>
            <a:ext cx="11064240" cy="1188720"/>
          </a:xfrm>
          <a:prstGeom prst="roundRect">
            <a:avLst>
              <a:gd name="adj" fmla="val 6923"/>
            </a:avLst>
          </a:prstGeom>
          <a:solidFill>
            <a:srgbClr val="F4F7FA"/>
          </a:solidFill>
          <a:ln w="12700">
            <a:solidFill>
              <a:srgbClr val="F4F7FA"/>
            </a:solidFill>
            <a:prstDash val="solid"/>
          </a:ln>
        </p:spPr>
        <p:txBody>
          <a:bodyPr/>
          <a:lstStyle/>
          <a:p>
            <a:endParaRPr lang="es-CL"/>
          </a:p>
        </p:txBody>
      </p:sp>
      <p:sp>
        <p:nvSpPr>
          <p:cNvPr id="15" name="Text 13"/>
          <p:cNvSpPr/>
          <p:nvPr/>
        </p:nvSpPr>
        <p:spPr>
          <a:xfrm>
            <a:off x="868680" y="4636008"/>
            <a:ext cx="1737360" cy="411480"/>
          </a:xfrm>
          <a:prstGeom prst="rect">
            <a:avLst/>
          </a:prstGeom>
          <a:noFill/>
          <a:ln/>
        </p:spPr>
        <p:txBody>
          <a:bodyPr wrap="square" lIns="0" tIns="0" rIns="0" bIns="0" rtlCol="0" anchor="ctr"/>
          <a:lstStyle/>
          <a:p>
            <a:pPr marL="0" indent="0">
              <a:buNone/>
            </a:pPr>
            <a:r>
              <a:rPr lang="en-US" sz="1800" b="1" dirty="0">
                <a:solidFill>
                  <a:srgbClr val="06304A"/>
                </a:solidFill>
                <a:latin typeface="Cambria" pitchFamily="34" charset="0"/>
                <a:ea typeface="Cambria" pitchFamily="34" charset="-122"/>
                <a:cs typeface="Cambria" pitchFamily="34" charset="-120"/>
              </a:rPr>
              <a:t>Semana 3</a:t>
            </a:r>
            <a:endParaRPr lang="en-US" sz="1800" dirty="0"/>
          </a:p>
        </p:txBody>
      </p:sp>
      <p:sp>
        <p:nvSpPr>
          <p:cNvPr id="16" name="Text 14"/>
          <p:cNvSpPr/>
          <p:nvPr/>
        </p:nvSpPr>
        <p:spPr>
          <a:xfrm>
            <a:off x="868680" y="5093208"/>
            <a:ext cx="3840480" cy="45720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Visualización y comunicación de resultados</a:t>
            </a:r>
            <a:endParaRPr lang="en-US" sz="1250" dirty="0"/>
          </a:p>
        </p:txBody>
      </p:sp>
      <p:sp>
        <p:nvSpPr>
          <p:cNvPr id="17" name="Text 15"/>
          <p:cNvSpPr/>
          <p:nvPr/>
        </p:nvSpPr>
        <p:spPr>
          <a:xfrm>
            <a:off x="4937760" y="4526280"/>
            <a:ext cx="5120640" cy="1188720"/>
          </a:xfrm>
          <a:prstGeom prst="rect">
            <a:avLst/>
          </a:prstGeom>
          <a:noFill/>
          <a:ln/>
        </p:spPr>
        <p:txBody>
          <a:bodyPr wrap="square" lIns="0" tIns="0" rIns="0" bIns="0" rtlCol="0" anchor="ctr"/>
          <a:lstStyle/>
          <a:p>
            <a:pPr marL="0" indent="0">
              <a:lnSpc>
                <a:spcPts val="1800"/>
              </a:lnSpc>
              <a:buNone/>
            </a:pPr>
            <a:r>
              <a:rPr lang="en-US" sz="1300" dirty="0">
                <a:solidFill>
                  <a:srgbClr val="06304A"/>
                </a:solidFill>
                <a:latin typeface="Calibri" pitchFamily="34" charset="0"/>
                <a:ea typeface="Calibri" pitchFamily="34" charset="-122"/>
                <a:cs typeface="Calibri" pitchFamily="34" charset="-120"/>
              </a:rPr>
              <a:t>Fase 4: informe final, visualizaciones y presentación audiovisual</a:t>
            </a:r>
            <a:endParaRPr lang="en-US" sz="1300" dirty="0"/>
          </a:p>
        </p:txBody>
      </p:sp>
      <p:sp>
        <p:nvSpPr>
          <p:cNvPr id="18" name="Text 16"/>
          <p:cNvSpPr/>
          <p:nvPr/>
        </p:nvSpPr>
        <p:spPr>
          <a:xfrm>
            <a:off x="10241280" y="4526280"/>
            <a:ext cx="1097280" cy="1188720"/>
          </a:xfrm>
          <a:prstGeom prst="rect">
            <a:avLst/>
          </a:prstGeom>
          <a:noFill/>
          <a:ln/>
        </p:spPr>
        <p:txBody>
          <a:bodyPr wrap="square" lIns="0" tIns="0" rIns="0" bIns="0" rtlCol="0" anchor="ctr"/>
          <a:lstStyle/>
          <a:p>
            <a:pPr marL="0" indent="0" algn="r">
              <a:buNone/>
            </a:pPr>
            <a:r>
              <a:rPr lang="en-US" sz="2400" b="1" dirty="0">
                <a:solidFill>
                  <a:srgbClr val="AC212E"/>
                </a:solidFill>
                <a:latin typeface="Cambria" pitchFamily="34" charset="0"/>
                <a:ea typeface="Cambria" pitchFamily="34" charset="-122"/>
                <a:cs typeface="Cambria" pitchFamily="34" charset="-120"/>
              </a:rPr>
              <a:t>40%</a:t>
            </a:r>
            <a:endParaRPr lang="en-US" sz="2400" dirty="0"/>
          </a:p>
        </p:txBody>
      </p:sp>
      <p:sp>
        <p:nvSpPr>
          <p:cNvPr id="19" name="Shape 17"/>
          <p:cNvSpPr/>
          <p:nvPr/>
        </p:nvSpPr>
        <p:spPr>
          <a:xfrm>
            <a:off x="548640" y="5897880"/>
            <a:ext cx="11064240" cy="457200"/>
          </a:xfrm>
          <a:prstGeom prst="roundRect">
            <a:avLst>
              <a:gd name="adj" fmla="val 18000"/>
            </a:avLst>
          </a:prstGeom>
          <a:solidFill>
            <a:srgbClr val="0A1526"/>
          </a:solidFill>
          <a:ln w="12700">
            <a:solidFill>
              <a:srgbClr val="0A1526"/>
            </a:solidFill>
            <a:prstDash val="solid"/>
          </a:ln>
        </p:spPr>
        <p:txBody>
          <a:bodyPr/>
          <a:lstStyle/>
          <a:p>
            <a:endParaRPr lang="es-CL"/>
          </a:p>
        </p:txBody>
      </p:sp>
      <p:sp>
        <p:nvSpPr>
          <p:cNvPr id="20" name="Text 18"/>
          <p:cNvSpPr/>
          <p:nvPr/>
        </p:nvSpPr>
        <p:spPr>
          <a:xfrm>
            <a:off x="868680" y="5897880"/>
            <a:ext cx="10424160" cy="4572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La Semana 1 concentra dos unidades temáticas y el 40% de la nota. </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Cómo se evalúa</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Cuatro instancias sumativas, todas sobre el mismo proyecto. Nota mínima de aprobación: 4,0.</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719072"/>
          <a:ext cx="11064240" cy="2651760"/>
        </p:xfrm>
        <a:graphic>
          <a:graphicData uri="http://schemas.openxmlformats.org/drawingml/2006/table">
            <a:tbl>
              <a:tblPr/>
              <a:tblGrid>
                <a:gridCol w="3291840">
                  <a:extLst>
                    <a:ext uri="{9D8B030D-6E8A-4147-A177-3AD203B41FA5}">
                      <a16:colId xmlns:a16="http://schemas.microsoft.com/office/drawing/2014/main" val="20000"/>
                    </a:ext>
                  </a:extLst>
                </a:gridCol>
                <a:gridCol w="53949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530352">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Evaluación</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Qué se entrega</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Semana</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Pond.</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extLst>
                  <a:ext uri="{0D108BD9-81ED-4DB2-BD59-A6C34878D82A}">
                    <a16:rowId xmlns:a16="http://schemas.microsoft.com/office/drawing/2014/main" val="10000"/>
                  </a:ext>
                </a:extLst>
              </a:tr>
              <a:tr h="530352">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Sumativa 1 — Fases 1 y 2</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Informe, repositorio y notebooks del entorno y el pipeline de datos</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40%</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Sumativa 2 — Fase 3</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Núcleo algorítmico con eficiencia y POO</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0352">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Sumativa 3 — Fase 4</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Proyecto final: informe, notebooks y presentación audiovisual</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Autoevaluación y coevaluación</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Escala de apreciación sobre el trabajo del equipo</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2"/>
          <p:cNvSpPr/>
          <p:nvPr/>
        </p:nvSpPr>
        <p:spPr>
          <a:xfrm>
            <a:off x="548640" y="4315968"/>
            <a:ext cx="5394960" cy="1371600"/>
          </a:xfrm>
          <a:prstGeom prst="roundRect">
            <a:avLst>
              <a:gd name="adj" fmla="val 6000"/>
            </a:avLst>
          </a:prstGeom>
          <a:solidFill>
            <a:srgbClr val="F6E7E9"/>
          </a:solidFill>
          <a:ln w="12700">
            <a:solidFill>
              <a:srgbClr val="F6E7E9"/>
            </a:solidFill>
            <a:prstDash val="solid"/>
          </a:ln>
        </p:spPr>
        <p:txBody>
          <a:bodyPr/>
          <a:lstStyle/>
          <a:p>
            <a:endParaRPr lang="es-CL"/>
          </a:p>
        </p:txBody>
      </p:sp>
      <p:sp>
        <p:nvSpPr>
          <p:cNvPr id="6" name="Text 3"/>
          <p:cNvSpPr/>
          <p:nvPr/>
        </p:nvSpPr>
        <p:spPr>
          <a:xfrm>
            <a:off x="868680" y="4480560"/>
            <a:ext cx="475488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Hay también evaluaciones formativas</a:t>
            </a:r>
            <a:endParaRPr lang="en-US" sz="1400" dirty="0"/>
          </a:p>
        </p:txBody>
      </p:sp>
      <p:sp>
        <p:nvSpPr>
          <p:cNvPr id="4" name="Text 4"/>
          <p:cNvSpPr/>
          <p:nvPr/>
        </p:nvSpPr>
        <p:spPr>
          <a:xfrm>
            <a:off x="868680" y="4837176"/>
            <a:ext cx="4754880" cy="777240"/>
          </a:xfrm>
          <a:prstGeom prst="rect">
            <a:avLst/>
          </a:prstGeom>
          <a:noFill/>
          <a:ln/>
        </p:spPr>
        <p:txBody>
          <a:bodyPr wrap="square" lIns="0" tIns="0" rIns="0" bIns="0" rtlCol="0" anchor="ctr"/>
          <a:lstStyle/>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No ponderan, pero su retroalimentación se incorpora a la entrega calificada siguiente. Es la única instancia donde equivocarse no cuesta nota.</a:t>
            </a:r>
            <a:endParaRPr lang="en-US" sz="1250" dirty="0"/>
          </a:p>
        </p:txBody>
      </p:sp>
      <p:sp>
        <p:nvSpPr>
          <p:cNvPr id="8" name="Shape 5"/>
          <p:cNvSpPr/>
          <p:nvPr/>
        </p:nvSpPr>
        <p:spPr>
          <a:xfrm>
            <a:off x="6217920" y="4315968"/>
            <a:ext cx="5394960" cy="1371600"/>
          </a:xfrm>
          <a:prstGeom prst="roundRect">
            <a:avLst>
              <a:gd name="adj" fmla="val 6000"/>
            </a:avLst>
          </a:prstGeom>
          <a:solidFill>
            <a:srgbClr val="F4F7FA"/>
          </a:solidFill>
          <a:ln w="12700">
            <a:solidFill>
              <a:srgbClr val="F4F7FA"/>
            </a:solidFill>
            <a:prstDash val="solid"/>
          </a:ln>
        </p:spPr>
        <p:txBody>
          <a:bodyPr/>
          <a:lstStyle/>
          <a:p>
            <a:endParaRPr lang="es-CL"/>
          </a:p>
        </p:txBody>
      </p:sp>
      <p:sp>
        <p:nvSpPr>
          <p:cNvPr id="9" name="Text 6"/>
          <p:cNvSpPr/>
          <p:nvPr/>
        </p:nvSpPr>
        <p:spPr>
          <a:xfrm>
            <a:off x="6537960" y="4480560"/>
            <a:ext cx="475488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Todo se evalúa con rúbrica</a:t>
            </a:r>
            <a:endParaRPr lang="en-US" sz="1400" dirty="0"/>
          </a:p>
        </p:txBody>
      </p:sp>
      <p:sp>
        <p:nvSpPr>
          <p:cNvPr id="10" name="Text 7"/>
          <p:cNvSpPr/>
          <p:nvPr/>
        </p:nvSpPr>
        <p:spPr>
          <a:xfrm>
            <a:off x="6537960" y="4837176"/>
            <a:ext cx="4754880" cy="777240"/>
          </a:xfrm>
          <a:prstGeom prst="rect">
            <a:avLst/>
          </a:prstGeom>
          <a:noFill/>
          <a:ln/>
        </p:spPr>
        <p:txBody>
          <a:bodyPr wrap="square" lIns="0" tIns="0" rIns="0" bIns="0" rtlCol="0" anchor="ctr"/>
          <a:lstStyle/>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Está publicada en cada tarea, antes de la entrega. Ábranla al empezar, no al terminar: dice exactamente qué se espera en cada criterio.</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El trabajo es en equipo, y eso se evalúa</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Grupos de 3 o 4 integrantes, que se mantienen durante todo el curso.</a:t>
            </a:r>
            <a:endParaRPr lang="en-US" sz="1400" dirty="0"/>
          </a:p>
        </p:txBody>
      </p:sp>
      <p:sp>
        <p:nvSpPr>
          <p:cNvPr id="4" name="Shape 2"/>
          <p:cNvSpPr/>
          <p:nvPr/>
        </p:nvSpPr>
        <p:spPr>
          <a:xfrm>
            <a:off x="548640" y="1783080"/>
            <a:ext cx="5303520" cy="1280160"/>
          </a:xfrm>
          <a:prstGeom prst="roundRect">
            <a:avLst>
              <a:gd name="adj" fmla="val 6429"/>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822960" y="2194560"/>
            <a:ext cx="438912" cy="438912"/>
          </a:xfrm>
          <a:prstGeom prst="ellipse">
            <a:avLst/>
          </a:prstGeom>
          <a:solidFill>
            <a:srgbClr val="AC212E"/>
          </a:solidFill>
          <a:ln/>
        </p:spPr>
        <p:txBody>
          <a:bodyPr/>
          <a:lstStyle/>
          <a:p>
            <a:endParaRPr lang="es-CL"/>
          </a:p>
        </p:txBody>
      </p:sp>
      <p:sp>
        <p:nvSpPr>
          <p:cNvPr id="6" name="Text 4"/>
          <p:cNvSpPr/>
          <p:nvPr/>
        </p:nvSpPr>
        <p:spPr>
          <a:xfrm>
            <a:off x="822960" y="2194560"/>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17320" y="1929384"/>
            <a:ext cx="4251960" cy="411480"/>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Formen el grupo el primer día</a:t>
            </a:r>
            <a:endParaRPr lang="en-US" sz="1400" dirty="0"/>
          </a:p>
        </p:txBody>
      </p:sp>
      <p:sp>
        <p:nvSpPr>
          <p:cNvPr id="8" name="Text 6"/>
          <p:cNvSpPr/>
          <p:nvPr/>
        </p:nvSpPr>
        <p:spPr>
          <a:xfrm>
            <a:off x="1417320" y="2377440"/>
            <a:ext cx="4251960" cy="59436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Sin grupo no hay avance posible: la primera entrega es al cierre de la Semana 1.</a:t>
            </a:r>
            <a:endParaRPr lang="en-US" sz="1200" dirty="0"/>
          </a:p>
        </p:txBody>
      </p:sp>
      <p:sp>
        <p:nvSpPr>
          <p:cNvPr id="9" name="Shape 7"/>
          <p:cNvSpPr/>
          <p:nvPr/>
        </p:nvSpPr>
        <p:spPr>
          <a:xfrm>
            <a:off x="6309360" y="1783080"/>
            <a:ext cx="5303520" cy="1280160"/>
          </a:xfrm>
          <a:prstGeom prst="roundRect">
            <a:avLst>
              <a:gd name="adj" fmla="val 6429"/>
            </a:avLst>
          </a:prstGeom>
          <a:solidFill>
            <a:srgbClr val="F4F7FA"/>
          </a:solidFill>
          <a:ln w="12700">
            <a:solidFill>
              <a:srgbClr val="F4F7FA"/>
            </a:solidFill>
            <a:prstDash val="solid"/>
          </a:ln>
        </p:spPr>
        <p:txBody>
          <a:bodyPr/>
          <a:lstStyle/>
          <a:p>
            <a:endParaRPr lang="es-CL"/>
          </a:p>
        </p:txBody>
      </p:sp>
      <p:sp>
        <p:nvSpPr>
          <p:cNvPr id="10" name="Shape 8"/>
          <p:cNvSpPr/>
          <p:nvPr/>
        </p:nvSpPr>
        <p:spPr>
          <a:xfrm>
            <a:off x="6583680" y="2194560"/>
            <a:ext cx="438912" cy="438912"/>
          </a:xfrm>
          <a:prstGeom prst="ellipse">
            <a:avLst/>
          </a:prstGeom>
          <a:solidFill>
            <a:srgbClr val="AC212E"/>
          </a:solidFill>
          <a:ln/>
        </p:spPr>
        <p:txBody>
          <a:bodyPr/>
          <a:lstStyle/>
          <a:p>
            <a:endParaRPr lang="es-CL"/>
          </a:p>
        </p:txBody>
      </p:sp>
      <p:sp>
        <p:nvSpPr>
          <p:cNvPr id="11" name="Text 9"/>
          <p:cNvSpPr/>
          <p:nvPr/>
        </p:nvSpPr>
        <p:spPr>
          <a:xfrm>
            <a:off x="6583680" y="2194560"/>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7178040" y="1929384"/>
            <a:ext cx="4251960" cy="411480"/>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Todos trabajan sobre el mismo repositorio</a:t>
            </a:r>
            <a:endParaRPr lang="en-US" sz="1400" dirty="0"/>
          </a:p>
        </p:txBody>
      </p:sp>
      <p:sp>
        <p:nvSpPr>
          <p:cNvPr id="13" name="Text 11"/>
          <p:cNvSpPr/>
          <p:nvPr/>
        </p:nvSpPr>
        <p:spPr>
          <a:xfrm>
            <a:off x="7178040" y="2377440"/>
            <a:ext cx="4251960" cy="59436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El historial de commits muestra quién hizo qué y cuándo. Es evidencia evaluada.</a:t>
            </a:r>
            <a:endParaRPr lang="en-US" sz="1200" dirty="0"/>
          </a:p>
        </p:txBody>
      </p:sp>
      <p:sp>
        <p:nvSpPr>
          <p:cNvPr id="14" name="Shape 12"/>
          <p:cNvSpPr/>
          <p:nvPr/>
        </p:nvSpPr>
        <p:spPr>
          <a:xfrm>
            <a:off x="548640" y="3246120"/>
            <a:ext cx="5303520" cy="1280160"/>
          </a:xfrm>
          <a:prstGeom prst="roundRect">
            <a:avLst>
              <a:gd name="adj" fmla="val 6429"/>
            </a:avLst>
          </a:prstGeom>
          <a:solidFill>
            <a:srgbClr val="F4F7FA"/>
          </a:solidFill>
          <a:ln w="12700">
            <a:solidFill>
              <a:srgbClr val="F4F7FA"/>
            </a:solidFill>
            <a:prstDash val="solid"/>
          </a:ln>
        </p:spPr>
        <p:txBody>
          <a:bodyPr/>
          <a:lstStyle/>
          <a:p>
            <a:endParaRPr lang="es-CL"/>
          </a:p>
        </p:txBody>
      </p:sp>
      <p:sp>
        <p:nvSpPr>
          <p:cNvPr id="15" name="Shape 13"/>
          <p:cNvSpPr/>
          <p:nvPr/>
        </p:nvSpPr>
        <p:spPr>
          <a:xfrm>
            <a:off x="822960" y="3657600"/>
            <a:ext cx="438912" cy="438912"/>
          </a:xfrm>
          <a:prstGeom prst="ellipse">
            <a:avLst/>
          </a:prstGeom>
          <a:solidFill>
            <a:srgbClr val="AC212E"/>
          </a:solidFill>
          <a:ln/>
        </p:spPr>
        <p:txBody>
          <a:bodyPr/>
          <a:lstStyle/>
          <a:p>
            <a:endParaRPr lang="es-CL"/>
          </a:p>
        </p:txBody>
      </p:sp>
      <p:sp>
        <p:nvSpPr>
          <p:cNvPr id="16" name="Text 14"/>
          <p:cNvSpPr/>
          <p:nvPr/>
        </p:nvSpPr>
        <p:spPr>
          <a:xfrm>
            <a:off x="822960" y="3657600"/>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417320" y="3392424"/>
            <a:ext cx="4251960" cy="411480"/>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Repártanse por archivo, no por línea</a:t>
            </a:r>
            <a:endParaRPr lang="en-US" sz="1400" dirty="0"/>
          </a:p>
        </p:txBody>
      </p:sp>
      <p:sp>
        <p:nvSpPr>
          <p:cNvPr id="18" name="Text 16"/>
          <p:cNvSpPr/>
          <p:nvPr/>
        </p:nvSpPr>
        <p:spPr>
          <a:xfrm>
            <a:off x="1417320" y="3840480"/>
            <a:ext cx="4251960" cy="59436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Dos personas editando el mismo notebook a la misma hora garantiza conflictos.</a:t>
            </a:r>
            <a:endParaRPr lang="en-US" sz="1200" dirty="0"/>
          </a:p>
        </p:txBody>
      </p:sp>
      <p:sp>
        <p:nvSpPr>
          <p:cNvPr id="19" name="Shape 17"/>
          <p:cNvSpPr/>
          <p:nvPr/>
        </p:nvSpPr>
        <p:spPr>
          <a:xfrm>
            <a:off x="6309360" y="3246120"/>
            <a:ext cx="5303520" cy="1280160"/>
          </a:xfrm>
          <a:prstGeom prst="roundRect">
            <a:avLst>
              <a:gd name="adj" fmla="val 6429"/>
            </a:avLst>
          </a:prstGeom>
          <a:solidFill>
            <a:srgbClr val="F6E7E9"/>
          </a:solidFill>
          <a:ln w="12700">
            <a:solidFill>
              <a:srgbClr val="F6E7E9"/>
            </a:solidFill>
            <a:prstDash val="solid"/>
          </a:ln>
        </p:spPr>
        <p:txBody>
          <a:bodyPr/>
          <a:lstStyle/>
          <a:p>
            <a:endParaRPr lang="es-CL"/>
          </a:p>
        </p:txBody>
      </p:sp>
      <p:sp>
        <p:nvSpPr>
          <p:cNvPr id="20" name="Shape 18"/>
          <p:cNvSpPr/>
          <p:nvPr/>
        </p:nvSpPr>
        <p:spPr>
          <a:xfrm>
            <a:off x="6583680" y="3657600"/>
            <a:ext cx="438912" cy="438912"/>
          </a:xfrm>
          <a:prstGeom prst="ellipse">
            <a:avLst/>
          </a:prstGeom>
          <a:solidFill>
            <a:srgbClr val="AC212E"/>
          </a:solidFill>
          <a:ln/>
        </p:spPr>
        <p:txBody>
          <a:bodyPr/>
          <a:lstStyle/>
          <a:p>
            <a:endParaRPr lang="es-CL"/>
          </a:p>
        </p:txBody>
      </p:sp>
      <p:sp>
        <p:nvSpPr>
          <p:cNvPr id="21" name="Text 19"/>
          <p:cNvSpPr/>
          <p:nvPr/>
        </p:nvSpPr>
        <p:spPr>
          <a:xfrm>
            <a:off x="6583680" y="3657600"/>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7178040" y="3392424"/>
            <a:ext cx="4251960" cy="411480"/>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Hay coevaluación</a:t>
            </a:r>
            <a:endParaRPr lang="en-US" sz="1400" dirty="0"/>
          </a:p>
        </p:txBody>
      </p:sp>
      <p:sp>
        <p:nvSpPr>
          <p:cNvPr id="23" name="Text 21"/>
          <p:cNvSpPr/>
          <p:nvPr/>
        </p:nvSpPr>
        <p:spPr>
          <a:xfrm>
            <a:off x="7178040" y="3840480"/>
            <a:ext cx="4251960" cy="59436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El 10% final lo determina cómo evalúan el aporte de cada integrante, incluido el propio.</a:t>
            </a:r>
            <a:endParaRPr lang="en-US" sz="1200" dirty="0"/>
          </a:p>
        </p:txBody>
      </p:sp>
      <p:sp>
        <p:nvSpPr>
          <p:cNvPr id="24" name="Shape 22"/>
          <p:cNvSpPr/>
          <p:nvPr/>
        </p:nvSpPr>
        <p:spPr>
          <a:xfrm>
            <a:off x="548640" y="4846320"/>
            <a:ext cx="11064240" cy="1097280"/>
          </a:xfrm>
          <a:prstGeom prst="roundRect">
            <a:avLst>
              <a:gd name="adj" fmla="val 7500"/>
            </a:avLst>
          </a:prstGeom>
          <a:solidFill>
            <a:srgbClr val="0A1526"/>
          </a:solidFill>
          <a:ln w="12700">
            <a:solidFill>
              <a:srgbClr val="0A1526"/>
            </a:solidFill>
            <a:prstDash val="solid"/>
          </a:ln>
        </p:spPr>
        <p:txBody>
          <a:bodyPr/>
          <a:lstStyle/>
          <a:p>
            <a:endParaRPr lang="es-CL"/>
          </a:p>
        </p:txBody>
      </p:sp>
      <p:sp>
        <p:nvSpPr>
          <p:cNvPr id="25" name="Text 23"/>
          <p:cNvSpPr/>
          <p:nvPr/>
        </p:nvSpPr>
        <p:spPr>
          <a:xfrm>
            <a:off x="868680" y="4846320"/>
            <a:ext cx="10424160" cy="1097280"/>
          </a:xfrm>
          <a:prstGeom prst="rect">
            <a:avLst/>
          </a:prstGeom>
          <a:noFill/>
          <a:ln/>
        </p:spPr>
        <p:txBody>
          <a:bodyPr wrap="square" lIns="0" tIns="0" rIns="0" bIns="0" rtlCol="0" anchor="ctr"/>
          <a:lstStyle/>
          <a:p>
            <a:pPr marL="0" indent="0">
              <a:lnSpc>
                <a:spcPts val="1900"/>
              </a:lnSpc>
              <a:buNone/>
            </a:pPr>
            <a:r>
              <a:rPr lang="en-US" sz="1350" dirty="0">
                <a:solidFill>
                  <a:srgbClr val="FFFFFF"/>
                </a:solidFill>
                <a:latin typeface="Calibri" pitchFamily="34" charset="0"/>
                <a:ea typeface="Calibri" pitchFamily="34" charset="-122"/>
                <a:cs typeface="Calibri" pitchFamily="34" charset="-120"/>
              </a:rPr>
              <a:t>El patrón que más problemas causa: una persona hace el trabajo y lo sube por todos. Produce un repositorio con un solo autor, y eso baja la nota del grupo completo por más completo que esté el contenido.</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Cómo funciona la modalidad online</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Trabajo autónomo con acompañamiento. El aula está ordenada como una secuencia.</a:t>
            </a:r>
            <a:endParaRPr lang="en-US" sz="1400" dirty="0"/>
          </a:p>
        </p:txBody>
      </p:sp>
      <p:sp>
        <p:nvSpPr>
          <p:cNvPr id="4" name="Shape 2"/>
          <p:cNvSpPr/>
          <p:nvPr/>
        </p:nvSpPr>
        <p:spPr>
          <a:xfrm>
            <a:off x="548640" y="1783080"/>
            <a:ext cx="3520440" cy="1417320"/>
          </a:xfrm>
          <a:prstGeom prst="roundRect">
            <a:avLst>
              <a:gd name="adj" fmla="val 5806"/>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04672" y="1920240"/>
            <a:ext cx="3017520" cy="36576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Recursos por semana</a:t>
            </a:r>
            <a:endParaRPr lang="en-US" sz="1400" dirty="0"/>
          </a:p>
        </p:txBody>
      </p:sp>
      <p:sp>
        <p:nvSpPr>
          <p:cNvPr id="6" name="Text 4"/>
          <p:cNvSpPr/>
          <p:nvPr/>
        </p:nvSpPr>
        <p:spPr>
          <a:xfrm>
            <a:off x="804672" y="2313432"/>
            <a:ext cx="3017520" cy="777240"/>
          </a:xfrm>
          <a:prstGeom prst="rect">
            <a:avLst/>
          </a:prstGeom>
          <a:noFill/>
          <a:ln/>
        </p:spPr>
        <p:txBody>
          <a:bodyPr wrap="square" lIns="0" tIns="0" rIns="0" bIns="0" rtlCol="0" anchor="ctr"/>
          <a:lstStyle/>
          <a:p>
            <a:pPr marL="0" indent="0">
              <a:lnSpc>
                <a:spcPts val="1600"/>
              </a:lnSpc>
              <a:buNone/>
            </a:pPr>
            <a:r>
              <a:rPr lang="en-US" sz="1200" dirty="0">
                <a:solidFill>
                  <a:srgbClr val="06304A"/>
                </a:solidFill>
                <a:latin typeface="Calibri" pitchFamily="34" charset="0"/>
                <a:ea typeface="Calibri" pitchFamily="34" charset="-122"/>
                <a:cs typeface="Calibri" pitchFamily="34" charset="-120"/>
              </a:rPr>
              <a:t>Cápsulas, videos, interactivos y apuntes descargables, en un orden pensado.</a:t>
            </a:r>
            <a:endParaRPr lang="en-US" sz="1200" dirty="0"/>
          </a:p>
        </p:txBody>
      </p:sp>
      <p:sp>
        <p:nvSpPr>
          <p:cNvPr id="7" name="Shape 5"/>
          <p:cNvSpPr/>
          <p:nvPr/>
        </p:nvSpPr>
        <p:spPr>
          <a:xfrm>
            <a:off x="4325112" y="1783080"/>
            <a:ext cx="3520440" cy="1417320"/>
          </a:xfrm>
          <a:prstGeom prst="roundRect">
            <a:avLst>
              <a:gd name="adj" fmla="val 5806"/>
            </a:avLst>
          </a:prstGeom>
          <a:solidFill>
            <a:srgbClr val="F4F7FA"/>
          </a:solidFill>
          <a:ln w="12700">
            <a:solidFill>
              <a:srgbClr val="F4F7FA"/>
            </a:solidFill>
            <a:prstDash val="solid"/>
          </a:ln>
        </p:spPr>
        <p:txBody>
          <a:bodyPr/>
          <a:lstStyle/>
          <a:p>
            <a:endParaRPr lang="es-CL"/>
          </a:p>
        </p:txBody>
      </p:sp>
      <p:sp>
        <p:nvSpPr>
          <p:cNvPr id="8" name="Text 6"/>
          <p:cNvSpPr/>
          <p:nvPr/>
        </p:nvSpPr>
        <p:spPr>
          <a:xfrm>
            <a:off x="4581144" y="1920240"/>
            <a:ext cx="3017520" cy="36576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Sesión sincrónica</a:t>
            </a:r>
            <a:endParaRPr lang="en-US" sz="1400" dirty="0"/>
          </a:p>
        </p:txBody>
      </p:sp>
      <p:sp>
        <p:nvSpPr>
          <p:cNvPr id="9" name="Text 7"/>
          <p:cNvSpPr/>
          <p:nvPr/>
        </p:nvSpPr>
        <p:spPr>
          <a:xfrm>
            <a:off x="4581144" y="2313432"/>
            <a:ext cx="3017520" cy="777240"/>
          </a:xfrm>
          <a:prstGeom prst="rect">
            <a:avLst/>
          </a:prstGeom>
          <a:noFill/>
          <a:ln/>
        </p:spPr>
        <p:txBody>
          <a:bodyPr wrap="square" lIns="0" tIns="0" rIns="0" bIns="0" rtlCol="0" anchor="ctr"/>
          <a:lstStyle/>
          <a:p>
            <a:pPr marL="0" indent="0">
              <a:lnSpc>
                <a:spcPts val="1600"/>
              </a:lnSpc>
              <a:buNone/>
            </a:pPr>
            <a:r>
              <a:rPr lang="en-US" sz="1200" dirty="0">
                <a:solidFill>
                  <a:srgbClr val="06304A"/>
                </a:solidFill>
                <a:latin typeface="Calibri" pitchFamily="34" charset="0"/>
                <a:ea typeface="Calibri" pitchFamily="34" charset="-122"/>
                <a:cs typeface="Calibri" pitchFamily="34" charset="-120"/>
              </a:rPr>
              <a:t>Encuentro semanal para reforzar contenidos y resolver consultas. Queda grabada.</a:t>
            </a:r>
            <a:endParaRPr lang="en-US" sz="1200" dirty="0"/>
          </a:p>
        </p:txBody>
      </p:sp>
      <p:sp>
        <p:nvSpPr>
          <p:cNvPr id="10" name="Shape 8"/>
          <p:cNvSpPr/>
          <p:nvPr/>
        </p:nvSpPr>
        <p:spPr>
          <a:xfrm>
            <a:off x="8101584" y="1783080"/>
            <a:ext cx="3520440" cy="1417320"/>
          </a:xfrm>
          <a:prstGeom prst="roundRect">
            <a:avLst>
              <a:gd name="adj" fmla="val 5806"/>
            </a:avLst>
          </a:prstGeom>
          <a:solidFill>
            <a:srgbClr val="F4F7FA"/>
          </a:solidFill>
          <a:ln w="12700">
            <a:solidFill>
              <a:srgbClr val="F4F7FA"/>
            </a:solidFill>
            <a:prstDash val="solid"/>
          </a:ln>
        </p:spPr>
        <p:txBody>
          <a:bodyPr/>
          <a:lstStyle/>
          <a:p>
            <a:endParaRPr lang="es-CL"/>
          </a:p>
        </p:txBody>
      </p:sp>
      <p:sp>
        <p:nvSpPr>
          <p:cNvPr id="11" name="Text 9"/>
          <p:cNvSpPr/>
          <p:nvPr/>
        </p:nvSpPr>
        <p:spPr>
          <a:xfrm>
            <a:off x="8357616" y="1920240"/>
            <a:ext cx="3017520" cy="36576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Foro de Consultas</a:t>
            </a:r>
            <a:endParaRPr lang="en-US" sz="1400" dirty="0"/>
          </a:p>
        </p:txBody>
      </p:sp>
      <p:sp>
        <p:nvSpPr>
          <p:cNvPr id="12" name="Text 10"/>
          <p:cNvSpPr/>
          <p:nvPr/>
        </p:nvSpPr>
        <p:spPr>
          <a:xfrm>
            <a:off x="8357616" y="2313432"/>
            <a:ext cx="3017520" cy="777240"/>
          </a:xfrm>
          <a:prstGeom prst="rect">
            <a:avLst/>
          </a:prstGeom>
          <a:noFill/>
          <a:ln/>
        </p:spPr>
        <p:txBody>
          <a:bodyPr wrap="square" lIns="0" tIns="0" rIns="0" bIns="0" rtlCol="0" anchor="ctr"/>
          <a:lstStyle/>
          <a:p>
            <a:pPr marL="0" indent="0">
              <a:lnSpc>
                <a:spcPts val="1600"/>
              </a:lnSpc>
              <a:buNone/>
            </a:pPr>
            <a:r>
              <a:rPr lang="en-US" sz="1200" dirty="0">
                <a:solidFill>
                  <a:srgbClr val="06304A"/>
                </a:solidFill>
                <a:latin typeface="Calibri" pitchFamily="34" charset="0"/>
                <a:ea typeface="Calibri" pitchFamily="34" charset="-122"/>
                <a:cs typeface="Calibri" pitchFamily="34" charset="-120"/>
              </a:rPr>
              <a:t>Dudas de contenido y errores técnicos. Es el canal principal.</a:t>
            </a:r>
            <a:endParaRPr lang="en-US" sz="1200" dirty="0"/>
          </a:p>
        </p:txBody>
      </p:sp>
      <p:sp>
        <p:nvSpPr>
          <p:cNvPr id="13" name="Shape 11"/>
          <p:cNvSpPr/>
          <p:nvPr/>
        </p:nvSpPr>
        <p:spPr>
          <a:xfrm>
            <a:off x="548640" y="3383280"/>
            <a:ext cx="3520440" cy="1417320"/>
          </a:xfrm>
          <a:prstGeom prst="roundRect">
            <a:avLst>
              <a:gd name="adj" fmla="val 5806"/>
            </a:avLst>
          </a:prstGeom>
          <a:solidFill>
            <a:srgbClr val="F4F7FA"/>
          </a:solidFill>
          <a:ln w="12700">
            <a:solidFill>
              <a:srgbClr val="F4F7FA"/>
            </a:solidFill>
            <a:prstDash val="solid"/>
          </a:ln>
        </p:spPr>
        <p:txBody>
          <a:bodyPr/>
          <a:lstStyle/>
          <a:p>
            <a:endParaRPr lang="es-CL"/>
          </a:p>
        </p:txBody>
      </p:sp>
      <p:sp>
        <p:nvSpPr>
          <p:cNvPr id="14" name="Text 12"/>
          <p:cNvSpPr/>
          <p:nvPr/>
        </p:nvSpPr>
        <p:spPr>
          <a:xfrm>
            <a:off x="804672" y="3520440"/>
            <a:ext cx="3017520" cy="36576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Foro de Tutoría</a:t>
            </a:r>
            <a:endParaRPr lang="en-US" sz="1400" dirty="0"/>
          </a:p>
        </p:txBody>
      </p:sp>
      <p:sp>
        <p:nvSpPr>
          <p:cNvPr id="15" name="Text 13"/>
          <p:cNvSpPr/>
          <p:nvPr/>
        </p:nvSpPr>
        <p:spPr>
          <a:xfrm>
            <a:off x="804672" y="3913632"/>
            <a:ext cx="3017520" cy="777240"/>
          </a:xfrm>
          <a:prstGeom prst="rect">
            <a:avLst/>
          </a:prstGeom>
          <a:noFill/>
          <a:ln/>
        </p:spPr>
        <p:txBody>
          <a:bodyPr wrap="square" lIns="0" tIns="0" rIns="0" bIns="0" rtlCol="0" anchor="ctr"/>
          <a:lstStyle/>
          <a:p>
            <a:pPr marL="0" indent="0">
              <a:lnSpc>
                <a:spcPts val="1600"/>
              </a:lnSpc>
              <a:buNone/>
            </a:pPr>
            <a:r>
              <a:rPr lang="en-US" sz="1200" dirty="0">
                <a:solidFill>
                  <a:srgbClr val="06304A"/>
                </a:solidFill>
                <a:latin typeface="Calibri" pitchFamily="34" charset="0"/>
                <a:ea typeface="Calibri" pitchFamily="34" charset="-122"/>
                <a:cs typeface="Calibri" pitchFamily="34" charset="-120"/>
              </a:rPr>
              <a:t>Problemas de acceso, plataforma y soporte.</a:t>
            </a:r>
            <a:endParaRPr lang="en-US" sz="1200" dirty="0"/>
          </a:p>
        </p:txBody>
      </p:sp>
      <p:sp>
        <p:nvSpPr>
          <p:cNvPr id="16" name="Shape 14"/>
          <p:cNvSpPr/>
          <p:nvPr/>
        </p:nvSpPr>
        <p:spPr>
          <a:xfrm>
            <a:off x="4325112" y="3383280"/>
            <a:ext cx="3520440" cy="1417320"/>
          </a:xfrm>
          <a:prstGeom prst="roundRect">
            <a:avLst>
              <a:gd name="adj" fmla="val 5806"/>
            </a:avLst>
          </a:prstGeom>
          <a:solidFill>
            <a:srgbClr val="F4F7FA"/>
          </a:solidFill>
          <a:ln w="12700">
            <a:solidFill>
              <a:srgbClr val="F4F7FA"/>
            </a:solidFill>
            <a:prstDash val="solid"/>
          </a:ln>
        </p:spPr>
        <p:txBody>
          <a:bodyPr/>
          <a:lstStyle/>
          <a:p>
            <a:endParaRPr lang="es-CL"/>
          </a:p>
        </p:txBody>
      </p:sp>
      <p:sp>
        <p:nvSpPr>
          <p:cNvPr id="17" name="Text 15"/>
          <p:cNvSpPr/>
          <p:nvPr/>
        </p:nvSpPr>
        <p:spPr>
          <a:xfrm>
            <a:off x="4581144" y="3520440"/>
            <a:ext cx="3017520" cy="36576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Foros de reflexión</a:t>
            </a:r>
            <a:endParaRPr lang="en-US" sz="1400" dirty="0"/>
          </a:p>
        </p:txBody>
      </p:sp>
      <p:sp>
        <p:nvSpPr>
          <p:cNvPr id="18" name="Text 16"/>
          <p:cNvSpPr/>
          <p:nvPr/>
        </p:nvSpPr>
        <p:spPr>
          <a:xfrm>
            <a:off x="4581144" y="3913632"/>
            <a:ext cx="3017520" cy="777240"/>
          </a:xfrm>
          <a:prstGeom prst="rect">
            <a:avLst/>
          </a:prstGeom>
          <a:noFill/>
          <a:ln/>
        </p:spPr>
        <p:txBody>
          <a:bodyPr wrap="square" lIns="0" tIns="0" rIns="0" bIns="0" rtlCol="0" anchor="ctr"/>
          <a:lstStyle/>
          <a:p>
            <a:pPr marL="0" indent="0">
              <a:lnSpc>
                <a:spcPts val="1600"/>
              </a:lnSpc>
              <a:buNone/>
            </a:pPr>
            <a:r>
              <a:rPr lang="en-US" sz="1200" dirty="0">
                <a:solidFill>
                  <a:srgbClr val="06304A"/>
                </a:solidFill>
                <a:latin typeface="Calibri" pitchFamily="34" charset="0"/>
                <a:ea typeface="Calibri" pitchFamily="34" charset="-122"/>
                <a:cs typeface="Calibri" pitchFamily="34" charset="-120"/>
              </a:rPr>
              <a:t>Uno por fase, para discutir decisiones técnicas con el grupo curso.</a:t>
            </a:r>
            <a:endParaRPr lang="en-US" sz="1200" dirty="0"/>
          </a:p>
        </p:txBody>
      </p:sp>
      <p:sp>
        <p:nvSpPr>
          <p:cNvPr id="19" name="Shape 17"/>
          <p:cNvSpPr/>
          <p:nvPr/>
        </p:nvSpPr>
        <p:spPr>
          <a:xfrm>
            <a:off x="8101584" y="3383280"/>
            <a:ext cx="3520440" cy="1417320"/>
          </a:xfrm>
          <a:prstGeom prst="roundRect">
            <a:avLst>
              <a:gd name="adj" fmla="val 5806"/>
            </a:avLst>
          </a:prstGeom>
          <a:solidFill>
            <a:srgbClr val="F4F7FA"/>
          </a:solidFill>
          <a:ln w="12700">
            <a:solidFill>
              <a:srgbClr val="F4F7FA"/>
            </a:solidFill>
            <a:prstDash val="solid"/>
          </a:ln>
        </p:spPr>
        <p:txBody>
          <a:bodyPr/>
          <a:lstStyle/>
          <a:p>
            <a:endParaRPr lang="es-CL"/>
          </a:p>
        </p:txBody>
      </p:sp>
      <p:sp>
        <p:nvSpPr>
          <p:cNvPr id="20" name="Text 18"/>
          <p:cNvSpPr/>
          <p:nvPr/>
        </p:nvSpPr>
        <p:spPr>
          <a:xfrm>
            <a:off x="8357616" y="3520440"/>
            <a:ext cx="3017520" cy="36576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Anuncios</a:t>
            </a:r>
            <a:endParaRPr lang="en-US" sz="1400" dirty="0"/>
          </a:p>
        </p:txBody>
      </p:sp>
      <p:sp>
        <p:nvSpPr>
          <p:cNvPr id="21" name="Text 19"/>
          <p:cNvSpPr/>
          <p:nvPr/>
        </p:nvSpPr>
        <p:spPr>
          <a:xfrm>
            <a:off x="8357616" y="3913632"/>
            <a:ext cx="3017520" cy="777240"/>
          </a:xfrm>
          <a:prstGeom prst="rect">
            <a:avLst/>
          </a:prstGeom>
          <a:noFill/>
          <a:ln/>
        </p:spPr>
        <p:txBody>
          <a:bodyPr wrap="square" lIns="0" tIns="0" rIns="0" bIns="0" rtlCol="0" anchor="ctr"/>
          <a:lstStyle/>
          <a:p>
            <a:pPr marL="0" indent="0">
              <a:lnSpc>
                <a:spcPts val="1600"/>
              </a:lnSpc>
              <a:buNone/>
            </a:pPr>
            <a:r>
              <a:rPr lang="en-US" sz="1200" dirty="0">
                <a:solidFill>
                  <a:srgbClr val="06304A"/>
                </a:solidFill>
                <a:latin typeface="Calibri" pitchFamily="34" charset="0"/>
                <a:ea typeface="Calibri" pitchFamily="34" charset="-122"/>
                <a:cs typeface="Calibri" pitchFamily="34" charset="-120"/>
              </a:rPr>
              <a:t>Recursos y avisos que no están dentro de los módulos. Revísenlos.</a:t>
            </a:r>
            <a:endParaRPr lang="en-US" sz="1200" dirty="0"/>
          </a:p>
        </p:txBody>
      </p:sp>
      <p:sp>
        <p:nvSpPr>
          <p:cNvPr id="22" name="Shape 20"/>
          <p:cNvSpPr/>
          <p:nvPr/>
        </p:nvSpPr>
        <p:spPr>
          <a:xfrm>
            <a:off x="548640" y="5029200"/>
            <a:ext cx="11064240" cy="914400"/>
          </a:xfrm>
          <a:prstGeom prst="roundRect">
            <a:avLst>
              <a:gd name="adj" fmla="val 9000"/>
            </a:avLst>
          </a:prstGeom>
          <a:solidFill>
            <a:srgbClr val="F6E7E9"/>
          </a:solidFill>
          <a:ln w="12700">
            <a:solidFill>
              <a:srgbClr val="F6E7E9"/>
            </a:solidFill>
            <a:prstDash val="solid"/>
          </a:ln>
        </p:spPr>
        <p:txBody>
          <a:bodyPr/>
          <a:lstStyle/>
          <a:p>
            <a:endParaRPr lang="es-CL"/>
          </a:p>
        </p:txBody>
      </p:sp>
      <p:sp>
        <p:nvSpPr>
          <p:cNvPr id="23" name="Text 21"/>
          <p:cNvSpPr/>
          <p:nvPr/>
        </p:nvSpPr>
        <p:spPr>
          <a:xfrm>
            <a:off x="868680" y="5029200"/>
            <a:ext cx="10424160" cy="914400"/>
          </a:xfrm>
          <a:prstGeom prst="rect">
            <a:avLst/>
          </a:prstGeom>
          <a:noFill/>
          <a:ln/>
        </p:spPr>
        <p:txBody>
          <a:bodyPr wrap="square" lIns="0" tIns="0" rIns="0" bIns="0" rtlCol="0" anchor="ctr"/>
          <a:lstStyle/>
          <a:p>
            <a:pPr marL="0" indent="0">
              <a:buNone/>
            </a:pPr>
            <a:r>
              <a:rPr lang="en-US" sz="1400" dirty="0">
                <a:solidFill>
                  <a:srgbClr val="AC212E"/>
                </a:solidFill>
                <a:latin typeface="Calibri" pitchFamily="34" charset="0"/>
                <a:ea typeface="Calibri" pitchFamily="34" charset="-122"/>
                <a:cs typeface="Calibri" pitchFamily="34" charset="-120"/>
              </a:rPr>
              <a:t>Dedicación estimada: unas 12 horas semanales entre lectura, práctica y trabajo grupal. Distribuidas en la semana, no concentradas en el último día.</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526"/>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Qué necesitan tener listo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D7E3EE"/>
                </a:solidFill>
                <a:latin typeface="Calibri" pitchFamily="34" charset="0"/>
                <a:ea typeface="Calibri" pitchFamily="34" charset="-122"/>
                <a:cs typeface="Calibri" pitchFamily="34" charset="-120"/>
              </a:rPr>
              <a:t>Cinco cosas, todas gratuitas. Déjenlas resueltas antes de la primera entrega.</a:t>
            </a:r>
            <a:endParaRPr lang="en-US" sz="1400" dirty="0"/>
          </a:p>
        </p:txBody>
      </p:sp>
      <p:sp>
        <p:nvSpPr>
          <p:cNvPr id="4" name="Shape 2"/>
          <p:cNvSpPr/>
          <p:nvPr/>
        </p:nvSpPr>
        <p:spPr>
          <a:xfrm>
            <a:off x="548640" y="1783080"/>
            <a:ext cx="11064240" cy="713232"/>
          </a:xfrm>
          <a:prstGeom prst="roundRect">
            <a:avLst>
              <a:gd name="adj" fmla="val 11538"/>
            </a:avLst>
          </a:prstGeom>
          <a:solidFill>
            <a:srgbClr val="12203A"/>
          </a:solidFill>
          <a:ln w="12700">
            <a:solidFill>
              <a:srgbClr val="12203A"/>
            </a:solidFill>
            <a:prstDash val="solid"/>
          </a:ln>
        </p:spPr>
        <p:txBody>
          <a:bodyPr/>
          <a:lstStyle/>
          <a:p>
            <a:endParaRPr lang="es-CL"/>
          </a:p>
        </p:txBody>
      </p:sp>
      <p:sp>
        <p:nvSpPr>
          <p:cNvPr id="5" name="Shape 3"/>
          <p:cNvSpPr/>
          <p:nvPr/>
        </p:nvSpPr>
        <p:spPr>
          <a:xfrm>
            <a:off x="822960" y="1929384"/>
            <a:ext cx="420624" cy="420624"/>
          </a:xfrm>
          <a:prstGeom prst="ellipse">
            <a:avLst/>
          </a:prstGeom>
          <a:solidFill>
            <a:srgbClr val="AC212E"/>
          </a:solidFill>
          <a:ln/>
        </p:spPr>
        <p:txBody>
          <a:bodyPr/>
          <a:lstStyle/>
          <a:p>
            <a:endParaRPr lang="es-CL"/>
          </a:p>
        </p:txBody>
      </p:sp>
      <p:sp>
        <p:nvSpPr>
          <p:cNvPr id="6" name="Text 4"/>
          <p:cNvSpPr/>
          <p:nvPr/>
        </p:nvSpPr>
        <p:spPr>
          <a:xfrm>
            <a:off x="822960" y="192938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63040" y="1783080"/>
            <a:ext cx="2651760" cy="7132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Python 3.13</a:t>
            </a:r>
            <a:endParaRPr lang="en-US" sz="1400" dirty="0"/>
          </a:p>
        </p:txBody>
      </p:sp>
      <p:sp>
        <p:nvSpPr>
          <p:cNvPr id="8" name="Text 6"/>
          <p:cNvSpPr/>
          <p:nvPr/>
        </p:nvSpPr>
        <p:spPr>
          <a:xfrm>
            <a:off x="4206240" y="1783080"/>
            <a:ext cx="7132320" cy="713232"/>
          </a:xfrm>
          <a:prstGeom prst="rect">
            <a:avLst/>
          </a:prstGeom>
          <a:noFill/>
          <a:ln/>
        </p:spPr>
        <p:txBody>
          <a:bodyPr wrap="square" lIns="0" tIns="0" rIns="0" bIns="0" rtlCol="0" anchor="ctr"/>
          <a:lstStyle/>
          <a:p>
            <a:pPr marL="0" indent="0">
              <a:buNone/>
            </a:pPr>
            <a:r>
              <a:rPr lang="en-US" sz="1250" dirty="0">
                <a:solidFill>
                  <a:srgbClr val="D7E3EE"/>
                </a:solidFill>
                <a:latin typeface="Calibri" pitchFamily="34" charset="0"/>
                <a:ea typeface="Calibri" pitchFamily="34" charset="-122"/>
                <a:cs typeface="Calibri" pitchFamily="34" charset="-120"/>
              </a:rPr>
              <a:t>Descarga desde python.org. En Windows, marquen «Add python.exe to PATH».</a:t>
            </a:r>
            <a:endParaRPr lang="en-US" sz="1250" dirty="0"/>
          </a:p>
        </p:txBody>
      </p:sp>
      <p:sp>
        <p:nvSpPr>
          <p:cNvPr id="9" name="Shape 7"/>
          <p:cNvSpPr/>
          <p:nvPr/>
        </p:nvSpPr>
        <p:spPr>
          <a:xfrm>
            <a:off x="548640" y="2624328"/>
            <a:ext cx="11064240" cy="713232"/>
          </a:xfrm>
          <a:prstGeom prst="roundRect">
            <a:avLst>
              <a:gd name="adj" fmla="val 11538"/>
            </a:avLst>
          </a:prstGeom>
          <a:solidFill>
            <a:srgbClr val="12203A"/>
          </a:solidFill>
          <a:ln w="12700">
            <a:solidFill>
              <a:srgbClr val="12203A"/>
            </a:solidFill>
            <a:prstDash val="solid"/>
          </a:ln>
        </p:spPr>
        <p:txBody>
          <a:bodyPr/>
          <a:lstStyle/>
          <a:p>
            <a:endParaRPr lang="es-CL"/>
          </a:p>
        </p:txBody>
      </p:sp>
      <p:sp>
        <p:nvSpPr>
          <p:cNvPr id="10" name="Shape 8"/>
          <p:cNvSpPr/>
          <p:nvPr/>
        </p:nvSpPr>
        <p:spPr>
          <a:xfrm>
            <a:off x="822960" y="2770632"/>
            <a:ext cx="420624" cy="420624"/>
          </a:xfrm>
          <a:prstGeom prst="ellipse">
            <a:avLst/>
          </a:prstGeom>
          <a:solidFill>
            <a:srgbClr val="AC212E"/>
          </a:solidFill>
          <a:ln/>
        </p:spPr>
        <p:txBody>
          <a:bodyPr/>
          <a:lstStyle/>
          <a:p>
            <a:endParaRPr lang="es-CL"/>
          </a:p>
        </p:txBody>
      </p:sp>
      <p:sp>
        <p:nvSpPr>
          <p:cNvPr id="11" name="Text 9"/>
          <p:cNvSpPr/>
          <p:nvPr/>
        </p:nvSpPr>
        <p:spPr>
          <a:xfrm>
            <a:off x="822960" y="277063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463040" y="2624328"/>
            <a:ext cx="2651760" cy="7132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Git</a:t>
            </a:r>
            <a:endParaRPr lang="en-US" sz="1400" dirty="0"/>
          </a:p>
        </p:txBody>
      </p:sp>
      <p:sp>
        <p:nvSpPr>
          <p:cNvPr id="13" name="Text 11"/>
          <p:cNvSpPr/>
          <p:nvPr/>
        </p:nvSpPr>
        <p:spPr>
          <a:xfrm>
            <a:off x="4206240" y="2624328"/>
            <a:ext cx="7132320" cy="713232"/>
          </a:xfrm>
          <a:prstGeom prst="rect">
            <a:avLst/>
          </a:prstGeom>
          <a:noFill/>
          <a:ln/>
        </p:spPr>
        <p:txBody>
          <a:bodyPr wrap="square" lIns="0" tIns="0" rIns="0" bIns="0" rtlCol="0" anchor="ctr"/>
          <a:lstStyle/>
          <a:p>
            <a:pPr marL="0" indent="0">
              <a:buNone/>
            </a:pPr>
            <a:r>
              <a:rPr lang="en-US" sz="1250" dirty="0">
                <a:solidFill>
                  <a:srgbClr val="D7E3EE"/>
                </a:solidFill>
                <a:latin typeface="Calibri" pitchFamily="34" charset="0"/>
                <a:ea typeface="Calibri" pitchFamily="34" charset="-122"/>
                <a:cs typeface="Calibri" pitchFamily="34" charset="-120"/>
              </a:rPr>
              <a:t>En Windows incluye Git Bash; en macOS viene con las Command Line Tools.</a:t>
            </a:r>
            <a:endParaRPr lang="en-US" sz="1250" dirty="0"/>
          </a:p>
        </p:txBody>
      </p:sp>
      <p:sp>
        <p:nvSpPr>
          <p:cNvPr id="14" name="Shape 12"/>
          <p:cNvSpPr/>
          <p:nvPr/>
        </p:nvSpPr>
        <p:spPr>
          <a:xfrm>
            <a:off x="548640" y="3465576"/>
            <a:ext cx="11064240" cy="713232"/>
          </a:xfrm>
          <a:prstGeom prst="roundRect">
            <a:avLst>
              <a:gd name="adj" fmla="val 11538"/>
            </a:avLst>
          </a:prstGeom>
          <a:solidFill>
            <a:srgbClr val="12203A"/>
          </a:solidFill>
          <a:ln w="12700">
            <a:solidFill>
              <a:srgbClr val="12203A"/>
            </a:solidFill>
            <a:prstDash val="solid"/>
          </a:ln>
        </p:spPr>
        <p:txBody>
          <a:bodyPr/>
          <a:lstStyle/>
          <a:p>
            <a:endParaRPr lang="es-CL"/>
          </a:p>
        </p:txBody>
      </p:sp>
      <p:sp>
        <p:nvSpPr>
          <p:cNvPr id="15" name="Shape 13"/>
          <p:cNvSpPr/>
          <p:nvPr/>
        </p:nvSpPr>
        <p:spPr>
          <a:xfrm>
            <a:off x="822960" y="3611880"/>
            <a:ext cx="420624" cy="420624"/>
          </a:xfrm>
          <a:prstGeom prst="ellipse">
            <a:avLst/>
          </a:prstGeom>
          <a:solidFill>
            <a:srgbClr val="AC212E"/>
          </a:solidFill>
          <a:ln/>
        </p:spPr>
        <p:txBody>
          <a:bodyPr/>
          <a:lstStyle/>
          <a:p>
            <a:endParaRPr lang="es-CL"/>
          </a:p>
        </p:txBody>
      </p:sp>
      <p:sp>
        <p:nvSpPr>
          <p:cNvPr id="16" name="Text 14"/>
          <p:cNvSpPr/>
          <p:nvPr/>
        </p:nvSpPr>
        <p:spPr>
          <a:xfrm>
            <a:off x="822960" y="361188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463040" y="3465576"/>
            <a:ext cx="2651760" cy="7132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Cuenta de GitHub</a:t>
            </a:r>
            <a:endParaRPr lang="en-US" sz="1400" dirty="0"/>
          </a:p>
        </p:txBody>
      </p:sp>
      <p:sp>
        <p:nvSpPr>
          <p:cNvPr id="18" name="Text 16"/>
          <p:cNvSpPr/>
          <p:nvPr/>
        </p:nvSpPr>
        <p:spPr>
          <a:xfrm>
            <a:off x="4206240" y="3465576"/>
            <a:ext cx="7132320" cy="713232"/>
          </a:xfrm>
          <a:prstGeom prst="rect">
            <a:avLst/>
          </a:prstGeom>
          <a:noFill/>
          <a:ln/>
        </p:spPr>
        <p:txBody>
          <a:bodyPr wrap="square" lIns="0" tIns="0" rIns="0" bIns="0" rtlCol="0" anchor="ctr"/>
          <a:lstStyle/>
          <a:p>
            <a:pPr marL="0" indent="0">
              <a:buNone/>
            </a:pPr>
            <a:r>
              <a:rPr lang="en-US" sz="1250" dirty="0">
                <a:solidFill>
                  <a:srgbClr val="D7E3EE"/>
                </a:solidFill>
                <a:latin typeface="Calibri" pitchFamily="34" charset="0"/>
                <a:ea typeface="Calibri" pitchFamily="34" charset="-122"/>
                <a:cs typeface="Calibri" pitchFamily="34" charset="-120"/>
              </a:rPr>
              <a:t>Con el mismo correo que configuren en Git, para que sus commits se les atribuyan.</a:t>
            </a:r>
            <a:endParaRPr lang="en-US" sz="1250" dirty="0"/>
          </a:p>
        </p:txBody>
      </p:sp>
      <p:sp>
        <p:nvSpPr>
          <p:cNvPr id="19" name="Shape 17"/>
          <p:cNvSpPr/>
          <p:nvPr/>
        </p:nvSpPr>
        <p:spPr>
          <a:xfrm>
            <a:off x="548640" y="4306824"/>
            <a:ext cx="11064240" cy="713232"/>
          </a:xfrm>
          <a:prstGeom prst="roundRect">
            <a:avLst>
              <a:gd name="adj" fmla="val 11538"/>
            </a:avLst>
          </a:prstGeom>
          <a:solidFill>
            <a:srgbClr val="12203A"/>
          </a:solidFill>
          <a:ln w="12700">
            <a:solidFill>
              <a:srgbClr val="12203A"/>
            </a:solidFill>
            <a:prstDash val="solid"/>
          </a:ln>
        </p:spPr>
        <p:txBody>
          <a:bodyPr/>
          <a:lstStyle/>
          <a:p>
            <a:endParaRPr lang="es-CL"/>
          </a:p>
        </p:txBody>
      </p:sp>
      <p:sp>
        <p:nvSpPr>
          <p:cNvPr id="20" name="Shape 18"/>
          <p:cNvSpPr/>
          <p:nvPr/>
        </p:nvSpPr>
        <p:spPr>
          <a:xfrm>
            <a:off x="822960" y="4453128"/>
            <a:ext cx="420624" cy="420624"/>
          </a:xfrm>
          <a:prstGeom prst="ellipse">
            <a:avLst/>
          </a:prstGeom>
          <a:solidFill>
            <a:srgbClr val="AC212E"/>
          </a:solidFill>
          <a:ln/>
        </p:spPr>
        <p:txBody>
          <a:bodyPr/>
          <a:lstStyle/>
          <a:p>
            <a:endParaRPr lang="es-CL"/>
          </a:p>
        </p:txBody>
      </p:sp>
      <p:sp>
        <p:nvSpPr>
          <p:cNvPr id="21" name="Text 19"/>
          <p:cNvSpPr/>
          <p:nvPr/>
        </p:nvSpPr>
        <p:spPr>
          <a:xfrm>
            <a:off x="822960" y="445312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1463040" y="4306824"/>
            <a:ext cx="2651760" cy="7132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JupyterLab</a:t>
            </a:r>
            <a:endParaRPr lang="en-US" sz="1400" dirty="0"/>
          </a:p>
        </p:txBody>
      </p:sp>
      <p:sp>
        <p:nvSpPr>
          <p:cNvPr id="23" name="Text 21"/>
          <p:cNvSpPr/>
          <p:nvPr/>
        </p:nvSpPr>
        <p:spPr>
          <a:xfrm>
            <a:off x="4206240" y="4306824"/>
            <a:ext cx="7132320" cy="713232"/>
          </a:xfrm>
          <a:prstGeom prst="rect">
            <a:avLst/>
          </a:prstGeom>
          <a:noFill/>
          <a:ln/>
        </p:spPr>
        <p:txBody>
          <a:bodyPr wrap="square" lIns="0" tIns="0" rIns="0" bIns="0" rtlCol="0" anchor="ctr"/>
          <a:lstStyle/>
          <a:p>
            <a:pPr marL="0" indent="0">
              <a:buNone/>
            </a:pPr>
            <a:r>
              <a:rPr lang="en-US" sz="1250" dirty="0">
                <a:solidFill>
                  <a:srgbClr val="D7E3EE"/>
                </a:solidFill>
                <a:latin typeface="Calibri" pitchFamily="34" charset="0"/>
                <a:ea typeface="Calibri" pitchFamily="34" charset="-122"/>
                <a:cs typeface="Calibri" pitchFamily="34" charset="-120"/>
              </a:rPr>
              <a:t>Se instala dentro del entorno virtual del proyecto, no en el Python del sistema.</a:t>
            </a:r>
            <a:endParaRPr lang="en-US" sz="1250" dirty="0"/>
          </a:p>
        </p:txBody>
      </p:sp>
      <p:sp>
        <p:nvSpPr>
          <p:cNvPr id="24" name="Shape 22"/>
          <p:cNvSpPr/>
          <p:nvPr/>
        </p:nvSpPr>
        <p:spPr>
          <a:xfrm>
            <a:off x="548640" y="5148072"/>
            <a:ext cx="11064240" cy="713232"/>
          </a:xfrm>
          <a:prstGeom prst="roundRect">
            <a:avLst>
              <a:gd name="adj" fmla="val 11538"/>
            </a:avLst>
          </a:prstGeom>
          <a:solidFill>
            <a:srgbClr val="12203A"/>
          </a:solidFill>
          <a:ln w="12700">
            <a:solidFill>
              <a:srgbClr val="12203A"/>
            </a:solidFill>
            <a:prstDash val="solid"/>
          </a:ln>
        </p:spPr>
        <p:txBody>
          <a:bodyPr/>
          <a:lstStyle/>
          <a:p>
            <a:endParaRPr lang="es-CL"/>
          </a:p>
        </p:txBody>
      </p:sp>
      <p:sp>
        <p:nvSpPr>
          <p:cNvPr id="25" name="Shape 23"/>
          <p:cNvSpPr/>
          <p:nvPr/>
        </p:nvSpPr>
        <p:spPr>
          <a:xfrm>
            <a:off x="822960" y="5294376"/>
            <a:ext cx="420624" cy="420624"/>
          </a:xfrm>
          <a:prstGeom prst="ellipse">
            <a:avLst/>
          </a:prstGeom>
          <a:solidFill>
            <a:srgbClr val="AC212E"/>
          </a:solidFill>
          <a:ln/>
        </p:spPr>
        <p:txBody>
          <a:bodyPr/>
          <a:lstStyle/>
          <a:p>
            <a:endParaRPr lang="es-CL"/>
          </a:p>
        </p:txBody>
      </p:sp>
      <p:sp>
        <p:nvSpPr>
          <p:cNvPr id="26" name="Text 24"/>
          <p:cNvSpPr/>
          <p:nvPr/>
        </p:nvSpPr>
        <p:spPr>
          <a:xfrm>
            <a:off x="822960" y="529437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1463040" y="5148072"/>
            <a:ext cx="2651760" cy="7132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Un conjunto de datos</a:t>
            </a:r>
            <a:endParaRPr lang="en-US" sz="1400" dirty="0"/>
          </a:p>
        </p:txBody>
      </p:sp>
      <p:sp>
        <p:nvSpPr>
          <p:cNvPr id="28" name="Text 26"/>
          <p:cNvSpPr/>
          <p:nvPr/>
        </p:nvSpPr>
        <p:spPr>
          <a:xfrm>
            <a:off x="4206240" y="5148072"/>
            <a:ext cx="7132320" cy="713232"/>
          </a:xfrm>
          <a:prstGeom prst="rect">
            <a:avLst/>
          </a:prstGeom>
          <a:noFill/>
          <a:ln/>
        </p:spPr>
        <p:txBody>
          <a:bodyPr wrap="square" lIns="0" tIns="0" rIns="0" bIns="0" rtlCol="0" anchor="ctr"/>
          <a:lstStyle/>
          <a:p>
            <a:pPr marL="0" indent="0">
              <a:buNone/>
            </a:pPr>
            <a:r>
              <a:rPr lang="en-US" sz="1250" dirty="0">
                <a:solidFill>
                  <a:srgbClr val="D7E3EE"/>
                </a:solidFill>
                <a:latin typeface="Calibri" pitchFamily="34" charset="0"/>
                <a:ea typeface="Calibri" pitchFamily="34" charset="-122"/>
                <a:cs typeface="Calibri" pitchFamily="34" charset="-120"/>
              </a:rPr>
              <a:t>Elegido por el grupo según los criterios del curso. Verificado antes de comprometerse.</a:t>
            </a:r>
            <a:endParaRPr lang="en-US" sz="1250" dirty="0"/>
          </a:p>
        </p:txBody>
      </p:sp>
      <p:sp>
        <p:nvSpPr>
          <p:cNvPr id="29" name="Text 27"/>
          <p:cNvSpPr/>
          <p:nvPr/>
        </p:nvSpPr>
        <p:spPr>
          <a:xfrm>
            <a:off x="548640" y="6035040"/>
            <a:ext cx="11064240" cy="365760"/>
          </a:xfrm>
          <a:prstGeom prst="rect">
            <a:avLst/>
          </a:prstGeom>
          <a:noFill/>
          <a:ln/>
        </p:spPr>
        <p:txBody>
          <a:bodyPr wrap="square" lIns="0" tIns="0" rIns="0" bIns="0" rtlCol="0" anchor="ctr"/>
          <a:lstStyle/>
          <a:p>
            <a:pPr marL="0" indent="0">
              <a:buNone/>
            </a:pPr>
            <a:r>
              <a:rPr lang="en-US" sz="1300" i="1" dirty="0">
                <a:solidFill>
                  <a:srgbClr val="D7E3EE"/>
                </a:solidFill>
                <a:latin typeface="Calibri" pitchFamily="34" charset="0"/>
                <a:ea typeface="Calibri" pitchFamily="34" charset="-122"/>
                <a:cs typeface="Calibri" pitchFamily="34" charset="-120"/>
              </a:rPr>
              <a:t>La Guía de Git y GitHub del curso, en versión Windows y macOS, cubre la instalación paso a paso.</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Integridad académica y uso de IA</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Dos reglas claras, para que nadie las descubra tarde.</a:t>
            </a:r>
            <a:endParaRPr lang="en-US" sz="1400" dirty="0"/>
          </a:p>
        </p:txBody>
      </p:sp>
      <p:sp>
        <p:nvSpPr>
          <p:cNvPr id="4" name="Shape 2"/>
          <p:cNvSpPr/>
          <p:nvPr/>
        </p:nvSpPr>
        <p:spPr>
          <a:xfrm>
            <a:off x="548640" y="1783080"/>
            <a:ext cx="5394960" cy="2377440"/>
          </a:xfrm>
          <a:prstGeom prst="roundRect">
            <a:avLst>
              <a:gd name="adj" fmla="val 3462"/>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68680" y="1947672"/>
            <a:ext cx="4754880" cy="365760"/>
          </a:xfrm>
          <a:prstGeom prst="rect">
            <a:avLst/>
          </a:prstGeom>
          <a:noFill/>
          <a:ln/>
        </p:spPr>
        <p:txBody>
          <a:bodyPr wrap="square" lIns="0" tIns="0" rIns="0" bIns="0" rtlCol="0" anchor="ctr"/>
          <a:lstStyle/>
          <a:p>
            <a:pPr marL="0" indent="0">
              <a:buNone/>
            </a:pPr>
            <a:r>
              <a:rPr lang="en-US" sz="1600" b="1" dirty="0">
                <a:solidFill>
                  <a:srgbClr val="AC212E"/>
                </a:solidFill>
                <a:latin typeface="Calibri" pitchFamily="34" charset="0"/>
                <a:ea typeface="Calibri" pitchFamily="34" charset="-122"/>
                <a:cs typeface="Calibri" pitchFamily="34" charset="-120"/>
              </a:rPr>
              <a:t>El trabajo debe ser propio</a:t>
            </a:r>
            <a:endParaRPr lang="en-US" sz="1600" dirty="0"/>
          </a:p>
        </p:txBody>
      </p:sp>
      <p:sp>
        <p:nvSpPr>
          <p:cNvPr id="6" name="Text 4"/>
          <p:cNvSpPr/>
          <p:nvPr/>
        </p:nvSpPr>
        <p:spPr>
          <a:xfrm>
            <a:off x="868680" y="2377440"/>
            <a:ext cx="4754880" cy="1645920"/>
          </a:xfrm>
          <a:prstGeom prst="rect">
            <a:avLst/>
          </a:prstGeom>
          <a:noFill/>
          <a:ln/>
        </p:spPr>
        <p:txBody>
          <a:bodyPr wrap="square" lIns="0" tIns="0" rIns="0" bIns="0" rtlCol="0" anchor="ctr"/>
          <a:lstStyle/>
          <a:p>
            <a:pPr marL="0" indent="0">
              <a:lnSpc>
                <a:spcPts val="1800"/>
              </a:lnSpc>
              <a:buNone/>
            </a:pPr>
            <a:r>
              <a:rPr lang="en-US" sz="1300" dirty="0">
                <a:solidFill>
                  <a:srgbClr val="06304A"/>
                </a:solidFill>
                <a:latin typeface="Calibri" pitchFamily="34" charset="0"/>
                <a:ea typeface="Calibri" pitchFamily="34" charset="-122"/>
                <a:cs typeface="Calibri" pitchFamily="34" charset="-120"/>
              </a:rPr>
              <a:t>El plagio se sanciona con nota mínima, sin posibilidad de reposición.</a:t>
            </a:r>
            <a:endParaRPr lang="en-US" sz="1300" dirty="0"/>
          </a:p>
          <a:p>
            <a:pPr marL="0" indent="0">
              <a:lnSpc>
                <a:spcPts val="1800"/>
              </a:lnSpc>
              <a:buNone/>
            </a:pPr>
            <a:endParaRPr lang="en-US" sz="1300" dirty="0"/>
          </a:p>
          <a:p>
            <a:pPr marL="0" indent="0">
              <a:lnSpc>
                <a:spcPts val="1800"/>
              </a:lnSpc>
              <a:buNone/>
            </a:pPr>
            <a:r>
              <a:rPr lang="en-US" sz="1300" dirty="0">
                <a:solidFill>
                  <a:srgbClr val="06304A"/>
                </a:solidFill>
                <a:latin typeface="Calibri" pitchFamily="34" charset="0"/>
                <a:ea typeface="Calibri" pitchFamily="34" charset="-122"/>
                <a:cs typeface="Calibri" pitchFamily="34" charset="-120"/>
              </a:rPr>
              <a:t>El historial de Git es un registro de autoría: un repositorio cuyo primer commit contiene el proyecto terminado es, como mínimo, una señal de que el proceso no ocurrió como se declara.</a:t>
            </a:r>
            <a:endParaRPr lang="en-US" sz="1300" dirty="0"/>
          </a:p>
        </p:txBody>
      </p:sp>
      <p:sp>
        <p:nvSpPr>
          <p:cNvPr id="7" name="Shape 5"/>
          <p:cNvSpPr/>
          <p:nvPr/>
        </p:nvSpPr>
        <p:spPr>
          <a:xfrm>
            <a:off x="6217920" y="1783080"/>
            <a:ext cx="5394960" cy="2377440"/>
          </a:xfrm>
          <a:prstGeom prst="roundRect">
            <a:avLst>
              <a:gd name="adj" fmla="val 3462"/>
            </a:avLst>
          </a:prstGeom>
          <a:solidFill>
            <a:srgbClr val="F6E7E9"/>
          </a:solidFill>
          <a:ln w="12700">
            <a:solidFill>
              <a:srgbClr val="F6E7E9"/>
            </a:solidFill>
            <a:prstDash val="solid"/>
          </a:ln>
        </p:spPr>
        <p:txBody>
          <a:bodyPr/>
          <a:lstStyle/>
          <a:p>
            <a:endParaRPr lang="es-CL"/>
          </a:p>
        </p:txBody>
      </p:sp>
      <p:sp>
        <p:nvSpPr>
          <p:cNvPr id="8" name="Text 6"/>
          <p:cNvSpPr/>
          <p:nvPr/>
        </p:nvSpPr>
        <p:spPr>
          <a:xfrm>
            <a:off x="6537960" y="1947672"/>
            <a:ext cx="4754880" cy="365760"/>
          </a:xfrm>
          <a:prstGeom prst="rect">
            <a:avLst/>
          </a:prstGeom>
          <a:noFill/>
          <a:ln/>
        </p:spPr>
        <p:txBody>
          <a:bodyPr wrap="square" lIns="0" tIns="0" rIns="0" bIns="0" rtlCol="0" anchor="ctr"/>
          <a:lstStyle/>
          <a:p>
            <a:pPr marL="0" indent="0">
              <a:buNone/>
            </a:pPr>
            <a:r>
              <a:rPr lang="en-US" sz="1600" b="1" dirty="0">
                <a:solidFill>
                  <a:srgbClr val="AC212E"/>
                </a:solidFill>
                <a:latin typeface="Calibri" pitchFamily="34" charset="0"/>
                <a:ea typeface="Calibri" pitchFamily="34" charset="-122"/>
                <a:cs typeface="Calibri" pitchFamily="34" charset="-120"/>
              </a:rPr>
              <a:t>El uso de IA debe ser transparente</a:t>
            </a:r>
            <a:endParaRPr lang="en-US" sz="1600" dirty="0"/>
          </a:p>
        </p:txBody>
      </p:sp>
      <p:sp>
        <p:nvSpPr>
          <p:cNvPr id="9" name="Text 7"/>
          <p:cNvSpPr/>
          <p:nvPr/>
        </p:nvSpPr>
        <p:spPr>
          <a:xfrm>
            <a:off x="6537960" y="2377440"/>
            <a:ext cx="4754880" cy="1645920"/>
          </a:xfrm>
          <a:prstGeom prst="rect">
            <a:avLst/>
          </a:prstGeom>
          <a:noFill/>
          <a:ln/>
        </p:spPr>
        <p:txBody>
          <a:bodyPr wrap="square" lIns="0" tIns="0" rIns="0" bIns="0" rtlCol="0" anchor="ctr"/>
          <a:lstStyle/>
          <a:p>
            <a:pPr marL="0" indent="0">
              <a:lnSpc>
                <a:spcPts val="1800"/>
              </a:lnSpc>
              <a:buNone/>
            </a:pPr>
            <a:r>
              <a:rPr lang="en-US" sz="1300" dirty="0">
                <a:solidFill>
                  <a:srgbClr val="06304A"/>
                </a:solidFill>
                <a:latin typeface="Calibri" pitchFamily="34" charset="0"/>
                <a:ea typeface="Calibri" pitchFamily="34" charset="-122"/>
                <a:cs typeface="Calibri" pitchFamily="34" charset="-120"/>
              </a:rPr>
              <a:t>Si usan un asistente para generar o </a:t>
            </a:r>
            <a:r>
              <a:rPr lang="en-US" sz="1300" dirty="0" err="1">
                <a:solidFill>
                  <a:srgbClr val="06304A"/>
                </a:solidFill>
                <a:latin typeface="Calibri" pitchFamily="34" charset="0"/>
                <a:ea typeface="Calibri" pitchFamily="34" charset="-122"/>
                <a:cs typeface="Calibri" pitchFamily="34" charset="-120"/>
              </a:rPr>
              <a:t>depurar</a:t>
            </a:r>
            <a:r>
              <a:rPr lang="en-US" sz="1300" dirty="0">
                <a:solidFill>
                  <a:srgbClr val="06304A"/>
                </a:solidFill>
                <a:latin typeface="Calibri" pitchFamily="34" charset="0"/>
                <a:ea typeface="Calibri" pitchFamily="34" charset="-122"/>
                <a:cs typeface="Calibri" pitchFamily="34" charset="-120"/>
              </a:rPr>
              <a:t> </a:t>
            </a:r>
            <a:r>
              <a:rPr lang="en-US" sz="1300" dirty="0" err="1">
                <a:solidFill>
                  <a:srgbClr val="06304A"/>
                </a:solidFill>
                <a:latin typeface="Calibri" pitchFamily="34" charset="0"/>
                <a:ea typeface="Calibri" pitchFamily="34" charset="-122"/>
                <a:cs typeface="Calibri" pitchFamily="34" charset="-120"/>
              </a:rPr>
              <a:t>código</a:t>
            </a:r>
            <a:r>
              <a:rPr lang="en-US" sz="1300" dirty="0">
                <a:solidFill>
                  <a:srgbClr val="06304A"/>
                </a:solidFill>
                <a:latin typeface="Calibri" pitchFamily="34" charset="0"/>
                <a:ea typeface="Calibri" pitchFamily="34" charset="-122"/>
                <a:cs typeface="Calibri" pitchFamily="34" charset="-120"/>
              </a:rPr>
              <a:t>, </a:t>
            </a:r>
            <a:r>
              <a:rPr lang="en-US" sz="1300" dirty="0" err="1">
                <a:solidFill>
                  <a:srgbClr val="06304A"/>
                </a:solidFill>
                <a:latin typeface="Calibri" pitchFamily="34" charset="0"/>
                <a:ea typeface="Calibri" pitchFamily="34" charset="-122"/>
                <a:cs typeface="Calibri" pitchFamily="34" charset="-120"/>
              </a:rPr>
              <a:t>decláren­lo</a:t>
            </a:r>
            <a:r>
              <a:rPr lang="en-US" sz="1300" dirty="0">
                <a:solidFill>
                  <a:srgbClr val="06304A"/>
                </a:solidFill>
                <a:latin typeface="Calibri" pitchFamily="34" charset="0"/>
                <a:ea typeface="Calibri" pitchFamily="34" charset="-122"/>
                <a:cs typeface="Calibri" pitchFamily="34" charset="-120"/>
              </a:rPr>
              <a:t> </a:t>
            </a:r>
            <a:r>
              <a:rPr lang="en-US" sz="1300" dirty="0" err="1">
                <a:solidFill>
                  <a:srgbClr val="06304A"/>
                </a:solidFill>
                <a:latin typeface="Calibri" pitchFamily="34" charset="0"/>
                <a:ea typeface="Calibri" pitchFamily="34" charset="-122"/>
                <a:cs typeface="Calibri" pitchFamily="34" charset="-120"/>
              </a:rPr>
              <a:t>según</a:t>
            </a:r>
            <a:r>
              <a:rPr lang="en-US" sz="1300" dirty="0">
                <a:solidFill>
                  <a:srgbClr val="06304A"/>
                </a:solidFill>
                <a:latin typeface="Calibri" pitchFamily="34" charset="0"/>
                <a:ea typeface="Calibri" pitchFamily="34" charset="-122"/>
                <a:cs typeface="Calibri" pitchFamily="34" charset="-120"/>
              </a:rPr>
              <a:t> </a:t>
            </a:r>
            <a:r>
              <a:rPr lang="en-US" sz="1300" dirty="0" err="1">
                <a:solidFill>
                  <a:srgbClr val="06304A"/>
                </a:solidFill>
                <a:latin typeface="Calibri" pitchFamily="34" charset="0"/>
                <a:ea typeface="Calibri" pitchFamily="34" charset="-122"/>
                <a:cs typeface="Calibri" pitchFamily="34" charset="-120"/>
              </a:rPr>
              <a:t>los</a:t>
            </a:r>
            <a:r>
              <a:rPr lang="en-US" sz="1300" dirty="0">
                <a:solidFill>
                  <a:srgbClr val="06304A"/>
                </a:solidFill>
                <a:latin typeface="Calibri" pitchFamily="34" charset="0"/>
                <a:ea typeface="Calibri" pitchFamily="34" charset="-122"/>
                <a:cs typeface="Calibri" pitchFamily="34" charset="-120"/>
              </a:rPr>
              <a:t> </a:t>
            </a:r>
            <a:r>
              <a:rPr lang="en-US" sz="1300" dirty="0" err="1">
                <a:solidFill>
                  <a:srgbClr val="06304A"/>
                </a:solidFill>
                <a:latin typeface="Calibri" pitchFamily="34" charset="0"/>
                <a:ea typeface="Calibri" pitchFamily="34" charset="-122"/>
                <a:cs typeface="Calibri" pitchFamily="34" charset="-120"/>
              </a:rPr>
              <a:t>lineamientos</a:t>
            </a:r>
            <a:r>
              <a:rPr lang="en-US" sz="1300" dirty="0">
                <a:solidFill>
                  <a:srgbClr val="06304A"/>
                </a:solidFill>
                <a:latin typeface="Calibri" pitchFamily="34" charset="0"/>
                <a:ea typeface="Calibri" pitchFamily="34" charset="-122"/>
                <a:cs typeface="Calibri" pitchFamily="34" charset="-120"/>
              </a:rPr>
              <a:t> </a:t>
            </a:r>
            <a:r>
              <a:rPr lang="en-US" sz="1300" dirty="0" err="1">
                <a:solidFill>
                  <a:srgbClr val="06304A"/>
                </a:solidFill>
                <a:latin typeface="Calibri" pitchFamily="34" charset="0"/>
                <a:ea typeface="Calibri" pitchFamily="34" charset="-122"/>
                <a:cs typeface="Calibri" pitchFamily="34" charset="-120"/>
              </a:rPr>
              <a:t>publicados</a:t>
            </a:r>
            <a:r>
              <a:rPr lang="en-US" sz="1300" dirty="0">
                <a:solidFill>
                  <a:srgbClr val="06304A"/>
                </a:solidFill>
                <a:latin typeface="Calibri" pitchFamily="34" charset="0"/>
                <a:ea typeface="Calibri" pitchFamily="34" charset="-122"/>
                <a:cs typeface="Calibri" pitchFamily="34" charset="-120"/>
              </a:rPr>
              <a:t> </a:t>
            </a:r>
            <a:r>
              <a:rPr lang="en-US" sz="1300" dirty="0" err="1">
                <a:solidFill>
                  <a:srgbClr val="06304A"/>
                </a:solidFill>
                <a:latin typeface="Calibri" pitchFamily="34" charset="0"/>
                <a:ea typeface="Calibri" pitchFamily="34" charset="-122"/>
                <a:cs typeface="Calibri" pitchFamily="34" charset="-120"/>
              </a:rPr>
              <a:t>en</a:t>
            </a:r>
            <a:r>
              <a:rPr lang="en-US" sz="1300" dirty="0">
                <a:solidFill>
                  <a:srgbClr val="06304A"/>
                </a:solidFill>
                <a:latin typeface="Calibri" pitchFamily="34" charset="0"/>
                <a:ea typeface="Calibri" pitchFamily="34" charset="-122"/>
                <a:cs typeface="Calibri" pitchFamily="34" charset="-120"/>
              </a:rPr>
              <a:t> el </a:t>
            </a:r>
            <a:r>
              <a:rPr lang="en-US" sz="1300" dirty="0" err="1">
                <a:solidFill>
                  <a:srgbClr val="06304A"/>
                </a:solidFill>
                <a:latin typeface="Calibri" pitchFamily="34" charset="0"/>
                <a:ea typeface="Calibri" pitchFamily="34" charset="-122"/>
                <a:cs typeface="Calibri" pitchFamily="34" charset="-120"/>
              </a:rPr>
              <a:t>curso</a:t>
            </a:r>
            <a:r>
              <a:rPr lang="en-US" sz="1300" dirty="0">
                <a:solidFill>
                  <a:srgbClr val="06304A"/>
                </a:solidFill>
                <a:latin typeface="Calibri" pitchFamily="34" charset="0"/>
                <a:ea typeface="Calibri" pitchFamily="34" charset="-122"/>
                <a:cs typeface="Calibri" pitchFamily="34" charset="-120"/>
              </a:rPr>
              <a:t>.</a:t>
            </a:r>
            <a:endParaRPr lang="en-US" sz="1300" dirty="0"/>
          </a:p>
          <a:p>
            <a:pPr marL="0" indent="0">
              <a:lnSpc>
                <a:spcPts val="1800"/>
              </a:lnSpc>
              <a:buNone/>
            </a:pPr>
            <a:endParaRPr lang="en-US" sz="1300" dirty="0"/>
          </a:p>
          <a:p>
            <a:pPr marL="0" indent="0">
              <a:lnSpc>
                <a:spcPts val="1800"/>
              </a:lnSpc>
              <a:buNone/>
            </a:pPr>
            <a:r>
              <a:rPr lang="en-US" sz="1300" dirty="0">
                <a:solidFill>
                  <a:srgbClr val="06304A"/>
                </a:solidFill>
                <a:latin typeface="Calibri" pitchFamily="34" charset="0"/>
                <a:ea typeface="Calibri" pitchFamily="34" charset="-122"/>
                <a:cs typeface="Calibri" pitchFamily="34" charset="-120"/>
              </a:rPr>
              <a:t>Y asegúrense de entender y poder explicar cada línea que entregan: la evaluación distingue entre obtener un resultado correcto y comprender por qué lo es.</a:t>
            </a:r>
            <a:endParaRPr lang="en-US" sz="1300" dirty="0"/>
          </a:p>
        </p:txBody>
      </p:sp>
      <p:sp>
        <p:nvSpPr>
          <p:cNvPr id="10" name="Shape 8"/>
          <p:cNvSpPr/>
          <p:nvPr/>
        </p:nvSpPr>
        <p:spPr>
          <a:xfrm>
            <a:off x="548640" y="4480560"/>
            <a:ext cx="11064240" cy="1463040"/>
          </a:xfrm>
          <a:prstGeom prst="roundRect">
            <a:avLst>
              <a:gd name="adj" fmla="val 5625"/>
            </a:avLst>
          </a:prstGeom>
          <a:solidFill>
            <a:srgbClr val="0A1526"/>
          </a:solidFill>
          <a:ln w="12700">
            <a:solidFill>
              <a:srgbClr val="0A1526"/>
            </a:solidFill>
            <a:prstDash val="solid"/>
          </a:ln>
        </p:spPr>
        <p:txBody>
          <a:bodyPr/>
          <a:lstStyle/>
          <a:p>
            <a:endParaRPr lang="es-CL"/>
          </a:p>
        </p:txBody>
      </p:sp>
      <p:sp>
        <p:nvSpPr>
          <p:cNvPr id="11" name="Text 9"/>
          <p:cNvSpPr/>
          <p:nvPr/>
        </p:nvSpPr>
        <p:spPr>
          <a:xfrm>
            <a:off x="868680" y="4645152"/>
            <a:ext cx="5486400" cy="347472"/>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Por qué importa en este magíster</a:t>
            </a:r>
            <a:endParaRPr lang="en-US" sz="1500" dirty="0"/>
          </a:p>
        </p:txBody>
      </p:sp>
      <p:sp>
        <p:nvSpPr>
          <p:cNvPr id="12" name="Text 10"/>
          <p:cNvSpPr/>
          <p:nvPr/>
        </p:nvSpPr>
        <p:spPr>
          <a:xfrm>
            <a:off x="868680" y="5010912"/>
            <a:ext cx="10424160" cy="822960"/>
          </a:xfrm>
          <a:prstGeom prst="rect">
            <a:avLst/>
          </a:prstGeom>
          <a:noFill/>
          <a:ln/>
        </p:spPr>
        <p:txBody>
          <a:bodyPr wrap="square" lIns="0" tIns="0" rIns="0" bIns="0" rtlCol="0" anchor="ctr"/>
          <a:lstStyle/>
          <a:p>
            <a:pPr marL="0" indent="0">
              <a:lnSpc>
                <a:spcPts val="1900"/>
              </a:lnSpc>
              <a:buNone/>
            </a:pPr>
            <a:r>
              <a:rPr lang="en-US" sz="1350" dirty="0">
                <a:solidFill>
                  <a:srgbClr val="D7E3EE"/>
                </a:solidFill>
                <a:latin typeface="Calibri" pitchFamily="34" charset="0"/>
                <a:ea typeface="Calibri" pitchFamily="34" charset="-122"/>
                <a:cs typeface="Calibri" pitchFamily="34" charset="-120"/>
              </a:rPr>
              <a:t>En ciencia de datos, la trazabilidad no es un requisito administrativo: es lo que hace que un resultado sea creíble. Las mismas prácticas que aquí se evalúan —documentar decisiones, versionar el trabajo, declarar las fuentes— son las que sostienen la validez de cualquier análisis profesional.</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Los primeros pasos, hoy mismo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Cinco acciones que se hacen en menos de una hora y ordenan toda la semana.</a:t>
            </a:r>
            <a:endParaRPr lang="en-US" sz="1400" dirty="0"/>
          </a:p>
        </p:txBody>
      </p:sp>
      <p:sp>
        <p:nvSpPr>
          <p:cNvPr id="4" name="Shape 2"/>
          <p:cNvSpPr/>
          <p:nvPr/>
        </p:nvSpPr>
        <p:spPr>
          <a:xfrm>
            <a:off x="548640" y="1783080"/>
            <a:ext cx="11064240" cy="694944"/>
          </a:xfrm>
          <a:prstGeom prst="roundRect">
            <a:avLst>
              <a:gd name="adj" fmla="val 11842"/>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822960" y="1920240"/>
            <a:ext cx="420624" cy="420624"/>
          </a:xfrm>
          <a:prstGeom prst="ellipse">
            <a:avLst/>
          </a:prstGeom>
          <a:solidFill>
            <a:srgbClr val="AC212E"/>
          </a:solidFill>
          <a:ln/>
        </p:spPr>
        <p:txBody>
          <a:bodyPr/>
          <a:lstStyle/>
          <a:p>
            <a:endParaRPr lang="es-CL"/>
          </a:p>
        </p:txBody>
      </p:sp>
      <p:sp>
        <p:nvSpPr>
          <p:cNvPr id="6" name="Text 4"/>
          <p:cNvSpPr/>
          <p:nvPr/>
        </p:nvSpPr>
        <p:spPr>
          <a:xfrm>
            <a:off x="822960" y="192024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63040" y="1783080"/>
            <a:ext cx="3291840" cy="694944"/>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Recorrer el aula</a:t>
            </a:r>
            <a:endParaRPr lang="en-US" sz="1400" dirty="0"/>
          </a:p>
        </p:txBody>
      </p:sp>
      <p:sp>
        <p:nvSpPr>
          <p:cNvPr id="8" name="Text 6"/>
          <p:cNvSpPr/>
          <p:nvPr/>
        </p:nvSpPr>
        <p:spPr>
          <a:xfrm>
            <a:off x="4846320" y="1783080"/>
            <a:ext cx="6492240" cy="694944"/>
          </a:xfrm>
          <a:prstGeom prst="rect">
            <a:avLst/>
          </a:prstGeom>
          <a:noFill/>
          <a:ln/>
        </p:spPr>
        <p:txBody>
          <a:bodyPr wrap="square" lIns="0" tIns="0" rIns="0" bIns="0" rtlCol="0" anchor="ctr"/>
          <a:lstStyle/>
          <a:p>
            <a:pPr marL="0" indent="0">
              <a:buNone/>
            </a:pPr>
            <a:r>
              <a:rPr lang="en-US" sz="1250" dirty="0">
                <a:solidFill>
                  <a:srgbClr val="5A6B7B"/>
                </a:solidFill>
                <a:latin typeface="Calibri" pitchFamily="34" charset="0"/>
                <a:ea typeface="Calibri" pitchFamily="34" charset="-122"/>
                <a:cs typeface="Calibri" pitchFamily="34" charset="-120"/>
              </a:rPr>
              <a:t>Bienvenida, información general y programa de la asignatura.</a:t>
            </a:r>
            <a:endParaRPr lang="en-US" sz="1250" dirty="0"/>
          </a:p>
        </p:txBody>
      </p:sp>
      <p:sp>
        <p:nvSpPr>
          <p:cNvPr id="9" name="Shape 7"/>
          <p:cNvSpPr/>
          <p:nvPr/>
        </p:nvSpPr>
        <p:spPr>
          <a:xfrm>
            <a:off x="548640" y="2606040"/>
            <a:ext cx="11064240" cy="694944"/>
          </a:xfrm>
          <a:prstGeom prst="roundRect">
            <a:avLst>
              <a:gd name="adj" fmla="val 11842"/>
            </a:avLst>
          </a:prstGeom>
          <a:solidFill>
            <a:srgbClr val="F4F7FA"/>
          </a:solidFill>
          <a:ln w="12700">
            <a:solidFill>
              <a:srgbClr val="F4F7FA"/>
            </a:solidFill>
            <a:prstDash val="solid"/>
          </a:ln>
        </p:spPr>
        <p:txBody>
          <a:bodyPr/>
          <a:lstStyle/>
          <a:p>
            <a:endParaRPr lang="es-CL"/>
          </a:p>
        </p:txBody>
      </p:sp>
      <p:sp>
        <p:nvSpPr>
          <p:cNvPr id="10" name="Shape 8"/>
          <p:cNvSpPr/>
          <p:nvPr/>
        </p:nvSpPr>
        <p:spPr>
          <a:xfrm>
            <a:off x="822960" y="2743200"/>
            <a:ext cx="420624" cy="420624"/>
          </a:xfrm>
          <a:prstGeom prst="ellipse">
            <a:avLst/>
          </a:prstGeom>
          <a:solidFill>
            <a:srgbClr val="AC212E"/>
          </a:solidFill>
          <a:ln/>
        </p:spPr>
        <p:txBody>
          <a:bodyPr/>
          <a:lstStyle/>
          <a:p>
            <a:endParaRPr lang="es-CL"/>
          </a:p>
        </p:txBody>
      </p:sp>
      <p:sp>
        <p:nvSpPr>
          <p:cNvPr id="11" name="Text 9"/>
          <p:cNvSpPr/>
          <p:nvPr/>
        </p:nvSpPr>
        <p:spPr>
          <a:xfrm>
            <a:off x="822960" y="274320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463040" y="2606040"/>
            <a:ext cx="3291840" cy="694944"/>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Completar el compromiso</a:t>
            </a:r>
            <a:endParaRPr lang="en-US" sz="1400" dirty="0"/>
          </a:p>
        </p:txBody>
      </p:sp>
      <p:sp>
        <p:nvSpPr>
          <p:cNvPr id="13" name="Text 11"/>
          <p:cNvSpPr/>
          <p:nvPr/>
        </p:nvSpPr>
        <p:spPr>
          <a:xfrm>
            <a:off x="4846320" y="2606040"/>
            <a:ext cx="6492240" cy="694944"/>
          </a:xfrm>
          <a:prstGeom prst="rect">
            <a:avLst/>
          </a:prstGeom>
          <a:noFill/>
          <a:ln/>
        </p:spPr>
        <p:txBody>
          <a:bodyPr wrap="square" lIns="0" tIns="0" rIns="0" bIns="0" rtlCol="0" anchor="ctr"/>
          <a:lstStyle/>
          <a:p>
            <a:pPr marL="0" indent="0">
              <a:buNone/>
            </a:pPr>
            <a:r>
              <a:rPr lang="en-US" sz="1250" dirty="0">
                <a:solidFill>
                  <a:srgbClr val="5A6B7B"/>
                </a:solidFill>
                <a:latin typeface="Calibri" pitchFamily="34" charset="0"/>
                <a:ea typeface="Calibri" pitchFamily="34" charset="-122"/>
                <a:cs typeface="Calibri" pitchFamily="34" charset="-120"/>
              </a:rPr>
              <a:t>Cuestionario de integridad académica: un intento, sin puntaje.</a:t>
            </a:r>
            <a:endParaRPr lang="en-US" sz="1250" dirty="0"/>
          </a:p>
        </p:txBody>
      </p:sp>
      <p:sp>
        <p:nvSpPr>
          <p:cNvPr id="14" name="Shape 12"/>
          <p:cNvSpPr/>
          <p:nvPr/>
        </p:nvSpPr>
        <p:spPr>
          <a:xfrm>
            <a:off x="548640" y="3429000"/>
            <a:ext cx="11064240" cy="694944"/>
          </a:xfrm>
          <a:prstGeom prst="roundRect">
            <a:avLst>
              <a:gd name="adj" fmla="val 11842"/>
            </a:avLst>
          </a:prstGeom>
          <a:solidFill>
            <a:srgbClr val="F4F7FA"/>
          </a:solidFill>
          <a:ln w="12700">
            <a:solidFill>
              <a:srgbClr val="F4F7FA"/>
            </a:solidFill>
            <a:prstDash val="solid"/>
          </a:ln>
        </p:spPr>
        <p:txBody>
          <a:bodyPr/>
          <a:lstStyle/>
          <a:p>
            <a:endParaRPr lang="es-CL"/>
          </a:p>
        </p:txBody>
      </p:sp>
      <p:sp>
        <p:nvSpPr>
          <p:cNvPr id="15" name="Shape 13"/>
          <p:cNvSpPr/>
          <p:nvPr/>
        </p:nvSpPr>
        <p:spPr>
          <a:xfrm>
            <a:off x="822960" y="3566160"/>
            <a:ext cx="420624" cy="420624"/>
          </a:xfrm>
          <a:prstGeom prst="ellipse">
            <a:avLst/>
          </a:prstGeom>
          <a:solidFill>
            <a:srgbClr val="AC212E"/>
          </a:solidFill>
          <a:ln/>
        </p:spPr>
        <p:txBody>
          <a:bodyPr/>
          <a:lstStyle/>
          <a:p>
            <a:endParaRPr lang="es-CL"/>
          </a:p>
        </p:txBody>
      </p:sp>
      <p:sp>
        <p:nvSpPr>
          <p:cNvPr id="16" name="Text 14"/>
          <p:cNvSpPr/>
          <p:nvPr/>
        </p:nvSpPr>
        <p:spPr>
          <a:xfrm>
            <a:off x="822960" y="356616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463040" y="3429000"/>
            <a:ext cx="3291840" cy="694944"/>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Participar en el foro diagnóstico</a:t>
            </a:r>
            <a:endParaRPr lang="en-US" sz="1400" dirty="0"/>
          </a:p>
        </p:txBody>
      </p:sp>
      <p:sp>
        <p:nvSpPr>
          <p:cNvPr id="18" name="Text 16"/>
          <p:cNvSpPr/>
          <p:nvPr/>
        </p:nvSpPr>
        <p:spPr>
          <a:xfrm>
            <a:off x="4846320" y="3429000"/>
            <a:ext cx="6492240" cy="694944"/>
          </a:xfrm>
          <a:prstGeom prst="rect">
            <a:avLst/>
          </a:prstGeom>
          <a:noFill/>
          <a:ln/>
        </p:spPr>
        <p:txBody>
          <a:bodyPr wrap="square" lIns="0" tIns="0" rIns="0" bIns="0" rtlCol="0" anchor="ctr"/>
          <a:lstStyle/>
          <a:p>
            <a:pPr marL="0" indent="0">
              <a:buNone/>
            </a:pPr>
            <a:r>
              <a:rPr lang="en-US" sz="1250" dirty="0">
                <a:solidFill>
                  <a:srgbClr val="5A6B7B"/>
                </a:solidFill>
                <a:latin typeface="Calibri" pitchFamily="34" charset="0"/>
                <a:ea typeface="Calibri" pitchFamily="34" charset="-122"/>
                <a:cs typeface="Calibri" pitchFamily="34" charset="-120"/>
              </a:rPr>
              <a:t>Activación de conocimientos previos. No pondera, pero orienta el curso.</a:t>
            </a:r>
            <a:endParaRPr lang="en-US" sz="1250" dirty="0"/>
          </a:p>
        </p:txBody>
      </p:sp>
      <p:sp>
        <p:nvSpPr>
          <p:cNvPr id="19" name="Shape 17"/>
          <p:cNvSpPr/>
          <p:nvPr/>
        </p:nvSpPr>
        <p:spPr>
          <a:xfrm>
            <a:off x="548640" y="4251960"/>
            <a:ext cx="11064240" cy="694944"/>
          </a:xfrm>
          <a:prstGeom prst="roundRect">
            <a:avLst>
              <a:gd name="adj" fmla="val 11842"/>
            </a:avLst>
          </a:prstGeom>
          <a:solidFill>
            <a:srgbClr val="F4F7FA"/>
          </a:solidFill>
          <a:ln w="12700">
            <a:solidFill>
              <a:srgbClr val="F4F7FA"/>
            </a:solidFill>
            <a:prstDash val="solid"/>
          </a:ln>
        </p:spPr>
        <p:txBody>
          <a:bodyPr/>
          <a:lstStyle/>
          <a:p>
            <a:endParaRPr lang="es-CL"/>
          </a:p>
        </p:txBody>
      </p:sp>
      <p:sp>
        <p:nvSpPr>
          <p:cNvPr id="20" name="Shape 18"/>
          <p:cNvSpPr/>
          <p:nvPr/>
        </p:nvSpPr>
        <p:spPr>
          <a:xfrm>
            <a:off x="822960" y="4389120"/>
            <a:ext cx="420624" cy="420624"/>
          </a:xfrm>
          <a:prstGeom prst="ellipse">
            <a:avLst/>
          </a:prstGeom>
          <a:solidFill>
            <a:srgbClr val="AC212E"/>
          </a:solidFill>
          <a:ln/>
        </p:spPr>
        <p:txBody>
          <a:bodyPr/>
          <a:lstStyle/>
          <a:p>
            <a:endParaRPr lang="es-CL"/>
          </a:p>
        </p:txBody>
      </p:sp>
      <p:sp>
        <p:nvSpPr>
          <p:cNvPr id="21" name="Text 19"/>
          <p:cNvSpPr/>
          <p:nvPr/>
        </p:nvSpPr>
        <p:spPr>
          <a:xfrm>
            <a:off x="822960" y="438912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1463040" y="4251960"/>
            <a:ext cx="3291840" cy="694944"/>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Formar el grupo</a:t>
            </a:r>
            <a:endParaRPr lang="en-US" sz="1400" dirty="0"/>
          </a:p>
        </p:txBody>
      </p:sp>
      <p:sp>
        <p:nvSpPr>
          <p:cNvPr id="23" name="Text 21"/>
          <p:cNvSpPr/>
          <p:nvPr/>
        </p:nvSpPr>
        <p:spPr>
          <a:xfrm>
            <a:off x="4846320" y="4251960"/>
            <a:ext cx="6492240" cy="694944"/>
          </a:xfrm>
          <a:prstGeom prst="rect">
            <a:avLst/>
          </a:prstGeom>
          <a:noFill/>
          <a:ln/>
        </p:spPr>
        <p:txBody>
          <a:bodyPr wrap="square" lIns="0" tIns="0" rIns="0" bIns="0" rtlCol="0" anchor="ctr"/>
          <a:lstStyle/>
          <a:p>
            <a:pPr marL="0" indent="0">
              <a:buNone/>
            </a:pPr>
            <a:r>
              <a:rPr lang="en-US" sz="1250" dirty="0">
                <a:solidFill>
                  <a:srgbClr val="5A6B7B"/>
                </a:solidFill>
                <a:latin typeface="Calibri" pitchFamily="34" charset="0"/>
                <a:ea typeface="Calibri" pitchFamily="34" charset="-122"/>
                <a:cs typeface="Calibri" pitchFamily="34" charset="-120"/>
              </a:rPr>
              <a:t>3 o 4 integrantes, para todo el semestre.</a:t>
            </a:r>
            <a:endParaRPr lang="en-US" sz="1250" dirty="0"/>
          </a:p>
        </p:txBody>
      </p:sp>
      <p:sp>
        <p:nvSpPr>
          <p:cNvPr id="24" name="Shape 22"/>
          <p:cNvSpPr/>
          <p:nvPr/>
        </p:nvSpPr>
        <p:spPr>
          <a:xfrm>
            <a:off x="548640" y="5074920"/>
            <a:ext cx="11064240" cy="694944"/>
          </a:xfrm>
          <a:prstGeom prst="roundRect">
            <a:avLst>
              <a:gd name="adj" fmla="val 11842"/>
            </a:avLst>
          </a:prstGeom>
          <a:solidFill>
            <a:srgbClr val="F6E7E9"/>
          </a:solidFill>
          <a:ln w="12700">
            <a:solidFill>
              <a:srgbClr val="F6E7E9"/>
            </a:solidFill>
            <a:prstDash val="solid"/>
          </a:ln>
        </p:spPr>
        <p:txBody>
          <a:bodyPr/>
          <a:lstStyle/>
          <a:p>
            <a:endParaRPr lang="es-CL"/>
          </a:p>
        </p:txBody>
      </p:sp>
      <p:sp>
        <p:nvSpPr>
          <p:cNvPr id="25" name="Shape 23"/>
          <p:cNvSpPr/>
          <p:nvPr/>
        </p:nvSpPr>
        <p:spPr>
          <a:xfrm>
            <a:off x="822960" y="5212080"/>
            <a:ext cx="420624" cy="420624"/>
          </a:xfrm>
          <a:prstGeom prst="ellipse">
            <a:avLst/>
          </a:prstGeom>
          <a:solidFill>
            <a:srgbClr val="AC212E"/>
          </a:solidFill>
          <a:ln/>
        </p:spPr>
        <p:txBody>
          <a:bodyPr/>
          <a:lstStyle/>
          <a:p>
            <a:endParaRPr lang="es-CL"/>
          </a:p>
        </p:txBody>
      </p:sp>
      <p:sp>
        <p:nvSpPr>
          <p:cNvPr id="26" name="Text 24"/>
          <p:cNvSpPr/>
          <p:nvPr/>
        </p:nvSpPr>
        <p:spPr>
          <a:xfrm>
            <a:off x="822960" y="521208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1463040" y="5074920"/>
            <a:ext cx="3291840" cy="694944"/>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Abrir la rúbrica de la Sumativa 1</a:t>
            </a:r>
            <a:endParaRPr lang="en-US" sz="1400" dirty="0"/>
          </a:p>
        </p:txBody>
      </p:sp>
      <p:sp>
        <p:nvSpPr>
          <p:cNvPr id="28" name="Text 26"/>
          <p:cNvSpPr/>
          <p:nvPr/>
        </p:nvSpPr>
        <p:spPr>
          <a:xfrm>
            <a:off x="4846320" y="5074920"/>
            <a:ext cx="6492240" cy="694944"/>
          </a:xfrm>
          <a:prstGeom prst="rect">
            <a:avLst/>
          </a:prstGeom>
          <a:noFill/>
          <a:ln/>
        </p:spPr>
        <p:txBody>
          <a:bodyPr wrap="square" lIns="0" tIns="0" rIns="0" bIns="0" rtlCol="0" anchor="ctr"/>
          <a:lstStyle/>
          <a:p>
            <a:pPr marL="0" indent="0">
              <a:buNone/>
            </a:pPr>
            <a:r>
              <a:rPr lang="en-US" sz="1250" dirty="0">
                <a:solidFill>
                  <a:srgbClr val="5A6B7B"/>
                </a:solidFill>
                <a:latin typeface="Calibri" pitchFamily="34" charset="0"/>
                <a:ea typeface="Calibri" pitchFamily="34" charset="-122"/>
                <a:cs typeface="Calibri" pitchFamily="34" charset="-120"/>
              </a:rPr>
              <a:t>Antes de empezar a trabajar, no después de entregar.</a:t>
            </a:r>
            <a:endParaRPr lang="en-US" sz="1250" dirty="0"/>
          </a:p>
        </p:txBody>
      </p:sp>
      <p:sp>
        <p:nvSpPr>
          <p:cNvPr id="29" name="Text 27"/>
          <p:cNvSpPr/>
          <p:nvPr/>
        </p:nvSpPr>
        <p:spPr>
          <a:xfrm>
            <a:off x="548640" y="6327648"/>
            <a:ext cx="11064240" cy="274320"/>
          </a:xfrm>
          <a:prstGeom prst="rect">
            <a:avLst/>
          </a:prstGeom>
          <a:noFill/>
          <a:ln/>
        </p:spPr>
        <p:txBody>
          <a:bodyPr wrap="square" lIns="0" tIns="0" rIns="0" bIns="0" rtlCol="0" anchor="ctr"/>
          <a:lstStyle/>
          <a:p>
            <a:pPr marL="0" indent="0">
              <a:buNone/>
            </a:pPr>
            <a:r>
              <a:rPr lang="en-US" sz="1000" dirty="0">
                <a:solidFill>
                  <a:srgbClr val="5A6B7B"/>
                </a:solidFill>
                <a:latin typeface="Calibri" pitchFamily="34" charset="0"/>
                <a:ea typeface="Calibri" pitchFamily="34" charset="-122"/>
                <a:cs typeface="Calibri" pitchFamily="34" charset="-120"/>
              </a:rPr>
              <a:t>Quien parte el primer día llega con holgura a la entrega. Quien parte el jueves, no alcanza a montar el repositorio con calma.</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152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55000"/>
          </a:blip>
          <a:stretch>
            <a:fillRect/>
          </a:stretch>
        </p:blipFill>
        <p:spPr>
          <a:xfrm>
            <a:off x="6675120" y="0"/>
            <a:ext cx="5513832" cy="3227832"/>
          </a:xfrm>
          <a:prstGeom prst="rect">
            <a:avLst/>
          </a:prstGeom>
        </p:spPr>
      </p:pic>
      <p:sp>
        <p:nvSpPr>
          <p:cNvPr id="3" name="Shape 0"/>
          <p:cNvSpPr/>
          <p:nvPr/>
        </p:nvSpPr>
        <p:spPr>
          <a:xfrm>
            <a:off x="6675120" y="0"/>
            <a:ext cx="5513832" cy="3227832"/>
          </a:xfrm>
          <a:prstGeom prst="rect">
            <a:avLst/>
          </a:prstGeom>
          <a:solidFill>
            <a:srgbClr val="0A1526">
              <a:alpha val="45000"/>
            </a:srgbClr>
          </a:solidFill>
          <a:ln w="12700">
            <a:solidFill>
              <a:srgbClr val="0A1526">
                <a:alpha val="0"/>
              </a:srgbClr>
            </a:solidFill>
            <a:prstDash val="solid"/>
          </a:ln>
        </p:spPr>
        <p:txBody>
          <a:bodyPr/>
          <a:lstStyle/>
          <a:p>
            <a:endParaRPr lang="es-CL"/>
          </a:p>
        </p:txBody>
      </p:sp>
      <p:pic>
        <p:nvPicPr>
          <p:cNvPr id="4" name="Image 1" descr="preencoded.png"/>
          <p:cNvPicPr>
            <a:picLocks noChangeAspect="1"/>
          </p:cNvPicPr>
          <p:nvPr/>
        </p:nvPicPr>
        <p:blipFill>
          <a:blip r:embed="rId4"/>
          <a:stretch>
            <a:fillRect/>
          </a:stretch>
        </p:blipFill>
        <p:spPr>
          <a:xfrm>
            <a:off x="548640" y="457200"/>
            <a:ext cx="4754880" cy="886968"/>
          </a:xfrm>
          <a:prstGeom prst="rect">
            <a:avLst/>
          </a:prstGeom>
        </p:spPr>
      </p:pic>
      <p:sp>
        <p:nvSpPr>
          <p:cNvPr id="5" name="Text 1"/>
          <p:cNvSpPr/>
          <p:nvPr/>
        </p:nvSpPr>
        <p:spPr>
          <a:xfrm>
            <a:off x="548640" y="1828800"/>
            <a:ext cx="7680960" cy="640080"/>
          </a:xfrm>
          <a:prstGeom prst="rect">
            <a:avLst/>
          </a:prstGeom>
          <a:noFill/>
          <a:ln/>
        </p:spPr>
        <p:txBody>
          <a:bodyPr wrap="square" lIns="0" tIns="0" rIns="0" bIns="0" rtlCol="0" anchor="ctr"/>
          <a:lstStyle/>
          <a:p>
            <a:pPr marL="0" indent="0">
              <a:buNone/>
            </a:pPr>
            <a:r>
              <a:rPr lang="en-US" sz="4000" b="1" kern="0" spc="200" dirty="0">
                <a:solidFill>
                  <a:srgbClr val="FFFFFF"/>
                </a:solidFill>
                <a:latin typeface="Cambria" pitchFamily="34" charset="0"/>
                <a:ea typeface="Cambria" pitchFamily="34" charset="-122"/>
                <a:cs typeface="Cambria" pitchFamily="34" charset="-120"/>
              </a:rPr>
              <a:t>SEMANA 1</a:t>
            </a:r>
            <a:endParaRPr lang="en-US" sz="4000" dirty="0"/>
          </a:p>
        </p:txBody>
      </p:sp>
      <p:sp>
        <p:nvSpPr>
          <p:cNvPr id="6" name="Text 2"/>
          <p:cNvSpPr/>
          <p:nvPr/>
        </p:nvSpPr>
        <p:spPr>
          <a:xfrm>
            <a:off x="548640" y="2560320"/>
            <a:ext cx="7680960" cy="502920"/>
          </a:xfrm>
          <a:prstGeom prst="rect">
            <a:avLst/>
          </a:prstGeom>
          <a:noFill/>
          <a:ln/>
        </p:spPr>
        <p:txBody>
          <a:bodyPr wrap="square" lIns="0" tIns="0" rIns="0" bIns="0" rtlCol="0" anchor="ctr"/>
          <a:lstStyle/>
          <a:p>
            <a:pPr marL="0" indent="0">
              <a:buNone/>
            </a:pPr>
            <a:r>
              <a:rPr lang="en-US" sz="2200" dirty="0">
                <a:solidFill>
                  <a:srgbClr val="D7E3EE"/>
                </a:solidFill>
                <a:latin typeface="Cambria" pitchFamily="34" charset="0"/>
                <a:ea typeface="Cambria" pitchFamily="34" charset="-122"/>
                <a:cs typeface="Cambria" pitchFamily="34" charset="-120"/>
              </a:rPr>
              <a:t>Fundamentos avanzados de Python y buenas prácticas</a:t>
            </a:r>
            <a:endParaRPr lang="en-US" sz="2200" dirty="0"/>
          </a:p>
        </p:txBody>
      </p:sp>
      <p:sp>
        <p:nvSpPr>
          <p:cNvPr id="7" name="Shape 3"/>
          <p:cNvSpPr/>
          <p:nvPr/>
        </p:nvSpPr>
        <p:spPr>
          <a:xfrm>
            <a:off x="548640" y="3291840"/>
            <a:ext cx="1280160" cy="45720"/>
          </a:xfrm>
          <a:prstGeom prst="rect">
            <a:avLst/>
          </a:prstGeom>
          <a:solidFill>
            <a:srgbClr val="AC212E"/>
          </a:solidFill>
          <a:ln w="12700">
            <a:solidFill>
              <a:srgbClr val="AC212E"/>
            </a:solidFill>
            <a:prstDash val="solid"/>
          </a:ln>
        </p:spPr>
        <p:txBody>
          <a:bodyPr/>
          <a:lstStyle/>
          <a:p>
            <a:endParaRPr lang="es-CL"/>
          </a:p>
        </p:txBody>
      </p:sp>
      <p:sp>
        <p:nvSpPr>
          <p:cNvPr id="8" name="Text 4"/>
          <p:cNvSpPr/>
          <p:nvPr/>
        </p:nvSpPr>
        <p:spPr>
          <a:xfrm>
            <a:off x="548640" y="3566160"/>
            <a:ext cx="7863840" cy="457200"/>
          </a:xfrm>
          <a:prstGeom prst="rect">
            <a:avLst/>
          </a:prstGeom>
          <a:noFill/>
          <a:ln/>
        </p:spPr>
        <p:txBody>
          <a:bodyPr wrap="square" lIns="0" tIns="0" rIns="0" bIns="0" rtlCol="0" anchor="ctr"/>
          <a:lstStyle/>
          <a:p>
            <a:pPr marL="0" indent="0">
              <a:buNone/>
            </a:pPr>
            <a:r>
              <a:rPr lang="en-US" sz="1600" dirty="0">
                <a:solidFill>
                  <a:srgbClr val="D7E3EE"/>
                </a:solidFill>
                <a:latin typeface="Calibri" pitchFamily="34" charset="0"/>
                <a:ea typeface="Calibri" pitchFamily="34" charset="-122"/>
                <a:cs typeface="Calibri" pitchFamily="34" charset="-120"/>
              </a:rPr>
              <a:t>Recorrido por los recursos del aula, en el orden en que están dispuestos</a:t>
            </a:r>
            <a:endParaRPr lang="en-US" sz="1600" dirty="0"/>
          </a:p>
        </p:txBody>
      </p:sp>
      <p:sp>
        <p:nvSpPr>
          <p:cNvPr id="9" name="Text 5"/>
          <p:cNvSpPr/>
          <p:nvPr/>
        </p:nvSpPr>
        <p:spPr>
          <a:xfrm>
            <a:off x="548640" y="5943600"/>
            <a:ext cx="11064240" cy="365760"/>
          </a:xfrm>
          <a:prstGeom prst="rect">
            <a:avLst/>
          </a:prstGeom>
          <a:noFill/>
          <a:ln/>
        </p:spPr>
        <p:txBody>
          <a:bodyPr wrap="square" lIns="0" tIns="0" rIns="0" bIns="0" rtlCol="0" anchor="ctr"/>
          <a:lstStyle/>
          <a:p>
            <a:pPr marL="0" indent="0">
              <a:buNone/>
            </a:pPr>
            <a:r>
              <a:rPr lang="en-US" sz="1200" dirty="0">
                <a:solidFill>
                  <a:srgbClr val="5A6B7B"/>
                </a:solidFill>
                <a:latin typeface="Calibri" pitchFamily="34" charset="0"/>
                <a:ea typeface="Calibri" pitchFamily="34" charset="-122"/>
                <a:cs typeface="Calibri" pitchFamily="34" charset="-120"/>
              </a:rPr>
              <a:t>MCDI500 · Programación para la Ciencia de Datos   |   Fases 1 y 2 del proyecto transversal</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Una semana, dos fases del proyecto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Ambas se llaman «Semana 1» en el aula. No dicen lo mismo.</a:t>
            </a:r>
            <a:endParaRPr lang="en-US" sz="1400" dirty="0"/>
          </a:p>
        </p:txBody>
      </p:sp>
      <p:sp>
        <p:nvSpPr>
          <p:cNvPr id="4" name="Shape 2"/>
          <p:cNvSpPr/>
          <p:nvPr/>
        </p:nvSpPr>
        <p:spPr>
          <a:xfrm>
            <a:off x="548640" y="1783080"/>
            <a:ext cx="5303520" cy="3200400"/>
          </a:xfrm>
          <a:prstGeom prst="roundRect">
            <a:avLst>
              <a:gd name="adj" fmla="val 2571"/>
            </a:avLst>
          </a:prstGeom>
          <a:solidFill>
            <a:srgbClr val="F6E7E9"/>
          </a:solidFill>
          <a:ln w="12700">
            <a:solidFill>
              <a:srgbClr val="F6E7E9"/>
            </a:solidFill>
            <a:prstDash val="solid"/>
          </a:ln>
        </p:spPr>
        <p:txBody>
          <a:bodyPr/>
          <a:lstStyle/>
          <a:p>
            <a:endParaRPr lang="es-CL"/>
          </a:p>
        </p:txBody>
      </p:sp>
      <p:sp>
        <p:nvSpPr>
          <p:cNvPr id="5" name="Text 3"/>
          <p:cNvSpPr/>
          <p:nvPr/>
        </p:nvSpPr>
        <p:spPr>
          <a:xfrm>
            <a:off x="868680" y="1965960"/>
            <a:ext cx="4663440" cy="457200"/>
          </a:xfrm>
          <a:prstGeom prst="rect">
            <a:avLst/>
          </a:prstGeom>
          <a:noFill/>
          <a:ln/>
        </p:spPr>
        <p:txBody>
          <a:bodyPr wrap="square" lIns="0" tIns="0" rIns="0" bIns="0" rtlCol="0" anchor="ctr"/>
          <a:lstStyle/>
          <a:p>
            <a:pPr marL="0" indent="0">
              <a:buNone/>
            </a:pPr>
            <a:r>
              <a:rPr lang="en-US" sz="2600" b="1" dirty="0">
                <a:solidFill>
                  <a:srgbClr val="AC212E"/>
                </a:solidFill>
                <a:latin typeface="Cambria" pitchFamily="34" charset="0"/>
                <a:ea typeface="Cambria" pitchFamily="34" charset="-122"/>
                <a:cs typeface="Cambria" pitchFamily="34" charset="-120"/>
              </a:rPr>
              <a:t>Fase 1</a:t>
            </a:r>
            <a:endParaRPr lang="en-US" sz="2600" dirty="0"/>
          </a:p>
        </p:txBody>
      </p:sp>
      <p:sp>
        <p:nvSpPr>
          <p:cNvPr id="6" name="Text 4"/>
          <p:cNvSpPr/>
          <p:nvPr/>
        </p:nvSpPr>
        <p:spPr>
          <a:xfrm>
            <a:off x="868680" y="2450592"/>
            <a:ext cx="4663440" cy="548640"/>
          </a:xfrm>
          <a:prstGeom prst="rect">
            <a:avLst/>
          </a:prstGeom>
          <a:noFill/>
          <a:ln/>
        </p:spPr>
        <p:txBody>
          <a:bodyPr wrap="square" lIns="0" tIns="0" rIns="0" bIns="0" rtlCol="0" anchor="ctr"/>
          <a:lstStyle/>
          <a:p>
            <a:pPr marL="0" indent="0">
              <a:lnSpc>
                <a:spcPts val="1800"/>
              </a:lnSpc>
              <a:buNone/>
            </a:pPr>
            <a:r>
              <a:rPr lang="en-US" sz="1400" b="1" dirty="0">
                <a:solidFill>
                  <a:srgbClr val="06304A"/>
                </a:solidFill>
                <a:latin typeface="Calibri" pitchFamily="34" charset="0"/>
                <a:ea typeface="Calibri" pitchFamily="34" charset="-122"/>
                <a:cs typeface="Calibri" pitchFamily="34" charset="-120"/>
              </a:rPr>
              <a:t>Definición y orientación de la situación</a:t>
            </a:r>
            <a:endParaRPr lang="en-US" sz="1400" dirty="0"/>
          </a:p>
        </p:txBody>
      </p:sp>
      <p:sp>
        <p:nvSpPr>
          <p:cNvPr id="7" name="Text 5"/>
          <p:cNvSpPr/>
          <p:nvPr/>
        </p:nvSpPr>
        <p:spPr>
          <a:xfrm>
            <a:off x="868680" y="3017520"/>
            <a:ext cx="4663440" cy="137160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Definir la problemática y planificar el flujo de trabajo reproducible mediante la identificación del contexto, los objetivos iniciales y la organización preliminar del entorno colaborativo.</a:t>
            </a:r>
            <a:endParaRPr lang="en-US" sz="1250" dirty="0"/>
          </a:p>
        </p:txBody>
      </p:sp>
      <p:sp>
        <p:nvSpPr>
          <p:cNvPr id="8" name="Text 6"/>
          <p:cNvSpPr/>
          <p:nvPr/>
        </p:nvSpPr>
        <p:spPr>
          <a:xfrm>
            <a:off x="868680" y="4480560"/>
            <a:ext cx="4663440" cy="365760"/>
          </a:xfrm>
          <a:prstGeom prst="rect">
            <a:avLst/>
          </a:prstGeom>
          <a:noFill/>
          <a:ln/>
        </p:spPr>
        <p:txBody>
          <a:bodyPr wrap="square" lIns="0" tIns="0" rIns="0" bIns="0" rtlCol="0" anchor="ctr"/>
          <a:lstStyle/>
          <a:p>
            <a:pPr marL="0" indent="0">
              <a:buNone/>
            </a:pPr>
            <a:r>
              <a:rPr lang="en-US" sz="1200" b="1" dirty="0">
                <a:solidFill>
                  <a:srgbClr val="AC212E"/>
                </a:solidFill>
                <a:latin typeface="Calibri" pitchFamily="34" charset="0"/>
                <a:ea typeface="Calibri" pitchFamily="34" charset="-122"/>
                <a:cs typeface="Calibri" pitchFamily="34" charset="-120"/>
              </a:rPr>
              <a:t>30 min de lectura · 7 recursos</a:t>
            </a:r>
            <a:endParaRPr lang="en-US" sz="1200" dirty="0"/>
          </a:p>
        </p:txBody>
      </p:sp>
      <p:sp>
        <p:nvSpPr>
          <p:cNvPr id="9" name="Shape 7"/>
          <p:cNvSpPr/>
          <p:nvPr/>
        </p:nvSpPr>
        <p:spPr>
          <a:xfrm>
            <a:off x="6309360" y="1783080"/>
            <a:ext cx="5303520" cy="3200400"/>
          </a:xfrm>
          <a:prstGeom prst="roundRect">
            <a:avLst>
              <a:gd name="adj" fmla="val 2571"/>
            </a:avLst>
          </a:prstGeom>
          <a:solidFill>
            <a:srgbClr val="F4F7FA"/>
          </a:solidFill>
          <a:ln w="12700">
            <a:solidFill>
              <a:srgbClr val="F4F7FA"/>
            </a:solidFill>
            <a:prstDash val="solid"/>
          </a:ln>
        </p:spPr>
        <p:txBody>
          <a:bodyPr/>
          <a:lstStyle/>
          <a:p>
            <a:endParaRPr lang="es-CL"/>
          </a:p>
        </p:txBody>
      </p:sp>
      <p:sp>
        <p:nvSpPr>
          <p:cNvPr id="10" name="Text 8"/>
          <p:cNvSpPr/>
          <p:nvPr/>
        </p:nvSpPr>
        <p:spPr>
          <a:xfrm>
            <a:off x="6629400" y="1965960"/>
            <a:ext cx="4663440" cy="457200"/>
          </a:xfrm>
          <a:prstGeom prst="rect">
            <a:avLst/>
          </a:prstGeom>
          <a:noFill/>
          <a:ln/>
        </p:spPr>
        <p:txBody>
          <a:bodyPr wrap="square" lIns="0" tIns="0" rIns="0" bIns="0" rtlCol="0" anchor="ctr"/>
          <a:lstStyle/>
          <a:p>
            <a:pPr marL="0" indent="0">
              <a:buNone/>
            </a:pPr>
            <a:r>
              <a:rPr lang="en-US" sz="2600" b="1" dirty="0">
                <a:solidFill>
                  <a:srgbClr val="06304A"/>
                </a:solidFill>
                <a:latin typeface="Cambria" pitchFamily="34" charset="0"/>
                <a:ea typeface="Cambria" pitchFamily="34" charset="-122"/>
                <a:cs typeface="Cambria" pitchFamily="34" charset="-120"/>
              </a:rPr>
              <a:t>Fase 2</a:t>
            </a:r>
            <a:endParaRPr lang="en-US" sz="2600" dirty="0"/>
          </a:p>
        </p:txBody>
      </p:sp>
      <p:sp>
        <p:nvSpPr>
          <p:cNvPr id="11" name="Text 9"/>
          <p:cNvSpPr/>
          <p:nvPr/>
        </p:nvSpPr>
        <p:spPr>
          <a:xfrm>
            <a:off x="6629400" y="2450592"/>
            <a:ext cx="4663440" cy="548640"/>
          </a:xfrm>
          <a:prstGeom prst="rect">
            <a:avLst/>
          </a:prstGeom>
          <a:noFill/>
          <a:ln/>
        </p:spPr>
        <p:txBody>
          <a:bodyPr wrap="square" lIns="0" tIns="0" rIns="0" bIns="0" rtlCol="0" anchor="ctr"/>
          <a:lstStyle/>
          <a:p>
            <a:pPr marL="0" indent="0">
              <a:lnSpc>
                <a:spcPts val="1800"/>
              </a:lnSpc>
              <a:buNone/>
            </a:pPr>
            <a:r>
              <a:rPr lang="en-US" sz="1400" b="1" dirty="0">
                <a:solidFill>
                  <a:srgbClr val="06304A"/>
                </a:solidFill>
                <a:latin typeface="Calibri" pitchFamily="34" charset="0"/>
                <a:ea typeface="Calibri" pitchFamily="34" charset="-122"/>
                <a:cs typeface="Calibri" pitchFamily="34" charset="-120"/>
              </a:rPr>
              <a:t>Búsqueda y recopilación de información</a:t>
            </a:r>
            <a:endParaRPr lang="en-US" sz="1400" dirty="0"/>
          </a:p>
        </p:txBody>
      </p:sp>
      <p:sp>
        <p:nvSpPr>
          <p:cNvPr id="12" name="Text 10"/>
          <p:cNvSpPr/>
          <p:nvPr/>
        </p:nvSpPr>
        <p:spPr>
          <a:xfrm>
            <a:off x="6629400" y="3017520"/>
            <a:ext cx="4663440" cy="137160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Implementar un pipeline inicial de obtención, limpieza y transformación de datos en un notebook ejecutable y documentado dentro de un repositorio GitHub.</a:t>
            </a:r>
            <a:endParaRPr lang="en-US" sz="1250" dirty="0"/>
          </a:p>
        </p:txBody>
      </p:sp>
      <p:sp>
        <p:nvSpPr>
          <p:cNvPr id="13" name="Text 11"/>
          <p:cNvSpPr/>
          <p:nvPr/>
        </p:nvSpPr>
        <p:spPr>
          <a:xfrm>
            <a:off x="6629400" y="4480560"/>
            <a:ext cx="4663440" cy="365760"/>
          </a:xfrm>
          <a:prstGeom prst="rect">
            <a:avLst/>
          </a:prstGeom>
          <a:noFill/>
          <a:ln/>
        </p:spPr>
        <p:txBody>
          <a:bodyPr wrap="square" lIns="0" tIns="0" rIns="0" bIns="0" rtlCol="0" anchor="ctr"/>
          <a:lstStyle/>
          <a:p>
            <a:pPr marL="0" indent="0">
              <a:buNone/>
            </a:pPr>
            <a:r>
              <a:rPr lang="en-US" sz="1200" b="1" dirty="0">
                <a:solidFill>
                  <a:srgbClr val="06304A"/>
                </a:solidFill>
                <a:latin typeface="Calibri" pitchFamily="34" charset="0"/>
                <a:ea typeface="Calibri" pitchFamily="34" charset="-122"/>
                <a:cs typeface="Calibri" pitchFamily="34" charset="-120"/>
              </a:rPr>
              <a:t>90 min de lectura · 10 recursos</a:t>
            </a:r>
            <a:endParaRPr lang="en-US" sz="1200" dirty="0"/>
          </a:p>
        </p:txBody>
      </p:sp>
      <p:sp>
        <p:nvSpPr>
          <p:cNvPr id="14" name="Shape 12"/>
          <p:cNvSpPr/>
          <p:nvPr/>
        </p:nvSpPr>
        <p:spPr>
          <a:xfrm>
            <a:off x="548640" y="5212080"/>
            <a:ext cx="11064240" cy="914400"/>
          </a:xfrm>
          <a:prstGeom prst="roundRect">
            <a:avLst>
              <a:gd name="adj" fmla="val 9000"/>
            </a:avLst>
          </a:prstGeom>
          <a:solidFill>
            <a:srgbClr val="0A1526"/>
          </a:solidFill>
          <a:ln w="12700">
            <a:solidFill>
              <a:srgbClr val="0A1526"/>
            </a:solidFill>
            <a:prstDash val="solid"/>
          </a:ln>
        </p:spPr>
        <p:txBody>
          <a:bodyPr/>
          <a:lstStyle/>
          <a:p>
            <a:endParaRPr lang="es-CL"/>
          </a:p>
        </p:txBody>
      </p:sp>
      <p:sp>
        <p:nvSpPr>
          <p:cNvPr id="15" name="Text 13"/>
          <p:cNvSpPr/>
          <p:nvPr/>
        </p:nvSpPr>
        <p:spPr>
          <a:xfrm>
            <a:off x="868680" y="5212080"/>
            <a:ext cx="10424160" cy="91440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La progresión es deliberada: la Fase 1 planifica el ecosistema técnico; la Fase 2 lo implementa sobre datos reales. Lo definido en la primera es lo que la segunda materializa en código.</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Fase 1 · La secuencia de recursos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Ordenados de forma intencionada: de la comprensión del enfoque al primer avance formal.</a:t>
            </a:r>
            <a:endParaRPr lang="en-US" sz="1400" dirty="0"/>
          </a:p>
        </p:txBody>
      </p:sp>
      <p:sp>
        <p:nvSpPr>
          <p:cNvPr id="4" name="Shape 2"/>
          <p:cNvSpPr/>
          <p:nvPr/>
        </p:nvSpPr>
        <p:spPr>
          <a:xfrm>
            <a:off x="548640" y="1737360"/>
            <a:ext cx="7315200" cy="475488"/>
          </a:xfrm>
          <a:prstGeom prst="roundRect">
            <a:avLst>
              <a:gd name="adj" fmla="val 9615"/>
            </a:avLst>
          </a:prstGeom>
          <a:solidFill>
            <a:srgbClr val="FFFFFF"/>
          </a:solidFill>
          <a:ln w="12700">
            <a:solidFill>
              <a:srgbClr val="DCE4EC"/>
            </a:solidFill>
            <a:prstDash val="solid"/>
          </a:ln>
        </p:spPr>
        <p:txBody>
          <a:bodyPr/>
          <a:lstStyle/>
          <a:p>
            <a:endParaRPr lang="es-CL"/>
          </a:p>
        </p:txBody>
      </p:sp>
      <p:sp>
        <p:nvSpPr>
          <p:cNvPr id="5" name="Shape 3"/>
          <p:cNvSpPr/>
          <p:nvPr/>
        </p:nvSpPr>
        <p:spPr>
          <a:xfrm>
            <a:off x="658368" y="1810512"/>
            <a:ext cx="329184" cy="329184"/>
          </a:xfrm>
          <a:prstGeom prst="ellipse">
            <a:avLst/>
          </a:prstGeom>
          <a:solidFill>
            <a:srgbClr val="06304A"/>
          </a:solidFill>
          <a:ln/>
        </p:spPr>
        <p:txBody>
          <a:bodyPr/>
          <a:lstStyle/>
          <a:p>
            <a:endParaRPr lang="es-CL"/>
          </a:p>
        </p:txBody>
      </p:sp>
      <p:sp>
        <p:nvSpPr>
          <p:cNvPr id="6" name="Text 4"/>
          <p:cNvSpPr/>
          <p:nvPr/>
        </p:nvSpPr>
        <p:spPr>
          <a:xfrm>
            <a:off x="658368" y="181051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097280" y="1737360"/>
            <a:ext cx="5212080" cy="475488"/>
          </a:xfrm>
          <a:prstGeom prst="rect">
            <a:avLst/>
          </a:prstGeom>
          <a:noFill/>
          <a:ln/>
        </p:spPr>
        <p:txBody>
          <a:bodyPr wrap="square" lIns="0" tIns="0" rIns="0" bIns="0" rtlCol="0" anchor="ctr"/>
          <a:lstStyle/>
          <a:p>
            <a:pPr marL="0" indent="0">
              <a:buNone/>
            </a:pPr>
            <a:r>
              <a:rPr lang="en-US" sz="1100" dirty="0">
                <a:solidFill>
                  <a:srgbClr val="06304A"/>
                </a:solidFill>
                <a:latin typeface="Calibri" pitchFamily="34" charset="0"/>
                <a:ea typeface="Calibri" pitchFamily="34" charset="-122"/>
                <a:cs typeface="Calibri" pitchFamily="34" charset="-120"/>
              </a:rPr>
              <a:t>Recurso introductorio de la Fase 1</a:t>
            </a:r>
            <a:endParaRPr lang="en-US" sz="1100" dirty="0"/>
          </a:p>
        </p:txBody>
      </p:sp>
      <p:sp>
        <p:nvSpPr>
          <p:cNvPr id="8" name="Text 6"/>
          <p:cNvSpPr/>
          <p:nvPr/>
        </p:nvSpPr>
        <p:spPr>
          <a:xfrm>
            <a:off x="6309360" y="1737360"/>
            <a:ext cx="1417320" cy="475488"/>
          </a:xfrm>
          <a:prstGeom prst="rect">
            <a:avLst/>
          </a:prstGeom>
          <a:noFill/>
          <a:ln/>
        </p:spPr>
        <p:txBody>
          <a:bodyPr wrap="square" lIns="0" tIns="0" rIns="0" bIns="0"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Contextualización</a:t>
            </a:r>
            <a:endParaRPr lang="en-US" sz="900" dirty="0"/>
          </a:p>
        </p:txBody>
      </p:sp>
      <p:sp>
        <p:nvSpPr>
          <p:cNvPr id="9" name="Shape 7"/>
          <p:cNvSpPr/>
          <p:nvPr/>
        </p:nvSpPr>
        <p:spPr>
          <a:xfrm>
            <a:off x="548640" y="2286000"/>
            <a:ext cx="7315200" cy="475488"/>
          </a:xfrm>
          <a:prstGeom prst="roundRect">
            <a:avLst>
              <a:gd name="adj" fmla="val 9615"/>
            </a:avLst>
          </a:prstGeom>
          <a:solidFill>
            <a:srgbClr val="FFFFFF"/>
          </a:solidFill>
          <a:ln w="12700">
            <a:solidFill>
              <a:srgbClr val="DCE4EC"/>
            </a:solidFill>
            <a:prstDash val="solid"/>
          </a:ln>
        </p:spPr>
        <p:txBody>
          <a:bodyPr/>
          <a:lstStyle/>
          <a:p>
            <a:endParaRPr lang="es-CL"/>
          </a:p>
        </p:txBody>
      </p:sp>
      <p:sp>
        <p:nvSpPr>
          <p:cNvPr id="10" name="Shape 8"/>
          <p:cNvSpPr/>
          <p:nvPr/>
        </p:nvSpPr>
        <p:spPr>
          <a:xfrm>
            <a:off x="658368" y="2359152"/>
            <a:ext cx="329184" cy="329184"/>
          </a:xfrm>
          <a:prstGeom prst="ellipse">
            <a:avLst/>
          </a:prstGeom>
          <a:solidFill>
            <a:srgbClr val="06304A"/>
          </a:solidFill>
          <a:ln/>
        </p:spPr>
        <p:txBody>
          <a:bodyPr/>
          <a:lstStyle/>
          <a:p>
            <a:endParaRPr lang="es-CL"/>
          </a:p>
        </p:txBody>
      </p:sp>
      <p:sp>
        <p:nvSpPr>
          <p:cNvPr id="11" name="Text 9"/>
          <p:cNvSpPr/>
          <p:nvPr/>
        </p:nvSpPr>
        <p:spPr>
          <a:xfrm>
            <a:off x="658368" y="235915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097280" y="2286000"/>
            <a:ext cx="5212080" cy="475488"/>
          </a:xfrm>
          <a:prstGeom prst="rect">
            <a:avLst/>
          </a:prstGeom>
          <a:noFill/>
          <a:ln/>
        </p:spPr>
        <p:txBody>
          <a:bodyPr wrap="square" lIns="0" tIns="0" rIns="0" bIns="0" rtlCol="0" anchor="ctr"/>
          <a:lstStyle/>
          <a:p>
            <a:pPr marL="0" indent="0">
              <a:buNone/>
            </a:pPr>
            <a:r>
              <a:rPr lang="en-US" sz="1100" dirty="0">
                <a:solidFill>
                  <a:srgbClr val="06304A"/>
                </a:solidFill>
                <a:latin typeface="Calibri" pitchFamily="34" charset="0"/>
                <a:ea typeface="Calibri" pitchFamily="34" charset="-122"/>
                <a:cs typeface="Calibri" pitchFamily="34" charset="-120"/>
              </a:rPr>
              <a:t>Pensamiento algorítmico aplicado a la ciencia de datos</a:t>
            </a:r>
            <a:endParaRPr lang="en-US" sz="1100" dirty="0"/>
          </a:p>
        </p:txBody>
      </p:sp>
      <p:sp>
        <p:nvSpPr>
          <p:cNvPr id="13" name="Text 11"/>
          <p:cNvSpPr/>
          <p:nvPr/>
        </p:nvSpPr>
        <p:spPr>
          <a:xfrm>
            <a:off x="6309360" y="2286000"/>
            <a:ext cx="1417320" cy="475488"/>
          </a:xfrm>
          <a:prstGeom prst="rect">
            <a:avLst/>
          </a:prstGeom>
          <a:noFill/>
          <a:ln/>
        </p:spPr>
        <p:txBody>
          <a:bodyPr wrap="square" lIns="0" tIns="0" rIns="0" bIns="0"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Interactivo</a:t>
            </a:r>
            <a:endParaRPr lang="en-US" sz="900" dirty="0"/>
          </a:p>
        </p:txBody>
      </p:sp>
      <p:sp>
        <p:nvSpPr>
          <p:cNvPr id="14" name="Shape 12"/>
          <p:cNvSpPr/>
          <p:nvPr/>
        </p:nvSpPr>
        <p:spPr>
          <a:xfrm>
            <a:off x="548640" y="2834640"/>
            <a:ext cx="7315200" cy="475488"/>
          </a:xfrm>
          <a:prstGeom prst="roundRect">
            <a:avLst>
              <a:gd name="adj" fmla="val 9615"/>
            </a:avLst>
          </a:prstGeom>
          <a:solidFill>
            <a:srgbClr val="F6E7E9"/>
          </a:solidFill>
          <a:ln w="12700">
            <a:solidFill>
              <a:srgbClr val="DCE4EC"/>
            </a:solidFill>
            <a:prstDash val="solid"/>
          </a:ln>
        </p:spPr>
        <p:txBody>
          <a:bodyPr/>
          <a:lstStyle/>
          <a:p>
            <a:endParaRPr lang="es-CL"/>
          </a:p>
        </p:txBody>
      </p:sp>
      <p:sp>
        <p:nvSpPr>
          <p:cNvPr id="15" name="Shape 13"/>
          <p:cNvSpPr/>
          <p:nvPr/>
        </p:nvSpPr>
        <p:spPr>
          <a:xfrm>
            <a:off x="658368" y="2907792"/>
            <a:ext cx="329184" cy="329184"/>
          </a:xfrm>
          <a:prstGeom prst="ellipse">
            <a:avLst/>
          </a:prstGeom>
          <a:solidFill>
            <a:srgbClr val="AC212E"/>
          </a:solidFill>
          <a:ln/>
        </p:spPr>
        <p:txBody>
          <a:bodyPr/>
          <a:lstStyle/>
          <a:p>
            <a:endParaRPr lang="es-CL"/>
          </a:p>
        </p:txBody>
      </p:sp>
      <p:sp>
        <p:nvSpPr>
          <p:cNvPr id="16" name="Text 14"/>
          <p:cNvSpPr/>
          <p:nvPr/>
        </p:nvSpPr>
        <p:spPr>
          <a:xfrm>
            <a:off x="658368" y="290779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097280" y="2834640"/>
            <a:ext cx="5212080" cy="475488"/>
          </a:xfrm>
          <a:prstGeom prst="rect">
            <a:avLst/>
          </a:prstGeom>
          <a:noFill/>
          <a:ln/>
        </p:spPr>
        <p:txBody>
          <a:bodyPr wrap="square" lIns="0" tIns="0" rIns="0" bIns="0" rtlCol="0" anchor="ctr"/>
          <a:lstStyle/>
          <a:p>
            <a:pPr marL="0" indent="0">
              <a:buNone/>
            </a:pPr>
            <a:r>
              <a:rPr lang="en-US" sz="1100" b="1" dirty="0">
                <a:solidFill>
                  <a:srgbClr val="AC212E"/>
                </a:solidFill>
                <a:latin typeface="Calibri" pitchFamily="34" charset="0"/>
                <a:ea typeface="Calibri" pitchFamily="34" charset="-122"/>
                <a:cs typeface="Calibri" pitchFamily="34" charset="-120"/>
              </a:rPr>
              <a:t>Paso a paso del mapa conceptual técnico</a:t>
            </a:r>
            <a:endParaRPr lang="en-US" sz="1100" dirty="0"/>
          </a:p>
        </p:txBody>
      </p:sp>
      <p:sp>
        <p:nvSpPr>
          <p:cNvPr id="18" name="Text 16"/>
          <p:cNvSpPr/>
          <p:nvPr/>
        </p:nvSpPr>
        <p:spPr>
          <a:xfrm>
            <a:off x="6309360" y="2834640"/>
            <a:ext cx="1417320" cy="475488"/>
          </a:xfrm>
          <a:prstGeom prst="rect">
            <a:avLst/>
          </a:prstGeom>
          <a:noFill/>
          <a:ln/>
        </p:spPr>
        <p:txBody>
          <a:bodyPr wrap="square" lIns="0" tIns="0" rIns="0" bIns="0"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Infografía</a:t>
            </a:r>
            <a:endParaRPr lang="en-US" sz="900" dirty="0"/>
          </a:p>
        </p:txBody>
      </p:sp>
      <p:sp>
        <p:nvSpPr>
          <p:cNvPr id="19" name="Shape 17"/>
          <p:cNvSpPr/>
          <p:nvPr/>
        </p:nvSpPr>
        <p:spPr>
          <a:xfrm>
            <a:off x="548640" y="3383280"/>
            <a:ext cx="7315200" cy="475488"/>
          </a:xfrm>
          <a:prstGeom prst="roundRect">
            <a:avLst>
              <a:gd name="adj" fmla="val 9615"/>
            </a:avLst>
          </a:prstGeom>
          <a:solidFill>
            <a:srgbClr val="FFFFFF"/>
          </a:solidFill>
          <a:ln w="12700">
            <a:solidFill>
              <a:srgbClr val="DCE4EC"/>
            </a:solidFill>
            <a:prstDash val="solid"/>
          </a:ln>
        </p:spPr>
        <p:txBody>
          <a:bodyPr/>
          <a:lstStyle/>
          <a:p>
            <a:endParaRPr lang="es-CL"/>
          </a:p>
        </p:txBody>
      </p:sp>
      <p:sp>
        <p:nvSpPr>
          <p:cNvPr id="20" name="Shape 18"/>
          <p:cNvSpPr/>
          <p:nvPr/>
        </p:nvSpPr>
        <p:spPr>
          <a:xfrm>
            <a:off x="658368" y="3456432"/>
            <a:ext cx="329184" cy="329184"/>
          </a:xfrm>
          <a:prstGeom prst="ellipse">
            <a:avLst/>
          </a:prstGeom>
          <a:solidFill>
            <a:srgbClr val="06304A"/>
          </a:solidFill>
          <a:ln/>
        </p:spPr>
        <p:txBody>
          <a:bodyPr/>
          <a:lstStyle/>
          <a:p>
            <a:endParaRPr lang="es-CL"/>
          </a:p>
        </p:txBody>
      </p:sp>
      <p:sp>
        <p:nvSpPr>
          <p:cNvPr id="21" name="Text 19"/>
          <p:cNvSpPr/>
          <p:nvPr/>
        </p:nvSpPr>
        <p:spPr>
          <a:xfrm>
            <a:off x="658368" y="34564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1097280" y="3383280"/>
            <a:ext cx="5212080" cy="475488"/>
          </a:xfrm>
          <a:prstGeom prst="rect">
            <a:avLst/>
          </a:prstGeom>
          <a:noFill/>
          <a:ln/>
        </p:spPr>
        <p:txBody>
          <a:bodyPr wrap="square" lIns="0" tIns="0" rIns="0" bIns="0" rtlCol="0" anchor="ctr"/>
          <a:lstStyle/>
          <a:p>
            <a:pPr marL="0" indent="0">
              <a:buNone/>
            </a:pPr>
            <a:r>
              <a:rPr lang="en-US" sz="1100" dirty="0">
                <a:solidFill>
                  <a:srgbClr val="06304A"/>
                </a:solidFill>
                <a:latin typeface="Calibri" pitchFamily="34" charset="0"/>
                <a:ea typeface="Calibri" pitchFamily="34" charset="-122"/>
                <a:cs typeface="Calibri" pitchFamily="34" charset="-120"/>
              </a:rPr>
              <a:t>Fundamentos del ecosistema científico</a:t>
            </a:r>
            <a:endParaRPr lang="en-US" sz="1100" dirty="0"/>
          </a:p>
        </p:txBody>
      </p:sp>
      <p:sp>
        <p:nvSpPr>
          <p:cNvPr id="23" name="Text 21"/>
          <p:cNvSpPr/>
          <p:nvPr/>
        </p:nvSpPr>
        <p:spPr>
          <a:xfrm>
            <a:off x="6309360" y="3383280"/>
            <a:ext cx="1417320" cy="475488"/>
          </a:xfrm>
          <a:prstGeom prst="rect">
            <a:avLst/>
          </a:prstGeom>
          <a:noFill/>
          <a:ln/>
        </p:spPr>
        <p:txBody>
          <a:bodyPr wrap="square" lIns="0" tIns="0" rIns="0" bIns="0"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Cápsula docente</a:t>
            </a:r>
            <a:endParaRPr lang="en-US" sz="900" dirty="0"/>
          </a:p>
        </p:txBody>
      </p:sp>
      <p:sp>
        <p:nvSpPr>
          <p:cNvPr id="24" name="Shape 22"/>
          <p:cNvSpPr/>
          <p:nvPr/>
        </p:nvSpPr>
        <p:spPr>
          <a:xfrm>
            <a:off x="548640" y="3931920"/>
            <a:ext cx="7315200" cy="475488"/>
          </a:xfrm>
          <a:prstGeom prst="roundRect">
            <a:avLst>
              <a:gd name="adj" fmla="val 9615"/>
            </a:avLst>
          </a:prstGeom>
          <a:solidFill>
            <a:srgbClr val="FFFFFF"/>
          </a:solidFill>
          <a:ln w="12700">
            <a:solidFill>
              <a:srgbClr val="DCE4EC"/>
            </a:solidFill>
            <a:prstDash val="solid"/>
          </a:ln>
        </p:spPr>
        <p:txBody>
          <a:bodyPr/>
          <a:lstStyle/>
          <a:p>
            <a:endParaRPr lang="es-CL"/>
          </a:p>
        </p:txBody>
      </p:sp>
      <p:sp>
        <p:nvSpPr>
          <p:cNvPr id="25" name="Shape 23"/>
          <p:cNvSpPr/>
          <p:nvPr/>
        </p:nvSpPr>
        <p:spPr>
          <a:xfrm>
            <a:off x="658368" y="4005072"/>
            <a:ext cx="329184" cy="329184"/>
          </a:xfrm>
          <a:prstGeom prst="ellipse">
            <a:avLst/>
          </a:prstGeom>
          <a:solidFill>
            <a:srgbClr val="06304A"/>
          </a:solidFill>
          <a:ln/>
        </p:spPr>
        <p:txBody>
          <a:bodyPr/>
          <a:lstStyle/>
          <a:p>
            <a:endParaRPr lang="es-CL"/>
          </a:p>
        </p:txBody>
      </p:sp>
      <p:sp>
        <p:nvSpPr>
          <p:cNvPr id="26" name="Text 24"/>
          <p:cNvSpPr/>
          <p:nvPr/>
        </p:nvSpPr>
        <p:spPr>
          <a:xfrm>
            <a:off x="658368" y="400507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1097280" y="3931920"/>
            <a:ext cx="5212080" cy="475488"/>
          </a:xfrm>
          <a:prstGeom prst="rect">
            <a:avLst/>
          </a:prstGeom>
          <a:noFill/>
          <a:ln/>
        </p:spPr>
        <p:txBody>
          <a:bodyPr wrap="square" lIns="0" tIns="0" rIns="0" bIns="0" rtlCol="0" anchor="ctr"/>
          <a:lstStyle/>
          <a:p>
            <a:pPr marL="0" indent="0">
              <a:buNone/>
            </a:pPr>
            <a:r>
              <a:rPr lang="en-US" sz="1100" dirty="0">
                <a:solidFill>
                  <a:srgbClr val="06304A"/>
                </a:solidFill>
                <a:latin typeface="Calibri" pitchFamily="34" charset="0"/>
                <a:ea typeface="Calibri" pitchFamily="34" charset="-122"/>
                <a:cs typeface="Calibri" pitchFamily="34" charset="-120"/>
              </a:rPr>
              <a:t>Jupyter Notebooks como herramienta científica</a:t>
            </a:r>
            <a:endParaRPr lang="en-US" sz="1100" dirty="0"/>
          </a:p>
        </p:txBody>
      </p:sp>
      <p:sp>
        <p:nvSpPr>
          <p:cNvPr id="28" name="Text 26"/>
          <p:cNvSpPr/>
          <p:nvPr/>
        </p:nvSpPr>
        <p:spPr>
          <a:xfrm>
            <a:off x="6309360" y="3931920"/>
            <a:ext cx="1417320" cy="475488"/>
          </a:xfrm>
          <a:prstGeom prst="rect">
            <a:avLst/>
          </a:prstGeom>
          <a:noFill/>
          <a:ln/>
        </p:spPr>
        <p:txBody>
          <a:bodyPr wrap="square" lIns="0" tIns="0" rIns="0" bIns="0"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Audiovisual</a:t>
            </a:r>
            <a:endParaRPr lang="en-US" sz="900" dirty="0"/>
          </a:p>
        </p:txBody>
      </p:sp>
      <p:sp>
        <p:nvSpPr>
          <p:cNvPr id="29" name="Shape 27"/>
          <p:cNvSpPr/>
          <p:nvPr/>
        </p:nvSpPr>
        <p:spPr>
          <a:xfrm>
            <a:off x="548640" y="4480560"/>
            <a:ext cx="7315200" cy="475488"/>
          </a:xfrm>
          <a:prstGeom prst="roundRect">
            <a:avLst>
              <a:gd name="adj" fmla="val 9615"/>
            </a:avLst>
          </a:prstGeom>
          <a:solidFill>
            <a:srgbClr val="FFFFFF"/>
          </a:solidFill>
          <a:ln w="12700">
            <a:solidFill>
              <a:srgbClr val="DCE4EC"/>
            </a:solidFill>
            <a:prstDash val="solid"/>
          </a:ln>
        </p:spPr>
        <p:txBody>
          <a:bodyPr/>
          <a:lstStyle/>
          <a:p>
            <a:endParaRPr lang="es-CL"/>
          </a:p>
        </p:txBody>
      </p:sp>
      <p:sp>
        <p:nvSpPr>
          <p:cNvPr id="30" name="Shape 28"/>
          <p:cNvSpPr/>
          <p:nvPr/>
        </p:nvSpPr>
        <p:spPr>
          <a:xfrm>
            <a:off x="658368" y="4553712"/>
            <a:ext cx="329184" cy="329184"/>
          </a:xfrm>
          <a:prstGeom prst="ellipse">
            <a:avLst/>
          </a:prstGeom>
          <a:solidFill>
            <a:srgbClr val="06304A"/>
          </a:solidFill>
          <a:ln/>
        </p:spPr>
        <p:txBody>
          <a:bodyPr/>
          <a:lstStyle/>
          <a:p>
            <a:endParaRPr lang="es-CL"/>
          </a:p>
        </p:txBody>
      </p:sp>
      <p:sp>
        <p:nvSpPr>
          <p:cNvPr id="31" name="Text 29"/>
          <p:cNvSpPr/>
          <p:nvPr/>
        </p:nvSpPr>
        <p:spPr>
          <a:xfrm>
            <a:off x="658368" y="455371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p:nvPr/>
        </p:nvSpPr>
        <p:spPr>
          <a:xfrm>
            <a:off x="1097280" y="4480560"/>
            <a:ext cx="5212080" cy="475488"/>
          </a:xfrm>
          <a:prstGeom prst="rect">
            <a:avLst/>
          </a:prstGeom>
          <a:noFill/>
          <a:ln/>
        </p:spPr>
        <p:txBody>
          <a:bodyPr wrap="square" lIns="0" tIns="0" rIns="0" bIns="0" rtlCol="0" anchor="ctr"/>
          <a:lstStyle/>
          <a:p>
            <a:pPr marL="0" indent="0">
              <a:buNone/>
            </a:pPr>
            <a:r>
              <a:rPr lang="en-US" sz="1100" dirty="0">
                <a:solidFill>
                  <a:srgbClr val="06304A"/>
                </a:solidFill>
                <a:latin typeface="Calibri" pitchFamily="34" charset="0"/>
                <a:ea typeface="Calibri" pitchFamily="34" charset="-122"/>
                <a:cs typeface="Calibri" pitchFamily="34" charset="-120"/>
              </a:rPr>
              <a:t>Git y GitHub profesional para ciencia de datos</a:t>
            </a:r>
            <a:endParaRPr lang="en-US" sz="1100" dirty="0"/>
          </a:p>
        </p:txBody>
      </p:sp>
      <p:sp>
        <p:nvSpPr>
          <p:cNvPr id="33" name="Text 31"/>
          <p:cNvSpPr/>
          <p:nvPr/>
        </p:nvSpPr>
        <p:spPr>
          <a:xfrm>
            <a:off x="6309360" y="4480560"/>
            <a:ext cx="1417320" cy="475488"/>
          </a:xfrm>
          <a:prstGeom prst="rect">
            <a:avLst/>
          </a:prstGeom>
          <a:noFill/>
          <a:ln/>
        </p:spPr>
        <p:txBody>
          <a:bodyPr wrap="square" lIns="0" tIns="0" rIns="0" bIns="0"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Interactivo</a:t>
            </a:r>
            <a:endParaRPr lang="en-US" sz="900" dirty="0"/>
          </a:p>
        </p:txBody>
      </p:sp>
      <p:sp>
        <p:nvSpPr>
          <p:cNvPr id="34" name="Shape 32"/>
          <p:cNvSpPr/>
          <p:nvPr/>
        </p:nvSpPr>
        <p:spPr>
          <a:xfrm>
            <a:off x="548640" y="5029200"/>
            <a:ext cx="7315200" cy="475488"/>
          </a:xfrm>
          <a:prstGeom prst="roundRect">
            <a:avLst>
              <a:gd name="adj" fmla="val 9615"/>
            </a:avLst>
          </a:prstGeom>
          <a:solidFill>
            <a:srgbClr val="FFFFFF"/>
          </a:solidFill>
          <a:ln w="12700">
            <a:solidFill>
              <a:srgbClr val="DCE4EC"/>
            </a:solidFill>
            <a:prstDash val="solid"/>
          </a:ln>
        </p:spPr>
        <p:txBody>
          <a:bodyPr/>
          <a:lstStyle/>
          <a:p>
            <a:endParaRPr lang="es-CL"/>
          </a:p>
        </p:txBody>
      </p:sp>
      <p:sp>
        <p:nvSpPr>
          <p:cNvPr id="35" name="Shape 33"/>
          <p:cNvSpPr/>
          <p:nvPr/>
        </p:nvSpPr>
        <p:spPr>
          <a:xfrm>
            <a:off x="658368" y="5102352"/>
            <a:ext cx="329184" cy="329184"/>
          </a:xfrm>
          <a:prstGeom prst="ellipse">
            <a:avLst/>
          </a:prstGeom>
          <a:solidFill>
            <a:srgbClr val="06304A"/>
          </a:solidFill>
          <a:ln/>
        </p:spPr>
        <p:txBody>
          <a:bodyPr/>
          <a:lstStyle/>
          <a:p>
            <a:endParaRPr lang="es-CL"/>
          </a:p>
        </p:txBody>
      </p:sp>
      <p:sp>
        <p:nvSpPr>
          <p:cNvPr id="36" name="Text 34"/>
          <p:cNvSpPr/>
          <p:nvPr/>
        </p:nvSpPr>
        <p:spPr>
          <a:xfrm>
            <a:off x="658368" y="510235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7" name="Text 35"/>
          <p:cNvSpPr/>
          <p:nvPr/>
        </p:nvSpPr>
        <p:spPr>
          <a:xfrm>
            <a:off x="1097280" y="5029200"/>
            <a:ext cx="5212080" cy="475488"/>
          </a:xfrm>
          <a:prstGeom prst="rect">
            <a:avLst/>
          </a:prstGeom>
          <a:noFill/>
          <a:ln/>
        </p:spPr>
        <p:txBody>
          <a:bodyPr wrap="square" lIns="0" tIns="0" rIns="0" bIns="0" rtlCol="0" anchor="ctr"/>
          <a:lstStyle/>
          <a:p>
            <a:pPr marL="0" indent="0">
              <a:buNone/>
            </a:pPr>
            <a:r>
              <a:rPr lang="en-US" sz="1100" dirty="0">
                <a:solidFill>
                  <a:srgbClr val="06304A"/>
                </a:solidFill>
                <a:latin typeface="Calibri" pitchFamily="34" charset="0"/>
                <a:ea typeface="Calibri" pitchFamily="34" charset="-122"/>
                <a:cs typeface="Calibri" pitchFamily="34" charset="-120"/>
              </a:rPr>
              <a:t>Git y GitHub para el control de versiones</a:t>
            </a:r>
            <a:endParaRPr lang="en-US" sz="1100" dirty="0"/>
          </a:p>
        </p:txBody>
      </p:sp>
      <p:sp>
        <p:nvSpPr>
          <p:cNvPr id="38" name="Text 36"/>
          <p:cNvSpPr/>
          <p:nvPr/>
        </p:nvSpPr>
        <p:spPr>
          <a:xfrm>
            <a:off x="6309360" y="5029200"/>
            <a:ext cx="1417320" cy="475488"/>
          </a:xfrm>
          <a:prstGeom prst="rect">
            <a:avLst/>
          </a:prstGeom>
          <a:noFill/>
          <a:ln/>
        </p:spPr>
        <p:txBody>
          <a:bodyPr wrap="square" lIns="0" tIns="0" rIns="0" bIns="0"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Audiovisual</a:t>
            </a:r>
            <a:endParaRPr lang="en-US" sz="900" dirty="0"/>
          </a:p>
        </p:txBody>
      </p:sp>
      <p:sp>
        <p:nvSpPr>
          <p:cNvPr id="39" name="Shape 37"/>
          <p:cNvSpPr/>
          <p:nvPr/>
        </p:nvSpPr>
        <p:spPr>
          <a:xfrm>
            <a:off x="8138160" y="1737360"/>
            <a:ext cx="3474720" cy="3749040"/>
          </a:xfrm>
          <a:prstGeom prst="roundRect">
            <a:avLst>
              <a:gd name="adj" fmla="val 2368"/>
            </a:avLst>
          </a:prstGeom>
          <a:solidFill>
            <a:srgbClr val="0A1526"/>
          </a:solidFill>
          <a:ln w="12700">
            <a:solidFill>
              <a:srgbClr val="0A1526"/>
            </a:solidFill>
            <a:prstDash val="solid"/>
          </a:ln>
        </p:spPr>
        <p:txBody>
          <a:bodyPr/>
          <a:lstStyle/>
          <a:p>
            <a:endParaRPr lang="es-CL"/>
          </a:p>
        </p:txBody>
      </p:sp>
      <p:sp>
        <p:nvSpPr>
          <p:cNvPr id="40" name="Text 38"/>
          <p:cNvSpPr/>
          <p:nvPr/>
        </p:nvSpPr>
        <p:spPr>
          <a:xfrm>
            <a:off x="8412480" y="1901952"/>
            <a:ext cx="292608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Y después</a:t>
            </a:r>
            <a:endParaRPr lang="en-US" sz="1400" dirty="0"/>
          </a:p>
        </p:txBody>
      </p:sp>
      <p:sp>
        <p:nvSpPr>
          <p:cNvPr id="41" name="Text 39"/>
          <p:cNvSpPr/>
          <p:nvPr/>
        </p:nvSpPr>
        <p:spPr>
          <a:xfrm>
            <a:off x="8412480" y="2286000"/>
            <a:ext cx="2926080" cy="301752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Con estos recursos articulados, se desarrolla la Evaluación Formativa 1: el mapa conceptual técnico.</a:t>
            </a:r>
            <a:endParaRPr lang="en-US" sz="1250" dirty="0"/>
          </a:p>
          <a:p>
            <a:pPr marL="0" indent="0">
              <a:lnSpc>
                <a:spcPts val="1700"/>
              </a:lnSpc>
              <a:buNone/>
            </a:pPr>
            <a:endParaRPr lang="en-US" sz="1250" dirty="0"/>
          </a:p>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Al cierre se suma un octavo recurso —crear entornos reproducibles en GitHub— que anticipa la implementación de la evaluación sumativa.</a:t>
            </a:r>
            <a:endParaRPr lang="en-US" sz="1250" dirty="0"/>
          </a:p>
        </p:txBody>
      </p:sp>
      <p:sp>
        <p:nvSpPr>
          <p:cNvPr id="42" name="Text 40"/>
          <p:cNvSpPr/>
          <p:nvPr/>
        </p:nvSpPr>
        <p:spPr>
          <a:xfrm>
            <a:off x="548640" y="6327648"/>
            <a:ext cx="11064240" cy="274320"/>
          </a:xfrm>
          <a:prstGeom prst="rect">
            <a:avLst/>
          </a:prstGeom>
          <a:noFill/>
          <a:ln/>
        </p:spPr>
        <p:txBody>
          <a:bodyPr wrap="square" lIns="0" tIns="0" rIns="0" bIns="0" rtlCol="0" anchor="ctr"/>
          <a:lstStyle/>
          <a:p>
            <a:pPr marL="0" indent="0">
              <a:buNone/>
            </a:pPr>
            <a:r>
              <a:rPr lang="en-US" sz="1000" dirty="0">
                <a:solidFill>
                  <a:srgbClr val="5A6B7B"/>
                </a:solidFill>
                <a:latin typeface="Calibri" pitchFamily="34" charset="0"/>
                <a:ea typeface="Calibri" pitchFamily="34" charset="-122"/>
                <a:cs typeface="Calibri" pitchFamily="34" charset="-120"/>
              </a:rPr>
              <a:t>El recurso destacado es el que define el nivel de profundidad esperado para el mapa: revísenlo antes de empezar a dibujar.</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Fase 1 · Qué aporta cada recurso</a:t>
            </a:r>
            <a:endParaRPr lang="en-US" sz="3000" dirty="0"/>
          </a:p>
        </p:txBody>
      </p:sp>
      <p:graphicFrame>
        <p:nvGraphicFramePr>
          <p:cNvPr id="5" name="Table 0"/>
          <p:cNvGraphicFramePr>
            <a:graphicFrameLocks noGrp="1"/>
          </p:cNvGraphicFramePr>
          <p:nvPr/>
        </p:nvGraphicFramePr>
        <p:xfrm>
          <a:off x="548640" y="1737360"/>
          <a:ext cx="11064240" cy="4023360"/>
        </p:xfrm>
        <a:graphic>
          <a:graphicData uri="http://schemas.openxmlformats.org/drawingml/2006/table">
            <a:tbl>
              <a:tblPr/>
              <a:tblGrid>
                <a:gridCol w="3291840">
                  <a:extLst>
                    <a:ext uri="{9D8B030D-6E8A-4147-A177-3AD203B41FA5}">
                      <a16:colId xmlns:a16="http://schemas.microsoft.com/office/drawing/2014/main" val="20000"/>
                    </a:ext>
                  </a:extLst>
                </a:gridCol>
                <a:gridCol w="7772400">
                  <a:extLst>
                    <a:ext uri="{9D8B030D-6E8A-4147-A177-3AD203B41FA5}">
                      <a16:colId xmlns:a16="http://schemas.microsoft.com/office/drawing/2014/main" val="20001"/>
                    </a:ext>
                  </a:extLst>
                </a:gridCol>
              </a:tblGrid>
              <a:tr h="50292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Recurso</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Qué permite hacer</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extLst>
                  <a:ext uri="{0D108BD9-81ED-4DB2-BD59-A6C34878D82A}">
                    <a16:rowId xmlns:a16="http://schemas.microsoft.com/office/drawing/2014/main" val="10000"/>
                  </a:ext>
                </a:extLst>
              </a:tr>
              <a:tr h="502920">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Introducción Fase 1</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Comprender el enfoque ABP, el tipo de problemática y el rol de las decisiones metodológicas</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Pensamiento algorítmico</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Transformar la problemática en un flujo lógico de procesos, decisiones y etapas programables</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Infografía del mapa conceptual</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Saber cómo representar problema, flujo, herramientas y sus relaciones</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Ecosistema científico</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Reconocer las herramientas clave de Python para preparar, modelar y visualizar</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Jupyter Notebooks</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Entender cómo se integran análisis, código y documentación en un entorno reproducible</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Git y GitHub (interactivo)</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Comprender el control de versiones y cómo se asegura la trazabilidad del trabajo</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02920">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Git y GitHub (audiovisual)</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Ver ejemplos concretos de versionamiento y uso del repositorio como documentación</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4" name="Shape 2"/>
          <p:cNvSpPr/>
          <p:nvPr/>
        </p:nvSpPr>
        <p:spPr>
          <a:xfrm>
            <a:off x="548640" y="5669280"/>
            <a:ext cx="11064240" cy="640080"/>
          </a:xfrm>
          <a:prstGeom prst="roundRect">
            <a:avLst>
              <a:gd name="adj" fmla="val 12857"/>
            </a:avLst>
          </a:prstGeom>
          <a:solidFill>
            <a:srgbClr val="F6E7E9"/>
          </a:solidFill>
          <a:ln w="12700">
            <a:solidFill>
              <a:srgbClr val="F6E7E9"/>
            </a:solidFill>
            <a:prstDash val="solid"/>
          </a:ln>
        </p:spPr>
        <p:txBody>
          <a:bodyPr/>
          <a:lstStyle/>
          <a:p>
            <a:endParaRPr lang="es-CL"/>
          </a:p>
        </p:txBody>
      </p:sp>
      <p:sp>
        <p:nvSpPr>
          <p:cNvPr id="6" name="Text 3"/>
          <p:cNvSpPr/>
          <p:nvPr/>
        </p:nvSpPr>
        <p:spPr>
          <a:xfrm>
            <a:off x="868680" y="5577840"/>
            <a:ext cx="10424160" cy="640080"/>
          </a:xfrm>
          <a:prstGeom prst="rect">
            <a:avLst/>
          </a:prstGeom>
          <a:noFill/>
          <a:ln/>
        </p:spPr>
        <p:txBody>
          <a:bodyPr wrap="square" lIns="0" tIns="0" rIns="0" bIns="0" rtlCol="0" anchor="ctr"/>
          <a:lstStyle/>
          <a:p>
            <a:pPr marL="0" indent="0">
              <a:buNone/>
            </a:pPr>
            <a:r>
              <a:rPr lang="en-US" sz="1250" dirty="0">
                <a:solidFill>
                  <a:srgbClr val="AC212E"/>
                </a:solidFill>
                <a:latin typeface="Calibri" pitchFamily="34" charset="0"/>
                <a:ea typeface="Calibri" pitchFamily="34" charset="-122"/>
                <a:cs typeface="Calibri" pitchFamily="34" charset="-120"/>
              </a:rPr>
              <a:t>El recurso de pensamiento algorítmico es el que evita el error más frecuente: un mapa con descripciones genéricas, desconectado del enfoque técnico que exige la fase.</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Fase 2 · Objetivo y resultados de aprendizaje</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El foco cambia: de la planificación conceptual al trabajo técnico directo con datos.</a:t>
            </a:r>
            <a:endParaRPr lang="en-US" sz="1400" dirty="0"/>
          </a:p>
        </p:txBody>
      </p:sp>
      <p:sp>
        <p:nvSpPr>
          <p:cNvPr id="4" name="Shape 2"/>
          <p:cNvSpPr/>
          <p:nvPr/>
        </p:nvSpPr>
        <p:spPr>
          <a:xfrm>
            <a:off x="548640" y="1737360"/>
            <a:ext cx="11064240" cy="1051560"/>
          </a:xfrm>
          <a:prstGeom prst="roundRect">
            <a:avLst>
              <a:gd name="adj" fmla="val 7826"/>
            </a:avLst>
          </a:prstGeom>
          <a:solidFill>
            <a:srgbClr val="F6E7E9"/>
          </a:solidFill>
          <a:ln w="12700">
            <a:solidFill>
              <a:srgbClr val="F6E7E9"/>
            </a:solidFill>
            <a:prstDash val="solid"/>
          </a:ln>
        </p:spPr>
        <p:txBody>
          <a:bodyPr/>
          <a:lstStyle/>
          <a:p>
            <a:endParaRPr lang="es-CL"/>
          </a:p>
        </p:txBody>
      </p:sp>
      <p:sp>
        <p:nvSpPr>
          <p:cNvPr id="5" name="Text 3"/>
          <p:cNvSpPr/>
          <p:nvPr/>
        </p:nvSpPr>
        <p:spPr>
          <a:xfrm>
            <a:off x="868680" y="1737360"/>
            <a:ext cx="10424160" cy="1051560"/>
          </a:xfrm>
          <a:prstGeom prst="rect">
            <a:avLst/>
          </a:prstGeom>
          <a:noFill/>
          <a:ln/>
        </p:spPr>
        <p:txBody>
          <a:bodyPr wrap="square" lIns="0" tIns="0" rIns="0" bIns="0" rtlCol="0" anchor="ctr"/>
          <a:lstStyle/>
          <a:p>
            <a:pPr marL="0" indent="0">
              <a:lnSpc>
                <a:spcPts val="1900"/>
              </a:lnSpc>
              <a:buNone/>
            </a:pPr>
            <a:r>
              <a:rPr lang="en-US" sz="1400" dirty="0">
                <a:solidFill>
                  <a:srgbClr val="AC212E"/>
                </a:solidFill>
                <a:latin typeface="Calibri" pitchFamily="34" charset="0"/>
                <a:ea typeface="Calibri" pitchFamily="34" charset="-122"/>
                <a:cs typeface="Calibri" pitchFamily="34" charset="-120"/>
              </a:rPr>
              <a:t>Desarrollar la capacidad de obtener, limpiar y transformar conjuntos de datos reales con NumPy y Pandas, integrando estructuras de control y funciones para automatizar procesos, documentar decisiones técnicas y asegurar calidad, coherencia y reproducibilidad.</a:t>
            </a:r>
            <a:endParaRPr lang="en-US" sz="1400" dirty="0"/>
          </a:p>
        </p:txBody>
      </p:sp>
      <p:sp>
        <p:nvSpPr>
          <p:cNvPr id="6" name="Shape 4"/>
          <p:cNvSpPr/>
          <p:nvPr/>
        </p:nvSpPr>
        <p:spPr>
          <a:xfrm>
            <a:off x="548640" y="3017520"/>
            <a:ext cx="5303520" cy="2286000"/>
          </a:xfrm>
          <a:prstGeom prst="roundRect">
            <a:avLst>
              <a:gd name="adj" fmla="val 3600"/>
            </a:avLst>
          </a:prstGeom>
          <a:solidFill>
            <a:srgbClr val="F4F7FA"/>
          </a:solidFill>
          <a:ln w="12700">
            <a:solidFill>
              <a:srgbClr val="F4F7FA"/>
            </a:solidFill>
            <a:prstDash val="solid"/>
          </a:ln>
        </p:spPr>
        <p:txBody>
          <a:bodyPr/>
          <a:lstStyle/>
          <a:p>
            <a:endParaRPr lang="es-CL"/>
          </a:p>
        </p:txBody>
      </p:sp>
      <p:sp>
        <p:nvSpPr>
          <p:cNvPr id="7" name="Text 5"/>
          <p:cNvSpPr/>
          <p:nvPr/>
        </p:nvSpPr>
        <p:spPr>
          <a:xfrm>
            <a:off x="822960" y="3182112"/>
            <a:ext cx="4754880" cy="411480"/>
          </a:xfrm>
          <a:prstGeom prst="rect">
            <a:avLst/>
          </a:prstGeom>
          <a:noFill/>
          <a:ln/>
        </p:spPr>
        <p:txBody>
          <a:bodyPr wrap="square" lIns="0" tIns="0" rIns="0" bIns="0" rtlCol="0" anchor="ctr"/>
          <a:lstStyle/>
          <a:p>
            <a:pPr marL="0" indent="0">
              <a:buNone/>
            </a:pPr>
            <a:r>
              <a:rPr lang="en-US" sz="2000" b="1" dirty="0">
                <a:solidFill>
                  <a:srgbClr val="AC212E"/>
                </a:solidFill>
                <a:latin typeface="Cambria" pitchFamily="34" charset="0"/>
                <a:ea typeface="Cambria" pitchFamily="34" charset="-122"/>
                <a:cs typeface="Cambria" pitchFamily="34" charset="-120"/>
              </a:rPr>
              <a:t>RA4</a:t>
            </a:r>
            <a:endParaRPr lang="en-US" sz="2000" dirty="0"/>
          </a:p>
        </p:txBody>
      </p:sp>
      <p:sp>
        <p:nvSpPr>
          <p:cNvPr id="8" name="Text 6"/>
          <p:cNvSpPr/>
          <p:nvPr/>
        </p:nvSpPr>
        <p:spPr>
          <a:xfrm>
            <a:off x="822960" y="3611880"/>
            <a:ext cx="4754880" cy="777240"/>
          </a:xfrm>
          <a:prstGeom prst="rect">
            <a:avLst/>
          </a:prstGeom>
          <a:noFill/>
          <a:ln/>
        </p:spPr>
        <p:txBody>
          <a:bodyPr wrap="square" lIns="0" tIns="0" rIns="0" bIns="0" rtlCol="0" anchor="ctr"/>
          <a:lstStyle/>
          <a:p>
            <a:pPr marL="0" indent="0">
              <a:lnSpc>
                <a:spcPts val="1700"/>
              </a:lnSpc>
              <a:buNone/>
            </a:pPr>
            <a:r>
              <a:rPr lang="en-US" sz="1250" b="1" dirty="0">
                <a:solidFill>
                  <a:srgbClr val="06304A"/>
                </a:solidFill>
                <a:latin typeface="Calibri" pitchFamily="34" charset="0"/>
                <a:ea typeface="Calibri" pitchFamily="34" charset="-122"/>
                <a:cs typeface="Calibri" pitchFamily="34" charset="-120"/>
              </a:rPr>
              <a:t>Construir visualizaciones de datos efectivas con librerías del ecosistema científico de Python.</a:t>
            </a:r>
            <a:endParaRPr lang="en-US" sz="1250" dirty="0"/>
          </a:p>
        </p:txBody>
      </p:sp>
      <p:sp>
        <p:nvSpPr>
          <p:cNvPr id="9" name="Text 7"/>
          <p:cNvSpPr/>
          <p:nvPr/>
        </p:nvSpPr>
        <p:spPr>
          <a:xfrm>
            <a:off x="822960" y="4407408"/>
            <a:ext cx="4754880" cy="77724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ID 4.1 · Aplican técnicas de preprocesamiento y transformación con NumPy y Pandas, asegurando calidad y consistencia.</a:t>
            </a:r>
            <a:endParaRPr lang="en-US" sz="1200" dirty="0"/>
          </a:p>
        </p:txBody>
      </p:sp>
      <p:sp>
        <p:nvSpPr>
          <p:cNvPr id="10" name="Shape 8"/>
          <p:cNvSpPr/>
          <p:nvPr/>
        </p:nvSpPr>
        <p:spPr>
          <a:xfrm>
            <a:off x="6309360" y="3017520"/>
            <a:ext cx="5303520" cy="2286000"/>
          </a:xfrm>
          <a:prstGeom prst="roundRect">
            <a:avLst>
              <a:gd name="adj" fmla="val 3600"/>
            </a:avLst>
          </a:prstGeom>
          <a:solidFill>
            <a:srgbClr val="F4F7FA"/>
          </a:solidFill>
          <a:ln w="12700">
            <a:solidFill>
              <a:srgbClr val="F4F7FA"/>
            </a:solidFill>
            <a:prstDash val="solid"/>
          </a:ln>
        </p:spPr>
        <p:txBody>
          <a:bodyPr/>
          <a:lstStyle/>
          <a:p>
            <a:endParaRPr lang="es-CL"/>
          </a:p>
        </p:txBody>
      </p:sp>
      <p:sp>
        <p:nvSpPr>
          <p:cNvPr id="11" name="Text 9"/>
          <p:cNvSpPr/>
          <p:nvPr/>
        </p:nvSpPr>
        <p:spPr>
          <a:xfrm>
            <a:off x="6583680" y="3182112"/>
            <a:ext cx="4754880" cy="411480"/>
          </a:xfrm>
          <a:prstGeom prst="rect">
            <a:avLst/>
          </a:prstGeom>
          <a:noFill/>
          <a:ln/>
        </p:spPr>
        <p:txBody>
          <a:bodyPr wrap="square" lIns="0" tIns="0" rIns="0" bIns="0" rtlCol="0" anchor="ctr"/>
          <a:lstStyle/>
          <a:p>
            <a:pPr marL="0" indent="0">
              <a:buNone/>
            </a:pPr>
            <a:r>
              <a:rPr lang="en-US" sz="2000" b="1" dirty="0">
                <a:solidFill>
                  <a:srgbClr val="AC212E"/>
                </a:solidFill>
                <a:latin typeface="Cambria" pitchFamily="34" charset="0"/>
                <a:ea typeface="Cambria" pitchFamily="34" charset="-122"/>
                <a:cs typeface="Cambria" pitchFamily="34" charset="-120"/>
              </a:rPr>
              <a:t>RA2</a:t>
            </a:r>
            <a:endParaRPr lang="en-US" sz="2000" dirty="0"/>
          </a:p>
        </p:txBody>
      </p:sp>
      <p:sp>
        <p:nvSpPr>
          <p:cNvPr id="12" name="Text 10"/>
          <p:cNvSpPr/>
          <p:nvPr/>
        </p:nvSpPr>
        <p:spPr>
          <a:xfrm>
            <a:off x="6583680" y="3611880"/>
            <a:ext cx="4754880" cy="777240"/>
          </a:xfrm>
          <a:prstGeom prst="rect">
            <a:avLst/>
          </a:prstGeom>
          <a:noFill/>
          <a:ln/>
        </p:spPr>
        <p:txBody>
          <a:bodyPr wrap="square" lIns="0" tIns="0" rIns="0" bIns="0" rtlCol="0" anchor="ctr"/>
          <a:lstStyle/>
          <a:p>
            <a:pPr marL="0" indent="0">
              <a:lnSpc>
                <a:spcPts val="1700"/>
              </a:lnSpc>
              <a:buNone/>
            </a:pPr>
            <a:r>
              <a:rPr lang="en-US" sz="1250" b="1" dirty="0">
                <a:solidFill>
                  <a:srgbClr val="06304A"/>
                </a:solidFill>
                <a:latin typeface="Calibri" pitchFamily="34" charset="0"/>
                <a:ea typeface="Calibri" pitchFamily="34" charset="-122"/>
                <a:cs typeface="Calibri" pitchFamily="34" charset="-120"/>
              </a:rPr>
              <a:t>Diseñar soluciones algorítmicas eficientes con programación estructurada y recursiva en Python.</a:t>
            </a:r>
            <a:endParaRPr lang="en-US" sz="1250" dirty="0"/>
          </a:p>
        </p:txBody>
      </p:sp>
      <p:sp>
        <p:nvSpPr>
          <p:cNvPr id="13" name="Text 11"/>
          <p:cNvSpPr/>
          <p:nvPr/>
        </p:nvSpPr>
        <p:spPr>
          <a:xfrm>
            <a:off x="6583680" y="4407408"/>
            <a:ext cx="4754880" cy="77724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ID 2.1 · Codifican scripts o prototipos que integren datos preprocesados con estructuras de control y funciones.</a:t>
            </a:r>
            <a:endParaRPr lang="en-US" sz="1200" dirty="0"/>
          </a:p>
        </p:txBody>
      </p:sp>
      <p:sp>
        <p:nvSpPr>
          <p:cNvPr id="14" name="Text 12"/>
          <p:cNvSpPr/>
          <p:nvPr/>
        </p:nvSpPr>
        <p:spPr>
          <a:xfrm>
            <a:off x="548640" y="6327648"/>
            <a:ext cx="11064240" cy="274320"/>
          </a:xfrm>
          <a:prstGeom prst="rect">
            <a:avLst/>
          </a:prstGeom>
          <a:noFill/>
          <a:ln/>
        </p:spPr>
        <p:txBody>
          <a:bodyPr wrap="square" lIns="0" tIns="0" rIns="0" bIns="0" rtlCol="0" anchor="ctr"/>
          <a:lstStyle/>
          <a:p>
            <a:pPr marL="0" indent="0">
              <a:buNone/>
            </a:pPr>
            <a:r>
              <a:rPr lang="en-US" sz="1000" dirty="0">
                <a:solidFill>
                  <a:srgbClr val="5A6B7B"/>
                </a:solidFill>
                <a:latin typeface="Calibri" pitchFamily="34" charset="0"/>
                <a:ea typeface="Calibri" pitchFamily="34" charset="-122"/>
                <a:cs typeface="Calibri" pitchFamily="34" charset="-120"/>
              </a:rPr>
              <a:t>Ambos indicadores se evidencian en el mismo producto: el notebook ejecutable e integrado al repositorio.</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Fase 2 · La secuencia de recursos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Diez recursos, del marco general a la técnica concreta. Cuatro son apuntes descargables.</a:t>
            </a:r>
            <a:endParaRPr lang="en-US" sz="1400" dirty="0"/>
          </a:p>
        </p:txBody>
      </p:sp>
      <p:sp>
        <p:nvSpPr>
          <p:cNvPr id="4" name="Shape 2"/>
          <p:cNvSpPr/>
          <p:nvPr/>
        </p:nvSpPr>
        <p:spPr>
          <a:xfrm>
            <a:off x="548640" y="1783080"/>
            <a:ext cx="5394960" cy="475488"/>
          </a:xfrm>
          <a:prstGeom prst="roundRect">
            <a:avLst>
              <a:gd name="adj" fmla="val 9615"/>
            </a:avLst>
          </a:prstGeom>
          <a:solidFill>
            <a:srgbClr val="FFFFFF"/>
          </a:solidFill>
          <a:ln w="12700">
            <a:solidFill>
              <a:srgbClr val="DCE4EC"/>
            </a:solidFill>
            <a:prstDash val="solid"/>
          </a:ln>
        </p:spPr>
        <p:txBody>
          <a:bodyPr/>
          <a:lstStyle/>
          <a:p>
            <a:endParaRPr lang="es-CL"/>
          </a:p>
        </p:txBody>
      </p:sp>
      <p:sp>
        <p:nvSpPr>
          <p:cNvPr id="5" name="Shape 3"/>
          <p:cNvSpPr/>
          <p:nvPr/>
        </p:nvSpPr>
        <p:spPr>
          <a:xfrm>
            <a:off x="658368" y="1856232"/>
            <a:ext cx="329184" cy="329184"/>
          </a:xfrm>
          <a:prstGeom prst="ellipse">
            <a:avLst/>
          </a:prstGeom>
          <a:solidFill>
            <a:srgbClr val="06304A"/>
          </a:solidFill>
          <a:ln/>
        </p:spPr>
        <p:txBody>
          <a:bodyPr/>
          <a:lstStyle/>
          <a:p>
            <a:endParaRPr lang="es-CL"/>
          </a:p>
        </p:txBody>
      </p:sp>
      <p:sp>
        <p:nvSpPr>
          <p:cNvPr id="6" name="Text 4"/>
          <p:cNvSpPr/>
          <p:nvPr/>
        </p:nvSpPr>
        <p:spPr>
          <a:xfrm>
            <a:off x="658368" y="18562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097280" y="1783080"/>
            <a:ext cx="3291840" cy="475488"/>
          </a:xfrm>
          <a:prstGeom prst="rect">
            <a:avLst/>
          </a:prstGeom>
          <a:noFill/>
          <a:ln/>
        </p:spPr>
        <p:txBody>
          <a:bodyPr wrap="square" lIns="0" tIns="0" rIns="0" bIns="0" rtlCol="0" anchor="ctr"/>
          <a:lstStyle/>
          <a:p>
            <a:pPr marL="0" indent="0">
              <a:buNone/>
            </a:pPr>
            <a:r>
              <a:rPr lang="en-US" sz="1100" dirty="0">
                <a:solidFill>
                  <a:srgbClr val="06304A"/>
                </a:solidFill>
                <a:latin typeface="Calibri" pitchFamily="34" charset="0"/>
                <a:ea typeface="Calibri" pitchFamily="34" charset="-122"/>
                <a:cs typeface="Calibri" pitchFamily="34" charset="-120"/>
              </a:rPr>
              <a:t>Introducción de la Fase 2</a:t>
            </a:r>
            <a:endParaRPr lang="en-US" sz="1100" dirty="0"/>
          </a:p>
        </p:txBody>
      </p:sp>
      <p:sp>
        <p:nvSpPr>
          <p:cNvPr id="8" name="Text 6"/>
          <p:cNvSpPr/>
          <p:nvPr/>
        </p:nvSpPr>
        <p:spPr>
          <a:xfrm>
            <a:off x="4389120" y="1783080"/>
            <a:ext cx="1417320" cy="475488"/>
          </a:xfrm>
          <a:prstGeom prst="rect">
            <a:avLst/>
          </a:prstGeom>
          <a:noFill/>
          <a:ln/>
        </p:spPr>
        <p:txBody>
          <a:bodyPr wrap="square" lIns="0" tIns="0" rIns="0" bIns="0"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Cápsula</a:t>
            </a:r>
            <a:endParaRPr lang="en-US" sz="900" dirty="0"/>
          </a:p>
        </p:txBody>
      </p:sp>
      <p:sp>
        <p:nvSpPr>
          <p:cNvPr id="9" name="Shape 7"/>
          <p:cNvSpPr/>
          <p:nvPr/>
        </p:nvSpPr>
        <p:spPr>
          <a:xfrm>
            <a:off x="548640" y="2350008"/>
            <a:ext cx="5394960" cy="475488"/>
          </a:xfrm>
          <a:prstGeom prst="roundRect">
            <a:avLst>
              <a:gd name="adj" fmla="val 9615"/>
            </a:avLst>
          </a:prstGeom>
          <a:solidFill>
            <a:srgbClr val="FFFFFF"/>
          </a:solidFill>
          <a:ln w="12700">
            <a:solidFill>
              <a:srgbClr val="DCE4EC"/>
            </a:solidFill>
            <a:prstDash val="solid"/>
          </a:ln>
        </p:spPr>
        <p:txBody>
          <a:bodyPr/>
          <a:lstStyle/>
          <a:p>
            <a:endParaRPr lang="es-CL"/>
          </a:p>
        </p:txBody>
      </p:sp>
      <p:sp>
        <p:nvSpPr>
          <p:cNvPr id="10" name="Shape 8"/>
          <p:cNvSpPr/>
          <p:nvPr/>
        </p:nvSpPr>
        <p:spPr>
          <a:xfrm>
            <a:off x="658368" y="2423160"/>
            <a:ext cx="329184" cy="329184"/>
          </a:xfrm>
          <a:prstGeom prst="ellipse">
            <a:avLst/>
          </a:prstGeom>
          <a:solidFill>
            <a:srgbClr val="06304A"/>
          </a:solidFill>
          <a:ln/>
        </p:spPr>
        <p:txBody>
          <a:bodyPr/>
          <a:lstStyle/>
          <a:p>
            <a:endParaRPr lang="es-CL"/>
          </a:p>
        </p:txBody>
      </p:sp>
      <p:sp>
        <p:nvSpPr>
          <p:cNvPr id="11" name="Text 9"/>
          <p:cNvSpPr/>
          <p:nvPr/>
        </p:nvSpPr>
        <p:spPr>
          <a:xfrm>
            <a:off x="658368" y="242316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097280" y="2350008"/>
            <a:ext cx="3291840" cy="475488"/>
          </a:xfrm>
          <a:prstGeom prst="rect">
            <a:avLst/>
          </a:prstGeom>
          <a:noFill/>
          <a:ln/>
        </p:spPr>
        <p:txBody>
          <a:bodyPr wrap="square" lIns="0" tIns="0" rIns="0" bIns="0" rtlCol="0" anchor="ctr"/>
          <a:lstStyle/>
          <a:p>
            <a:pPr marL="0" indent="0">
              <a:buNone/>
            </a:pPr>
            <a:r>
              <a:rPr lang="en-US" sz="1100" dirty="0">
                <a:solidFill>
                  <a:srgbClr val="06304A"/>
                </a:solidFill>
                <a:latin typeface="Calibri" pitchFamily="34" charset="0"/>
                <a:ea typeface="Calibri" pitchFamily="34" charset="-122"/>
                <a:cs typeface="Calibri" pitchFamily="34" charset="-120"/>
              </a:rPr>
              <a:t>Programación estructurada y procesos</a:t>
            </a:r>
            <a:endParaRPr lang="en-US" sz="1100" dirty="0"/>
          </a:p>
        </p:txBody>
      </p:sp>
      <p:sp>
        <p:nvSpPr>
          <p:cNvPr id="13" name="Text 11"/>
          <p:cNvSpPr/>
          <p:nvPr/>
        </p:nvSpPr>
        <p:spPr>
          <a:xfrm>
            <a:off x="4389120" y="2350008"/>
            <a:ext cx="1417320" cy="475488"/>
          </a:xfrm>
          <a:prstGeom prst="rect">
            <a:avLst/>
          </a:prstGeom>
          <a:noFill/>
          <a:ln/>
        </p:spPr>
        <p:txBody>
          <a:bodyPr wrap="square" lIns="0" tIns="0" rIns="0" bIns="0"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Audiovisual</a:t>
            </a:r>
            <a:endParaRPr lang="en-US" sz="900" dirty="0"/>
          </a:p>
        </p:txBody>
      </p:sp>
      <p:sp>
        <p:nvSpPr>
          <p:cNvPr id="14" name="Shape 12"/>
          <p:cNvSpPr/>
          <p:nvPr/>
        </p:nvSpPr>
        <p:spPr>
          <a:xfrm>
            <a:off x="548640" y="2916936"/>
            <a:ext cx="5394960" cy="475488"/>
          </a:xfrm>
          <a:prstGeom prst="roundRect">
            <a:avLst>
              <a:gd name="adj" fmla="val 9615"/>
            </a:avLst>
          </a:prstGeom>
          <a:solidFill>
            <a:srgbClr val="FFFFFF"/>
          </a:solidFill>
          <a:ln w="12700">
            <a:solidFill>
              <a:srgbClr val="DCE4EC"/>
            </a:solidFill>
            <a:prstDash val="solid"/>
          </a:ln>
        </p:spPr>
        <p:txBody>
          <a:bodyPr/>
          <a:lstStyle/>
          <a:p>
            <a:endParaRPr lang="es-CL"/>
          </a:p>
        </p:txBody>
      </p:sp>
      <p:sp>
        <p:nvSpPr>
          <p:cNvPr id="15" name="Shape 13"/>
          <p:cNvSpPr/>
          <p:nvPr/>
        </p:nvSpPr>
        <p:spPr>
          <a:xfrm>
            <a:off x="658368" y="2990088"/>
            <a:ext cx="329184" cy="329184"/>
          </a:xfrm>
          <a:prstGeom prst="ellipse">
            <a:avLst/>
          </a:prstGeom>
          <a:solidFill>
            <a:srgbClr val="06304A"/>
          </a:solidFill>
          <a:ln/>
        </p:spPr>
        <p:txBody>
          <a:bodyPr/>
          <a:lstStyle/>
          <a:p>
            <a:endParaRPr lang="es-CL"/>
          </a:p>
        </p:txBody>
      </p:sp>
      <p:sp>
        <p:nvSpPr>
          <p:cNvPr id="16" name="Text 14"/>
          <p:cNvSpPr/>
          <p:nvPr/>
        </p:nvSpPr>
        <p:spPr>
          <a:xfrm>
            <a:off x="658368" y="299008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097280" y="2916936"/>
            <a:ext cx="3291840" cy="475488"/>
          </a:xfrm>
          <a:prstGeom prst="rect">
            <a:avLst/>
          </a:prstGeom>
          <a:noFill/>
          <a:ln/>
        </p:spPr>
        <p:txBody>
          <a:bodyPr wrap="square" lIns="0" tIns="0" rIns="0" bIns="0" rtlCol="0" anchor="ctr"/>
          <a:lstStyle/>
          <a:p>
            <a:pPr marL="0" indent="0">
              <a:buNone/>
            </a:pPr>
            <a:r>
              <a:rPr lang="en-US" sz="1100" dirty="0">
                <a:solidFill>
                  <a:srgbClr val="06304A"/>
                </a:solidFill>
                <a:latin typeface="Calibri" pitchFamily="34" charset="0"/>
                <a:ea typeface="Calibri" pitchFamily="34" charset="-122"/>
                <a:cs typeface="Calibri" pitchFamily="34" charset="-120"/>
              </a:rPr>
              <a:t>Funciones en Python: guía paso a paso</a:t>
            </a:r>
            <a:endParaRPr lang="en-US" sz="1100" dirty="0"/>
          </a:p>
        </p:txBody>
      </p:sp>
      <p:sp>
        <p:nvSpPr>
          <p:cNvPr id="18" name="Text 16"/>
          <p:cNvSpPr/>
          <p:nvPr/>
        </p:nvSpPr>
        <p:spPr>
          <a:xfrm>
            <a:off x="4389120" y="2916936"/>
            <a:ext cx="1417320" cy="475488"/>
          </a:xfrm>
          <a:prstGeom prst="rect">
            <a:avLst/>
          </a:prstGeom>
          <a:noFill/>
          <a:ln/>
        </p:spPr>
        <p:txBody>
          <a:bodyPr wrap="square" lIns="0" tIns="0" rIns="0" bIns="0"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Audiovisual</a:t>
            </a:r>
            <a:endParaRPr lang="en-US" sz="900" dirty="0"/>
          </a:p>
        </p:txBody>
      </p:sp>
      <p:sp>
        <p:nvSpPr>
          <p:cNvPr id="19" name="Shape 17"/>
          <p:cNvSpPr/>
          <p:nvPr/>
        </p:nvSpPr>
        <p:spPr>
          <a:xfrm>
            <a:off x="548640" y="3483864"/>
            <a:ext cx="5394960" cy="475488"/>
          </a:xfrm>
          <a:prstGeom prst="roundRect">
            <a:avLst>
              <a:gd name="adj" fmla="val 9615"/>
            </a:avLst>
          </a:prstGeom>
          <a:solidFill>
            <a:srgbClr val="F6E7E9"/>
          </a:solidFill>
          <a:ln w="12700">
            <a:solidFill>
              <a:srgbClr val="DCE4EC"/>
            </a:solidFill>
            <a:prstDash val="solid"/>
          </a:ln>
        </p:spPr>
        <p:txBody>
          <a:bodyPr/>
          <a:lstStyle/>
          <a:p>
            <a:endParaRPr lang="es-CL"/>
          </a:p>
        </p:txBody>
      </p:sp>
      <p:sp>
        <p:nvSpPr>
          <p:cNvPr id="20" name="Shape 18"/>
          <p:cNvSpPr/>
          <p:nvPr/>
        </p:nvSpPr>
        <p:spPr>
          <a:xfrm>
            <a:off x="658368" y="3557016"/>
            <a:ext cx="329184" cy="329184"/>
          </a:xfrm>
          <a:prstGeom prst="ellipse">
            <a:avLst/>
          </a:prstGeom>
          <a:solidFill>
            <a:srgbClr val="AC212E"/>
          </a:solidFill>
          <a:ln/>
        </p:spPr>
        <p:txBody>
          <a:bodyPr/>
          <a:lstStyle/>
          <a:p>
            <a:endParaRPr lang="es-CL"/>
          </a:p>
        </p:txBody>
      </p:sp>
      <p:sp>
        <p:nvSpPr>
          <p:cNvPr id="21" name="Text 19"/>
          <p:cNvSpPr/>
          <p:nvPr/>
        </p:nvSpPr>
        <p:spPr>
          <a:xfrm>
            <a:off x="658368" y="355701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1097280" y="3483864"/>
            <a:ext cx="3291840" cy="475488"/>
          </a:xfrm>
          <a:prstGeom prst="rect">
            <a:avLst/>
          </a:prstGeom>
          <a:noFill/>
          <a:ln/>
        </p:spPr>
        <p:txBody>
          <a:bodyPr wrap="square" lIns="0" tIns="0" rIns="0" bIns="0" rtlCol="0" anchor="ctr"/>
          <a:lstStyle/>
          <a:p>
            <a:pPr marL="0" indent="0">
              <a:buNone/>
            </a:pPr>
            <a:r>
              <a:rPr lang="en-US" sz="1100" b="1" dirty="0">
                <a:solidFill>
                  <a:srgbClr val="AC212E"/>
                </a:solidFill>
                <a:latin typeface="Calibri" pitchFamily="34" charset="0"/>
                <a:ea typeface="Calibri" pitchFamily="34" charset="-122"/>
                <a:cs typeface="Calibri" pitchFamily="34" charset="-120"/>
              </a:rPr>
              <a:t>Programación estructurada y funciones</a:t>
            </a:r>
            <a:endParaRPr lang="en-US" sz="1100" dirty="0"/>
          </a:p>
        </p:txBody>
      </p:sp>
      <p:sp>
        <p:nvSpPr>
          <p:cNvPr id="23" name="Text 21"/>
          <p:cNvSpPr/>
          <p:nvPr/>
        </p:nvSpPr>
        <p:spPr>
          <a:xfrm>
            <a:off x="4389120" y="3483864"/>
            <a:ext cx="1417320" cy="475488"/>
          </a:xfrm>
          <a:prstGeom prst="rect">
            <a:avLst/>
          </a:prstGeom>
          <a:noFill/>
          <a:ln/>
        </p:spPr>
        <p:txBody>
          <a:bodyPr wrap="square" lIns="0" tIns="0" rIns="0" bIns="0"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Apunte</a:t>
            </a:r>
            <a:endParaRPr lang="en-US" sz="900" dirty="0"/>
          </a:p>
        </p:txBody>
      </p:sp>
      <p:sp>
        <p:nvSpPr>
          <p:cNvPr id="24" name="Shape 22"/>
          <p:cNvSpPr/>
          <p:nvPr/>
        </p:nvSpPr>
        <p:spPr>
          <a:xfrm>
            <a:off x="548640" y="4050792"/>
            <a:ext cx="5394960" cy="475488"/>
          </a:xfrm>
          <a:prstGeom prst="roundRect">
            <a:avLst>
              <a:gd name="adj" fmla="val 9615"/>
            </a:avLst>
          </a:prstGeom>
          <a:solidFill>
            <a:srgbClr val="F6E7E9"/>
          </a:solidFill>
          <a:ln w="12700">
            <a:solidFill>
              <a:srgbClr val="DCE4EC"/>
            </a:solidFill>
            <a:prstDash val="solid"/>
          </a:ln>
        </p:spPr>
        <p:txBody>
          <a:bodyPr/>
          <a:lstStyle/>
          <a:p>
            <a:endParaRPr lang="es-CL"/>
          </a:p>
        </p:txBody>
      </p:sp>
      <p:sp>
        <p:nvSpPr>
          <p:cNvPr id="25" name="Shape 23"/>
          <p:cNvSpPr/>
          <p:nvPr/>
        </p:nvSpPr>
        <p:spPr>
          <a:xfrm>
            <a:off x="658368" y="4123944"/>
            <a:ext cx="329184" cy="329184"/>
          </a:xfrm>
          <a:prstGeom prst="ellipse">
            <a:avLst/>
          </a:prstGeom>
          <a:solidFill>
            <a:srgbClr val="AC212E"/>
          </a:solidFill>
          <a:ln/>
        </p:spPr>
        <p:txBody>
          <a:bodyPr/>
          <a:lstStyle/>
          <a:p>
            <a:endParaRPr lang="es-CL"/>
          </a:p>
        </p:txBody>
      </p:sp>
      <p:sp>
        <p:nvSpPr>
          <p:cNvPr id="26" name="Text 24"/>
          <p:cNvSpPr/>
          <p:nvPr/>
        </p:nvSpPr>
        <p:spPr>
          <a:xfrm>
            <a:off x="658368" y="412394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1097280" y="4050792"/>
            <a:ext cx="3291840" cy="475488"/>
          </a:xfrm>
          <a:prstGeom prst="rect">
            <a:avLst/>
          </a:prstGeom>
          <a:noFill/>
          <a:ln/>
        </p:spPr>
        <p:txBody>
          <a:bodyPr wrap="square" lIns="0" tIns="0" rIns="0" bIns="0" rtlCol="0" anchor="ctr"/>
          <a:lstStyle/>
          <a:p>
            <a:pPr marL="0" indent="0">
              <a:buNone/>
            </a:pPr>
            <a:r>
              <a:rPr lang="en-US" sz="1100" b="1" dirty="0">
                <a:solidFill>
                  <a:srgbClr val="AC212E"/>
                </a:solidFill>
                <a:latin typeface="Calibri" pitchFamily="34" charset="0"/>
                <a:ea typeface="Calibri" pitchFamily="34" charset="-122"/>
                <a:cs typeface="Calibri" pitchFamily="34" charset="-120"/>
              </a:rPr>
              <a:t>Estructura profesional de proyectos</a:t>
            </a:r>
            <a:endParaRPr lang="en-US" sz="1100" dirty="0"/>
          </a:p>
        </p:txBody>
      </p:sp>
      <p:sp>
        <p:nvSpPr>
          <p:cNvPr id="28" name="Text 26"/>
          <p:cNvSpPr/>
          <p:nvPr/>
        </p:nvSpPr>
        <p:spPr>
          <a:xfrm>
            <a:off x="4389120" y="4050792"/>
            <a:ext cx="1417320" cy="475488"/>
          </a:xfrm>
          <a:prstGeom prst="rect">
            <a:avLst/>
          </a:prstGeom>
          <a:noFill/>
          <a:ln/>
        </p:spPr>
        <p:txBody>
          <a:bodyPr wrap="square" lIns="0" tIns="0" rIns="0" bIns="0"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Apunte</a:t>
            </a:r>
            <a:endParaRPr lang="en-US" sz="900" dirty="0"/>
          </a:p>
        </p:txBody>
      </p:sp>
      <p:sp>
        <p:nvSpPr>
          <p:cNvPr id="29" name="Shape 27"/>
          <p:cNvSpPr/>
          <p:nvPr/>
        </p:nvSpPr>
        <p:spPr>
          <a:xfrm>
            <a:off x="6217920" y="1783080"/>
            <a:ext cx="5394960" cy="475488"/>
          </a:xfrm>
          <a:prstGeom prst="roundRect">
            <a:avLst>
              <a:gd name="adj" fmla="val 9615"/>
            </a:avLst>
          </a:prstGeom>
          <a:solidFill>
            <a:srgbClr val="F6E7E9"/>
          </a:solidFill>
          <a:ln w="12700">
            <a:solidFill>
              <a:srgbClr val="DCE4EC"/>
            </a:solidFill>
            <a:prstDash val="solid"/>
          </a:ln>
        </p:spPr>
        <p:txBody>
          <a:bodyPr/>
          <a:lstStyle/>
          <a:p>
            <a:endParaRPr lang="es-CL"/>
          </a:p>
        </p:txBody>
      </p:sp>
      <p:sp>
        <p:nvSpPr>
          <p:cNvPr id="30" name="Shape 28"/>
          <p:cNvSpPr/>
          <p:nvPr/>
        </p:nvSpPr>
        <p:spPr>
          <a:xfrm>
            <a:off x="6327648" y="1856232"/>
            <a:ext cx="329184" cy="329184"/>
          </a:xfrm>
          <a:prstGeom prst="ellipse">
            <a:avLst/>
          </a:prstGeom>
          <a:solidFill>
            <a:srgbClr val="AC212E"/>
          </a:solidFill>
          <a:ln/>
        </p:spPr>
        <p:txBody>
          <a:bodyPr/>
          <a:lstStyle/>
          <a:p>
            <a:endParaRPr lang="es-CL"/>
          </a:p>
        </p:txBody>
      </p:sp>
      <p:sp>
        <p:nvSpPr>
          <p:cNvPr id="31" name="Text 29"/>
          <p:cNvSpPr/>
          <p:nvPr/>
        </p:nvSpPr>
        <p:spPr>
          <a:xfrm>
            <a:off x="6327648" y="18562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p:nvPr/>
        </p:nvSpPr>
        <p:spPr>
          <a:xfrm>
            <a:off x="6766560" y="1783080"/>
            <a:ext cx="3291840" cy="475488"/>
          </a:xfrm>
          <a:prstGeom prst="rect">
            <a:avLst/>
          </a:prstGeom>
          <a:noFill/>
          <a:ln/>
        </p:spPr>
        <p:txBody>
          <a:bodyPr wrap="square" lIns="0" tIns="0" rIns="0" bIns="0" rtlCol="0" anchor="ctr"/>
          <a:lstStyle/>
          <a:p>
            <a:pPr marL="0" indent="0">
              <a:buNone/>
            </a:pPr>
            <a:r>
              <a:rPr lang="en-US" sz="1100" b="1" dirty="0">
                <a:solidFill>
                  <a:srgbClr val="AC212E"/>
                </a:solidFill>
                <a:latin typeface="Calibri" pitchFamily="34" charset="0"/>
                <a:ea typeface="Calibri" pitchFamily="34" charset="-122"/>
                <a:cs typeface="Calibri" pitchFamily="34" charset="-120"/>
              </a:rPr>
              <a:t>Introductorio sobre NumPy</a:t>
            </a:r>
            <a:endParaRPr lang="en-US" sz="1100" dirty="0"/>
          </a:p>
        </p:txBody>
      </p:sp>
      <p:sp>
        <p:nvSpPr>
          <p:cNvPr id="33" name="Text 31"/>
          <p:cNvSpPr/>
          <p:nvPr/>
        </p:nvSpPr>
        <p:spPr>
          <a:xfrm>
            <a:off x="10058400" y="1783080"/>
            <a:ext cx="1417320" cy="475488"/>
          </a:xfrm>
          <a:prstGeom prst="rect">
            <a:avLst/>
          </a:prstGeom>
          <a:noFill/>
          <a:ln/>
        </p:spPr>
        <p:txBody>
          <a:bodyPr wrap="square" lIns="0" tIns="0" rIns="0" bIns="0"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Apunte</a:t>
            </a:r>
            <a:endParaRPr lang="en-US" sz="900" dirty="0"/>
          </a:p>
        </p:txBody>
      </p:sp>
      <p:sp>
        <p:nvSpPr>
          <p:cNvPr id="34" name="Shape 32"/>
          <p:cNvSpPr/>
          <p:nvPr/>
        </p:nvSpPr>
        <p:spPr>
          <a:xfrm>
            <a:off x="6217920" y="2350008"/>
            <a:ext cx="5394960" cy="475488"/>
          </a:xfrm>
          <a:prstGeom prst="roundRect">
            <a:avLst>
              <a:gd name="adj" fmla="val 9615"/>
            </a:avLst>
          </a:prstGeom>
          <a:solidFill>
            <a:srgbClr val="F6E7E9"/>
          </a:solidFill>
          <a:ln w="12700">
            <a:solidFill>
              <a:srgbClr val="DCE4EC"/>
            </a:solidFill>
            <a:prstDash val="solid"/>
          </a:ln>
        </p:spPr>
        <p:txBody>
          <a:bodyPr/>
          <a:lstStyle/>
          <a:p>
            <a:endParaRPr lang="es-CL"/>
          </a:p>
        </p:txBody>
      </p:sp>
      <p:sp>
        <p:nvSpPr>
          <p:cNvPr id="35" name="Shape 33"/>
          <p:cNvSpPr/>
          <p:nvPr/>
        </p:nvSpPr>
        <p:spPr>
          <a:xfrm>
            <a:off x="6327648" y="2423160"/>
            <a:ext cx="329184" cy="329184"/>
          </a:xfrm>
          <a:prstGeom prst="ellipse">
            <a:avLst/>
          </a:prstGeom>
          <a:solidFill>
            <a:srgbClr val="AC212E"/>
          </a:solidFill>
          <a:ln/>
        </p:spPr>
        <p:txBody>
          <a:bodyPr/>
          <a:lstStyle/>
          <a:p>
            <a:endParaRPr lang="es-CL"/>
          </a:p>
        </p:txBody>
      </p:sp>
      <p:sp>
        <p:nvSpPr>
          <p:cNvPr id="36" name="Text 34"/>
          <p:cNvSpPr/>
          <p:nvPr/>
        </p:nvSpPr>
        <p:spPr>
          <a:xfrm>
            <a:off x="6327648" y="242316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7" name="Text 35"/>
          <p:cNvSpPr/>
          <p:nvPr/>
        </p:nvSpPr>
        <p:spPr>
          <a:xfrm>
            <a:off x="6766560" y="2350008"/>
            <a:ext cx="3291840" cy="475488"/>
          </a:xfrm>
          <a:prstGeom prst="rect">
            <a:avLst/>
          </a:prstGeom>
          <a:noFill/>
          <a:ln/>
        </p:spPr>
        <p:txBody>
          <a:bodyPr wrap="square" lIns="0" tIns="0" rIns="0" bIns="0" rtlCol="0" anchor="ctr"/>
          <a:lstStyle/>
          <a:p>
            <a:pPr marL="0" indent="0">
              <a:buNone/>
            </a:pPr>
            <a:r>
              <a:rPr lang="en-US" sz="1100" b="1" dirty="0">
                <a:solidFill>
                  <a:srgbClr val="AC212E"/>
                </a:solidFill>
                <a:latin typeface="Calibri" pitchFamily="34" charset="0"/>
                <a:ea typeface="Calibri" pitchFamily="34" charset="-122"/>
                <a:cs typeface="Calibri" pitchFamily="34" charset="-120"/>
              </a:rPr>
              <a:t>Pandas</a:t>
            </a:r>
            <a:endParaRPr lang="en-US" sz="1100" dirty="0"/>
          </a:p>
        </p:txBody>
      </p:sp>
      <p:sp>
        <p:nvSpPr>
          <p:cNvPr id="38" name="Text 36"/>
          <p:cNvSpPr/>
          <p:nvPr/>
        </p:nvSpPr>
        <p:spPr>
          <a:xfrm>
            <a:off x="10058400" y="2350008"/>
            <a:ext cx="1417320" cy="475488"/>
          </a:xfrm>
          <a:prstGeom prst="rect">
            <a:avLst/>
          </a:prstGeom>
          <a:noFill/>
          <a:ln/>
        </p:spPr>
        <p:txBody>
          <a:bodyPr wrap="square" lIns="0" tIns="0" rIns="0" bIns="0"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Apunte</a:t>
            </a:r>
            <a:endParaRPr lang="en-US" sz="900" dirty="0"/>
          </a:p>
        </p:txBody>
      </p:sp>
      <p:sp>
        <p:nvSpPr>
          <p:cNvPr id="39" name="Shape 37"/>
          <p:cNvSpPr/>
          <p:nvPr/>
        </p:nvSpPr>
        <p:spPr>
          <a:xfrm>
            <a:off x="6217920" y="2916936"/>
            <a:ext cx="5394960" cy="475488"/>
          </a:xfrm>
          <a:prstGeom prst="roundRect">
            <a:avLst>
              <a:gd name="adj" fmla="val 9615"/>
            </a:avLst>
          </a:prstGeom>
          <a:solidFill>
            <a:srgbClr val="FFFFFF"/>
          </a:solidFill>
          <a:ln w="12700">
            <a:solidFill>
              <a:srgbClr val="DCE4EC"/>
            </a:solidFill>
            <a:prstDash val="solid"/>
          </a:ln>
        </p:spPr>
        <p:txBody>
          <a:bodyPr/>
          <a:lstStyle/>
          <a:p>
            <a:endParaRPr lang="es-CL"/>
          </a:p>
        </p:txBody>
      </p:sp>
      <p:sp>
        <p:nvSpPr>
          <p:cNvPr id="40" name="Shape 38"/>
          <p:cNvSpPr/>
          <p:nvPr/>
        </p:nvSpPr>
        <p:spPr>
          <a:xfrm>
            <a:off x="6327648" y="2990088"/>
            <a:ext cx="329184" cy="329184"/>
          </a:xfrm>
          <a:prstGeom prst="ellipse">
            <a:avLst/>
          </a:prstGeom>
          <a:solidFill>
            <a:srgbClr val="06304A"/>
          </a:solidFill>
          <a:ln/>
        </p:spPr>
        <p:txBody>
          <a:bodyPr/>
          <a:lstStyle/>
          <a:p>
            <a:endParaRPr lang="es-CL"/>
          </a:p>
        </p:txBody>
      </p:sp>
      <p:sp>
        <p:nvSpPr>
          <p:cNvPr id="41" name="Text 39"/>
          <p:cNvSpPr/>
          <p:nvPr/>
        </p:nvSpPr>
        <p:spPr>
          <a:xfrm>
            <a:off x="6327648" y="299008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2" name="Text 40"/>
          <p:cNvSpPr/>
          <p:nvPr/>
        </p:nvSpPr>
        <p:spPr>
          <a:xfrm>
            <a:off x="6766560" y="2916936"/>
            <a:ext cx="3291840" cy="475488"/>
          </a:xfrm>
          <a:prstGeom prst="rect">
            <a:avLst/>
          </a:prstGeom>
          <a:noFill/>
          <a:ln/>
        </p:spPr>
        <p:txBody>
          <a:bodyPr wrap="square" lIns="0" tIns="0" rIns="0" bIns="0" rtlCol="0" anchor="ctr"/>
          <a:lstStyle/>
          <a:p>
            <a:pPr marL="0" indent="0">
              <a:buNone/>
            </a:pPr>
            <a:r>
              <a:rPr lang="en-US" sz="1100" dirty="0">
                <a:solidFill>
                  <a:srgbClr val="06304A"/>
                </a:solidFill>
                <a:latin typeface="Calibri" pitchFamily="34" charset="0"/>
                <a:ea typeface="Calibri" pitchFamily="34" charset="-122"/>
                <a:cs typeface="Calibri" pitchFamily="34" charset="-120"/>
              </a:rPr>
              <a:t>Preprocesamiento de datos en Python</a:t>
            </a:r>
            <a:endParaRPr lang="en-US" sz="1100" dirty="0"/>
          </a:p>
        </p:txBody>
      </p:sp>
      <p:sp>
        <p:nvSpPr>
          <p:cNvPr id="43" name="Text 41"/>
          <p:cNvSpPr/>
          <p:nvPr/>
        </p:nvSpPr>
        <p:spPr>
          <a:xfrm>
            <a:off x="10058400" y="2916936"/>
            <a:ext cx="1417320" cy="475488"/>
          </a:xfrm>
          <a:prstGeom prst="rect">
            <a:avLst/>
          </a:prstGeom>
          <a:noFill/>
          <a:ln/>
        </p:spPr>
        <p:txBody>
          <a:bodyPr wrap="square" lIns="0" tIns="0" rIns="0" bIns="0"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Interactivo</a:t>
            </a:r>
            <a:endParaRPr lang="en-US" sz="900" dirty="0"/>
          </a:p>
        </p:txBody>
      </p:sp>
      <p:sp>
        <p:nvSpPr>
          <p:cNvPr id="44" name="Shape 42"/>
          <p:cNvSpPr/>
          <p:nvPr/>
        </p:nvSpPr>
        <p:spPr>
          <a:xfrm>
            <a:off x="6217920" y="3483864"/>
            <a:ext cx="5394960" cy="475488"/>
          </a:xfrm>
          <a:prstGeom prst="roundRect">
            <a:avLst>
              <a:gd name="adj" fmla="val 9615"/>
            </a:avLst>
          </a:prstGeom>
          <a:solidFill>
            <a:srgbClr val="FFFFFF"/>
          </a:solidFill>
          <a:ln w="12700">
            <a:solidFill>
              <a:srgbClr val="DCE4EC"/>
            </a:solidFill>
            <a:prstDash val="solid"/>
          </a:ln>
        </p:spPr>
        <p:txBody>
          <a:bodyPr/>
          <a:lstStyle/>
          <a:p>
            <a:endParaRPr lang="es-CL"/>
          </a:p>
        </p:txBody>
      </p:sp>
      <p:sp>
        <p:nvSpPr>
          <p:cNvPr id="45" name="Shape 43"/>
          <p:cNvSpPr/>
          <p:nvPr/>
        </p:nvSpPr>
        <p:spPr>
          <a:xfrm>
            <a:off x="6327648" y="3557016"/>
            <a:ext cx="329184" cy="329184"/>
          </a:xfrm>
          <a:prstGeom prst="ellipse">
            <a:avLst/>
          </a:prstGeom>
          <a:solidFill>
            <a:srgbClr val="06304A"/>
          </a:solidFill>
          <a:ln/>
        </p:spPr>
        <p:txBody>
          <a:bodyPr/>
          <a:lstStyle/>
          <a:p>
            <a:endParaRPr lang="es-CL"/>
          </a:p>
        </p:txBody>
      </p:sp>
      <p:sp>
        <p:nvSpPr>
          <p:cNvPr id="46" name="Text 44"/>
          <p:cNvSpPr/>
          <p:nvPr/>
        </p:nvSpPr>
        <p:spPr>
          <a:xfrm>
            <a:off x="6327648" y="355701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47" name="Text 45"/>
          <p:cNvSpPr/>
          <p:nvPr/>
        </p:nvSpPr>
        <p:spPr>
          <a:xfrm>
            <a:off x="6766560" y="3483864"/>
            <a:ext cx="3291840" cy="475488"/>
          </a:xfrm>
          <a:prstGeom prst="rect">
            <a:avLst/>
          </a:prstGeom>
          <a:noFill/>
          <a:ln/>
        </p:spPr>
        <p:txBody>
          <a:bodyPr wrap="square" lIns="0" tIns="0" rIns="0" bIns="0" rtlCol="0" anchor="ctr"/>
          <a:lstStyle/>
          <a:p>
            <a:pPr marL="0" indent="0">
              <a:buNone/>
            </a:pPr>
            <a:r>
              <a:rPr lang="en-US" sz="1100" dirty="0">
                <a:solidFill>
                  <a:srgbClr val="06304A"/>
                </a:solidFill>
                <a:latin typeface="Calibri" pitchFamily="34" charset="0"/>
                <a:ea typeface="Calibri" pitchFamily="34" charset="-122"/>
                <a:cs typeface="Calibri" pitchFamily="34" charset="-120"/>
              </a:rPr>
              <a:t>Preprocesamiento con NumPy y Pandas</a:t>
            </a:r>
            <a:endParaRPr lang="en-US" sz="1100" dirty="0"/>
          </a:p>
        </p:txBody>
      </p:sp>
      <p:sp>
        <p:nvSpPr>
          <p:cNvPr id="48" name="Text 46"/>
          <p:cNvSpPr/>
          <p:nvPr/>
        </p:nvSpPr>
        <p:spPr>
          <a:xfrm>
            <a:off x="10058400" y="3483864"/>
            <a:ext cx="1417320" cy="475488"/>
          </a:xfrm>
          <a:prstGeom prst="rect">
            <a:avLst/>
          </a:prstGeom>
          <a:noFill/>
          <a:ln/>
        </p:spPr>
        <p:txBody>
          <a:bodyPr wrap="square" lIns="0" tIns="0" rIns="0" bIns="0"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Recurso</a:t>
            </a:r>
            <a:endParaRPr lang="en-US" sz="900" dirty="0"/>
          </a:p>
        </p:txBody>
      </p:sp>
      <p:sp>
        <p:nvSpPr>
          <p:cNvPr id="49" name="Shape 47"/>
          <p:cNvSpPr/>
          <p:nvPr/>
        </p:nvSpPr>
        <p:spPr>
          <a:xfrm>
            <a:off x="6217920" y="4050792"/>
            <a:ext cx="5394960" cy="475488"/>
          </a:xfrm>
          <a:prstGeom prst="roundRect">
            <a:avLst>
              <a:gd name="adj" fmla="val 9615"/>
            </a:avLst>
          </a:prstGeom>
          <a:solidFill>
            <a:srgbClr val="FFFFFF"/>
          </a:solidFill>
          <a:ln w="12700">
            <a:solidFill>
              <a:srgbClr val="DCE4EC"/>
            </a:solidFill>
            <a:prstDash val="solid"/>
          </a:ln>
        </p:spPr>
        <p:txBody>
          <a:bodyPr/>
          <a:lstStyle/>
          <a:p>
            <a:endParaRPr lang="es-CL"/>
          </a:p>
        </p:txBody>
      </p:sp>
      <p:sp>
        <p:nvSpPr>
          <p:cNvPr id="50" name="Shape 48"/>
          <p:cNvSpPr/>
          <p:nvPr/>
        </p:nvSpPr>
        <p:spPr>
          <a:xfrm>
            <a:off x="6327648" y="4123944"/>
            <a:ext cx="329184" cy="329184"/>
          </a:xfrm>
          <a:prstGeom prst="ellipse">
            <a:avLst/>
          </a:prstGeom>
          <a:solidFill>
            <a:srgbClr val="06304A"/>
          </a:solidFill>
          <a:ln/>
        </p:spPr>
        <p:txBody>
          <a:bodyPr/>
          <a:lstStyle/>
          <a:p>
            <a:endParaRPr lang="es-CL"/>
          </a:p>
        </p:txBody>
      </p:sp>
      <p:sp>
        <p:nvSpPr>
          <p:cNvPr id="51" name="Text 49"/>
          <p:cNvSpPr/>
          <p:nvPr/>
        </p:nvSpPr>
        <p:spPr>
          <a:xfrm>
            <a:off x="6327648" y="412394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52" name="Text 50"/>
          <p:cNvSpPr/>
          <p:nvPr/>
        </p:nvSpPr>
        <p:spPr>
          <a:xfrm>
            <a:off x="6766560" y="4050792"/>
            <a:ext cx="3291840" cy="475488"/>
          </a:xfrm>
          <a:prstGeom prst="rect">
            <a:avLst/>
          </a:prstGeom>
          <a:noFill/>
          <a:ln/>
        </p:spPr>
        <p:txBody>
          <a:bodyPr wrap="square" lIns="0" tIns="0" rIns="0" bIns="0" rtlCol="0" anchor="ctr"/>
          <a:lstStyle/>
          <a:p>
            <a:pPr marL="0" indent="0">
              <a:buNone/>
            </a:pPr>
            <a:r>
              <a:rPr lang="en-US" sz="1100" dirty="0">
                <a:solidFill>
                  <a:srgbClr val="06304A"/>
                </a:solidFill>
                <a:latin typeface="Calibri" pitchFamily="34" charset="0"/>
                <a:ea typeface="Calibri" pitchFamily="34" charset="-122"/>
                <a:cs typeface="Calibri" pitchFamily="34" charset="-120"/>
              </a:rPr>
              <a:t>Preprocesamiento y transferencia de datos</a:t>
            </a:r>
            <a:endParaRPr lang="en-US" sz="1100" dirty="0"/>
          </a:p>
        </p:txBody>
      </p:sp>
      <p:sp>
        <p:nvSpPr>
          <p:cNvPr id="53" name="Text 51"/>
          <p:cNvSpPr/>
          <p:nvPr/>
        </p:nvSpPr>
        <p:spPr>
          <a:xfrm>
            <a:off x="10058400" y="4050792"/>
            <a:ext cx="1417320" cy="475488"/>
          </a:xfrm>
          <a:prstGeom prst="rect">
            <a:avLst/>
          </a:prstGeom>
          <a:noFill/>
          <a:ln/>
        </p:spPr>
        <p:txBody>
          <a:bodyPr wrap="square" lIns="0" tIns="0" rIns="0" bIns="0"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Audiovisual</a:t>
            </a:r>
            <a:endParaRPr lang="en-US" sz="900" dirty="0"/>
          </a:p>
        </p:txBody>
      </p:sp>
      <p:sp>
        <p:nvSpPr>
          <p:cNvPr id="54" name="Shape 52"/>
          <p:cNvSpPr/>
          <p:nvPr/>
        </p:nvSpPr>
        <p:spPr>
          <a:xfrm>
            <a:off x="548640" y="4800600"/>
            <a:ext cx="11064240" cy="1143000"/>
          </a:xfrm>
          <a:prstGeom prst="roundRect">
            <a:avLst>
              <a:gd name="adj" fmla="val 7200"/>
            </a:avLst>
          </a:prstGeom>
          <a:solidFill>
            <a:srgbClr val="0A1526"/>
          </a:solidFill>
          <a:ln w="12700">
            <a:solidFill>
              <a:srgbClr val="0A1526"/>
            </a:solidFill>
            <a:prstDash val="solid"/>
          </a:ln>
        </p:spPr>
        <p:txBody>
          <a:bodyPr/>
          <a:lstStyle/>
          <a:p>
            <a:endParaRPr lang="es-CL"/>
          </a:p>
        </p:txBody>
      </p:sp>
      <p:sp>
        <p:nvSpPr>
          <p:cNvPr id="55" name="Text 53"/>
          <p:cNvSpPr/>
          <p:nvPr/>
        </p:nvSpPr>
        <p:spPr>
          <a:xfrm>
            <a:off x="868680" y="4800600"/>
            <a:ext cx="10424160" cy="1143000"/>
          </a:xfrm>
          <a:prstGeom prst="rect">
            <a:avLst/>
          </a:prstGeom>
          <a:noFill/>
          <a:ln/>
        </p:spPr>
        <p:txBody>
          <a:bodyPr wrap="square" lIns="0" tIns="0" rIns="0" bIns="0" rtlCol="0" anchor="ctr"/>
          <a:lstStyle/>
          <a:p>
            <a:pPr marL="0" indent="0">
              <a:lnSpc>
                <a:spcPts val="1900"/>
              </a:lnSpc>
              <a:buNone/>
            </a:pPr>
            <a:r>
              <a:rPr lang="en-US" sz="1350" dirty="0">
                <a:solidFill>
                  <a:srgbClr val="FFFFFF"/>
                </a:solidFill>
                <a:latin typeface="Calibri" pitchFamily="34" charset="0"/>
                <a:ea typeface="Calibri" pitchFamily="34" charset="-122"/>
                <a:cs typeface="Calibri" pitchFamily="34" charset="-120"/>
              </a:rPr>
              <a:t>El orden va de lo general a lo específico: primero cómo organizar el procesamiento, después cómo escribir funciones, luego cómo estructurar el proyecto, y solo entonces las librerías. Saltarse a NumPy y Pandas directamente deja sin base la parte que la rúbrica llama codificación funcional.</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Los cuatro apuntes descargables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Son el material de estudio de fondo de la semana. Los demás recursos son introductorios.</a:t>
            </a:r>
            <a:endParaRPr lang="en-US" sz="1400" dirty="0"/>
          </a:p>
        </p:txBody>
      </p:sp>
      <p:sp>
        <p:nvSpPr>
          <p:cNvPr id="4" name="Shape 2"/>
          <p:cNvSpPr/>
          <p:nvPr/>
        </p:nvSpPr>
        <p:spPr>
          <a:xfrm>
            <a:off x="548640" y="1783080"/>
            <a:ext cx="5303520" cy="1280160"/>
          </a:xfrm>
          <a:prstGeom prst="roundRect">
            <a:avLst>
              <a:gd name="adj" fmla="val 6429"/>
            </a:avLst>
          </a:prstGeom>
          <a:solidFill>
            <a:srgbClr val="F6E7E9"/>
          </a:solidFill>
          <a:ln w="12700">
            <a:solidFill>
              <a:srgbClr val="F6E7E9"/>
            </a:solidFill>
            <a:prstDash val="solid"/>
          </a:ln>
        </p:spPr>
        <p:txBody>
          <a:bodyPr/>
          <a:lstStyle/>
          <a:p>
            <a:endParaRPr lang="es-CL"/>
          </a:p>
        </p:txBody>
      </p:sp>
      <p:sp>
        <p:nvSpPr>
          <p:cNvPr id="5" name="Shape 3"/>
          <p:cNvSpPr/>
          <p:nvPr/>
        </p:nvSpPr>
        <p:spPr>
          <a:xfrm>
            <a:off x="822960" y="2194560"/>
            <a:ext cx="438912" cy="438912"/>
          </a:xfrm>
          <a:prstGeom prst="ellipse">
            <a:avLst/>
          </a:prstGeom>
          <a:solidFill>
            <a:srgbClr val="AC212E"/>
          </a:solidFill>
          <a:ln/>
        </p:spPr>
        <p:txBody>
          <a:bodyPr/>
          <a:lstStyle/>
          <a:p>
            <a:endParaRPr lang="es-CL"/>
          </a:p>
        </p:txBody>
      </p:sp>
      <p:sp>
        <p:nvSpPr>
          <p:cNvPr id="6" name="Text 4"/>
          <p:cNvSpPr/>
          <p:nvPr/>
        </p:nvSpPr>
        <p:spPr>
          <a:xfrm>
            <a:off x="822960" y="2194560"/>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417320" y="1929384"/>
            <a:ext cx="4251960" cy="457200"/>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Programación estructurada y funciones en Python</a:t>
            </a:r>
            <a:endParaRPr lang="en-US" sz="1350" dirty="0"/>
          </a:p>
        </p:txBody>
      </p:sp>
      <p:sp>
        <p:nvSpPr>
          <p:cNvPr id="8" name="Text 6"/>
          <p:cNvSpPr/>
          <p:nvPr/>
        </p:nvSpPr>
        <p:spPr>
          <a:xfrm>
            <a:off x="1417320" y="2423160"/>
            <a:ext cx="4251960" cy="54864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Diseñar funciones claras, robustas y alineadas con el flujo lógico del proyecto.</a:t>
            </a:r>
            <a:endParaRPr lang="en-US" sz="1200" dirty="0"/>
          </a:p>
        </p:txBody>
      </p:sp>
      <p:sp>
        <p:nvSpPr>
          <p:cNvPr id="9" name="Shape 7"/>
          <p:cNvSpPr/>
          <p:nvPr/>
        </p:nvSpPr>
        <p:spPr>
          <a:xfrm>
            <a:off x="6309360" y="1783080"/>
            <a:ext cx="5303520" cy="1280160"/>
          </a:xfrm>
          <a:prstGeom prst="roundRect">
            <a:avLst>
              <a:gd name="adj" fmla="val 6429"/>
            </a:avLst>
          </a:prstGeom>
          <a:solidFill>
            <a:srgbClr val="F6E7E9"/>
          </a:solidFill>
          <a:ln w="12700">
            <a:solidFill>
              <a:srgbClr val="F6E7E9"/>
            </a:solidFill>
            <a:prstDash val="solid"/>
          </a:ln>
        </p:spPr>
        <p:txBody>
          <a:bodyPr/>
          <a:lstStyle/>
          <a:p>
            <a:endParaRPr lang="es-CL"/>
          </a:p>
        </p:txBody>
      </p:sp>
      <p:sp>
        <p:nvSpPr>
          <p:cNvPr id="10" name="Shape 8"/>
          <p:cNvSpPr/>
          <p:nvPr/>
        </p:nvSpPr>
        <p:spPr>
          <a:xfrm>
            <a:off x="6583680" y="2194560"/>
            <a:ext cx="438912" cy="438912"/>
          </a:xfrm>
          <a:prstGeom prst="ellipse">
            <a:avLst/>
          </a:prstGeom>
          <a:solidFill>
            <a:srgbClr val="AC212E"/>
          </a:solidFill>
          <a:ln/>
        </p:spPr>
        <p:txBody>
          <a:bodyPr/>
          <a:lstStyle/>
          <a:p>
            <a:endParaRPr lang="es-CL"/>
          </a:p>
        </p:txBody>
      </p:sp>
      <p:sp>
        <p:nvSpPr>
          <p:cNvPr id="11" name="Text 9"/>
          <p:cNvSpPr/>
          <p:nvPr/>
        </p:nvSpPr>
        <p:spPr>
          <a:xfrm>
            <a:off x="6583680" y="2194560"/>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7178040" y="1929384"/>
            <a:ext cx="4251960" cy="457200"/>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Estructura profesional de proyectos en Python</a:t>
            </a:r>
            <a:endParaRPr lang="en-US" sz="1350" dirty="0"/>
          </a:p>
        </p:txBody>
      </p:sp>
      <p:sp>
        <p:nvSpPr>
          <p:cNvPr id="13" name="Text 11"/>
          <p:cNvSpPr/>
          <p:nvPr/>
        </p:nvSpPr>
        <p:spPr>
          <a:xfrm>
            <a:off x="7178040" y="2423160"/>
            <a:ext cx="4251960" cy="54864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Organizar archivos, carpetas, módulos y notebooks dentro del repositorio.</a:t>
            </a:r>
            <a:endParaRPr lang="en-US" sz="1200" dirty="0"/>
          </a:p>
        </p:txBody>
      </p:sp>
      <p:sp>
        <p:nvSpPr>
          <p:cNvPr id="14" name="Shape 12"/>
          <p:cNvSpPr/>
          <p:nvPr/>
        </p:nvSpPr>
        <p:spPr>
          <a:xfrm>
            <a:off x="548640" y="3246120"/>
            <a:ext cx="5303520" cy="1280160"/>
          </a:xfrm>
          <a:prstGeom prst="roundRect">
            <a:avLst>
              <a:gd name="adj" fmla="val 6429"/>
            </a:avLst>
          </a:prstGeom>
          <a:solidFill>
            <a:srgbClr val="F4F7FA"/>
          </a:solidFill>
          <a:ln w="12700">
            <a:solidFill>
              <a:srgbClr val="F4F7FA"/>
            </a:solidFill>
            <a:prstDash val="solid"/>
          </a:ln>
        </p:spPr>
        <p:txBody>
          <a:bodyPr/>
          <a:lstStyle/>
          <a:p>
            <a:endParaRPr lang="es-CL"/>
          </a:p>
        </p:txBody>
      </p:sp>
      <p:sp>
        <p:nvSpPr>
          <p:cNvPr id="15" name="Shape 13"/>
          <p:cNvSpPr/>
          <p:nvPr/>
        </p:nvSpPr>
        <p:spPr>
          <a:xfrm>
            <a:off x="822960" y="3657600"/>
            <a:ext cx="438912" cy="438912"/>
          </a:xfrm>
          <a:prstGeom prst="ellipse">
            <a:avLst/>
          </a:prstGeom>
          <a:solidFill>
            <a:srgbClr val="AC212E"/>
          </a:solidFill>
          <a:ln/>
        </p:spPr>
        <p:txBody>
          <a:bodyPr/>
          <a:lstStyle/>
          <a:p>
            <a:endParaRPr lang="es-CL"/>
          </a:p>
        </p:txBody>
      </p:sp>
      <p:sp>
        <p:nvSpPr>
          <p:cNvPr id="16" name="Text 14"/>
          <p:cNvSpPr/>
          <p:nvPr/>
        </p:nvSpPr>
        <p:spPr>
          <a:xfrm>
            <a:off x="822960" y="3657600"/>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417320" y="3392424"/>
            <a:ext cx="4251960" cy="457200"/>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Introductorio sobre NumPy</a:t>
            </a:r>
            <a:endParaRPr lang="en-US" sz="1350" dirty="0"/>
          </a:p>
        </p:txBody>
      </p:sp>
      <p:sp>
        <p:nvSpPr>
          <p:cNvPr id="18" name="Text 16"/>
          <p:cNvSpPr/>
          <p:nvPr/>
        </p:nvSpPr>
        <p:spPr>
          <a:xfrm>
            <a:off x="1417320" y="3886200"/>
            <a:ext cx="4251960" cy="54864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Arreglos y operaciones vectorizadas para el procesamiento eficiente de datos numéricos.</a:t>
            </a:r>
            <a:endParaRPr lang="en-US" sz="1200" dirty="0"/>
          </a:p>
        </p:txBody>
      </p:sp>
      <p:sp>
        <p:nvSpPr>
          <p:cNvPr id="19" name="Shape 17"/>
          <p:cNvSpPr/>
          <p:nvPr/>
        </p:nvSpPr>
        <p:spPr>
          <a:xfrm>
            <a:off x="6309360" y="3246120"/>
            <a:ext cx="5303520" cy="1280160"/>
          </a:xfrm>
          <a:prstGeom prst="roundRect">
            <a:avLst>
              <a:gd name="adj" fmla="val 6429"/>
            </a:avLst>
          </a:prstGeom>
          <a:solidFill>
            <a:srgbClr val="F4F7FA"/>
          </a:solidFill>
          <a:ln w="12700">
            <a:solidFill>
              <a:srgbClr val="F4F7FA"/>
            </a:solidFill>
            <a:prstDash val="solid"/>
          </a:ln>
        </p:spPr>
        <p:txBody>
          <a:bodyPr/>
          <a:lstStyle/>
          <a:p>
            <a:endParaRPr lang="es-CL"/>
          </a:p>
        </p:txBody>
      </p:sp>
      <p:sp>
        <p:nvSpPr>
          <p:cNvPr id="20" name="Shape 18"/>
          <p:cNvSpPr/>
          <p:nvPr/>
        </p:nvSpPr>
        <p:spPr>
          <a:xfrm>
            <a:off x="6583680" y="3657600"/>
            <a:ext cx="438912" cy="438912"/>
          </a:xfrm>
          <a:prstGeom prst="ellipse">
            <a:avLst/>
          </a:prstGeom>
          <a:solidFill>
            <a:srgbClr val="AC212E"/>
          </a:solidFill>
          <a:ln/>
        </p:spPr>
        <p:txBody>
          <a:bodyPr/>
          <a:lstStyle/>
          <a:p>
            <a:endParaRPr lang="es-CL"/>
          </a:p>
        </p:txBody>
      </p:sp>
      <p:sp>
        <p:nvSpPr>
          <p:cNvPr id="21" name="Text 19"/>
          <p:cNvSpPr/>
          <p:nvPr/>
        </p:nvSpPr>
        <p:spPr>
          <a:xfrm>
            <a:off x="6583680" y="3657600"/>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7178040" y="3392424"/>
            <a:ext cx="4251960" cy="457200"/>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Pandas</a:t>
            </a:r>
            <a:endParaRPr lang="en-US" sz="1350" dirty="0"/>
          </a:p>
        </p:txBody>
      </p:sp>
      <p:sp>
        <p:nvSpPr>
          <p:cNvPr id="23" name="Text 21"/>
          <p:cNvSpPr/>
          <p:nvPr/>
        </p:nvSpPr>
        <p:spPr>
          <a:xfrm>
            <a:off x="7178040" y="3886200"/>
            <a:ext cx="4251960" cy="54864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Estructuras tabulares —DataFrames y Series— para obtención, exploración y transformación.</a:t>
            </a:r>
            <a:endParaRPr lang="en-US" sz="1200" dirty="0"/>
          </a:p>
        </p:txBody>
      </p:sp>
      <p:sp>
        <p:nvSpPr>
          <p:cNvPr id="24" name="Shape 22"/>
          <p:cNvSpPr/>
          <p:nvPr/>
        </p:nvSpPr>
        <p:spPr>
          <a:xfrm>
            <a:off x="548640" y="4846320"/>
            <a:ext cx="11064240" cy="1097280"/>
          </a:xfrm>
          <a:prstGeom prst="roundRect">
            <a:avLst>
              <a:gd name="adj" fmla="val 7500"/>
            </a:avLst>
          </a:prstGeom>
          <a:solidFill>
            <a:srgbClr val="0A1526"/>
          </a:solidFill>
          <a:ln w="12700">
            <a:solidFill>
              <a:srgbClr val="0A1526"/>
            </a:solidFill>
            <a:prstDash val="solid"/>
          </a:ln>
        </p:spPr>
        <p:txBody>
          <a:bodyPr/>
          <a:lstStyle/>
          <a:p>
            <a:endParaRPr lang="es-CL"/>
          </a:p>
        </p:txBody>
      </p:sp>
      <p:sp>
        <p:nvSpPr>
          <p:cNvPr id="25" name="Text 23"/>
          <p:cNvSpPr/>
          <p:nvPr/>
        </p:nvSpPr>
        <p:spPr>
          <a:xfrm>
            <a:off x="868680" y="4846320"/>
            <a:ext cx="10424160" cy="1097280"/>
          </a:xfrm>
          <a:prstGeom prst="rect">
            <a:avLst/>
          </a:prstGeom>
          <a:noFill/>
          <a:ln/>
        </p:spPr>
        <p:txBody>
          <a:bodyPr wrap="square" lIns="0" tIns="0" rIns="0" bIns="0" rtlCol="0" anchor="ctr"/>
          <a:lstStyle/>
          <a:p>
            <a:pPr marL="0" indent="0">
              <a:lnSpc>
                <a:spcPts val="1900"/>
              </a:lnSpc>
              <a:buNone/>
            </a:pPr>
            <a:r>
              <a:rPr lang="en-US" sz="1350" dirty="0">
                <a:solidFill>
                  <a:srgbClr val="FFFFFF"/>
                </a:solidFill>
                <a:latin typeface="Calibri" pitchFamily="34" charset="0"/>
                <a:ea typeface="Calibri" pitchFamily="34" charset="-122"/>
                <a:cs typeface="Calibri" pitchFamily="34" charset="-120"/>
              </a:rPr>
              <a:t>Los dos primeros preparan el criterio de codificación funcional y el de repositorio; los dos últimos, el de preprocesamiento y transformación. Cada apunte corresponde a un criterio evaluado, no a un tema suelto.</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Fase 2 · Las tres actividades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Así están declaradas en el aula: leer, aplicar y reflexionar.</a:t>
            </a:r>
            <a:endParaRPr lang="en-US" sz="1400" dirty="0"/>
          </a:p>
        </p:txBody>
      </p:sp>
      <p:sp>
        <p:nvSpPr>
          <p:cNvPr id="4" name="Shape 2"/>
          <p:cNvSpPr/>
          <p:nvPr/>
        </p:nvSpPr>
        <p:spPr>
          <a:xfrm>
            <a:off x="548640" y="1783080"/>
            <a:ext cx="3520440" cy="2743200"/>
          </a:xfrm>
          <a:prstGeom prst="roundRect">
            <a:avLst>
              <a:gd name="adj" fmla="val 3000"/>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804672" y="1993392"/>
            <a:ext cx="457200" cy="457200"/>
          </a:xfrm>
          <a:prstGeom prst="ellipse">
            <a:avLst/>
          </a:prstGeom>
          <a:solidFill>
            <a:srgbClr val="AC212E"/>
          </a:solidFill>
          <a:ln/>
        </p:spPr>
        <p:txBody>
          <a:bodyPr/>
          <a:lstStyle/>
          <a:p>
            <a:endParaRPr lang="es-CL"/>
          </a:p>
        </p:txBody>
      </p:sp>
      <p:sp>
        <p:nvSpPr>
          <p:cNvPr id="6" name="Text 4"/>
          <p:cNvSpPr/>
          <p:nvPr/>
        </p:nvSpPr>
        <p:spPr>
          <a:xfrm>
            <a:off x="804672" y="199339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804672" y="2606040"/>
            <a:ext cx="3017520" cy="685800"/>
          </a:xfrm>
          <a:prstGeom prst="rect">
            <a:avLst/>
          </a:prstGeom>
          <a:noFill/>
          <a:ln/>
        </p:spPr>
        <p:txBody>
          <a:bodyPr wrap="square" lIns="0" tIns="0" rIns="0" bIns="0" rtlCol="0" anchor="ctr"/>
          <a:lstStyle/>
          <a:p>
            <a:pPr marL="0" indent="0">
              <a:lnSpc>
                <a:spcPts val="1800"/>
              </a:lnSpc>
              <a:buNone/>
            </a:pPr>
            <a:r>
              <a:rPr lang="en-US" sz="1400" b="1" dirty="0">
                <a:solidFill>
                  <a:srgbClr val="06304A"/>
                </a:solidFill>
                <a:latin typeface="Calibri" pitchFamily="34" charset="0"/>
                <a:ea typeface="Calibri" pitchFamily="34" charset="-122"/>
                <a:cs typeface="Calibri" pitchFamily="34" charset="-120"/>
              </a:rPr>
              <a:t>Lectura y análisis de material base</a:t>
            </a:r>
            <a:endParaRPr lang="en-US" sz="1400" dirty="0"/>
          </a:p>
        </p:txBody>
      </p:sp>
      <p:sp>
        <p:nvSpPr>
          <p:cNvPr id="8" name="Text 6"/>
          <p:cNvSpPr/>
          <p:nvPr/>
        </p:nvSpPr>
        <p:spPr>
          <a:xfrm>
            <a:off x="804672" y="3337560"/>
            <a:ext cx="3017520" cy="105156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Revisar los recursos conceptuales y técnicos de la semana para establecer una base común sobre programación estructurada y el rol de NumPy y Pandas.</a:t>
            </a:r>
            <a:endParaRPr lang="en-US" sz="1200" dirty="0"/>
          </a:p>
        </p:txBody>
      </p:sp>
      <p:sp>
        <p:nvSpPr>
          <p:cNvPr id="9" name="Shape 7"/>
          <p:cNvSpPr/>
          <p:nvPr/>
        </p:nvSpPr>
        <p:spPr>
          <a:xfrm>
            <a:off x="4325112" y="1783080"/>
            <a:ext cx="3520440" cy="2743200"/>
          </a:xfrm>
          <a:prstGeom prst="roundRect">
            <a:avLst>
              <a:gd name="adj" fmla="val 3000"/>
            </a:avLst>
          </a:prstGeom>
          <a:solidFill>
            <a:srgbClr val="F6E7E9"/>
          </a:solidFill>
          <a:ln w="12700">
            <a:solidFill>
              <a:srgbClr val="F6E7E9"/>
            </a:solidFill>
            <a:prstDash val="solid"/>
          </a:ln>
        </p:spPr>
        <p:txBody>
          <a:bodyPr/>
          <a:lstStyle/>
          <a:p>
            <a:endParaRPr lang="es-CL"/>
          </a:p>
        </p:txBody>
      </p:sp>
      <p:sp>
        <p:nvSpPr>
          <p:cNvPr id="10" name="Shape 8"/>
          <p:cNvSpPr/>
          <p:nvPr/>
        </p:nvSpPr>
        <p:spPr>
          <a:xfrm>
            <a:off x="4581144" y="1993392"/>
            <a:ext cx="457200" cy="457200"/>
          </a:xfrm>
          <a:prstGeom prst="ellipse">
            <a:avLst/>
          </a:prstGeom>
          <a:solidFill>
            <a:srgbClr val="AC212E"/>
          </a:solidFill>
          <a:ln/>
        </p:spPr>
        <p:txBody>
          <a:bodyPr/>
          <a:lstStyle/>
          <a:p>
            <a:endParaRPr lang="es-CL"/>
          </a:p>
        </p:txBody>
      </p:sp>
      <p:sp>
        <p:nvSpPr>
          <p:cNvPr id="11" name="Text 9"/>
          <p:cNvSpPr/>
          <p:nvPr/>
        </p:nvSpPr>
        <p:spPr>
          <a:xfrm>
            <a:off x="4581144" y="199339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4581144" y="2606040"/>
            <a:ext cx="3017520" cy="685800"/>
          </a:xfrm>
          <a:prstGeom prst="rect">
            <a:avLst/>
          </a:prstGeom>
          <a:noFill/>
          <a:ln/>
        </p:spPr>
        <p:txBody>
          <a:bodyPr wrap="square" lIns="0" tIns="0" rIns="0" bIns="0" rtlCol="0" anchor="ctr"/>
          <a:lstStyle/>
          <a:p>
            <a:pPr marL="0" indent="0">
              <a:lnSpc>
                <a:spcPts val="1800"/>
              </a:lnSpc>
              <a:buNone/>
            </a:pPr>
            <a:r>
              <a:rPr lang="en-US" sz="1400" b="1" dirty="0">
                <a:solidFill>
                  <a:srgbClr val="06304A"/>
                </a:solidFill>
                <a:latin typeface="Calibri" pitchFamily="34" charset="0"/>
                <a:ea typeface="Calibri" pitchFamily="34" charset="-122"/>
                <a:cs typeface="Calibri" pitchFamily="34" charset="-120"/>
              </a:rPr>
              <a:t>Aplicación práctica</a:t>
            </a:r>
            <a:endParaRPr lang="en-US" sz="1400" dirty="0"/>
          </a:p>
        </p:txBody>
      </p:sp>
      <p:sp>
        <p:nvSpPr>
          <p:cNvPr id="13" name="Text 11"/>
          <p:cNvSpPr/>
          <p:nvPr/>
        </p:nvSpPr>
        <p:spPr>
          <a:xfrm>
            <a:off x="4581144" y="3337560"/>
            <a:ext cx="3017520" cy="105156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Implementar el pipeline inicial: obtención, limpieza y transformación, integrados en notebooks ejecutables con estructuras de control y funciones.</a:t>
            </a:r>
            <a:endParaRPr lang="en-US" sz="1200" dirty="0"/>
          </a:p>
        </p:txBody>
      </p:sp>
      <p:sp>
        <p:nvSpPr>
          <p:cNvPr id="14" name="Shape 12"/>
          <p:cNvSpPr/>
          <p:nvPr/>
        </p:nvSpPr>
        <p:spPr>
          <a:xfrm>
            <a:off x="8101584" y="1783080"/>
            <a:ext cx="3520440" cy="2743200"/>
          </a:xfrm>
          <a:prstGeom prst="roundRect">
            <a:avLst>
              <a:gd name="adj" fmla="val 3000"/>
            </a:avLst>
          </a:prstGeom>
          <a:solidFill>
            <a:srgbClr val="F4F7FA"/>
          </a:solidFill>
          <a:ln w="12700">
            <a:solidFill>
              <a:srgbClr val="F4F7FA"/>
            </a:solidFill>
            <a:prstDash val="solid"/>
          </a:ln>
        </p:spPr>
        <p:txBody>
          <a:bodyPr/>
          <a:lstStyle/>
          <a:p>
            <a:endParaRPr lang="es-CL"/>
          </a:p>
        </p:txBody>
      </p:sp>
      <p:sp>
        <p:nvSpPr>
          <p:cNvPr id="15" name="Shape 13"/>
          <p:cNvSpPr/>
          <p:nvPr/>
        </p:nvSpPr>
        <p:spPr>
          <a:xfrm>
            <a:off x="8357616" y="1993392"/>
            <a:ext cx="457200" cy="457200"/>
          </a:xfrm>
          <a:prstGeom prst="ellipse">
            <a:avLst/>
          </a:prstGeom>
          <a:solidFill>
            <a:srgbClr val="AC212E"/>
          </a:solidFill>
          <a:ln/>
        </p:spPr>
        <p:txBody>
          <a:bodyPr/>
          <a:lstStyle/>
          <a:p>
            <a:endParaRPr lang="es-CL"/>
          </a:p>
        </p:txBody>
      </p:sp>
      <p:sp>
        <p:nvSpPr>
          <p:cNvPr id="16" name="Text 14"/>
          <p:cNvSpPr/>
          <p:nvPr/>
        </p:nvSpPr>
        <p:spPr>
          <a:xfrm>
            <a:off x="8357616" y="199339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8357616" y="2606040"/>
            <a:ext cx="3017520" cy="685800"/>
          </a:xfrm>
          <a:prstGeom prst="rect">
            <a:avLst/>
          </a:prstGeom>
          <a:noFill/>
          <a:ln/>
        </p:spPr>
        <p:txBody>
          <a:bodyPr wrap="square" lIns="0" tIns="0" rIns="0" bIns="0" rtlCol="0" anchor="ctr"/>
          <a:lstStyle/>
          <a:p>
            <a:pPr marL="0" indent="0">
              <a:lnSpc>
                <a:spcPts val="1800"/>
              </a:lnSpc>
              <a:buNone/>
            </a:pPr>
            <a:r>
              <a:rPr lang="en-US" sz="1400" b="1" dirty="0">
                <a:solidFill>
                  <a:srgbClr val="06304A"/>
                </a:solidFill>
                <a:latin typeface="Calibri" pitchFamily="34" charset="0"/>
                <a:ea typeface="Calibri" pitchFamily="34" charset="-122"/>
                <a:cs typeface="Calibri" pitchFamily="34" charset="-120"/>
              </a:rPr>
              <a:t>Reflexión o discusión</a:t>
            </a:r>
            <a:endParaRPr lang="en-US" sz="1400" dirty="0"/>
          </a:p>
        </p:txBody>
      </p:sp>
      <p:sp>
        <p:nvSpPr>
          <p:cNvPr id="18" name="Text 16"/>
          <p:cNvSpPr/>
          <p:nvPr/>
        </p:nvSpPr>
        <p:spPr>
          <a:xfrm>
            <a:off x="8357616" y="3337560"/>
            <a:ext cx="3017520" cy="105156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Foro reflexivo sobre el tránsito de la planificación conceptual a la implementación técnica: aprendizajes, desafíos y coherencia del pipeline.</a:t>
            </a:r>
            <a:endParaRPr lang="en-US" sz="1200" dirty="0"/>
          </a:p>
        </p:txBody>
      </p:sp>
      <p:sp>
        <p:nvSpPr>
          <p:cNvPr id="19" name="Shape 17"/>
          <p:cNvSpPr/>
          <p:nvPr/>
        </p:nvSpPr>
        <p:spPr>
          <a:xfrm>
            <a:off x="548640" y="4800600"/>
            <a:ext cx="11064240" cy="1143000"/>
          </a:xfrm>
          <a:prstGeom prst="roundRect">
            <a:avLst>
              <a:gd name="adj" fmla="val 7200"/>
            </a:avLst>
          </a:prstGeom>
          <a:solidFill>
            <a:srgbClr val="0A1526"/>
          </a:solidFill>
          <a:ln w="12700">
            <a:solidFill>
              <a:srgbClr val="0A1526"/>
            </a:solidFill>
            <a:prstDash val="solid"/>
          </a:ln>
        </p:spPr>
        <p:txBody>
          <a:bodyPr/>
          <a:lstStyle/>
          <a:p>
            <a:endParaRPr lang="es-CL"/>
          </a:p>
        </p:txBody>
      </p:sp>
      <p:sp>
        <p:nvSpPr>
          <p:cNvPr id="20" name="Text 18"/>
          <p:cNvSpPr/>
          <p:nvPr/>
        </p:nvSpPr>
        <p:spPr>
          <a:xfrm>
            <a:off x="868680" y="4800600"/>
            <a:ext cx="10424160" cy="1143000"/>
          </a:xfrm>
          <a:prstGeom prst="rect">
            <a:avLst/>
          </a:prstGeom>
          <a:noFill/>
          <a:ln/>
        </p:spPr>
        <p:txBody>
          <a:bodyPr wrap="square" lIns="0" tIns="0" rIns="0" bIns="0" rtlCol="0" anchor="ctr"/>
          <a:lstStyle/>
          <a:p>
            <a:pPr marL="0" indent="0">
              <a:lnSpc>
                <a:spcPts val="1900"/>
              </a:lnSpc>
              <a:buNone/>
            </a:pPr>
            <a:r>
              <a:rPr lang="en-US" sz="1400" dirty="0">
                <a:solidFill>
                  <a:srgbClr val="FFFFFF"/>
                </a:solidFill>
                <a:latin typeface="Calibri" pitchFamily="34" charset="0"/>
                <a:ea typeface="Calibri" pitchFamily="34" charset="-122"/>
                <a:cs typeface="Calibri" pitchFamily="34" charset="-120"/>
              </a:rPr>
              <a:t>La cuarta actividad es la evaluación sumativa: informe técnico grupal, notebooks ejecutados y documentados, y repositorio GitHub que evidencie la obtención, limpieza y transformación de datos.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Sesión sincrónica y espacios de reflexión</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Dos instancias de encuentro que complementan el trabajo autónomo.</a:t>
            </a:r>
            <a:endParaRPr lang="en-US" sz="1400" dirty="0"/>
          </a:p>
        </p:txBody>
      </p:sp>
      <p:sp>
        <p:nvSpPr>
          <p:cNvPr id="4" name="Shape 2"/>
          <p:cNvSpPr/>
          <p:nvPr/>
        </p:nvSpPr>
        <p:spPr>
          <a:xfrm>
            <a:off x="548640" y="1783080"/>
            <a:ext cx="5394960" cy="2926080"/>
          </a:xfrm>
          <a:prstGeom prst="roundRect">
            <a:avLst>
              <a:gd name="adj" fmla="val 2813"/>
            </a:avLst>
          </a:prstGeom>
          <a:solidFill>
            <a:srgbClr val="F6E7E9"/>
          </a:solidFill>
          <a:ln w="12700">
            <a:solidFill>
              <a:srgbClr val="F6E7E9"/>
            </a:solidFill>
            <a:prstDash val="solid"/>
          </a:ln>
        </p:spPr>
        <p:txBody>
          <a:bodyPr/>
          <a:lstStyle/>
          <a:p>
            <a:endParaRPr lang="es-CL"/>
          </a:p>
        </p:txBody>
      </p:sp>
      <p:sp>
        <p:nvSpPr>
          <p:cNvPr id="5" name="Text 3"/>
          <p:cNvSpPr/>
          <p:nvPr/>
        </p:nvSpPr>
        <p:spPr>
          <a:xfrm>
            <a:off x="868680" y="1938528"/>
            <a:ext cx="4754880" cy="365760"/>
          </a:xfrm>
          <a:prstGeom prst="rect">
            <a:avLst/>
          </a:prstGeom>
          <a:noFill/>
          <a:ln/>
        </p:spPr>
        <p:txBody>
          <a:bodyPr wrap="square" lIns="0" tIns="0" rIns="0" bIns="0" rtlCol="0" anchor="ctr"/>
          <a:lstStyle/>
          <a:p>
            <a:pPr marL="0" indent="0">
              <a:buNone/>
            </a:pPr>
            <a:r>
              <a:rPr lang="en-US" sz="1600" b="1" dirty="0">
                <a:solidFill>
                  <a:srgbClr val="AC212E"/>
                </a:solidFill>
                <a:latin typeface="Calibri" pitchFamily="34" charset="0"/>
                <a:ea typeface="Calibri" pitchFamily="34" charset="-122"/>
                <a:cs typeface="Calibri" pitchFamily="34" charset="-120"/>
              </a:rPr>
              <a:t>Sesión sincrónica</a:t>
            </a:r>
            <a:endParaRPr lang="en-US" sz="1600" dirty="0"/>
          </a:p>
        </p:txBody>
      </p:sp>
      <p:sp>
        <p:nvSpPr>
          <p:cNvPr id="6" name="Shape 4"/>
          <p:cNvSpPr/>
          <p:nvPr/>
        </p:nvSpPr>
        <p:spPr>
          <a:xfrm>
            <a:off x="896112" y="2514600"/>
            <a:ext cx="182880" cy="182880"/>
          </a:xfrm>
          <a:prstGeom prst="ellipse">
            <a:avLst/>
          </a:prstGeom>
          <a:solidFill>
            <a:srgbClr val="AC212E"/>
          </a:solidFill>
          <a:ln/>
        </p:spPr>
        <p:txBody>
          <a:bodyPr/>
          <a:lstStyle/>
          <a:p>
            <a:endParaRPr lang="es-CL"/>
          </a:p>
        </p:txBody>
      </p:sp>
      <p:sp>
        <p:nvSpPr>
          <p:cNvPr id="7" name="Text 5"/>
          <p:cNvSpPr/>
          <p:nvPr/>
        </p:nvSpPr>
        <p:spPr>
          <a:xfrm>
            <a:off x="1234440" y="2395728"/>
            <a:ext cx="4480560" cy="411480"/>
          </a:xfrm>
          <a:prstGeom prst="rect">
            <a:avLst/>
          </a:prstGeom>
          <a:noFill/>
          <a:ln/>
        </p:spPr>
        <p:txBody>
          <a:bodyPr wrap="square" lIns="0" tIns="0" rIns="0" bIns="0" rtlCol="0" anchor="ctr"/>
          <a:lstStyle/>
          <a:p>
            <a:pPr marL="0" indent="0">
              <a:buNone/>
            </a:pPr>
            <a:r>
              <a:rPr lang="en-US" sz="1250" dirty="0">
                <a:solidFill>
                  <a:srgbClr val="06304A"/>
                </a:solidFill>
                <a:latin typeface="Calibri" pitchFamily="34" charset="0"/>
                <a:ea typeface="Calibri" pitchFamily="34" charset="-122"/>
                <a:cs typeface="Calibri" pitchFamily="34" charset="-120"/>
              </a:rPr>
              <a:t>Compartir la ruta de aprendizaje y las experiencias de la semana</a:t>
            </a:r>
            <a:endParaRPr lang="en-US" sz="1250" dirty="0"/>
          </a:p>
        </p:txBody>
      </p:sp>
      <p:sp>
        <p:nvSpPr>
          <p:cNvPr id="8" name="Shape 6"/>
          <p:cNvSpPr/>
          <p:nvPr/>
        </p:nvSpPr>
        <p:spPr>
          <a:xfrm>
            <a:off x="896112" y="2953512"/>
            <a:ext cx="182880" cy="182880"/>
          </a:xfrm>
          <a:prstGeom prst="ellipse">
            <a:avLst/>
          </a:prstGeom>
          <a:solidFill>
            <a:srgbClr val="AC212E"/>
          </a:solidFill>
          <a:ln/>
        </p:spPr>
        <p:txBody>
          <a:bodyPr/>
          <a:lstStyle/>
          <a:p>
            <a:endParaRPr lang="es-CL"/>
          </a:p>
        </p:txBody>
      </p:sp>
      <p:sp>
        <p:nvSpPr>
          <p:cNvPr id="9" name="Text 7"/>
          <p:cNvSpPr/>
          <p:nvPr/>
        </p:nvSpPr>
        <p:spPr>
          <a:xfrm>
            <a:off x="1234440" y="2834640"/>
            <a:ext cx="4480560" cy="411480"/>
          </a:xfrm>
          <a:prstGeom prst="rect">
            <a:avLst/>
          </a:prstGeom>
          <a:noFill/>
          <a:ln/>
        </p:spPr>
        <p:txBody>
          <a:bodyPr wrap="square" lIns="0" tIns="0" rIns="0" bIns="0" rtlCol="0" anchor="ctr"/>
          <a:lstStyle/>
          <a:p>
            <a:pPr marL="0" indent="0">
              <a:buNone/>
            </a:pPr>
            <a:r>
              <a:rPr lang="en-US" sz="1250" dirty="0">
                <a:solidFill>
                  <a:srgbClr val="06304A"/>
                </a:solidFill>
                <a:latin typeface="Calibri" pitchFamily="34" charset="0"/>
                <a:ea typeface="Calibri" pitchFamily="34" charset="-122"/>
                <a:cs typeface="Calibri" pitchFamily="34" charset="-120"/>
              </a:rPr>
              <a:t>Reforzar los contenidos abordados</a:t>
            </a:r>
            <a:endParaRPr lang="en-US" sz="1250" dirty="0"/>
          </a:p>
        </p:txBody>
      </p:sp>
      <p:sp>
        <p:nvSpPr>
          <p:cNvPr id="10" name="Shape 8"/>
          <p:cNvSpPr/>
          <p:nvPr/>
        </p:nvSpPr>
        <p:spPr>
          <a:xfrm>
            <a:off x="896112" y="3392424"/>
            <a:ext cx="182880" cy="182880"/>
          </a:xfrm>
          <a:prstGeom prst="ellipse">
            <a:avLst/>
          </a:prstGeom>
          <a:solidFill>
            <a:srgbClr val="AC212E"/>
          </a:solidFill>
          <a:ln/>
        </p:spPr>
        <p:txBody>
          <a:bodyPr/>
          <a:lstStyle/>
          <a:p>
            <a:endParaRPr lang="es-CL"/>
          </a:p>
        </p:txBody>
      </p:sp>
      <p:sp>
        <p:nvSpPr>
          <p:cNvPr id="11" name="Text 9"/>
          <p:cNvSpPr/>
          <p:nvPr/>
        </p:nvSpPr>
        <p:spPr>
          <a:xfrm>
            <a:off x="1234440" y="3273552"/>
            <a:ext cx="4480560" cy="411480"/>
          </a:xfrm>
          <a:prstGeom prst="rect">
            <a:avLst/>
          </a:prstGeom>
          <a:noFill/>
          <a:ln/>
        </p:spPr>
        <p:txBody>
          <a:bodyPr wrap="square" lIns="0" tIns="0" rIns="0" bIns="0" rtlCol="0" anchor="ctr"/>
          <a:lstStyle/>
          <a:p>
            <a:pPr marL="0" indent="0">
              <a:buNone/>
            </a:pPr>
            <a:r>
              <a:rPr lang="en-US" sz="1250" dirty="0">
                <a:solidFill>
                  <a:srgbClr val="06304A"/>
                </a:solidFill>
                <a:latin typeface="Calibri" pitchFamily="34" charset="0"/>
                <a:ea typeface="Calibri" pitchFamily="34" charset="-122"/>
                <a:cs typeface="Calibri" pitchFamily="34" charset="-120"/>
              </a:rPr>
              <a:t>Retroalimentar las consultas surgidas</a:t>
            </a:r>
            <a:endParaRPr lang="en-US" sz="1250" dirty="0"/>
          </a:p>
        </p:txBody>
      </p:sp>
      <p:sp>
        <p:nvSpPr>
          <p:cNvPr id="12" name="Shape 10"/>
          <p:cNvSpPr/>
          <p:nvPr/>
        </p:nvSpPr>
        <p:spPr>
          <a:xfrm>
            <a:off x="896112" y="3831336"/>
            <a:ext cx="182880" cy="182880"/>
          </a:xfrm>
          <a:prstGeom prst="ellipse">
            <a:avLst/>
          </a:prstGeom>
          <a:solidFill>
            <a:srgbClr val="AC212E"/>
          </a:solidFill>
          <a:ln/>
        </p:spPr>
        <p:txBody>
          <a:bodyPr/>
          <a:lstStyle/>
          <a:p>
            <a:endParaRPr lang="es-CL"/>
          </a:p>
        </p:txBody>
      </p:sp>
      <p:sp>
        <p:nvSpPr>
          <p:cNvPr id="13" name="Text 11"/>
          <p:cNvSpPr/>
          <p:nvPr/>
        </p:nvSpPr>
        <p:spPr>
          <a:xfrm>
            <a:off x="1234440" y="3712464"/>
            <a:ext cx="4480560" cy="411480"/>
          </a:xfrm>
          <a:prstGeom prst="rect">
            <a:avLst/>
          </a:prstGeom>
          <a:noFill/>
          <a:ln/>
        </p:spPr>
        <p:txBody>
          <a:bodyPr wrap="square" lIns="0" tIns="0" rIns="0" bIns="0" rtlCol="0" anchor="ctr"/>
          <a:lstStyle/>
          <a:p>
            <a:pPr marL="0" indent="0">
              <a:buNone/>
            </a:pPr>
            <a:r>
              <a:rPr lang="en-US" sz="1250" dirty="0">
                <a:solidFill>
                  <a:srgbClr val="06304A"/>
                </a:solidFill>
                <a:latin typeface="Calibri" pitchFamily="34" charset="0"/>
                <a:ea typeface="Calibri" pitchFamily="34" charset="-122"/>
                <a:cs typeface="Calibri" pitchFamily="34" charset="-120"/>
              </a:rPr>
              <a:t>El enlace llega por anuncio al correo</a:t>
            </a:r>
            <a:endParaRPr lang="en-US" sz="1250" dirty="0"/>
          </a:p>
        </p:txBody>
      </p:sp>
      <p:sp>
        <p:nvSpPr>
          <p:cNvPr id="14" name="Shape 12"/>
          <p:cNvSpPr/>
          <p:nvPr/>
        </p:nvSpPr>
        <p:spPr>
          <a:xfrm>
            <a:off x="896112" y="4270248"/>
            <a:ext cx="182880" cy="182880"/>
          </a:xfrm>
          <a:prstGeom prst="ellipse">
            <a:avLst/>
          </a:prstGeom>
          <a:solidFill>
            <a:srgbClr val="AC212E"/>
          </a:solidFill>
          <a:ln/>
        </p:spPr>
        <p:txBody>
          <a:bodyPr/>
          <a:lstStyle/>
          <a:p>
            <a:endParaRPr lang="es-CL"/>
          </a:p>
        </p:txBody>
      </p:sp>
      <p:sp>
        <p:nvSpPr>
          <p:cNvPr id="15" name="Text 13"/>
          <p:cNvSpPr/>
          <p:nvPr/>
        </p:nvSpPr>
        <p:spPr>
          <a:xfrm>
            <a:off x="1234440" y="4151376"/>
            <a:ext cx="4480560" cy="411480"/>
          </a:xfrm>
          <a:prstGeom prst="rect">
            <a:avLst/>
          </a:prstGeom>
          <a:noFill/>
          <a:ln/>
        </p:spPr>
        <p:txBody>
          <a:bodyPr wrap="square" lIns="0" tIns="0" rIns="0" bIns="0" rtlCol="0" anchor="ctr"/>
          <a:lstStyle/>
          <a:p>
            <a:pPr marL="0" indent="0">
              <a:buNone/>
            </a:pPr>
            <a:r>
              <a:rPr lang="en-US" sz="1250" dirty="0">
                <a:solidFill>
                  <a:srgbClr val="06304A"/>
                </a:solidFill>
                <a:latin typeface="Calibri" pitchFamily="34" charset="0"/>
                <a:ea typeface="Calibri" pitchFamily="34" charset="-122"/>
                <a:cs typeface="Calibri" pitchFamily="34" charset="-120"/>
              </a:rPr>
              <a:t>Queda grabada en la Sala Virtual</a:t>
            </a:r>
            <a:endParaRPr lang="en-US" sz="1250" dirty="0"/>
          </a:p>
        </p:txBody>
      </p:sp>
      <p:sp>
        <p:nvSpPr>
          <p:cNvPr id="16" name="Shape 14"/>
          <p:cNvSpPr/>
          <p:nvPr/>
        </p:nvSpPr>
        <p:spPr>
          <a:xfrm>
            <a:off x="6217920" y="1783080"/>
            <a:ext cx="5394960" cy="2926080"/>
          </a:xfrm>
          <a:prstGeom prst="roundRect">
            <a:avLst>
              <a:gd name="adj" fmla="val 2813"/>
            </a:avLst>
          </a:prstGeom>
          <a:solidFill>
            <a:srgbClr val="F4F7FA"/>
          </a:solidFill>
          <a:ln w="12700">
            <a:solidFill>
              <a:srgbClr val="F4F7FA"/>
            </a:solidFill>
            <a:prstDash val="solid"/>
          </a:ln>
        </p:spPr>
        <p:txBody>
          <a:bodyPr/>
          <a:lstStyle/>
          <a:p>
            <a:endParaRPr lang="es-CL"/>
          </a:p>
        </p:txBody>
      </p:sp>
      <p:sp>
        <p:nvSpPr>
          <p:cNvPr id="17" name="Text 15"/>
          <p:cNvSpPr/>
          <p:nvPr/>
        </p:nvSpPr>
        <p:spPr>
          <a:xfrm>
            <a:off x="6537960" y="1938528"/>
            <a:ext cx="4754880" cy="365760"/>
          </a:xfrm>
          <a:prstGeom prst="rect">
            <a:avLst/>
          </a:prstGeom>
          <a:noFill/>
          <a:ln/>
        </p:spPr>
        <p:txBody>
          <a:bodyPr wrap="square" lIns="0" tIns="0" rIns="0" bIns="0" rtlCol="0" anchor="ctr"/>
          <a:lstStyle/>
          <a:p>
            <a:pPr marL="0" indent="0">
              <a:buNone/>
            </a:pPr>
            <a:r>
              <a:rPr lang="en-US" sz="1600" b="1" dirty="0">
                <a:solidFill>
                  <a:srgbClr val="AC212E"/>
                </a:solidFill>
                <a:latin typeface="Calibri" pitchFamily="34" charset="0"/>
                <a:ea typeface="Calibri" pitchFamily="34" charset="-122"/>
                <a:cs typeface="Calibri" pitchFamily="34" charset="-120"/>
              </a:rPr>
              <a:t>Foros de reflexión</a:t>
            </a:r>
            <a:endParaRPr lang="en-US" sz="1600" dirty="0"/>
          </a:p>
        </p:txBody>
      </p:sp>
      <p:sp>
        <p:nvSpPr>
          <p:cNvPr id="18" name="Text 16"/>
          <p:cNvSpPr/>
          <p:nvPr/>
        </p:nvSpPr>
        <p:spPr>
          <a:xfrm>
            <a:off x="6537960" y="2377440"/>
            <a:ext cx="4754880" cy="2194560"/>
          </a:xfrm>
          <a:prstGeom prst="rect">
            <a:avLst/>
          </a:prstGeom>
          <a:noFill/>
          <a:ln/>
        </p:spPr>
        <p:txBody>
          <a:bodyPr wrap="square" lIns="0" tIns="0" rIns="0" bIns="0" rtlCol="0" anchor="ctr"/>
          <a:lstStyle/>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Hay un foro por fase. Se espera que comparta su visión inicial y reflexione sobre las ideas de sus compañeros.</a:t>
            </a:r>
            <a:endParaRPr lang="en-US" sz="1250" dirty="0"/>
          </a:p>
          <a:p>
            <a:pPr marL="0" indent="0">
              <a:lnSpc>
                <a:spcPts val="1700"/>
              </a:lnSpc>
              <a:buNone/>
            </a:pPr>
            <a:endParaRPr lang="en-US" sz="1250" dirty="0"/>
          </a:p>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«No se requiere respuesta correcta: buscamos su perspectiva.»</a:t>
            </a:r>
            <a:endParaRPr lang="en-US" sz="1250" dirty="0"/>
          </a:p>
          <a:p>
            <a:pPr marL="0" indent="0">
              <a:lnSpc>
                <a:spcPts val="1700"/>
              </a:lnSpc>
              <a:buNone/>
            </a:pPr>
            <a:endParaRPr lang="en-US" sz="1250" dirty="0"/>
          </a:p>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El foro de la Fase 2 pide analizar el tránsito desde la planificación conceptual hacia la implementación técnica.</a:t>
            </a:r>
            <a:endParaRPr lang="en-US" sz="1250" dirty="0"/>
          </a:p>
        </p:txBody>
      </p:sp>
      <p:sp>
        <p:nvSpPr>
          <p:cNvPr id="19" name="Shape 17"/>
          <p:cNvSpPr/>
          <p:nvPr/>
        </p:nvSpPr>
        <p:spPr>
          <a:xfrm>
            <a:off x="548640" y="4937760"/>
            <a:ext cx="11064240" cy="1005840"/>
          </a:xfrm>
          <a:prstGeom prst="roundRect">
            <a:avLst>
              <a:gd name="adj" fmla="val 8182"/>
            </a:avLst>
          </a:prstGeom>
          <a:solidFill>
            <a:srgbClr val="0A1526"/>
          </a:solidFill>
          <a:ln w="12700">
            <a:solidFill>
              <a:srgbClr val="0A1526"/>
            </a:solidFill>
            <a:prstDash val="solid"/>
          </a:ln>
        </p:spPr>
        <p:txBody>
          <a:bodyPr/>
          <a:lstStyle/>
          <a:p>
            <a:endParaRPr lang="es-CL"/>
          </a:p>
        </p:txBody>
      </p:sp>
      <p:sp>
        <p:nvSpPr>
          <p:cNvPr id="20" name="Text 18"/>
          <p:cNvSpPr/>
          <p:nvPr/>
        </p:nvSpPr>
        <p:spPr>
          <a:xfrm>
            <a:off x="868680" y="4937760"/>
            <a:ext cx="10424160" cy="100584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Recomendación del aula: revisen los recursos de la semana ANTES de la sesión sincrónica, y usen ese espacio para las consultas que hayan surgido. Si no pueden asistir, la grabación queda disponible.</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Ruta sugerida para la semana</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Respetando el orden en que los recursos están dispuestos en el aula.</a:t>
            </a:r>
            <a:endParaRPr lang="en-US" sz="1400" dirty="0"/>
          </a:p>
        </p:txBody>
      </p:sp>
      <p:sp>
        <p:nvSpPr>
          <p:cNvPr id="4" name="Shape 2"/>
          <p:cNvSpPr/>
          <p:nvPr/>
        </p:nvSpPr>
        <p:spPr>
          <a:xfrm>
            <a:off x="548640" y="1783080"/>
            <a:ext cx="11064240" cy="603504"/>
          </a:xfrm>
          <a:prstGeom prst="roundRect">
            <a:avLst>
              <a:gd name="adj" fmla="val 13636"/>
            </a:avLst>
          </a:prstGeom>
          <a:solidFill>
            <a:srgbClr val="F6E7E9"/>
          </a:solidFill>
          <a:ln w="12700">
            <a:solidFill>
              <a:srgbClr val="F6E7E9"/>
            </a:solidFill>
            <a:prstDash val="solid"/>
          </a:ln>
        </p:spPr>
        <p:txBody>
          <a:bodyPr/>
          <a:lstStyle/>
          <a:p>
            <a:endParaRPr lang="es-CL"/>
          </a:p>
        </p:txBody>
      </p:sp>
      <p:sp>
        <p:nvSpPr>
          <p:cNvPr id="5" name="Text 3"/>
          <p:cNvSpPr/>
          <p:nvPr/>
        </p:nvSpPr>
        <p:spPr>
          <a:xfrm>
            <a:off x="822960" y="1783080"/>
            <a:ext cx="1280160" cy="603504"/>
          </a:xfrm>
          <a:prstGeom prst="rect">
            <a:avLst/>
          </a:prstGeom>
          <a:noFill/>
          <a:ln/>
        </p:spPr>
        <p:txBody>
          <a:bodyPr wrap="square" lIns="0" tIns="0" rIns="0" bIns="0" rtlCol="0" anchor="ctr"/>
          <a:lstStyle/>
          <a:p>
            <a:pPr marL="0" indent="0">
              <a:buNone/>
            </a:pPr>
            <a:r>
              <a:rPr lang="en-US" sz="1350" b="1" dirty="0">
                <a:solidFill>
                  <a:srgbClr val="AC212E"/>
                </a:solidFill>
                <a:latin typeface="Calibri" pitchFamily="34" charset="0"/>
                <a:ea typeface="Calibri" pitchFamily="34" charset="-122"/>
                <a:cs typeface="Calibri" pitchFamily="34" charset="-120"/>
              </a:rPr>
              <a:t>Día 1</a:t>
            </a:r>
            <a:endParaRPr lang="en-US" sz="1350" dirty="0"/>
          </a:p>
        </p:txBody>
      </p:sp>
      <p:sp>
        <p:nvSpPr>
          <p:cNvPr id="6" name="Text 4"/>
          <p:cNvSpPr/>
          <p:nvPr/>
        </p:nvSpPr>
        <p:spPr>
          <a:xfrm>
            <a:off x="2194560" y="1783080"/>
            <a:ext cx="7772400" cy="603504"/>
          </a:xfrm>
          <a:prstGeom prst="rect">
            <a:avLst/>
          </a:prstGeom>
          <a:noFill/>
          <a:ln/>
        </p:spPr>
        <p:txBody>
          <a:bodyPr wrap="square" lIns="0" tIns="0" rIns="0" bIns="0" rtlCol="0" anchor="ctr"/>
          <a:lstStyle/>
          <a:p>
            <a:pPr marL="0" indent="0">
              <a:buNone/>
            </a:pPr>
            <a:r>
              <a:rPr lang="en-US" sz="1250" dirty="0">
                <a:solidFill>
                  <a:srgbClr val="06304A"/>
                </a:solidFill>
                <a:latin typeface="Calibri" pitchFamily="34" charset="0"/>
                <a:ea typeface="Calibri" pitchFamily="34" charset="-122"/>
                <a:cs typeface="Calibri" pitchFamily="34" charset="-120"/>
              </a:rPr>
              <a:t>Fase 1: introducción, pensamiento algorítmico e infografía del mapa.</a:t>
            </a:r>
            <a:endParaRPr lang="en-US" sz="1250" dirty="0"/>
          </a:p>
        </p:txBody>
      </p:sp>
      <p:sp>
        <p:nvSpPr>
          <p:cNvPr id="7" name="Text 5"/>
          <p:cNvSpPr/>
          <p:nvPr/>
        </p:nvSpPr>
        <p:spPr>
          <a:xfrm>
            <a:off x="9966960" y="1783080"/>
            <a:ext cx="1371600" cy="603504"/>
          </a:xfrm>
          <a:prstGeom prst="rect">
            <a:avLst/>
          </a:prstGeom>
          <a:noFill/>
          <a:ln/>
        </p:spPr>
        <p:txBody>
          <a:bodyPr wrap="square" lIns="0" tIns="0" rIns="0" bIns="0" rtlCol="0" anchor="ctr"/>
          <a:lstStyle/>
          <a:p>
            <a:pPr marL="0" indent="0" algn="r">
              <a:buNone/>
            </a:pPr>
            <a:r>
              <a:rPr lang="en-US" sz="1250" dirty="0">
                <a:solidFill>
                  <a:srgbClr val="5A6B7B"/>
                </a:solidFill>
                <a:latin typeface="Calibri" pitchFamily="34" charset="0"/>
                <a:ea typeface="Calibri" pitchFamily="34" charset="-122"/>
                <a:cs typeface="Calibri" pitchFamily="34" charset="-120"/>
              </a:rPr>
              <a:t>1 h</a:t>
            </a:r>
            <a:endParaRPr lang="en-US" sz="1250" dirty="0"/>
          </a:p>
        </p:txBody>
      </p:sp>
      <p:sp>
        <p:nvSpPr>
          <p:cNvPr id="8" name="Shape 6"/>
          <p:cNvSpPr/>
          <p:nvPr/>
        </p:nvSpPr>
        <p:spPr>
          <a:xfrm>
            <a:off x="548640" y="2496312"/>
            <a:ext cx="11064240" cy="603504"/>
          </a:xfrm>
          <a:prstGeom prst="roundRect">
            <a:avLst>
              <a:gd name="adj" fmla="val 13636"/>
            </a:avLst>
          </a:prstGeom>
          <a:solidFill>
            <a:srgbClr val="F6E7E9"/>
          </a:solidFill>
          <a:ln w="12700">
            <a:solidFill>
              <a:srgbClr val="F6E7E9"/>
            </a:solidFill>
            <a:prstDash val="solid"/>
          </a:ln>
        </p:spPr>
        <p:txBody>
          <a:bodyPr/>
          <a:lstStyle/>
          <a:p>
            <a:endParaRPr lang="es-CL"/>
          </a:p>
        </p:txBody>
      </p:sp>
      <p:sp>
        <p:nvSpPr>
          <p:cNvPr id="9" name="Text 7"/>
          <p:cNvSpPr/>
          <p:nvPr/>
        </p:nvSpPr>
        <p:spPr>
          <a:xfrm>
            <a:off x="822960" y="2496312"/>
            <a:ext cx="1280160" cy="603504"/>
          </a:xfrm>
          <a:prstGeom prst="rect">
            <a:avLst/>
          </a:prstGeom>
          <a:noFill/>
          <a:ln/>
        </p:spPr>
        <p:txBody>
          <a:bodyPr wrap="square" lIns="0" tIns="0" rIns="0" bIns="0" rtlCol="0" anchor="ctr"/>
          <a:lstStyle/>
          <a:p>
            <a:pPr marL="0" indent="0">
              <a:buNone/>
            </a:pPr>
            <a:r>
              <a:rPr lang="en-US" sz="1350" b="1" dirty="0">
                <a:solidFill>
                  <a:srgbClr val="AC212E"/>
                </a:solidFill>
                <a:latin typeface="Calibri" pitchFamily="34" charset="0"/>
                <a:ea typeface="Calibri" pitchFamily="34" charset="-122"/>
                <a:cs typeface="Calibri" pitchFamily="34" charset="-120"/>
              </a:rPr>
              <a:t>Día 2</a:t>
            </a:r>
            <a:endParaRPr lang="en-US" sz="1350" dirty="0"/>
          </a:p>
        </p:txBody>
      </p:sp>
      <p:sp>
        <p:nvSpPr>
          <p:cNvPr id="10" name="Text 8"/>
          <p:cNvSpPr/>
          <p:nvPr/>
        </p:nvSpPr>
        <p:spPr>
          <a:xfrm>
            <a:off x="2194560" y="2496312"/>
            <a:ext cx="7772400" cy="603504"/>
          </a:xfrm>
          <a:prstGeom prst="rect">
            <a:avLst/>
          </a:prstGeom>
          <a:noFill/>
          <a:ln/>
        </p:spPr>
        <p:txBody>
          <a:bodyPr wrap="square" lIns="0" tIns="0" rIns="0" bIns="0" rtlCol="0" anchor="ctr"/>
          <a:lstStyle/>
          <a:p>
            <a:pPr marL="0" indent="0">
              <a:buNone/>
            </a:pPr>
            <a:r>
              <a:rPr lang="en-US" sz="1250" dirty="0">
                <a:solidFill>
                  <a:srgbClr val="06304A"/>
                </a:solidFill>
                <a:latin typeface="Calibri" pitchFamily="34" charset="0"/>
                <a:ea typeface="Calibri" pitchFamily="34" charset="-122"/>
                <a:cs typeface="Calibri" pitchFamily="34" charset="-120"/>
              </a:rPr>
              <a:t>Fase 1: ecosistema científico, Jupyter y los dos recursos de Git y GitHub.</a:t>
            </a:r>
            <a:endParaRPr lang="en-US" sz="1250" dirty="0"/>
          </a:p>
        </p:txBody>
      </p:sp>
      <p:sp>
        <p:nvSpPr>
          <p:cNvPr id="11" name="Text 9"/>
          <p:cNvSpPr/>
          <p:nvPr/>
        </p:nvSpPr>
        <p:spPr>
          <a:xfrm>
            <a:off x="9966960" y="2496312"/>
            <a:ext cx="1371600" cy="603504"/>
          </a:xfrm>
          <a:prstGeom prst="rect">
            <a:avLst/>
          </a:prstGeom>
          <a:noFill/>
          <a:ln/>
        </p:spPr>
        <p:txBody>
          <a:bodyPr wrap="square" lIns="0" tIns="0" rIns="0" bIns="0" rtlCol="0" anchor="ctr"/>
          <a:lstStyle/>
          <a:p>
            <a:pPr marL="0" indent="0" algn="r">
              <a:buNone/>
            </a:pPr>
            <a:r>
              <a:rPr lang="en-US" sz="1250" dirty="0">
                <a:solidFill>
                  <a:srgbClr val="5A6B7B"/>
                </a:solidFill>
                <a:latin typeface="Calibri" pitchFamily="34" charset="0"/>
                <a:ea typeface="Calibri" pitchFamily="34" charset="-122"/>
                <a:cs typeface="Calibri" pitchFamily="34" charset="-120"/>
              </a:rPr>
              <a:t>1 h</a:t>
            </a:r>
            <a:endParaRPr lang="en-US" sz="1250" dirty="0"/>
          </a:p>
        </p:txBody>
      </p:sp>
      <p:sp>
        <p:nvSpPr>
          <p:cNvPr id="12" name="Shape 10"/>
          <p:cNvSpPr/>
          <p:nvPr/>
        </p:nvSpPr>
        <p:spPr>
          <a:xfrm>
            <a:off x="548640" y="3209544"/>
            <a:ext cx="11064240" cy="603504"/>
          </a:xfrm>
          <a:prstGeom prst="roundRect">
            <a:avLst>
              <a:gd name="adj" fmla="val 13636"/>
            </a:avLst>
          </a:prstGeom>
          <a:solidFill>
            <a:srgbClr val="F6E7E9"/>
          </a:solidFill>
          <a:ln w="12700">
            <a:solidFill>
              <a:srgbClr val="F6E7E9"/>
            </a:solidFill>
            <a:prstDash val="solid"/>
          </a:ln>
        </p:spPr>
        <p:txBody>
          <a:bodyPr/>
          <a:lstStyle/>
          <a:p>
            <a:endParaRPr lang="es-CL"/>
          </a:p>
        </p:txBody>
      </p:sp>
      <p:sp>
        <p:nvSpPr>
          <p:cNvPr id="13" name="Text 11"/>
          <p:cNvSpPr/>
          <p:nvPr/>
        </p:nvSpPr>
        <p:spPr>
          <a:xfrm>
            <a:off x="822960" y="3209544"/>
            <a:ext cx="1280160" cy="603504"/>
          </a:xfrm>
          <a:prstGeom prst="rect">
            <a:avLst/>
          </a:prstGeom>
          <a:noFill/>
          <a:ln/>
        </p:spPr>
        <p:txBody>
          <a:bodyPr wrap="square" lIns="0" tIns="0" rIns="0" bIns="0" rtlCol="0" anchor="ctr"/>
          <a:lstStyle/>
          <a:p>
            <a:pPr marL="0" indent="0">
              <a:buNone/>
            </a:pPr>
            <a:r>
              <a:rPr lang="en-US" sz="1350" b="1" dirty="0">
                <a:solidFill>
                  <a:srgbClr val="AC212E"/>
                </a:solidFill>
                <a:latin typeface="Calibri" pitchFamily="34" charset="0"/>
                <a:ea typeface="Calibri" pitchFamily="34" charset="-122"/>
                <a:cs typeface="Calibri" pitchFamily="34" charset="-120"/>
              </a:rPr>
              <a:t>Día 3</a:t>
            </a:r>
            <a:endParaRPr lang="en-US" sz="1350" dirty="0"/>
          </a:p>
        </p:txBody>
      </p:sp>
      <p:sp>
        <p:nvSpPr>
          <p:cNvPr id="14" name="Text 12"/>
          <p:cNvSpPr/>
          <p:nvPr/>
        </p:nvSpPr>
        <p:spPr>
          <a:xfrm>
            <a:off x="2194560" y="3209544"/>
            <a:ext cx="7772400" cy="603504"/>
          </a:xfrm>
          <a:prstGeom prst="rect">
            <a:avLst/>
          </a:prstGeom>
          <a:noFill/>
          <a:ln/>
        </p:spPr>
        <p:txBody>
          <a:bodyPr wrap="square" lIns="0" tIns="0" rIns="0" bIns="0" rtlCol="0" anchor="ctr"/>
          <a:lstStyle/>
          <a:p>
            <a:pPr marL="0" indent="0">
              <a:buNone/>
            </a:pPr>
            <a:r>
              <a:rPr lang="en-US" sz="1250" dirty="0">
                <a:solidFill>
                  <a:srgbClr val="06304A"/>
                </a:solidFill>
                <a:latin typeface="Calibri" pitchFamily="34" charset="0"/>
                <a:ea typeface="Calibri" pitchFamily="34" charset="-122"/>
                <a:cs typeface="Calibri" pitchFamily="34" charset="-120"/>
              </a:rPr>
              <a:t>Elaborar y entregar la Formativa 1. Revisar entornos reproducibles.</a:t>
            </a:r>
            <a:endParaRPr lang="en-US" sz="1250" dirty="0"/>
          </a:p>
        </p:txBody>
      </p:sp>
      <p:sp>
        <p:nvSpPr>
          <p:cNvPr id="15" name="Text 13"/>
          <p:cNvSpPr/>
          <p:nvPr/>
        </p:nvSpPr>
        <p:spPr>
          <a:xfrm>
            <a:off x="9966960" y="3209544"/>
            <a:ext cx="1371600" cy="603504"/>
          </a:xfrm>
          <a:prstGeom prst="rect">
            <a:avLst/>
          </a:prstGeom>
          <a:noFill/>
          <a:ln/>
        </p:spPr>
        <p:txBody>
          <a:bodyPr wrap="square" lIns="0" tIns="0" rIns="0" bIns="0" rtlCol="0" anchor="ctr"/>
          <a:lstStyle/>
          <a:p>
            <a:pPr marL="0" indent="0" algn="r">
              <a:buNone/>
            </a:pPr>
            <a:r>
              <a:rPr lang="en-US" sz="1250" dirty="0">
                <a:solidFill>
                  <a:srgbClr val="5A6B7B"/>
                </a:solidFill>
                <a:latin typeface="Calibri" pitchFamily="34" charset="0"/>
                <a:ea typeface="Calibri" pitchFamily="34" charset="-122"/>
                <a:cs typeface="Calibri" pitchFamily="34" charset="-120"/>
              </a:rPr>
              <a:t>1,5 h</a:t>
            </a:r>
            <a:endParaRPr lang="en-US" sz="1250" dirty="0"/>
          </a:p>
        </p:txBody>
      </p:sp>
      <p:sp>
        <p:nvSpPr>
          <p:cNvPr id="16" name="Shape 14"/>
          <p:cNvSpPr/>
          <p:nvPr/>
        </p:nvSpPr>
        <p:spPr>
          <a:xfrm>
            <a:off x="548640" y="3922776"/>
            <a:ext cx="11064240" cy="603504"/>
          </a:xfrm>
          <a:prstGeom prst="roundRect">
            <a:avLst>
              <a:gd name="adj" fmla="val 13636"/>
            </a:avLst>
          </a:prstGeom>
          <a:solidFill>
            <a:srgbClr val="F4F7FA"/>
          </a:solidFill>
          <a:ln w="12700">
            <a:solidFill>
              <a:srgbClr val="F4F7FA"/>
            </a:solidFill>
            <a:prstDash val="solid"/>
          </a:ln>
        </p:spPr>
        <p:txBody>
          <a:bodyPr/>
          <a:lstStyle/>
          <a:p>
            <a:endParaRPr lang="es-CL"/>
          </a:p>
        </p:txBody>
      </p:sp>
      <p:sp>
        <p:nvSpPr>
          <p:cNvPr id="17" name="Text 15"/>
          <p:cNvSpPr/>
          <p:nvPr/>
        </p:nvSpPr>
        <p:spPr>
          <a:xfrm>
            <a:off x="822960" y="3922776"/>
            <a:ext cx="1280160" cy="603504"/>
          </a:xfrm>
          <a:prstGeom prst="rect">
            <a:avLst/>
          </a:prstGeom>
          <a:noFill/>
          <a:ln/>
        </p:spPr>
        <p:txBody>
          <a:bodyPr wrap="square" lIns="0" tIns="0" rIns="0" bIns="0" rtlCol="0" anchor="ctr"/>
          <a:lstStyle/>
          <a:p>
            <a:pPr marL="0" indent="0">
              <a:buNone/>
            </a:pPr>
            <a:r>
              <a:rPr lang="en-US" sz="1350" b="1" dirty="0">
                <a:solidFill>
                  <a:srgbClr val="AC212E"/>
                </a:solidFill>
                <a:latin typeface="Calibri" pitchFamily="34" charset="0"/>
                <a:ea typeface="Calibri" pitchFamily="34" charset="-122"/>
                <a:cs typeface="Calibri" pitchFamily="34" charset="-120"/>
              </a:rPr>
              <a:t>Día 4</a:t>
            </a:r>
            <a:endParaRPr lang="en-US" sz="1350" dirty="0"/>
          </a:p>
        </p:txBody>
      </p:sp>
      <p:sp>
        <p:nvSpPr>
          <p:cNvPr id="18" name="Text 16"/>
          <p:cNvSpPr/>
          <p:nvPr/>
        </p:nvSpPr>
        <p:spPr>
          <a:xfrm>
            <a:off x="2194560" y="3922776"/>
            <a:ext cx="7772400" cy="603504"/>
          </a:xfrm>
          <a:prstGeom prst="rect">
            <a:avLst/>
          </a:prstGeom>
          <a:noFill/>
          <a:ln/>
        </p:spPr>
        <p:txBody>
          <a:bodyPr wrap="square" lIns="0" tIns="0" rIns="0" bIns="0" rtlCol="0" anchor="ctr"/>
          <a:lstStyle/>
          <a:p>
            <a:pPr marL="0" indent="0">
              <a:buNone/>
            </a:pPr>
            <a:r>
              <a:rPr lang="en-US" sz="1250" dirty="0">
                <a:solidFill>
                  <a:srgbClr val="06304A"/>
                </a:solidFill>
                <a:latin typeface="Calibri" pitchFamily="34" charset="0"/>
                <a:ea typeface="Calibri" pitchFamily="34" charset="-122"/>
                <a:cs typeface="Calibri" pitchFamily="34" charset="-120"/>
              </a:rPr>
              <a:t>Fase 2: introducción, programación estructurada, funciones y sus apuntes.</a:t>
            </a:r>
            <a:endParaRPr lang="en-US" sz="1250" dirty="0"/>
          </a:p>
        </p:txBody>
      </p:sp>
      <p:sp>
        <p:nvSpPr>
          <p:cNvPr id="19" name="Text 17"/>
          <p:cNvSpPr/>
          <p:nvPr/>
        </p:nvSpPr>
        <p:spPr>
          <a:xfrm>
            <a:off x="9966960" y="3922776"/>
            <a:ext cx="1371600" cy="603504"/>
          </a:xfrm>
          <a:prstGeom prst="rect">
            <a:avLst/>
          </a:prstGeom>
          <a:noFill/>
          <a:ln/>
        </p:spPr>
        <p:txBody>
          <a:bodyPr wrap="square" lIns="0" tIns="0" rIns="0" bIns="0" rtlCol="0" anchor="ctr"/>
          <a:lstStyle/>
          <a:p>
            <a:pPr marL="0" indent="0" algn="r">
              <a:buNone/>
            </a:pPr>
            <a:r>
              <a:rPr lang="en-US" sz="1250" dirty="0">
                <a:solidFill>
                  <a:srgbClr val="5A6B7B"/>
                </a:solidFill>
                <a:latin typeface="Calibri" pitchFamily="34" charset="0"/>
                <a:ea typeface="Calibri" pitchFamily="34" charset="-122"/>
                <a:cs typeface="Calibri" pitchFamily="34" charset="-120"/>
              </a:rPr>
              <a:t>2 h</a:t>
            </a:r>
            <a:endParaRPr lang="en-US" sz="1250" dirty="0"/>
          </a:p>
        </p:txBody>
      </p:sp>
      <p:sp>
        <p:nvSpPr>
          <p:cNvPr id="20" name="Shape 18"/>
          <p:cNvSpPr/>
          <p:nvPr/>
        </p:nvSpPr>
        <p:spPr>
          <a:xfrm>
            <a:off x="548640" y="4636008"/>
            <a:ext cx="11064240" cy="603504"/>
          </a:xfrm>
          <a:prstGeom prst="roundRect">
            <a:avLst>
              <a:gd name="adj" fmla="val 13636"/>
            </a:avLst>
          </a:prstGeom>
          <a:solidFill>
            <a:srgbClr val="F4F7FA"/>
          </a:solidFill>
          <a:ln w="12700">
            <a:solidFill>
              <a:srgbClr val="F4F7FA"/>
            </a:solidFill>
            <a:prstDash val="solid"/>
          </a:ln>
        </p:spPr>
        <p:txBody>
          <a:bodyPr/>
          <a:lstStyle/>
          <a:p>
            <a:endParaRPr lang="es-CL"/>
          </a:p>
        </p:txBody>
      </p:sp>
      <p:sp>
        <p:nvSpPr>
          <p:cNvPr id="21" name="Text 19"/>
          <p:cNvSpPr/>
          <p:nvPr/>
        </p:nvSpPr>
        <p:spPr>
          <a:xfrm>
            <a:off x="822960" y="4636008"/>
            <a:ext cx="1280160" cy="603504"/>
          </a:xfrm>
          <a:prstGeom prst="rect">
            <a:avLst/>
          </a:prstGeom>
          <a:noFill/>
          <a:ln/>
        </p:spPr>
        <p:txBody>
          <a:bodyPr wrap="square" lIns="0" tIns="0" rIns="0" bIns="0" rtlCol="0" anchor="ctr"/>
          <a:lstStyle/>
          <a:p>
            <a:pPr marL="0" indent="0">
              <a:buNone/>
            </a:pPr>
            <a:r>
              <a:rPr lang="en-US" sz="1350" b="1" dirty="0">
                <a:solidFill>
                  <a:srgbClr val="AC212E"/>
                </a:solidFill>
                <a:latin typeface="Calibri" pitchFamily="34" charset="0"/>
                <a:ea typeface="Calibri" pitchFamily="34" charset="-122"/>
                <a:cs typeface="Calibri" pitchFamily="34" charset="-120"/>
              </a:rPr>
              <a:t>Día 5</a:t>
            </a:r>
            <a:endParaRPr lang="en-US" sz="1350" dirty="0"/>
          </a:p>
        </p:txBody>
      </p:sp>
      <p:sp>
        <p:nvSpPr>
          <p:cNvPr id="22" name="Text 20"/>
          <p:cNvSpPr/>
          <p:nvPr/>
        </p:nvSpPr>
        <p:spPr>
          <a:xfrm>
            <a:off x="2194560" y="4636008"/>
            <a:ext cx="7772400" cy="603504"/>
          </a:xfrm>
          <a:prstGeom prst="rect">
            <a:avLst/>
          </a:prstGeom>
          <a:noFill/>
          <a:ln/>
        </p:spPr>
        <p:txBody>
          <a:bodyPr wrap="square" lIns="0" tIns="0" rIns="0" bIns="0" rtlCol="0" anchor="ctr"/>
          <a:lstStyle/>
          <a:p>
            <a:pPr marL="0" indent="0">
              <a:buNone/>
            </a:pPr>
            <a:r>
              <a:rPr lang="en-US" sz="1250" dirty="0">
                <a:solidFill>
                  <a:srgbClr val="06304A"/>
                </a:solidFill>
                <a:latin typeface="Calibri" pitchFamily="34" charset="0"/>
                <a:ea typeface="Calibri" pitchFamily="34" charset="-122"/>
                <a:cs typeface="Calibri" pitchFamily="34" charset="-120"/>
              </a:rPr>
              <a:t>Fase 2: apuntes de NumPy y Pandas, más los recursos de preprocesamiento.</a:t>
            </a:r>
            <a:endParaRPr lang="en-US" sz="1250" dirty="0"/>
          </a:p>
        </p:txBody>
      </p:sp>
      <p:sp>
        <p:nvSpPr>
          <p:cNvPr id="23" name="Text 21"/>
          <p:cNvSpPr/>
          <p:nvPr/>
        </p:nvSpPr>
        <p:spPr>
          <a:xfrm>
            <a:off x="9966960" y="4636008"/>
            <a:ext cx="1371600" cy="603504"/>
          </a:xfrm>
          <a:prstGeom prst="rect">
            <a:avLst/>
          </a:prstGeom>
          <a:noFill/>
          <a:ln/>
        </p:spPr>
        <p:txBody>
          <a:bodyPr wrap="square" lIns="0" tIns="0" rIns="0" bIns="0" rtlCol="0" anchor="ctr"/>
          <a:lstStyle/>
          <a:p>
            <a:pPr marL="0" indent="0" algn="r">
              <a:buNone/>
            </a:pPr>
            <a:r>
              <a:rPr lang="en-US" sz="1250" dirty="0">
                <a:solidFill>
                  <a:srgbClr val="5A6B7B"/>
                </a:solidFill>
                <a:latin typeface="Calibri" pitchFamily="34" charset="0"/>
                <a:ea typeface="Calibri" pitchFamily="34" charset="-122"/>
                <a:cs typeface="Calibri" pitchFamily="34" charset="-120"/>
              </a:rPr>
              <a:t>2 h</a:t>
            </a:r>
            <a:endParaRPr lang="en-US" sz="1250" dirty="0"/>
          </a:p>
        </p:txBody>
      </p:sp>
      <p:sp>
        <p:nvSpPr>
          <p:cNvPr id="24" name="Shape 22"/>
          <p:cNvSpPr/>
          <p:nvPr/>
        </p:nvSpPr>
        <p:spPr>
          <a:xfrm>
            <a:off x="548640" y="5349240"/>
            <a:ext cx="11064240" cy="603504"/>
          </a:xfrm>
          <a:prstGeom prst="roundRect">
            <a:avLst>
              <a:gd name="adj" fmla="val 13636"/>
            </a:avLst>
          </a:prstGeom>
          <a:solidFill>
            <a:srgbClr val="F4F7FA"/>
          </a:solidFill>
          <a:ln w="12700">
            <a:solidFill>
              <a:srgbClr val="F4F7FA"/>
            </a:solidFill>
            <a:prstDash val="solid"/>
          </a:ln>
        </p:spPr>
        <p:txBody>
          <a:bodyPr/>
          <a:lstStyle/>
          <a:p>
            <a:endParaRPr lang="es-CL"/>
          </a:p>
        </p:txBody>
      </p:sp>
      <p:sp>
        <p:nvSpPr>
          <p:cNvPr id="25" name="Text 23"/>
          <p:cNvSpPr/>
          <p:nvPr/>
        </p:nvSpPr>
        <p:spPr>
          <a:xfrm>
            <a:off x="822960" y="5349240"/>
            <a:ext cx="1280160" cy="603504"/>
          </a:xfrm>
          <a:prstGeom prst="rect">
            <a:avLst/>
          </a:prstGeom>
          <a:noFill/>
          <a:ln/>
        </p:spPr>
        <p:txBody>
          <a:bodyPr wrap="square" lIns="0" tIns="0" rIns="0" bIns="0" rtlCol="0" anchor="ctr"/>
          <a:lstStyle/>
          <a:p>
            <a:pPr marL="0" indent="0">
              <a:buNone/>
            </a:pPr>
            <a:r>
              <a:rPr lang="en-US" sz="1350" b="1" dirty="0">
                <a:solidFill>
                  <a:srgbClr val="AC212E"/>
                </a:solidFill>
                <a:latin typeface="Calibri" pitchFamily="34" charset="0"/>
                <a:ea typeface="Calibri" pitchFamily="34" charset="-122"/>
                <a:cs typeface="Calibri" pitchFamily="34" charset="-120"/>
              </a:rPr>
              <a:t>Días 6 y 7</a:t>
            </a:r>
            <a:endParaRPr lang="en-US" sz="1350" dirty="0"/>
          </a:p>
        </p:txBody>
      </p:sp>
      <p:sp>
        <p:nvSpPr>
          <p:cNvPr id="26" name="Text 24"/>
          <p:cNvSpPr/>
          <p:nvPr/>
        </p:nvSpPr>
        <p:spPr>
          <a:xfrm>
            <a:off x="2194560" y="5349240"/>
            <a:ext cx="7772400" cy="603504"/>
          </a:xfrm>
          <a:prstGeom prst="rect">
            <a:avLst/>
          </a:prstGeom>
          <a:noFill/>
          <a:ln/>
        </p:spPr>
        <p:txBody>
          <a:bodyPr wrap="square" lIns="0" tIns="0" rIns="0" bIns="0" rtlCol="0" anchor="ctr"/>
          <a:lstStyle/>
          <a:p>
            <a:pPr marL="0" indent="0">
              <a:buNone/>
            </a:pPr>
            <a:r>
              <a:rPr lang="en-US" sz="1250" dirty="0">
                <a:solidFill>
                  <a:srgbClr val="06304A"/>
                </a:solidFill>
                <a:latin typeface="Calibri" pitchFamily="34" charset="0"/>
                <a:ea typeface="Calibri" pitchFamily="34" charset="-122"/>
                <a:cs typeface="Calibri" pitchFamily="34" charset="-120"/>
              </a:rPr>
              <a:t>Implementar el pipeline, montar el repositorio y redactar el informe.</a:t>
            </a:r>
            <a:endParaRPr lang="en-US" sz="1250" dirty="0"/>
          </a:p>
        </p:txBody>
      </p:sp>
      <p:sp>
        <p:nvSpPr>
          <p:cNvPr id="27" name="Text 25"/>
          <p:cNvSpPr/>
          <p:nvPr/>
        </p:nvSpPr>
        <p:spPr>
          <a:xfrm>
            <a:off x="9966960" y="5349240"/>
            <a:ext cx="1371600" cy="603504"/>
          </a:xfrm>
          <a:prstGeom prst="rect">
            <a:avLst/>
          </a:prstGeom>
          <a:noFill/>
          <a:ln/>
        </p:spPr>
        <p:txBody>
          <a:bodyPr wrap="square" lIns="0" tIns="0" rIns="0" bIns="0" rtlCol="0" anchor="ctr"/>
          <a:lstStyle/>
          <a:p>
            <a:pPr marL="0" indent="0" algn="r">
              <a:buNone/>
            </a:pPr>
            <a:r>
              <a:rPr lang="en-US" sz="1250" dirty="0">
                <a:solidFill>
                  <a:srgbClr val="5A6B7B"/>
                </a:solidFill>
                <a:latin typeface="Calibri" pitchFamily="34" charset="0"/>
                <a:ea typeface="Calibri" pitchFamily="34" charset="-122"/>
                <a:cs typeface="Calibri" pitchFamily="34" charset="-120"/>
              </a:rPr>
              <a:t>4 h</a:t>
            </a:r>
            <a:endParaRPr lang="en-US" sz="1250" dirty="0"/>
          </a:p>
        </p:txBody>
      </p:sp>
      <p:sp>
        <p:nvSpPr>
          <p:cNvPr id="28" name="Text 26"/>
          <p:cNvSpPr/>
          <p:nvPr/>
        </p:nvSpPr>
        <p:spPr>
          <a:xfrm>
            <a:off x="548640" y="6327648"/>
            <a:ext cx="11064240" cy="274320"/>
          </a:xfrm>
          <a:prstGeom prst="rect">
            <a:avLst/>
          </a:prstGeom>
          <a:noFill/>
          <a:ln/>
        </p:spPr>
        <p:txBody>
          <a:bodyPr wrap="square" lIns="0" tIns="0" rIns="0" bIns="0" rtlCol="0" anchor="ctr"/>
          <a:lstStyle/>
          <a:p>
            <a:pPr marL="0" indent="0">
              <a:buNone/>
            </a:pPr>
            <a:r>
              <a:rPr lang="en-US" sz="1000" dirty="0">
                <a:solidFill>
                  <a:srgbClr val="5A6B7B"/>
                </a:solidFill>
                <a:latin typeface="Calibri" pitchFamily="34" charset="0"/>
                <a:ea typeface="Calibri" pitchFamily="34" charset="-122"/>
                <a:cs typeface="Calibri" pitchFamily="34" charset="-120"/>
              </a:rPr>
              <a:t>Estimación referencial de unas 11 horas. El programa considera 36 horas personales para las tres semanas del curso.</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A152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55000"/>
          </a:blip>
          <a:stretch>
            <a:fillRect/>
          </a:stretch>
        </p:blipFill>
        <p:spPr>
          <a:xfrm>
            <a:off x="6675120" y="0"/>
            <a:ext cx="5513832" cy="3227832"/>
          </a:xfrm>
          <a:prstGeom prst="rect">
            <a:avLst/>
          </a:prstGeom>
        </p:spPr>
      </p:pic>
      <p:sp>
        <p:nvSpPr>
          <p:cNvPr id="3" name="Shape 0"/>
          <p:cNvSpPr/>
          <p:nvPr/>
        </p:nvSpPr>
        <p:spPr>
          <a:xfrm>
            <a:off x="6675120" y="0"/>
            <a:ext cx="5513832" cy="3227832"/>
          </a:xfrm>
          <a:prstGeom prst="rect">
            <a:avLst/>
          </a:prstGeom>
          <a:solidFill>
            <a:srgbClr val="0A1526">
              <a:alpha val="45000"/>
            </a:srgbClr>
          </a:solidFill>
          <a:ln w="12700">
            <a:solidFill>
              <a:srgbClr val="0A1526">
                <a:alpha val="0"/>
              </a:srgbClr>
            </a:solidFill>
            <a:prstDash val="solid"/>
          </a:ln>
        </p:spPr>
        <p:txBody>
          <a:bodyPr/>
          <a:lstStyle/>
          <a:p>
            <a:endParaRPr lang="es-CL"/>
          </a:p>
        </p:txBody>
      </p:sp>
      <p:pic>
        <p:nvPicPr>
          <p:cNvPr id="4" name="Image 1" descr="preencoded.png"/>
          <p:cNvPicPr>
            <a:picLocks noChangeAspect="1"/>
          </p:cNvPicPr>
          <p:nvPr/>
        </p:nvPicPr>
        <p:blipFill>
          <a:blip r:embed="rId4"/>
          <a:stretch>
            <a:fillRect/>
          </a:stretch>
        </p:blipFill>
        <p:spPr>
          <a:xfrm>
            <a:off x="357721" y="338328"/>
            <a:ext cx="4754880" cy="886968"/>
          </a:xfrm>
          <a:prstGeom prst="rect">
            <a:avLst/>
          </a:prstGeom>
        </p:spPr>
      </p:pic>
      <p:sp>
        <p:nvSpPr>
          <p:cNvPr id="5" name="Text 1"/>
          <p:cNvSpPr/>
          <p:nvPr/>
        </p:nvSpPr>
        <p:spPr>
          <a:xfrm>
            <a:off x="548640" y="1920240"/>
            <a:ext cx="7680960" cy="594360"/>
          </a:xfrm>
          <a:prstGeom prst="rect">
            <a:avLst/>
          </a:prstGeom>
          <a:noFill/>
          <a:ln/>
        </p:spPr>
        <p:txBody>
          <a:bodyPr wrap="square" lIns="0" tIns="0" rIns="0" bIns="0" rtlCol="0" anchor="ctr"/>
          <a:lstStyle/>
          <a:p>
            <a:pPr marL="0" indent="0">
              <a:buNone/>
            </a:pPr>
            <a:r>
              <a:rPr lang="en-US" sz="3600" b="1" kern="0" spc="200" dirty="0">
                <a:solidFill>
                  <a:srgbClr val="FFFFFF"/>
                </a:solidFill>
                <a:latin typeface="Cambria" pitchFamily="34" charset="0"/>
                <a:ea typeface="Cambria" pitchFamily="34" charset="-122"/>
                <a:cs typeface="Cambria" pitchFamily="34" charset="-120"/>
              </a:rPr>
              <a:t>CONCEPTOS TEÓRICOS</a:t>
            </a:r>
            <a:endParaRPr lang="en-US" sz="3600" dirty="0"/>
          </a:p>
        </p:txBody>
      </p:sp>
      <p:sp>
        <p:nvSpPr>
          <p:cNvPr id="6" name="Text 2"/>
          <p:cNvSpPr/>
          <p:nvPr/>
        </p:nvSpPr>
        <p:spPr>
          <a:xfrm>
            <a:off x="548640" y="2651760"/>
            <a:ext cx="7680960" cy="502920"/>
          </a:xfrm>
          <a:prstGeom prst="rect">
            <a:avLst/>
          </a:prstGeom>
          <a:noFill/>
          <a:ln/>
        </p:spPr>
        <p:txBody>
          <a:bodyPr wrap="square" lIns="0" tIns="0" rIns="0" bIns="0" rtlCol="0" anchor="ctr"/>
          <a:lstStyle/>
          <a:p>
            <a:pPr marL="0" indent="0">
              <a:buNone/>
            </a:pPr>
            <a:r>
              <a:rPr lang="en-US" sz="2400" dirty="0">
                <a:solidFill>
                  <a:srgbClr val="D7E3EE"/>
                </a:solidFill>
                <a:latin typeface="Cambria" pitchFamily="34" charset="0"/>
                <a:ea typeface="Cambria" pitchFamily="34" charset="-122"/>
                <a:cs typeface="Cambria" pitchFamily="34" charset="-120"/>
              </a:rPr>
              <a:t>Fase 1 · Definición y orientación de la situación</a:t>
            </a:r>
            <a:endParaRPr lang="en-US" sz="2400" dirty="0"/>
          </a:p>
        </p:txBody>
      </p:sp>
      <p:sp>
        <p:nvSpPr>
          <p:cNvPr id="7" name="Shape 3"/>
          <p:cNvSpPr/>
          <p:nvPr/>
        </p:nvSpPr>
        <p:spPr>
          <a:xfrm>
            <a:off x="548640" y="3383280"/>
            <a:ext cx="1280160" cy="45720"/>
          </a:xfrm>
          <a:prstGeom prst="rect">
            <a:avLst/>
          </a:prstGeom>
          <a:solidFill>
            <a:srgbClr val="AC212E"/>
          </a:solidFill>
          <a:ln w="12700">
            <a:solidFill>
              <a:srgbClr val="AC212E"/>
            </a:solidFill>
            <a:prstDash val="solid"/>
          </a:ln>
        </p:spPr>
        <p:txBody>
          <a:bodyPr/>
          <a:lstStyle/>
          <a:p>
            <a:endParaRPr lang="es-CL"/>
          </a:p>
        </p:txBody>
      </p:sp>
      <p:sp>
        <p:nvSpPr>
          <p:cNvPr id="8" name="Text 4"/>
          <p:cNvSpPr/>
          <p:nvPr/>
        </p:nvSpPr>
        <p:spPr>
          <a:xfrm>
            <a:off x="548640" y="3657600"/>
            <a:ext cx="7863840" cy="457200"/>
          </a:xfrm>
          <a:prstGeom prst="rect">
            <a:avLst/>
          </a:prstGeom>
          <a:noFill/>
          <a:ln/>
        </p:spPr>
        <p:txBody>
          <a:bodyPr wrap="square" lIns="0" tIns="0" rIns="0" bIns="0" rtlCol="0" anchor="ctr"/>
          <a:lstStyle/>
          <a:p>
            <a:pPr marL="0" indent="0">
              <a:buNone/>
            </a:pPr>
            <a:r>
              <a:rPr lang="en-US" sz="1700" dirty="0">
                <a:solidFill>
                  <a:srgbClr val="D7E3EE"/>
                </a:solidFill>
                <a:latin typeface="Calibri" pitchFamily="34" charset="0"/>
                <a:ea typeface="Calibri" pitchFamily="34" charset="-122"/>
                <a:cs typeface="Calibri" pitchFamily="34" charset="-120"/>
              </a:rPr>
              <a:t>Qué hay que comprender antes de construir el mapa conceptual</a:t>
            </a:r>
            <a:endParaRPr lang="en-US" sz="1700" dirty="0"/>
          </a:p>
        </p:txBody>
      </p:sp>
      <p:sp>
        <p:nvSpPr>
          <p:cNvPr id="9" name="Text 5"/>
          <p:cNvSpPr/>
          <p:nvPr/>
        </p:nvSpPr>
        <p:spPr>
          <a:xfrm>
            <a:off x="548640" y="5943600"/>
            <a:ext cx="11064240" cy="365760"/>
          </a:xfrm>
          <a:prstGeom prst="rect">
            <a:avLst/>
          </a:prstGeom>
          <a:noFill/>
          <a:ln/>
        </p:spPr>
        <p:txBody>
          <a:bodyPr wrap="square" lIns="0" tIns="0" rIns="0" bIns="0" rtlCol="0" anchor="ctr"/>
          <a:lstStyle/>
          <a:p>
            <a:pPr marL="0" indent="0">
              <a:buNone/>
            </a:pPr>
            <a:r>
              <a:rPr lang="en-US" sz="1200" dirty="0">
                <a:solidFill>
                  <a:srgbClr val="5A6B7B"/>
                </a:solidFill>
                <a:latin typeface="Calibri" pitchFamily="34" charset="0"/>
                <a:ea typeface="Calibri" pitchFamily="34" charset="-122"/>
                <a:cs typeface="Calibri" pitchFamily="34" charset="-120"/>
              </a:rPr>
              <a:t>MCDI500 · Programación para la Ciencia de Datos   |   Unidad temática 1: fundamentos de Python y buenas prácticas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Seis conceptos sostienen toda la Fase 1</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Cada uno responde una pregunta distinta. Juntos explican por qué el proyecto se organiza así.</a:t>
            </a:r>
            <a:endParaRPr lang="en-US" sz="1400" dirty="0"/>
          </a:p>
        </p:txBody>
      </p:sp>
      <p:sp>
        <p:nvSpPr>
          <p:cNvPr id="4" name="Shape 2"/>
          <p:cNvSpPr/>
          <p:nvPr/>
        </p:nvSpPr>
        <p:spPr>
          <a:xfrm>
            <a:off x="548640" y="1783080"/>
            <a:ext cx="3520440" cy="1828800"/>
          </a:xfrm>
          <a:prstGeom prst="roundRect">
            <a:avLst>
              <a:gd name="adj" fmla="val 4500"/>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804672" y="2039112"/>
            <a:ext cx="457200" cy="457200"/>
          </a:xfrm>
          <a:prstGeom prst="ellipse">
            <a:avLst/>
          </a:prstGeom>
          <a:solidFill>
            <a:srgbClr val="AC212E"/>
          </a:solidFill>
          <a:ln/>
        </p:spPr>
        <p:txBody>
          <a:bodyPr/>
          <a:lstStyle/>
          <a:p>
            <a:endParaRPr lang="es-CL"/>
          </a:p>
        </p:txBody>
      </p:sp>
      <p:sp>
        <p:nvSpPr>
          <p:cNvPr id="6" name="Text 4"/>
          <p:cNvSpPr/>
          <p:nvPr/>
        </p:nvSpPr>
        <p:spPr>
          <a:xfrm>
            <a:off x="804672" y="203911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804672" y="2606040"/>
            <a:ext cx="3017520" cy="45720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Contexto problematizador</a:t>
            </a:r>
            <a:endParaRPr lang="en-US" sz="1500" dirty="0"/>
          </a:p>
        </p:txBody>
      </p:sp>
      <p:sp>
        <p:nvSpPr>
          <p:cNvPr id="8" name="Text 6"/>
          <p:cNvSpPr/>
          <p:nvPr/>
        </p:nvSpPr>
        <p:spPr>
          <a:xfrm>
            <a:off x="804672" y="3063240"/>
            <a:ext cx="3017520" cy="457200"/>
          </a:xfrm>
          <a:prstGeom prst="rect">
            <a:avLst/>
          </a:prstGeom>
          <a:noFill/>
          <a:ln/>
        </p:spPr>
        <p:txBody>
          <a:bodyPr wrap="square" lIns="0" tIns="0" rIns="0" bIns="0" rtlCol="0" anchor="ctr"/>
          <a:lstStyle/>
          <a:p>
            <a:pPr marL="0" indent="0">
              <a:lnSpc>
                <a:spcPts val="1600"/>
              </a:lnSpc>
              <a:buNone/>
            </a:pPr>
            <a:r>
              <a:rPr lang="en-US" sz="1250" i="1" dirty="0">
                <a:solidFill>
                  <a:srgbClr val="AC212E"/>
                </a:solidFill>
                <a:latin typeface="Calibri" pitchFamily="34" charset="0"/>
                <a:ea typeface="Calibri" pitchFamily="34" charset="-122"/>
                <a:cs typeface="Calibri" pitchFamily="34" charset="-120"/>
              </a:rPr>
              <a:t>¿De qué situación parte el proyecto?</a:t>
            </a:r>
            <a:endParaRPr lang="en-US" sz="1250" dirty="0"/>
          </a:p>
        </p:txBody>
      </p:sp>
      <p:sp>
        <p:nvSpPr>
          <p:cNvPr id="9" name="Shape 7"/>
          <p:cNvSpPr/>
          <p:nvPr/>
        </p:nvSpPr>
        <p:spPr>
          <a:xfrm>
            <a:off x="4325112" y="1783080"/>
            <a:ext cx="3520440" cy="1828800"/>
          </a:xfrm>
          <a:prstGeom prst="roundRect">
            <a:avLst>
              <a:gd name="adj" fmla="val 4500"/>
            </a:avLst>
          </a:prstGeom>
          <a:solidFill>
            <a:srgbClr val="F4F7FA"/>
          </a:solidFill>
          <a:ln w="12700">
            <a:solidFill>
              <a:srgbClr val="F4F7FA"/>
            </a:solidFill>
            <a:prstDash val="solid"/>
          </a:ln>
        </p:spPr>
        <p:txBody>
          <a:bodyPr/>
          <a:lstStyle/>
          <a:p>
            <a:endParaRPr lang="es-CL"/>
          </a:p>
        </p:txBody>
      </p:sp>
      <p:sp>
        <p:nvSpPr>
          <p:cNvPr id="10" name="Shape 8"/>
          <p:cNvSpPr/>
          <p:nvPr/>
        </p:nvSpPr>
        <p:spPr>
          <a:xfrm>
            <a:off x="4581144" y="2039112"/>
            <a:ext cx="457200" cy="457200"/>
          </a:xfrm>
          <a:prstGeom prst="ellipse">
            <a:avLst/>
          </a:prstGeom>
          <a:solidFill>
            <a:srgbClr val="AC212E"/>
          </a:solidFill>
          <a:ln/>
        </p:spPr>
        <p:txBody>
          <a:bodyPr/>
          <a:lstStyle/>
          <a:p>
            <a:endParaRPr lang="es-CL"/>
          </a:p>
        </p:txBody>
      </p:sp>
      <p:sp>
        <p:nvSpPr>
          <p:cNvPr id="11" name="Text 9"/>
          <p:cNvSpPr/>
          <p:nvPr/>
        </p:nvSpPr>
        <p:spPr>
          <a:xfrm>
            <a:off x="4581144" y="203911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4581144" y="2606040"/>
            <a:ext cx="3017520" cy="45720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Ciclo de vida del dato</a:t>
            </a:r>
            <a:endParaRPr lang="en-US" sz="1500" dirty="0"/>
          </a:p>
        </p:txBody>
      </p:sp>
      <p:sp>
        <p:nvSpPr>
          <p:cNvPr id="13" name="Text 11"/>
          <p:cNvSpPr/>
          <p:nvPr/>
        </p:nvSpPr>
        <p:spPr>
          <a:xfrm>
            <a:off x="4581144" y="3063240"/>
            <a:ext cx="3017520" cy="457200"/>
          </a:xfrm>
          <a:prstGeom prst="rect">
            <a:avLst/>
          </a:prstGeom>
          <a:noFill/>
          <a:ln/>
        </p:spPr>
        <p:txBody>
          <a:bodyPr wrap="square" lIns="0" tIns="0" rIns="0" bIns="0" rtlCol="0" anchor="ctr"/>
          <a:lstStyle/>
          <a:p>
            <a:pPr marL="0" indent="0">
              <a:lnSpc>
                <a:spcPts val="1600"/>
              </a:lnSpc>
              <a:buNone/>
            </a:pPr>
            <a:r>
              <a:rPr lang="en-US" sz="1250" i="1" dirty="0">
                <a:solidFill>
                  <a:srgbClr val="AC212E"/>
                </a:solidFill>
                <a:latin typeface="Calibri" pitchFamily="34" charset="0"/>
                <a:ea typeface="Calibri" pitchFamily="34" charset="-122"/>
                <a:cs typeface="Calibri" pitchFamily="34" charset="-120"/>
              </a:rPr>
              <a:t>¿Por qué etapas pasa un análisis?</a:t>
            </a:r>
            <a:endParaRPr lang="en-US" sz="1250" dirty="0"/>
          </a:p>
        </p:txBody>
      </p:sp>
      <p:sp>
        <p:nvSpPr>
          <p:cNvPr id="14" name="Shape 12"/>
          <p:cNvSpPr/>
          <p:nvPr/>
        </p:nvSpPr>
        <p:spPr>
          <a:xfrm>
            <a:off x="8101584" y="1783080"/>
            <a:ext cx="3520440" cy="1828800"/>
          </a:xfrm>
          <a:prstGeom prst="roundRect">
            <a:avLst>
              <a:gd name="adj" fmla="val 4500"/>
            </a:avLst>
          </a:prstGeom>
          <a:solidFill>
            <a:srgbClr val="F4F7FA"/>
          </a:solidFill>
          <a:ln w="12700">
            <a:solidFill>
              <a:srgbClr val="F4F7FA"/>
            </a:solidFill>
            <a:prstDash val="solid"/>
          </a:ln>
        </p:spPr>
        <p:txBody>
          <a:bodyPr/>
          <a:lstStyle/>
          <a:p>
            <a:endParaRPr lang="es-CL"/>
          </a:p>
        </p:txBody>
      </p:sp>
      <p:sp>
        <p:nvSpPr>
          <p:cNvPr id="15" name="Shape 13"/>
          <p:cNvSpPr/>
          <p:nvPr/>
        </p:nvSpPr>
        <p:spPr>
          <a:xfrm>
            <a:off x="8357616" y="2039112"/>
            <a:ext cx="457200" cy="457200"/>
          </a:xfrm>
          <a:prstGeom prst="ellipse">
            <a:avLst/>
          </a:prstGeom>
          <a:solidFill>
            <a:srgbClr val="AC212E"/>
          </a:solidFill>
          <a:ln/>
        </p:spPr>
        <p:txBody>
          <a:bodyPr/>
          <a:lstStyle/>
          <a:p>
            <a:endParaRPr lang="es-CL"/>
          </a:p>
        </p:txBody>
      </p:sp>
      <p:sp>
        <p:nvSpPr>
          <p:cNvPr id="16" name="Text 14"/>
          <p:cNvSpPr/>
          <p:nvPr/>
        </p:nvSpPr>
        <p:spPr>
          <a:xfrm>
            <a:off x="8357616" y="203911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8357616" y="2606040"/>
            <a:ext cx="3017520" cy="45720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Reproducibilidad</a:t>
            </a:r>
            <a:endParaRPr lang="en-US" sz="1500" dirty="0"/>
          </a:p>
        </p:txBody>
      </p:sp>
      <p:sp>
        <p:nvSpPr>
          <p:cNvPr id="18" name="Text 16"/>
          <p:cNvSpPr/>
          <p:nvPr/>
        </p:nvSpPr>
        <p:spPr>
          <a:xfrm>
            <a:off x="8357616" y="3063240"/>
            <a:ext cx="3017520" cy="457200"/>
          </a:xfrm>
          <a:prstGeom prst="rect">
            <a:avLst/>
          </a:prstGeom>
          <a:noFill/>
          <a:ln/>
        </p:spPr>
        <p:txBody>
          <a:bodyPr wrap="square" lIns="0" tIns="0" rIns="0" bIns="0" rtlCol="0" anchor="ctr"/>
          <a:lstStyle/>
          <a:p>
            <a:pPr marL="0" indent="0">
              <a:lnSpc>
                <a:spcPts val="1600"/>
              </a:lnSpc>
              <a:buNone/>
            </a:pPr>
            <a:r>
              <a:rPr lang="en-US" sz="1250" i="1" dirty="0">
                <a:solidFill>
                  <a:srgbClr val="AC212E"/>
                </a:solidFill>
                <a:latin typeface="Calibri" pitchFamily="34" charset="0"/>
                <a:ea typeface="Calibri" pitchFamily="34" charset="-122"/>
                <a:cs typeface="Calibri" pitchFamily="34" charset="-120"/>
              </a:rPr>
              <a:t>¿Puede otra persona obtener el mismo resultado?</a:t>
            </a:r>
            <a:endParaRPr lang="en-US" sz="1250" dirty="0"/>
          </a:p>
        </p:txBody>
      </p:sp>
      <p:sp>
        <p:nvSpPr>
          <p:cNvPr id="19" name="Shape 17"/>
          <p:cNvSpPr/>
          <p:nvPr/>
        </p:nvSpPr>
        <p:spPr>
          <a:xfrm>
            <a:off x="548640" y="3840480"/>
            <a:ext cx="3520440" cy="1828800"/>
          </a:xfrm>
          <a:prstGeom prst="roundRect">
            <a:avLst>
              <a:gd name="adj" fmla="val 4500"/>
            </a:avLst>
          </a:prstGeom>
          <a:solidFill>
            <a:srgbClr val="F4F7FA"/>
          </a:solidFill>
          <a:ln w="12700">
            <a:solidFill>
              <a:srgbClr val="F4F7FA"/>
            </a:solidFill>
            <a:prstDash val="solid"/>
          </a:ln>
        </p:spPr>
        <p:txBody>
          <a:bodyPr/>
          <a:lstStyle/>
          <a:p>
            <a:endParaRPr lang="es-CL"/>
          </a:p>
        </p:txBody>
      </p:sp>
      <p:sp>
        <p:nvSpPr>
          <p:cNvPr id="20" name="Shape 18"/>
          <p:cNvSpPr/>
          <p:nvPr/>
        </p:nvSpPr>
        <p:spPr>
          <a:xfrm>
            <a:off x="804672" y="4096512"/>
            <a:ext cx="457200" cy="457200"/>
          </a:xfrm>
          <a:prstGeom prst="ellipse">
            <a:avLst/>
          </a:prstGeom>
          <a:solidFill>
            <a:srgbClr val="AC212E"/>
          </a:solidFill>
          <a:ln/>
        </p:spPr>
        <p:txBody>
          <a:bodyPr/>
          <a:lstStyle/>
          <a:p>
            <a:endParaRPr lang="es-CL"/>
          </a:p>
        </p:txBody>
      </p:sp>
      <p:sp>
        <p:nvSpPr>
          <p:cNvPr id="21" name="Text 19"/>
          <p:cNvSpPr/>
          <p:nvPr/>
        </p:nvSpPr>
        <p:spPr>
          <a:xfrm>
            <a:off x="804672" y="409651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804672" y="4663440"/>
            <a:ext cx="3017520" cy="45720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Trazabilidad</a:t>
            </a:r>
            <a:endParaRPr lang="en-US" sz="1500" dirty="0"/>
          </a:p>
        </p:txBody>
      </p:sp>
      <p:sp>
        <p:nvSpPr>
          <p:cNvPr id="23" name="Text 21"/>
          <p:cNvSpPr/>
          <p:nvPr/>
        </p:nvSpPr>
        <p:spPr>
          <a:xfrm>
            <a:off x="804672" y="5120640"/>
            <a:ext cx="3017520" cy="457200"/>
          </a:xfrm>
          <a:prstGeom prst="rect">
            <a:avLst/>
          </a:prstGeom>
          <a:noFill/>
          <a:ln/>
        </p:spPr>
        <p:txBody>
          <a:bodyPr wrap="square" lIns="0" tIns="0" rIns="0" bIns="0" rtlCol="0" anchor="ctr"/>
          <a:lstStyle/>
          <a:p>
            <a:pPr marL="0" indent="0">
              <a:lnSpc>
                <a:spcPts val="1600"/>
              </a:lnSpc>
              <a:buNone/>
            </a:pPr>
            <a:r>
              <a:rPr lang="en-US" sz="1250" i="1" dirty="0">
                <a:solidFill>
                  <a:srgbClr val="AC212E"/>
                </a:solidFill>
                <a:latin typeface="Calibri" pitchFamily="34" charset="0"/>
                <a:ea typeface="Calibri" pitchFamily="34" charset="-122"/>
                <a:cs typeface="Calibri" pitchFamily="34" charset="-120"/>
              </a:rPr>
              <a:t>¿Se puede reconstruir cómo se llegó aquí?</a:t>
            </a:r>
            <a:endParaRPr lang="en-US" sz="1250" dirty="0"/>
          </a:p>
        </p:txBody>
      </p:sp>
      <p:sp>
        <p:nvSpPr>
          <p:cNvPr id="24" name="Shape 22"/>
          <p:cNvSpPr/>
          <p:nvPr/>
        </p:nvSpPr>
        <p:spPr>
          <a:xfrm>
            <a:off x="4325112" y="3840480"/>
            <a:ext cx="3520440" cy="1828800"/>
          </a:xfrm>
          <a:prstGeom prst="roundRect">
            <a:avLst>
              <a:gd name="adj" fmla="val 4500"/>
            </a:avLst>
          </a:prstGeom>
          <a:solidFill>
            <a:srgbClr val="F4F7FA"/>
          </a:solidFill>
          <a:ln w="12700">
            <a:solidFill>
              <a:srgbClr val="F4F7FA"/>
            </a:solidFill>
            <a:prstDash val="solid"/>
          </a:ln>
        </p:spPr>
        <p:txBody>
          <a:bodyPr/>
          <a:lstStyle/>
          <a:p>
            <a:endParaRPr lang="es-CL"/>
          </a:p>
        </p:txBody>
      </p:sp>
      <p:sp>
        <p:nvSpPr>
          <p:cNvPr id="25" name="Shape 23"/>
          <p:cNvSpPr/>
          <p:nvPr/>
        </p:nvSpPr>
        <p:spPr>
          <a:xfrm>
            <a:off x="4581144" y="4096512"/>
            <a:ext cx="457200" cy="457200"/>
          </a:xfrm>
          <a:prstGeom prst="ellipse">
            <a:avLst/>
          </a:prstGeom>
          <a:solidFill>
            <a:srgbClr val="AC212E"/>
          </a:solidFill>
          <a:ln/>
        </p:spPr>
        <p:txBody>
          <a:bodyPr/>
          <a:lstStyle/>
          <a:p>
            <a:endParaRPr lang="es-CL"/>
          </a:p>
        </p:txBody>
      </p:sp>
      <p:sp>
        <p:nvSpPr>
          <p:cNvPr id="26" name="Text 24"/>
          <p:cNvSpPr/>
          <p:nvPr/>
        </p:nvSpPr>
        <p:spPr>
          <a:xfrm>
            <a:off x="4581144" y="409651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4581144" y="4663440"/>
            <a:ext cx="3017520" cy="45720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Documentación científica</a:t>
            </a:r>
            <a:endParaRPr lang="en-US" sz="1500" dirty="0"/>
          </a:p>
        </p:txBody>
      </p:sp>
      <p:sp>
        <p:nvSpPr>
          <p:cNvPr id="28" name="Text 26"/>
          <p:cNvSpPr/>
          <p:nvPr/>
        </p:nvSpPr>
        <p:spPr>
          <a:xfrm>
            <a:off x="4581144" y="5120640"/>
            <a:ext cx="3017520" cy="457200"/>
          </a:xfrm>
          <a:prstGeom prst="rect">
            <a:avLst/>
          </a:prstGeom>
          <a:noFill/>
          <a:ln/>
        </p:spPr>
        <p:txBody>
          <a:bodyPr wrap="square" lIns="0" tIns="0" rIns="0" bIns="0" rtlCol="0" anchor="ctr"/>
          <a:lstStyle/>
          <a:p>
            <a:pPr marL="0" indent="0">
              <a:lnSpc>
                <a:spcPts val="1600"/>
              </a:lnSpc>
              <a:buNone/>
            </a:pPr>
            <a:r>
              <a:rPr lang="en-US" sz="1250" i="1" dirty="0">
                <a:solidFill>
                  <a:srgbClr val="AC212E"/>
                </a:solidFill>
                <a:latin typeface="Calibri" pitchFamily="34" charset="0"/>
                <a:ea typeface="Calibri" pitchFamily="34" charset="-122"/>
                <a:cs typeface="Calibri" pitchFamily="34" charset="-120"/>
              </a:rPr>
              <a:t>¿Dónde queda registrado el razonamiento?</a:t>
            </a:r>
            <a:endParaRPr lang="en-US" sz="1250" dirty="0"/>
          </a:p>
        </p:txBody>
      </p:sp>
      <p:sp>
        <p:nvSpPr>
          <p:cNvPr id="29" name="Shape 27"/>
          <p:cNvSpPr/>
          <p:nvPr/>
        </p:nvSpPr>
        <p:spPr>
          <a:xfrm>
            <a:off x="8101584" y="3840480"/>
            <a:ext cx="3520440" cy="1828800"/>
          </a:xfrm>
          <a:prstGeom prst="roundRect">
            <a:avLst>
              <a:gd name="adj" fmla="val 4500"/>
            </a:avLst>
          </a:prstGeom>
          <a:solidFill>
            <a:srgbClr val="F4F7FA"/>
          </a:solidFill>
          <a:ln w="12700">
            <a:solidFill>
              <a:srgbClr val="F4F7FA"/>
            </a:solidFill>
            <a:prstDash val="solid"/>
          </a:ln>
        </p:spPr>
        <p:txBody>
          <a:bodyPr/>
          <a:lstStyle/>
          <a:p>
            <a:endParaRPr lang="es-CL"/>
          </a:p>
        </p:txBody>
      </p:sp>
      <p:sp>
        <p:nvSpPr>
          <p:cNvPr id="30" name="Shape 28"/>
          <p:cNvSpPr/>
          <p:nvPr/>
        </p:nvSpPr>
        <p:spPr>
          <a:xfrm>
            <a:off x="8357616" y="4096512"/>
            <a:ext cx="457200" cy="457200"/>
          </a:xfrm>
          <a:prstGeom prst="ellipse">
            <a:avLst/>
          </a:prstGeom>
          <a:solidFill>
            <a:srgbClr val="AC212E"/>
          </a:solidFill>
          <a:ln/>
        </p:spPr>
        <p:txBody>
          <a:bodyPr/>
          <a:lstStyle/>
          <a:p>
            <a:endParaRPr lang="es-CL"/>
          </a:p>
        </p:txBody>
      </p:sp>
      <p:sp>
        <p:nvSpPr>
          <p:cNvPr id="31" name="Text 29"/>
          <p:cNvSpPr/>
          <p:nvPr/>
        </p:nvSpPr>
        <p:spPr>
          <a:xfrm>
            <a:off x="8357616" y="409651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2" name="Text 30"/>
          <p:cNvSpPr/>
          <p:nvPr/>
        </p:nvSpPr>
        <p:spPr>
          <a:xfrm>
            <a:off x="8357616" y="4663440"/>
            <a:ext cx="3017520" cy="45720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Mapa conceptual</a:t>
            </a:r>
            <a:endParaRPr lang="en-US" sz="1500" dirty="0"/>
          </a:p>
        </p:txBody>
      </p:sp>
      <p:sp>
        <p:nvSpPr>
          <p:cNvPr id="33" name="Text 31"/>
          <p:cNvSpPr/>
          <p:nvPr/>
        </p:nvSpPr>
        <p:spPr>
          <a:xfrm>
            <a:off x="8357616" y="5120640"/>
            <a:ext cx="3017520" cy="457200"/>
          </a:xfrm>
          <a:prstGeom prst="rect">
            <a:avLst/>
          </a:prstGeom>
          <a:noFill/>
          <a:ln/>
        </p:spPr>
        <p:txBody>
          <a:bodyPr wrap="square" lIns="0" tIns="0" rIns="0" bIns="0" rtlCol="0" anchor="ctr"/>
          <a:lstStyle/>
          <a:p>
            <a:pPr marL="0" indent="0">
              <a:lnSpc>
                <a:spcPts val="1600"/>
              </a:lnSpc>
              <a:buNone/>
            </a:pPr>
            <a:r>
              <a:rPr lang="en-US" sz="1250" i="1" dirty="0">
                <a:solidFill>
                  <a:srgbClr val="AC212E"/>
                </a:solidFill>
                <a:latin typeface="Calibri" pitchFamily="34" charset="0"/>
                <a:ea typeface="Calibri" pitchFamily="34" charset="-122"/>
                <a:cs typeface="Calibri" pitchFamily="34" charset="-120"/>
              </a:rPr>
              <a:t>¿Cómo se representa todo lo anterior?</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Qué significa «definición y orientación de la situación»</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La Fase 1 del aprendizaje basado en proyecto tiene una función precisa: acotar antes de resolver.</a:t>
            </a:r>
            <a:endParaRPr lang="en-US" sz="1400" dirty="0"/>
          </a:p>
        </p:txBody>
      </p:sp>
      <p:sp>
        <p:nvSpPr>
          <p:cNvPr id="4" name="Shape 2"/>
          <p:cNvSpPr/>
          <p:nvPr/>
        </p:nvSpPr>
        <p:spPr>
          <a:xfrm>
            <a:off x="548640" y="1783080"/>
            <a:ext cx="5394960" cy="3017520"/>
          </a:xfrm>
          <a:prstGeom prst="roundRect">
            <a:avLst>
              <a:gd name="adj" fmla="val 2727"/>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68680" y="1965960"/>
            <a:ext cx="4754880" cy="365760"/>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En un proyecto, definir es decidir</a:t>
            </a:r>
            <a:endParaRPr lang="en-US" sz="1500" dirty="0"/>
          </a:p>
        </p:txBody>
      </p:sp>
      <p:sp>
        <p:nvSpPr>
          <p:cNvPr id="6" name="Shape 4"/>
          <p:cNvSpPr/>
          <p:nvPr/>
        </p:nvSpPr>
        <p:spPr>
          <a:xfrm>
            <a:off x="868680" y="2505456"/>
            <a:ext cx="201168" cy="201168"/>
          </a:xfrm>
          <a:prstGeom prst="ellipse">
            <a:avLst/>
          </a:prstGeom>
          <a:solidFill>
            <a:srgbClr val="AC212E"/>
          </a:solidFill>
          <a:ln/>
        </p:spPr>
        <p:txBody>
          <a:bodyPr/>
          <a:lstStyle/>
          <a:p>
            <a:endParaRPr lang="es-CL"/>
          </a:p>
        </p:txBody>
      </p:sp>
      <p:sp>
        <p:nvSpPr>
          <p:cNvPr id="7" name="Text 5"/>
          <p:cNvSpPr/>
          <p:nvPr/>
        </p:nvSpPr>
        <p:spPr>
          <a:xfrm>
            <a:off x="1207008" y="2423160"/>
            <a:ext cx="4480560" cy="411480"/>
          </a:xfrm>
          <a:prstGeom prst="rect">
            <a:avLst/>
          </a:prstGeom>
          <a:noFill/>
          <a:ln/>
        </p:spPr>
        <p:txBody>
          <a:bodyPr wrap="square" lIns="0" tIns="0" rIns="0" bIns="0" rtlCol="0" anchor="ctr"/>
          <a:lstStyle/>
          <a:p>
            <a:pPr marL="0" indent="0">
              <a:buNone/>
            </a:pPr>
            <a:r>
              <a:rPr lang="en-US" sz="1300" dirty="0">
                <a:solidFill>
                  <a:srgbClr val="06304A"/>
                </a:solidFill>
                <a:latin typeface="Calibri" pitchFamily="34" charset="0"/>
                <a:ea typeface="Calibri" pitchFamily="34" charset="-122"/>
                <a:cs typeface="Calibri" pitchFamily="34" charset="-120"/>
              </a:rPr>
              <a:t>Qué problema se aborda y cuál queda fuera.</a:t>
            </a:r>
            <a:endParaRPr lang="en-US" sz="1300" dirty="0"/>
          </a:p>
        </p:txBody>
      </p:sp>
      <p:sp>
        <p:nvSpPr>
          <p:cNvPr id="8" name="Shape 6"/>
          <p:cNvSpPr/>
          <p:nvPr/>
        </p:nvSpPr>
        <p:spPr>
          <a:xfrm>
            <a:off x="868680" y="3072384"/>
            <a:ext cx="201168" cy="201168"/>
          </a:xfrm>
          <a:prstGeom prst="ellipse">
            <a:avLst/>
          </a:prstGeom>
          <a:solidFill>
            <a:srgbClr val="AC212E"/>
          </a:solidFill>
          <a:ln/>
        </p:spPr>
        <p:txBody>
          <a:bodyPr/>
          <a:lstStyle/>
          <a:p>
            <a:endParaRPr lang="es-CL"/>
          </a:p>
        </p:txBody>
      </p:sp>
      <p:sp>
        <p:nvSpPr>
          <p:cNvPr id="9" name="Text 7"/>
          <p:cNvSpPr/>
          <p:nvPr/>
        </p:nvSpPr>
        <p:spPr>
          <a:xfrm>
            <a:off x="1207008" y="2990088"/>
            <a:ext cx="4480560" cy="411480"/>
          </a:xfrm>
          <a:prstGeom prst="rect">
            <a:avLst/>
          </a:prstGeom>
          <a:noFill/>
          <a:ln/>
        </p:spPr>
        <p:txBody>
          <a:bodyPr wrap="square" lIns="0" tIns="0" rIns="0" bIns="0" rtlCol="0" anchor="ctr"/>
          <a:lstStyle/>
          <a:p>
            <a:pPr marL="0" indent="0">
              <a:buNone/>
            </a:pPr>
            <a:r>
              <a:rPr lang="en-US" sz="1300" dirty="0">
                <a:solidFill>
                  <a:srgbClr val="06304A"/>
                </a:solidFill>
                <a:latin typeface="Calibri" pitchFamily="34" charset="0"/>
                <a:ea typeface="Calibri" pitchFamily="34" charset="-122"/>
                <a:cs typeface="Calibri" pitchFamily="34" charset="-120"/>
              </a:rPr>
              <a:t>Con qué datos se va a trabajar y cuáles no están disponibles.</a:t>
            </a:r>
            <a:endParaRPr lang="en-US" sz="1300" dirty="0"/>
          </a:p>
        </p:txBody>
      </p:sp>
      <p:sp>
        <p:nvSpPr>
          <p:cNvPr id="10" name="Shape 8"/>
          <p:cNvSpPr/>
          <p:nvPr/>
        </p:nvSpPr>
        <p:spPr>
          <a:xfrm>
            <a:off x="868680" y="3639312"/>
            <a:ext cx="201168" cy="201168"/>
          </a:xfrm>
          <a:prstGeom prst="ellipse">
            <a:avLst/>
          </a:prstGeom>
          <a:solidFill>
            <a:srgbClr val="AC212E"/>
          </a:solidFill>
          <a:ln/>
        </p:spPr>
        <p:txBody>
          <a:bodyPr/>
          <a:lstStyle/>
          <a:p>
            <a:endParaRPr lang="es-CL"/>
          </a:p>
        </p:txBody>
      </p:sp>
      <p:sp>
        <p:nvSpPr>
          <p:cNvPr id="11" name="Text 9"/>
          <p:cNvSpPr/>
          <p:nvPr/>
        </p:nvSpPr>
        <p:spPr>
          <a:xfrm>
            <a:off x="1207008" y="3557016"/>
            <a:ext cx="4480560" cy="411480"/>
          </a:xfrm>
          <a:prstGeom prst="rect">
            <a:avLst/>
          </a:prstGeom>
          <a:noFill/>
          <a:ln/>
        </p:spPr>
        <p:txBody>
          <a:bodyPr wrap="square" lIns="0" tIns="0" rIns="0" bIns="0" rtlCol="0" anchor="ctr"/>
          <a:lstStyle/>
          <a:p>
            <a:pPr marL="0" indent="0">
              <a:buNone/>
            </a:pPr>
            <a:r>
              <a:rPr lang="en-US" sz="1300" dirty="0">
                <a:solidFill>
                  <a:srgbClr val="06304A"/>
                </a:solidFill>
                <a:latin typeface="Calibri" pitchFamily="34" charset="0"/>
                <a:ea typeface="Calibri" pitchFamily="34" charset="-122"/>
                <a:cs typeface="Calibri" pitchFamily="34" charset="-120"/>
              </a:rPr>
              <a:t>Qué se considerará una respuesta satisfactoria.</a:t>
            </a:r>
            <a:endParaRPr lang="en-US" sz="1300" dirty="0"/>
          </a:p>
        </p:txBody>
      </p:sp>
      <p:sp>
        <p:nvSpPr>
          <p:cNvPr id="12" name="Shape 10"/>
          <p:cNvSpPr/>
          <p:nvPr/>
        </p:nvSpPr>
        <p:spPr>
          <a:xfrm>
            <a:off x="868680" y="4206240"/>
            <a:ext cx="201168" cy="201168"/>
          </a:xfrm>
          <a:prstGeom prst="ellipse">
            <a:avLst/>
          </a:prstGeom>
          <a:solidFill>
            <a:srgbClr val="AC212E"/>
          </a:solidFill>
          <a:ln/>
        </p:spPr>
        <p:txBody>
          <a:bodyPr/>
          <a:lstStyle/>
          <a:p>
            <a:endParaRPr lang="es-CL"/>
          </a:p>
        </p:txBody>
      </p:sp>
      <p:sp>
        <p:nvSpPr>
          <p:cNvPr id="13" name="Text 11"/>
          <p:cNvSpPr/>
          <p:nvPr/>
        </p:nvSpPr>
        <p:spPr>
          <a:xfrm>
            <a:off x="1207008" y="4123944"/>
            <a:ext cx="4480560" cy="411480"/>
          </a:xfrm>
          <a:prstGeom prst="rect">
            <a:avLst/>
          </a:prstGeom>
          <a:noFill/>
          <a:ln/>
        </p:spPr>
        <p:txBody>
          <a:bodyPr wrap="square" lIns="0" tIns="0" rIns="0" bIns="0" rtlCol="0" anchor="ctr"/>
          <a:lstStyle/>
          <a:p>
            <a:pPr marL="0" indent="0">
              <a:buNone/>
            </a:pPr>
            <a:r>
              <a:rPr lang="en-US" sz="1300" dirty="0">
                <a:solidFill>
                  <a:srgbClr val="06304A"/>
                </a:solidFill>
                <a:latin typeface="Calibri" pitchFamily="34" charset="0"/>
                <a:ea typeface="Calibri" pitchFamily="34" charset="-122"/>
                <a:cs typeface="Calibri" pitchFamily="34" charset="-120"/>
              </a:rPr>
              <a:t>Con qué medios técnicos se va a producir esa respuesta.</a:t>
            </a:r>
            <a:endParaRPr lang="en-US" sz="1300" dirty="0"/>
          </a:p>
        </p:txBody>
      </p:sp>
      <p:sp>
        <p:nvSpPr>
          <p:cNvPr id="14" name="Shape 12"/>
          <p:cNvSpPr/>
          <p:nvPr/>
        </p:nvSpPr>
        <p:spPr>
          <a:xfrm>
            <a:off x="6217920" y="1783080"/>
            <a:ext cx="5394960" cy="3017520"/>
          </a:xfrm>
          <a:prstGeom prst="roundRect">
            <a:avLst>
              <a:gd name="adj" fmla="val 2727"/>
            </a:avLst>
          </a:prstGeom>
          <a:solidFill>
            <a:srgbClr val="0A1526"/>
          </a:solidFill>
          <a:ln w="12700">
            <a:solidFill>
              <a:srgbClr val="0A1526"/>
            </a:solidFill>
            <a:prstDash val="solid"/>
          </a:ln>
        </p:spPr>
        <p:txBody>
          <a:bodyPr/>
          <a:lstStyle/>
          <a:p>
            <a:endParaRPr lang="es-CL"/>
          </a:p>
        </p:txBody>
      </p:sp>
      <p:sp>
        <p:nvSpPr>
          <p:cNvPr id="15" name="Text 13"/>
          <p:cNvSpPr/>
          <p:nvPr/>
        </p:nvSpPr>
        <p:spPr>
          <a:xfrm>
            <a:off x="6537960" y="1965960"/>
            <a:ext cx="4754880" cy="365760"/>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Por qué se define antes de ejecutar</a:t>
            </a:r>
            <a:endParaRPr lang="en-US" sz="1500" dirty="0"/>
          </a:p>
        </p:txBody>
      </p:sp>
      <p:sp>
        <p:nvSpPr>
          <p:cNvPr id="16" name="Text 14"/>
          <p:cNvSpPr/>
          <p:nvPr/>
        </p:nvSpPr>
        <p:spPr>
          <a:xfrm>
            <a:off x="6537960" y="2395728"/>
            <a:ext cx="4754880" cy="2194560"/>
          </a:xfrm>
          <a:prstGeom prst="rect">
            <a:avLst/>
          </a:prstGeom>
          <a:noFill/>
          <a:ln/>
        </p:spPr>
        <p:txBody>
          <a:bodyPr wrap="square" lIns="0" tIns="0" rIns="0" bIns="0" rtlCol="0" anchor="ctr"/>
          <a:lstStyle/>
          <a:p>
            <a:pPr marL="0" indent="0">
              <a:lnSpc>
                <a:spcPts val="1800"/>
              </a:lnSpc>
              <a:buNone/>
            </a:pPr>
            <a:r>
              <a:rPr lang="en-US" sz="1300" dirty="0">
                <a:solidFill>
                  <a:srgbClr val="D7E3EE"/>
                </a:solidFill>
                <a:latin typeface="Calibri" pitchFamily="34" charset="0"/>
                <a:ea typeface="Calibri" pitchFamily="34" charset="-122"/>
                <a:cs typeface="Calibri" pitchFamily="34" charset="-120"/>
              </a:rPr>
              <a:t>En ciencia de datos, el costo de un error crece con la etapa en que se descubre.</a:t>
            </a:r>
            <a:endParaRPr lang="en-US" sz="1300" dirty="0"/>
          </a:p>
          <a:p>
            <a:pPr marL="0" indent="0">
              <a:lnSpc>
                <a:spcPts val="1800"/>
              </a:lnSpc>
              <a:buNone/>
            </a:pPr>
            <a:endParaRPr lang="en-US" sz="1300" dirty="0"/>
          </a:p>
          <a:p>
            <a:pPr marL="0" indent="0">
              <a:lnSpc>
                <a:spcPts val="1800"/>
              </a:lnSpc>
              <a:buNone/>
            </a:pPr>
            <a:r>
              <a:rPr lang="en-US" sz="1300" dirty="0">
                <a:solidFill>
                  <a:srgbClr val="D7E3EE"/>
                </a:solidFill>
                <a:latin typeface="Calibri" pitchFamily="34" charset="0"/>
                <a:ea typeface="Calibri" pitchFamily="34" charset="-122"/>
                <a:cs typeface="Calibri" pitchFamily="34" charset="-120"/>
              </a:rPr>
              <a:t>Un problema mal delimitado en la Fase 1 no se manifiesta hasta que hay código escrito, datos transformados y resultados calculados sobre una pregunta equivocada.</a:t>
            </a:r>
            <a:endParaRPr lang="en-US" sz="1300" dirty="0"/>
          </a:p>
          <a:p>
            <a:pPr marL="0" indent="0">
              <a:lnSpc>
                <a:spcPts val="1800"/>
              </a:lnSpc>
              <a:buNone/>
            </a:pPr>
            <a:endParaRPr lang="en-US" sz="1300" dirty="0"/>
          </a:p>
          <a:p>
            <a:pPr marL="0" indent="0">
              <a:lnSpc>
                <a:spcPts val="1800"/>
              </a:lnSpc>
              <a:buNone/>
            </a:pPr>
            <a:r>
              <a:rPr lang="en-US" sz="1300" dirty="0">
                <a:solidFill>
                  <a:srgbClr val="D7E3EE"/>
                </a:solidFill>
                <a:latin typeface="Calibri" pitchFamily="34" charset="0"/>
                <a:ea typeface="Calibri" pitchFamily="34" charset="-122"/>
                <a:cs typeface="Calibri" pitchFamily="34" charset="-120"/>
              </a:rPr>
              <a:t>Rehacer entonces cuesta el trabajo de tres fases, no el de una.</a:t>
            </a:r>
            <a:endParaRPr lang="en-US" sz="1300" dirty="0"/>
          </a:p>
        </p:txBody>
      </p:sp>
      <p:sp>
        <p:nvSpPr>
          <p:cNvPr id="17" name="Shape 15"/>
          <p:cNvSpPr/>
          <p:nvPr/>
        </p:nvSpPr>
        <p:spPr>
          <a:xfrm>
            <a:off x="548640" y="5029200"/>
            <a:ext cx="11064240" cy="914400"/>
          </a:xfrm>
          <a:prstGeom prst="roundRect">
            <a:avLst>
              <a:gd name="adj" fmla="val 9000"/>
            </a:avLst>
          </a:prstGeom>
          <a:solidFill>
            <a:srgbClr val="F6E7E9"/>
          </a:solidFill>
          <a:ln w="12700">
            <a:solidFill>
              <a:srgbClr val="F6E7E9"/>
            </a:solidFill>
            <a:prstDash val="solid"/>
          </a:ln>
        </p:spPr>
        <p:txBody>
          <a:bodyPr/>
          <a:lstStyle/>
          <a:p>
            <a:endParaRPr lang="es-CL"/>
          </a:p>
        </p:txBody>
      </p:sp>
      <p:sp>
        <p:nvSpPr>
          <p:cNvPr id="18" name="Text 16"/>
          <p:cNvSpPr/>
          <p:nvPr/>
        </p:nvSpPr>
        <p:spPr>
          <a:xfrm>
            <a:off x="868680" y="5166360"/>
            <a:ext cx="10424160" cy="640080"/>
          </a:xfrm>
          <a:prstGeom prst="rect">
            <a:avLst/>
          </a:prstGeom>
          <a:noFill/>
          <a:ln/>
        </p:spPr>
        <p:txBody>
          <a:bodyPr wrap="square" lIns="0" tIns="0" rIns="0" bIns="0" rtlCol="0" anchor="ctr"/>
          <a:lstStyle/>
          <a:p>
            <a:pPr marL="0" indent="0">
              <a:buNone/>
            </a:pPr>
            <a:r>
              <a:rPr lang="en-US" sz="1500" dirty="0">
                <a:solidFill>
                  <a:srgbClr val="AC212E"/>
                </a:solidFill>
                <a:latin typeface="Calibri" pitchFamily="34" charset="0"/>
                <a:ea typeface="Calibri" pitchFamily="34" charset="-122"/>
                <a:cs typeface="Calibri" pitchFamily="34" charset="-120"/>
              </a:rPr>
              <a:t>La Fase 1 no produce análisis. Produce las condiciones para que el análisis sea posible, verificable y compartido.</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Del contexto problematizador a la pregunta analizable</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Una situación no es una pregunta, y una pregunta no siempre es analizable con datos.</a:t>
            </a:r>
            <a:endParaRPr lang="en-US" sz="1400" dirty="0"/>
          </a:p>
        </p:txBody>
      </p:sp>
      <p:sp>
        <p:nvSpPr>
          <p:cNvPr id="4" name="Shape 2"/>
          <p:cNvSpPr/>
          <p:nvPr/>
        </p:nvSpPr>
        <p:spPr>
          <a:xfrm>
            <a:off x="548640" y="1874520"/>
            <a:ext cx="3520440" cy="2606040"/>
          </a:xfrm>
          <a:prstGeom prst="roundRect">
            <a:avLst>
              <a:gd name="adj" fmla="val 3158"/>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777240" y="2084832"/>
            <a:ext cx="420624" cy="420624"/>
          </a:xfrm>
          <a:prstGeom prst="ellipse">
            <a:avLst/>
          </a:prstGeom>
          <a:solidFill>
            <a:srgbClr val="AC212E"/>
          </a:solidFill>
          <a:ln/>
        </p:spPr>
        <p:txBody>
          <a:bodyPr/>
          <a:lstStyle/>
          <a:p>
            <a:endParaRPr lang="es-CL"/>
          </a:p>
        </p:txBody>
      </p:sp>
      <p:sp>
        <p:nvSpPr>
          <p:cNvPr id="6" name="Text 4"/>
          <p:cNvSpPr/>
          <p:nvPr/>
        </p:nvSpPr>
        <p:spPr>
          <a:xfrm>
            <a:off x="777240" y="208483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777240" y="2633472"/>
            <a:ext cx="3063240" cy="365760"/>
          </a:xfrm>
          <a:prstGeom prst="rect">
            <a:avLst/>
          </a:prstGeom>
          <a:noFill/>
          <a:ln/>
        </p:spPr>
        <p:txBody>
          <a:bodyPr wrap="square" lIns="0" tIns="0" rIns="0" bIns="0" rtlCol="0" anchor="ctr"/>
          <a:lstStyle/>
          <a:p>
            <a:pPr marL="0" indent="0">
              <a:buNone/>
            </a:pPr>
            <a:r>
              <a:rPr lang="en-US" sz="1600" b="1" dirty="0">
                <a:solidFill>
                  <a:srgbClr val="06304A"/>
                </a:solidFill>
                <a:latin typeface="Calibri" pitchFamily="34" charset="0"/>
                <a:ea typeface="Calibri" pitchFamily="34" charset="-122"/>
                <a:cs typeface="Calibri" pitchFamily="34" charset="-120"/>
              </a:rPr>
              <a:t>Situación</a:t>
            </a:r>
            <a:endParaRPr lang="en-US" sz="1600" dirty="0"/>
          </a:p>
        </p:txBody>
      </p:sp>
      <p:sp>
        <p:nvSpPr>
          <p:cNvPr id="8" name="Text 6"/>
          <p:cNvSpPr/>
          <p:nvPr/>
        </p:nvSpPr>
        <p:spPr>
          <a:xfrm>
            <a:off x="777240" y="3017520"/>
            <a:ext cx="3063240" cy="64008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Existe un fenómeno que preocupa o interesa.</a:t>
            </a:r>
            <a:endParaRPr lang="en-US" sz="1250" dirty="0"/>
          </a:p>
        </p:txBody>
      </p:sp>
      <p:sp>
        <p:nvSpPr>
          <p:cNvPr id="9" name="Text 7"/>
          <p:cNvSpPr/>
          <p:nvPr/>
        </p:nvSpPr>
        <p:spPr>
          <a:xfrm>
            <a:off x="777240" y="3703320"/>
            <a:ext cx="3063240" cy="640080"/>
          </a:xfrm>
          <a:prstGeom prst="rect">
            <a:avLst/>
          </a:prstGeom>
          <a:noFill/>
          <a:ln/>
        </p:spPr>
        <p:txBody>
          <a:bodyPr wrap="square" lIns="0" tIns="0" rIns="0" bIns="0" rtlCol="0" anchor="ctr"/>
          <a:lstStyle/>
          <a:p>
            <a:pPr marL="0" indent="0">
              <a:lnSpc>
                <a:spcPts val="1600"/>
              </a:lnSpc>
              <a:buNone/>
            </a:pPr>
            <a:r>
              <a:rPr lang="en-US" sz="1200" i="1" dirty="0">
                <a:solidFill>
                  <a:srgbClr val="AC212E"/>
                </a:solidFill>
                <a:latin typeface="Calibri" pitchFamily="34" charset="0"/>
                <a:ea typeface="Calibri" pitchFamily="34" charset="-122"/>
                <a:cs typeface="Calibri" pitchFamily="34" charset="-120"/>
              </a:rPr>
              <a:t>«Hay muchos casos en la región.»</a:t>
            </a:r>
            <a:endParaRPr lang="en-US" sz="1200" dirty="0"/>
          </a:p>
        </p:txBody>
      </p:sp>
      <p:sp>
        <p:nvSpPr>
          <p:cNvPr id="10" name="Text 8"/>
          <p:cNvSpPr/>
          <p:nvPr/>
        </p:nvSpPr>
        <p:spPr>
          <a:xfrm>
            <a:off x="4069080" y="2926080"/>
            <a:ext cx="256032" cy="365760"/>
          </a:xfrm>
          <a:prstGeom prst="rect">
            <a:avLst/>
          </a:prstGeom>
          <a:noFill/>
          <a:ln/>
        </p:spPr>
        <p:txBody>
          <a:bodyPr wrap="square" lIns="0" tIns="0" rIns="0" bIns="0" rtlCol="0" anchor="ctr"/>
          <a:lstStyle/>
          <a:p>
            <a:pPr marL="0" indent="0" algn="ctr">
              <a:buNone/>
            </a:pPr>
            <a:r>
              <a:rPr lang="en-US" sz="1800" dirty="0">
                <a:solidFill>
                  <a:srgbClr val="AC212E"/>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4325112" y="1874520"/>
            <a:ext cx="3520440" cy="2606040"/>
          </a:xfrm>
          <a:prstGeom prst="roundRect">
            <a:avLst>
              <a:gd name="adj" fmla="val 3158"/>
            </a:avLst>
          </a:prstGeom>
          <a:solidFill>
            <a:srgbClr val="F4F7FA"/>
          </a:solidFill>
          <a:ln w="12700">
            <a:solidFill>
              <a:srgbClr val="F4F7FA"/>
            </a:solidFill>
            <a:prstDash val="solid"/>
          </a:ln>
        </p:spPr>
        <p:txBody>
          <a:bodyPr/>
          <a:lstStyle/>
          <a:p>
            <a:endParaRPr lang="es-CL"/>
          </a:p>
        </p:txBody>
      </p:sp>
      <p:sp>
        <p:nvSpPr>
          <p:cNvPr id="12" name="Shape 10"/>
          <p:cNvSpPr/>
          <p:nvPr/>
        </p:nvSpPr>
        <p:spPr>
          <a:xfrm>
            <a:off x="4553712" y="2084832"/>
            <a:ext cx="420624" cy="420624"/>
          </a:xfrm>
          <a:prstGeom prst="ellipse">
            <a:avLst/>
          </a:prstGeom>
          <a:solidFill>
            <a:srgbClr val="AC212E"/>
          </a:solidFill>
          <a:ln/>
        </p:spPr>
        <p:txBody>
          <a:bodyPr/>
          <a:lstStyle/>
          <a:p>
            <a:endParaRPr lang="es-CL"/>
          </a:p>
        </p:txBody>
      </p:sp>
      <p:sp>
        <p:nvSpPr>
          <p:cNvPr id="13" name="Text 11"/>
          <p:cNvSpPr/>
          <p:nvPr/>
        </p:nvSpPr>
        <p:spPr>
          <a:xfrm>
            <a:off x="4553712" y="208483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4553712" y="2633472"/>
            <a:ext cx="3063240" cy="365760"/>
          </a:xfrm>
          <a:prstGeom prst="rect">
            <a:avLst/>
          </a:prstGeom>
          <a:noFill/>
          <a:ln/>
        </p:spPr>
        <p:txBody>
          <a:bodyPr wrap="square" lIns="0" tIns="0" rIns="0" bIns="0" rtlCol="0" anchor="ctr"/>
          <a:lstStyle/>
          <a:p>
            <a:pPr marL="0" indent="0">
              <a:buNone/>
            </a:pPr>
            <a:r>
              <a:rPr lang="en-US" sz="1600" b="1" dirty="0">
                <a:solidFill>
                  <a:srgbClr val="06304A"/>
                </a:solidFill>
                <a:latin typeface="Calibri" pitchFamily="34" charset="0"/>
                <a:ea typeface="Calibri" pitchFamily="34" charset="-122"/>
                <a:cs typeface="Calibri" pitchFamily="34" charset="-120"/>
              </a:rPr>
              <a:t>Problema</a:t>
            </a:r>
            <a:endParaRPr lang="en-US" sz="1600" dirty="0"/>
          </a:p>
        </p:txBody>
      </p:sp>
      <p:sp>
        <p:nvSpPr>
          <p:cNvPr id="15" name="Text 13"/>
          <p:cNvSpPr/>
          <p:nvPr/>
        </p:nvSpPr>
        <p:spPr>
          <a:xfrm>
            <a:off x="4553712" y="3017520"/>
            <a:ext cx="3063240" cy="64008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La situación se delimita: qué parte se aborda.</a:t>
            </a:r>
            <a:endParaRPr lang="en-US" sz="1250" dirty="0"/>
          </a:p>
        </p:txBody>
      </p:sp>
      <p:sp>
        <p:nvSpPr>
          <p:cNvPr id="16" name="Text 14"/>
          <p:cNvSpPr/>
          <p:nvPr/>
        </p:nvSpPr>
        <p:spPr>
          <a:xfrm>
            <a:off x="4553712" y="3703320"/>
            <a:ext cx="3063240" cy="640080"/>
          </a:xfrm>
          <a:prstGeom prst="rect">
            <a:avLst/>
          </a:prstGeom>
          <a:noFill/>
          <a:ln/>
        </p:spPr>
        <p:txBody>
          <a:bodyPr wrap="square" lIns="0" tIns="0" rIns="0" bIns="0" rtlCol="0" anchor="ctr"/>
          <a:lstStyle/>
          <a:p>
            <a:pPr marL="0" indent="0">
              <a:lnSpc>
                <a:spcPts val="1600"/>
              </a:lnSpc>
              <a:buNone/>
            </a:pPr>
            <a:r>
              <a:rPr lang="en-US" sz="1200" i="1" dirty="0">
                <a:solidFill>
                  <a:srgbClr val="AC212E"/>
                </a:solidFill>
                <a:latin typeface="Calibri" pitchFamily="34" charset="0"/>
                <a:ea typeface="Calibri" pitchFamily="34" charset="-122"/>
                <a:cs typeface="Calibri" pitchFamily="34" charset="-120"/>
              </a:rPr>
              <a:t>«No se sabe qué factores concentran los casos.»</a:t>
            </a:r>
            <a:endParaRPr lang="en-US" sz="1200" dirty="0"/>
          </a:p>
        </p:txBody>
      </p:sp>
      <p:sp>
        <p:nvSpPr>
          <p:cNvPr id="17" name="Text 15"/>
          <p:cNvSpPr/>
          <p:nvPr/>
        </p:nvSpPr>
        <p:spPr>
          <a:xfrm>
            <a:off x="7845552" y="2926080"/>
            <a:ext cx="256032" cy="365760"/>
          </a:xfrm>
          <a:prstGeom prst="rect">
            <a:avLst/>
          </a:prstGeom>
          <a:noFill/>
          <a:ln/>
        </p:spPr>
        <p:txBody>
          <a:bodyPr wrap="square" lIns="0" tIns="0" rIns="0" bIns="0" rtlCol="0" anchor="ctr"/>
          <a:lstStyle/>
          <a:p>
            <a:pPr marL="0" indent="0" algn="ctr">
              <a:buNone/>
            </a:pPr>
            <a:r>
              <a:rPr lang="en-US" sz="1800" dirty="0">
                <a:solidFill>
                  <a:srgbClr val="AC212E"/>
                </a:solidFill>
                <a:latin typeface="Calibri" pitchFamily="34" charset="0"/>
                <a:ea typeface="Calibri" pitchFamily="34" charset="-122"/>
                <a:cs typeface="Calibri" pitchFamily="34" charset="-120"/>
              </a:rPr>
              <a:t>→</a:t>
            </a:r>
            <a:endParaRPr lang="en-US" sz="1800" dirty="0"/>
          </a:p>
        </p:txBody>
      </p:sp>
      <p:sp>
        <p:nvSpPr>
          <p:cNvPr id="18" name="Shape 16"/>
          <p:cNvSpPr/>
          <p:nvPr/>
        </p:nvSpPr>
        <p:spPr>
          <a:xfrm>
            <a:off x="8101584" y="1874520"/>
            <a:ext cx="3520440" cy="2606040"/>
          </a:xfrm>
          <a:prstGeom prst="roundRect">
            <a:avLst>
              <a:gd name="adj" fmla="val 3158"/>
            </a:avLst>
          </a:prstGeom>
          <a:solidFill>
            <a:srgbClr val="0A1526"/>
          </a:solidFill>
          <a:ln w="12700">
            <a:solidFill>
              <a:srgbClr val="0A1526"/>
            </a:solidFill>
            <a:prstDash val="solid"/>
          </a:ln>
        </p:spPr>
        <p:txBody>
          <a:bodyPr/>
          <a:lstStyle/>
          <a:p>
            <a:endParaRPr lang="es-CL"/>
          </a:p>
        </p:txBody>
      </p:sp>
      <p:sp>
        <p:nvSpPr>
          <p:cNvPr id="19" name="Shape 17"/>
          <p:cNvSpPr/>
          <p:nvPr/>
        </p:nvSpPr>
        <p:spPr>
          <a:xfrm>
            <a:off x="8330184" y="2084832"/>
            <a:ext cx="420624" cy="420624"/>
          </a:xfrm>
          <a:prstGeom prst="ellipse">
            <a:avLst/>
          </a:prstGeom>
          <a:solidFill>
            <a:srgbClr val="AC212E"/>
          </a:solidFill>
          <a:ln/>
        </p:spPr>
        <p:txBody>
          <a:bodyPr/>
          <a:lstStyle/>
          <a:p>
            <a:endParaRPr lang="es-CL"/>
          </a:p>
        </p:txBody>
      </p:sp>
      <p:sp>
        <p:nvSpPr>
          <p:cNvPr id="20" name="Text 18"/>
          <p:cNvSpPr/>
          <p:nvPr/>
        </p:nvSpPr>
        <p:spPr>
          <a:xfrm>
            <a:off x="8330184" y="208483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9"/>
          <p:cNvSpPr/>
          <p:nvPr/>
        </p:nvSpPr>
        <p:spPr>
          <a:xfrm>
            <a:off x="8330184" y="2633472"/>
            <a:ext cx="306324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Pregunta analizable</a:t>
            </a:r>
            <a:endParaRPr lang="en-US" sz="1600" dirty="0"/>
          </a:p>
        </p:txBody>
      </p:sp>
      <p:sp>
        <p:nvSpPr>
          <p:cNvPr id="22" name="Text 20"/>
          <p:cNvSpPr/>
          <p:nvPr/>
        </p:nvSpPr>
        <p:spPr>
          <a:xfrm>
            <a:off x="8330184" y="3017520"/>
            <a:ext cx="3063240" cy="64008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La pregunta se puede responder con los datos disponibles.</a:t>
            </a:r>
            <a:endParaRPr lang="en-US" sz="1250" dirty="0"/>
          </a:p>
        </p:txBody>
      </p:sp>
      <p:sp>
        <p:nvSpPr>
          <p:cNvPr id="23" name="Text 21"/>
          <p:cNvSpPr/>
          <p:nvPr/>
        </p:nvSpPr>
        <p:spPr>
          <a:xfrm>
            <a:off x="8330184" y="3703320"/>
            <a:ext cx="3063240" cy="640080"/>
          </a:xfrm>
          <a:prstGeom prst="rect">
            <a:avLst/>
          </a:prstGeom>
          <a:noFill/>
          <a:ln/>
        </p:spPr>
        <p:txBody>
          <a:bodyPr wrap="square" lIns="0" tIns="0" rIns="0" bIns="0" rtlCol="0" anchor="ctr"/>
          <a:lstStyle/>
          <a:p>
            <a:pPr marL="0" indent="0">
              <a:lnSpc>
                <a:spcPts val="1600"/>
              </a:lnSpc>
              <a:buNone/>
            </a:pPr>
            <a:r>
              <a:rPr lang="en-US" sz="1200" i="1" dirty="0">
                <a:solidFill>
                  <a:srgbClr val="D7E3EE"/>
                </a:solidFill>
                <a:latin typeface="Calibri" pitchFamily="34" charset="0"/>
                <a:ea typeface="Calibri" pitchFamily="34" charset="-122"/>
                <a:cs typeface="Calibri" pitchFamily="34" charset="-120"/>
              </a:rPr>
              <a:t>«¿Qué variables se asocian a la ocurrencia en este registro?»</a:t>
            </a:r>
            <a:endParaRPr lang="en-US" sz="1200" dirty="0"/>
          </a:p>
        </p:txBody>
      </p:sp>
      <p:sp>
        <p:nvSpPr>
          <p:cNvPr id="24" name="Text 22"/>
          <p:cNvSpPr/>
          <p:nvPr/>
        </p:nvSpPr>
        <p:spPr>
          <a:xfrm>
            <a:off x="548640" y="4754880"/>
            <a:ext cx="7315200" cy="36576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Tres condiciones de una pregunta analizable</a:t>
            </a:r>
            <a:endParaRPr lang="en-US" sz="1500" dirty="0"/>
          </a:p>
        </p:txBody>
      </p:sp>
      <p:sp>
        <p:nvSpPr>
          <p:cNvPr id="25" name="Shape 23"/>
          <p:cNvSpPr/>
          <p:nvPr/>
        </p:nvSpPr>
        <p:spPr>
          <a:xfrm>
            <a:off x="548640" y="5166360"/>
            <a:ext cx="3520440" cy="777240"/>
          </a:xfrm>
          <a:prstGeom prst="roundRect">
            <a:avLst>
              <a:gd name="adj" fmla="val 10588"/>
            </a:avLst>
          </a:prstGeom>
          <a:solidFill>
            <a:srgbClr val="F6E7E9"/>
          </a:solidFill>
          <a:ln w="12700">
            <a:solidFill>
              <a:srgbClr val="F6E7E9"/>
            </a:solidFill>
            <a:prstDash val="solid"/>
          </a:ln>
        </p:spPr>
        <p:txBody>
          <a:bodyPr/>
          <a:lstStyle/>
          <a:p>
            <a:endParaRPr lang="es-CL"/>
          </a:p>
        </p:txBody>
      </p:sp>
      <p:sp>
        <p:nvSpPr>
          <p:cNvPr id="26" name="Text 24"/>
          <p:cNvSpPr/>
          <p:nvPr/>
        </p:nvSpPr>
        <p:spPr>
          <a:xfrm>
            <a:off x="777240" y="5166360"/>
            <a:ext cx="3063240" cy="777240"/>
          </a:xfrm>
          <a:prstGeom prst="rect">
            <a:avLst/>
          </a:prstGeom>
          <a:noFill/>
          <a:ln/>
        </p:spPr>
        <p:txBody>
          <a:bodyPr wrap="square" lIns="0" tIns="0" rIns="0" bIns="0" rtlCol="0" anchor="ctr"/>
          <a:lstStyle/>
          <a:p>
            <a:pPr marL="0" indent="0">
              <a:lnSpc>
                <a:spcPts val="1600"/>
              </a:lnSpc>
              <a:buNone/>
            </a:pPr>
            <a:r>
              <a:rPr lang="en-US" sz="1250" dirty="0">
                <a:solidFill>
                  <a:srgbClr val="06304A"/>
                </a:solidFill>
                <a:latin typeface="Calibri" pitchFamily="34" charset="0"/>
                <a:ea typeface="Calibri" pitchFamily="34" charset="-122"/>
                <a:cs typeface="Calibri" pitchFamily="34" charset="-120"/>
              </a:rPr>
              <a:t>Los datos necesarios existen y son accesibles.</a:t>
            </a:r>
            <a:endParaRPr lang="en-US" sz="1250" dirty="0"/>
          </a:p>
        </p:txBody>
      </p:sp>
      <p:sp>
        <p:nvSpPr>
          <p:cNvPr id="27" name="Shape 25"/>
          <p:cNvSpPr/>
          <p:nvPr/>
        </p:nvSpPr>
        <p:spPr>
          <a:xfrm>
            <a:off x="4325112" y="5166360"/>
            <a:ext cx="3520440" cy="777240"/>
          </a:xfrm>
          <a:prstGeom prst="roundRect">
            <a:avLst>
              <a:gd name="adj" fmla="val 10588"/>
            </a:avLst>
          </a:prstGeom>
          <a:solidFill>
            <a:srgbClr val="F6E7E9"/>
          </a:solidFill>
          <a:ln w="12700">
            <a:solidFill>
              <a:srgbClr val="F6E7E9"/>
            </a:solidFill>
            <a:prstDash val="solid"/>
          </a:ln>
        </p:spPr>
        <p:txBody>
          <a:bodyPr/>
          <a:lstStyle/>
          <a:p>
            <a:endParaRPr lang="es-CL"/>
          </a:p>
        </p:txBody>
      </p:sp>
      <p:sp>
        <p:nvSpPr>
          <p:cNvPr id="28" name="Text 26"/>
          <p:cNvSpPr/>
          <p:nvPr/>
        </p:nvSpPr>
        <p:spPr>
          <a:xfrm>
            <a:off x="4553712" y="5166360"/>
            <a:ext cx="3063240" cy="777240"/>
          </a:xfrm>
          <a:prstGeom prst="rect">
            <a:avLst/>
          </a:prstGeom>
          <a:noFill/>
          <a:ln/>
        </p:spPr>
        <p:txBody>
          <a:bodyPr wrap="square" lIns="0" tIns="0" rIns="0" bIns="0" rtlCol="0" anchor="ctr"/>
          <a:lstStyle/>
          <a:p>
            <a:pPr marL="0" indent="0">
              <a:lnSpc>
                <a:spcPts val="1600"/>
              </a:lnSpc>
              <a:buNone/>
            </a:pPr>
            <a:r>
              <a:rPr lang="en-US" sz="1250" dirty="0">
                <a:solidFill>
                  <a:srgbClr val="06304A"/>
                </a:solidFill>
                <a:latin typeface="Calibri" pitchFamily="34" charset="0"/>
                <a:ea typeface="Calibri" pitchFamily="34" charset="-122"/>
                <a:cs typeface="Calibri" pitchFamily="34" charset="-120"/>
              </a:rPr>
              <a:t>Los conceptos involucrados se pueden medir con esas variables.</a:t>
            </a:r>
            <a:endParaRPr lang="en-US" sz="1250" dirty="0"/>
          </a:p>
        </p:txBody>
      </p:sp>
      <p:sp>
        <p:nvSpPr>
          <p:cNvPr id="29" name="Shape 27"/>
          <p:cNvSpPr/>
          <p:nvPr/>
        </p:nvSpPr>
        <p:spPr>
          <a:xfrm>
            <a:off x="8101584" y="5166360"/>
            <a:ext cx="3520440" cy="777240"/>
          </a:xfrm>
          <a:prstGeom prst="roundRect">
            <a:avLst>
              <a:gd name="adj" fmla="val 10588"/>
            </a:avLst>
          </a:prstGeom>
          <a:solidFill>
            <a:srgbClr val="F6E7E9"/>
          </a:solidFill>
          <a:ln w="12700">
            <a:solidFill>
              <a:srgbClr val="F6E7E9"/>
            </a:solidFill>
            <a:prstDash val="solid"/>
          </a:ln>
        </p:spPr>
        <p:txBody>
          <a:bodyPr/>
          <a:lstStyle/>
          <a:p>
            <a:endParaRPr lang="es-CL"/>
          </a:p>
        </p:txBody>
      </p:sp>
      <p:sp>
        <p:nvSpPr>
          <p:cNvPr id="30" name="Text 28"/>
          <p:cNvSpPr/>
          <p:nvPr/>
        </p:nvSpPr>
        <p:spPr>
          <a:xfrm>
            <a:off x="8330184" y="5166360"/>
            <a:ext cx="3063240" cy="777240"/>
          </a:xfrm>
          <a:prstGeom prst="rect">
            <a:avLst/>
          </a:prstGeom>
          <a:noFill/>
          <a:ln/>
        </p:spPr>
        <p:txBody>
          <a:bodyPr wrap="square" lIns="0" tIns="0" rIns="0" bIns="0" rtlCol="0" anchor="ctr"/>
          <a:lstStyle/>
          <a:p>
            <a:pPr marL="0" indent="0">
              <a:lnSpc>
                <a:spcPts val="1600"/>
              </a:lnSpc>
              <a:buNone/>
            </a:pPr>
            <a:r>
              <a:rPr lang="en-US" sz="1250" dirty="0">
                <a:solidFill>
                  <a:srgbClr val="06304A"/>
                </a:solidFill>
                <a:latin typeface="Calibri" pitchFamily="34" charset="0"/>
                <a:ea typeface="Calibri" pitchFamily="34" charset="-122"/>
                <a:cs typeface="Calibri" pitchFamily="34" charset="-120"/>
              </a:rPr>
              <a:t>El alcance está acotado: se sabe qué queda fuera.</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44189-23D3-0B28-F6BB-A7511D6B821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885E031-4968-B17F-5E37-0016E5564C51}"/>
              </a:ext>
            </a:extLst>
          </p:cNvPr>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Del contexto problematizador a la pregunta analizable</a:t>
            </a:r>
            <a:endParaRPr lang="en-US" sz="3000" dirty="0"/>
          </a:p>
        </p:txBody>
      </p:sp>
      <p:sp>
        <p:nvSpPr>
          <p:cNvPr id="3" name="Text 1">
            <a:extLst>
              <a:ext uri="{FF2B5EF4-FFF2-40B4-BE49-F238E27FC236}">
                <a16:creationId xmlns:a16="http://schemas.microsoft.com/office/drawing/2014/main" id="{22197300-4432-EFCE-6D4C-EB29F2230C50}"/>
              </a:ext>
            </a:extLst>
          </p:cNvPr>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Una situación no es una pregunta, y una pregunta no siempre es analizable con datos.</a:t>
            </a:r>
            <a:endParaRPr lang="en-US" sz="1400" dirty="0"/>
          </a:p>
        </p:txBody>
      </p:sp>
      <p:sp>
        <p:nvSpPr>
          <p:cNvPr id="4" name="Shape 2">
            <a:extLst>
              <a:ext uri="{FF2B5EF4-FFF2-40B4-BE49-F238E27FC236}">
                <a16:creationId xmlns:a16="http://schemas.microsoft.com/office/drawing/2014/main" id="{1E92FA46-0C1A-2C0D-BDDD-6F90B8E75CC5}"/>
              </a:ext>
            </a:extLst>
          </p:cNvPr>
          <p:cNvSpPr/>
          <p:nvPr/>
        </p:nvSpPr>
        <p:spPr>
          <a:xfrm>
            <a:off x="548640" y="1874520"/>
            <a:ext cx="3520440" cy="2606040"/>
          </a:xfrm>
          <a:prstGeom prst="roundRect">
            <a:avLst>
              <a:gd name="adj" fmla="val 3158"/>
            </a:avLst>
          </a:prstGeom>
          <a:solidFill>
            <a:srgbClr val="F4F7FA"/>
          </a:solidFill>
          <a:ln w="12700">
            <a:solidFill>
              <a:srgbClr val="F4F7FA"/>
            </a:solidFill>
            <a:prstDash val="solid"/>
          </a:ln>
        </p:spPr>
        <p:txBody>
          <a:bodyPr/>
          <a:lstStyle/>
          <a:p>
            <a:endParaRPr lang="es-CL"/>
          </a:p>
        </p:txBody>
      </p:sp>
      <p:sp>
        <p:nvSpPr>
          <p:cNvPr id="5" name="Shape 3">
            <a:extLst>
              <a:ext uri="{FF2B5EF4-FFF2-40B4-BE49-F238E27FC236}">
                <a16:creationId xmlns:a16="http://schemas.microsoft.com/office/drawing/2014/main" id="{629A5CA3-5B53-0EB6-7F77-20928F5961AA}"/>
              </a:ext>
            </a:extLst>
          </p:cNvPr>
          <p:cNvSpPr/>
          <p:nvPr/>
        </p:nvSpPr>
        <p:spPr>
          <a:xfrm>
            <a:off x="777240" y="2084832"/>
            <a:ext cx="420624" cy="420624"/>
          </a:xfrm>
          <a:prstGeom prst="ellipse">
            <a:avLst/>
          </a:prstGeom>
          <a:solidFill>
            <a:srgbClr val="AC212E"/>
          </a:solidFill>
          <a:ln/>
        </p:spPr>
        <p:txBody>
          <a:bodyPr/>
          <a:lstStyle/>
          <a:p>
            <a:endParaRPr lang="es-CL"/>
          </a:p>
        </p:txBody>
      </p:sp>
      <p:sp>
        <p:nvSpPr>
          <p:cNvPr id="6" name="Text 4">
            <a:extLst>
              <a:ext uri="{FF2B5EF4-FFF2-40B4-BE49-F238E27FC236}">
                <a16:creationId xmlns:a16="http://schemas.microsoft.com/office/drawing/2014/main" id="{A693DFDD-428A-C054-16CB-43DA86CE7742}"/>
              </a:ext>
            </a:extLst>
          </p:cNvPr>
          <p:cNvSpPr/>
          <p:nvPr/>
        </p:nvSpPr>
        <p:spPr>
          <a:xfrm>
            <a:off x="777240" y="208483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a:extLst>
              <a:ext uri="{FF2B5EF4-FFF2-40B4-BE49-F238E27FC236}">
                <a16:creationId xmlns:a16="http://schemas.microsoft.com/office/drawing/2014/main" id="{814A8D67-54B4-5395-5F5D-982BEF1F1413}"/>
              </a:ext>
            </a:extLst>
          </p:cNvPr>
          <p:cNvSpPr/>
          <p:nvPr/>
        </p:nvSpPr>
        <p:spPr>
          <a:xfrm>
            <a:off x="777240" y="2633472"/>
            <a:ext cx="3063240" cy="365760"/>
          </a:xfrm>
          <a:prstGeom prst="rect">
            <a:avLst/>
          </a:prstGeom>
          <a:noFill/>
          <a:ln/>
        </p:spPr>
        <p:txBody>
          <a:bodyPr wrap="square" lIns="0" tIns="0" rIns="0" bIns="0" rtlCol="0" anchor="ctr"/>
          <a:lstStyle/>
          <a:p>
            <a:pPr marL="0" indent="0">
              <a:buNone/>
            </a:pPr>
            <a:r>
              <a:rPr lang="en-US" sz="1600" b="1" dirty="0">
                <a:solidFill>
                  <a:srgbClr val="06304A"/>
                </a:solidFill>
                <a:latin typeface="Calibri" pitchFamily="34" charset="0"/>
                <a:ea typeface="Calibri" pitchFamily="34" charset="-122"/>
                <a:cs typeface="Calibri" pitchFamily="34" charset="-120"/>
              </a:rPr>
              <a:t>Situación</a:t>
            </a:r>
            <a:endParaRPr lang="en-US" sz="1600" dirty="0"/>
          </a:p>
        </p:txBody>
      </p:sp>
      <p:sp>
        <p:nvSpPr>
          <p:cNvPr id="8" name="Text 6">
            <a:extLst>
              <a:ext uri="{FF2B5EF4-FFF2-40B4-BE49-F238E27FC236}">
                <a16:creationId xmlns:a16="http://schemas.microsoft.com/office/drawing/2014/main" id="{D7354636-412C-D07B-CBEB-FF98514C6583}"/>
              </a:ext>
            </a:extLst>
          </p:cNvPr>
          <p:cNvSpPr/>
          <p:nvPr/>
        </p:nvSpPr>
        <p:spPr>
          <a:xfrm>
            <a:off x="777240" y="3017520"/>
            <a:ext cx="3063240" cy="64008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Existe un fenómeno que preocupa o interesa.</a:t>
            </a:r>
            <a:endParaRPr lang="en-US" sz="1250" dirty="0"/>
          </a:p>
        </p:txBody>
      </p:sp>
      <p:sp>
        <p:nvSpPr>
          <p:cNvPr id="9" name="Text 7">
            <a:extLst>
              <a:ext uri="{FF2B5EF4-FFF2-40B4-BE49-F238E27FC236}">
                <a16:creationId xmlns:a16="http://schemas.microsoft.com/office/drawing/2014/main" id="{B86589B9-A4C2-2DE0-2277-83422D1548DB}"/>
              </a:ext>
            </a:extLst>
          </p:cNvPr>
          <p:cNvSpPr/>
          <p:nvPr/>
        </p:nvSpPr>
        <p:spPr>
          <a:xfrm>
            <a:off x="777240" y="3703320"/>
            <a:ext cx="3063240" cy="640080"/>
          </a:xfrm>
          <a:prstGeom prst="rect">
            <a:avLst/>
          </a:prstGeom>
          <a:noFill/>
          <a:ln/>
        </p:spPr>
        <p:txBody>
          <a:bodyPr wrap="square" lIns="0" tIns="0" rIns="0" bIns="0" rtlCol="0" anchor="ctr"/>
          <a:lstStyle/>
          <a:p>
            <a:pPr marL="0" indent="0">
              <a:lnSpc>
                <a:spcPts val="1600"/>
              </a:lnSpc>
              <a:buNone/>
            </a:pPr>
            <a:r>
              <a:rPr lang="en-US" sz="1200" i="1" dirty="0">
                <a:solidFill>
                  <a:srgbClr val="AC212E"/>
                </a:solidFill>
                <a:latin typeface="Calibri" pitchFamily="34" charset="0"/>
                <a:ea typeface="Calibri" pitchFamily="34" charset="-122"/>
                <a:cs typeface="Calibri" pitchFamily="34" charset="-120"/>
              </a:rPr>
              <a:t>«Hay muchos casos en la región.»</a:t>
            </a:r>
            <a:endParaRPr lang="en-US" sz="1200" dirty="0"/>
          </a:p>
        </p:txBody>
      </p:sp>
      <p:sp>
        <p:nvSpPr>
          <p:cNvPr id="10" name="Text 8">
            <a:extLst>
              <a:ext uri="{FF2B5EF4-FFF2-40B4-BE49-F238E27FC236}">
                <a16:creationId xmlns:a16="http://schemas.microsoft.com/office/drawing/2014/main" id="{044D2D22-B26B-06B9-855D-EE5149FA73FE}"/>
              </a:ext>
            </a:extLst>
          </p:cNvPr>
          <p:cNvSpPr/>
          <p:nvPr/>
        </p:nvSpPr>
        <p:spPr>
          <a:xfrm>
            <a:off x="4069080" y="2926080"/>
            <a:ext cx="256032" cy="365760"/>
          </a:xfrm>
          <a:prstGeom prst="rect">
            <a:avLst/>
          </a:prstGeom>
          <a:noFill/>
          <a:ln/>
        </p:spPr>
        <p:txBody>
          <a:bodyPr wrap="square" lIns="0" tIns="0" rIns="0" bIns="0" rtlCol="0" anchor="ctr"/>
          <a:lstStyle/>
          <a:p>
            <a:pPr marL="0" indent="0" algn="ctr">
              <a:buNone/>
            </a:pPr>
            <a:r>
              <a:rPr lang="en-US" sz="1800" dirty="0">
                <a:solidFill>
                  <a:srgbClr val="AC212E"/>
                </a:solidFill>
                <a:latin typeface="Calibri" pitchFamily="34" charset="0"/>
                <a:ea typeface="Calibri" pitchFamily="34" charset="-122"/>
                <a:cs typeface="Calibri" pitchFamily="34" charset="-120"/>
              </a:rPr>
              <a:t>→</a:t>
            </a:r>
            <a:endParaRPr lang="en-US" sz="1800" dirty="0"/>
          </a:p>
        </p:txBody>
      </p:sp>
      <p:sp>
        <p:nvSpPr>
          <p:cNvPr id="11" name="Shape 9">
            <a:extLst>
              <a:ext uri="{FF2B5EF4-FFF2-40B4-BE49-F238E27FC236}">
                <a16:creationId xmlns:a16="http://schemas.microsoft.com/office/drawing/2014/main" id="{C978C803-B8D9-19A3-2562-273548CD1917}"/>
              </a:ext>
            </a:extLst>
          </p:cNvPr>
          <p:cNvSpPr/>
          <p:nvPr/>
        </p:nvSpPr>
        <p:spPr>
          <a:xfrm>
            <a:off x="4325112" y="1874520"/>
            <a:ext cx="3520440" cy="2606040"/>
          </a:xfrm>
          <a:prstGeom prst="roundRect">
            <a:avLst>
              <a:gd name="adj" fmla="val 3158"/>
            </a:avLst>
          </a:prstGeom>
          <a:solidFill>
            <a:srgbClr val="F4F7FA"/>
          </a:solidFill>
          <a:ln w="12700">
            <a:solidFill>
              <a:srgbClr val="F4F7FA"/>
            </a:solidFill>
            <a:prstDash val="solid"/>
          </a:ln>
        </p:spPr>
        <p:txBody>
          <a:bodyPr/>
          <a:lstStyle/>
          <a:p>
            <a:endParaRPr lang="es-CL"/>
          </a:p>
        </p:txBody>
      </p:sp>
      <p:sp>
        <p:nvSpPr>
          <p:cNvPr id="12" name="Shape 10">
            <a:extLst>
              <a:ext uri="{FF2B5EF4-FFF2-40B4-BE49-F238E27FC236}">
                <a16:creationId xmlns:a16="http://schemas.microsoft.com/office/drawing/2014/main" id="{E750ADB0-3C67-FC01-0306-B9FAF12080D7}"/>
              </a:ext>
            </a:extLst>
          </p:cNvPr>
          <p:cNvSpPr/>
          <p:nvPr/>
        </p:nvSpPr>
        <p:spPr>
          <a:xfrm>
            <a:off x="4553712" y="2084832"/>
            <a:ext cx="420624" cy="420624"/>
          </a:xfrm>
          <a:prstGeom prst="ellipse">
            <a:avLst/>
          </a:prstGeom>
          <a:solidFill>
            <a:srgbClr val="AC212E"/>
          </a:solidFill>
          <a:ln/>
        </p:spPr>
        <p:txBody>
          <a:bodyPr/>
          <a:lstStyle/>
          <a:p>
            <a:endParaRPr lang="es-CL"/>
          </a:p>
        </p:txBody>
      </p:sp>
      <p:sp>
        <p:nvSpPr>
          <p:cNvPr id="13" name="Text 11">
            <a:extLst>
              <a:ext uri="{FF2B5EF4-FFF2-40B4-BE49-F238E27FC236}">
                <a16:creationId xmlns:a16="http://schemas.microsoft.com/office/drawing/2014/main" id="{CE5D9F12-63A1-835A-C926-6C32521C4BC3}"/>
              </a:ext>
            </a:extLst>
          </p:cNvPr>
          <p:cNvSpPr/>
          <p:nvPr/>
        </p:nvSpPr>
        <p:spPr>
          <a:xfrm>
            <a:off x="4553712" y="208483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a:extLst>
              <a:ext uri="{FF2B5EF4-FFF2-40B4-BE49-F238E27FC236}">
                <a16:creationId xmlns:a16="http://schemas.microsoft.com/office/drawing/2014/main" id="{3DA714AA-E9B1-6262-20D0-D579F73518B7}"/>
              </a:ext>
            </a:extLst>
          </p:cNvPr>
          <p:cNvSpPr/>
          <p:nvPr/>
        </p:nvSpPr>
        <p:spPr>
          <a:xfrm>
            <a:off x="4553712" y="2633472"/>
            <a:ext cx="3063240" cy="365760"/>
          </a:xfrm>
          <a:prstGeom prst="rect">
            <a:avLst/>
          </a:prstGeom>
          <a:noFill/>
          <a:ln/>
        </p:spPr>
        <p:txBody>
          <a:bodyPr wrap="square" lIns="0" tIns="0" rIns="0" bIns="0" rtlCol="0" anchor="ctr"/>
          <a:lstStyle/>
          <a:p>
            <a:pPr marL="0" indent="0">
              <a:buNone/>
            </a:pPr>
            <a:r>
              <a:rPr lang="en-US" sz="1600" b="1" dirty="0">
                <a:solidFill>
                  <a:srgbClr val="06304A"/>
                </a:solidFill>
                <a:latin typeface="Calibri" pitchFamily="34" charset="0"/>
                <a:ea typeface="Calibri" pitchFamily="34" charset="-122"/>
                <a:cs typeface="Calibri" pitchFamily="34" charset="-120"/>
              </a:rPr>
              <a:t>Problema</a:t>
            </a:r>
            <a:endParaRPr lang="en-US" sz="1600" dirty="0"/>
          </a:p>
        </p:txBody>
      </p:sp>
      <p:sp>
        <p:nvSpPr>
          <p:cNvPr id="15" name="Text 13">
            <a:extLst>
              <a:ext uri="{FF2B5EF4-FFF2-40B4-BE49-F238E27FC236}">
                <a16:creationId xmlns:a16="http://schemas.microsoft.com/office/drawing/2014/main" id="{E6332818-545D-D025-038D-EDBBA70B4143}"/>
              </a:ext>
            </a:extLst>
          </p:cNvPr>
          <p:cNvSpPr/>
          <p:nvPr/>
        </p:nvSpPr>
        <p:spPr>
          <a:xfrm>
            <a:off x="4553712" y="3017520"/>
            <a:ext cx="3063240" cy="64008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La situación se delimita: qué parte se aborda.</a:t>
            </a:r>
            <a:endParaRPr lang="en-US" sz="1250" dirty="0"/>
          </a:p>
        </p:txBody>
      </p:sp>
      <p:sp>
        <p:nvSpPr>
          <p:cNvPr id="16" name="Text 14">
            <a:extLst>
              <a:ext uri="{FF2B5EF4-FFF2-40B4-BE49-F238E27FC236}">
                <a16:creationId xmlns:a16="http://schemas.microsoft.com/office/drawing/2014/main" id="{F67C4BC9-36A4-5D5D-BE79-8F7595AABF21}"/>
              </a:ext>
            </a:extLst>
          </p:cNvPr>
          <p:cNvSpPr/>
          <p:nvPr/>
        </p:nvSpPr>
        <p:spPr>
          <a:xfrm>
            <a:off x="4553712" y="3703320"/>
            <a:ext cx="3063240" cy="640080"/>
          </a:xfrm>
          <a:prstGeom prst="rect">
            <a:avLst/>
          </a:prstGeom>
          <a:noFill/>
          <a:ln/>
        </p:spPr>
        <p:txBody>
          <a:bodyPr wrap="square" lIns="0" tIns="0" rIns="0" bIns="0" rtlCol="0" anchor="ctr"/>
          <a:lstStyle/>
          <a:p>
            <a:pPr marL="0" indent="0">
              <a:lnSpc>
                <a:spcPts val="1600"/>
              </a:lnSpc>
              <a:buNone/>
            </a:pPr>
            <a:r>
              <a:rPr lang="en-US" sz="1200" i="1" dirty="0">
                <a:solidFill>
                  <a:srgbClr val="AC212E"/>
                </a:solidFill>
                <a:latin typeface="Calibri" pitchFamily="34" charset="0"/>
                <a:ea typeface="Calibri" pitchFamily="34" charset="-122"/>
                <a:cs typeface="Calibri" pitchFamily="34" charset="-120"/>
              </a:rPr>
              <a:t>«No se sabe qué factores concentran los casos.»</a:t>
            </a:r>
            <a:endParaRPr lang="en-US" sz="1200" dirty="0"/>
          </a:p>
        </p:txBody>
      </p:sp>
      <p:sp>
        <p:nvSpPr>
          <p:cNvPr id="17" name="Text 15">
            <a:extLst>
              <a:ext uri="{FF2B5EF4-FFF2-40B4-BE49-F238E27FC236}">
                <a16:creationId xmlns:a16="http://schemas.microsoft.com/office/drawing/2014/main" id="{30551D1D-4C0A-E793-6920-4CE10E07878A}"/>
              </a:ext>
            </a:extLst>
          </p:cNvPr>
          <p:cNvSpPr/>
          <p:nvPr/>
        </p:nvSpPr>
        <p:spPr>
          <a:xfrm>
            <a:off x="7845552" y="2926080"/>
            <a:ext cx="256032" cy="365760"/>
          </a:xfrm>
          <a:prstGeom prst="rect">
            <a:avLst/>
          </a:prstGeom>
          <a:noFill/>
          <a:ln/>
        </p:spPr>
        <p:txBody>
          <a:bodyPr wrap="square" lIns="0" tIns="0" rIns="0" bIns="0" rtlCol="0" anchor="ctr"/>
          <a:lstStyle/>
          <a:p>
            <a:pPr marL="0" indent="0" algn="ctr">
              <a:buNone/>
            </a:pPr>
            <a:r>
              <a:rPr lang="en-US" sz="1800" dirty="0">
                <a:solidFill>
                  <a:srgbClr val="AC212E"/>
                </a:solidFill>
                <a:latin typeface="Calibri" pitchFamily="34" charset="0"/>
                <a:ea typeface="Calibri" pitchFamily="34" charset="-122"/>
                <a:cs typeface="Calibri" pitchFamily="34" charset="-120"/>
              </a:rPr>
              <a:t>→</a:t>
            </a:r>
            <a:endParaRPr lang="en-US" sz="1800" dirty="0"/>
          </a:p>
        </p:txBody>
      </p:sp>
      <p:sp>
        <p:nvSpPr>
          <p:cNvPr id="18" name="Shape 16">
            <a:extLst>
              <a:ext uri="{FF2B5EF4-FFF2-40B4-BE49-F238E27FC236}">
                <a16:creationId xmlns:a16="http://schemas.microsoft.com/office/drawing/2014/main" id="{0E80B232-8869-17CD-9036-E0E719CB7363}"/>
              </a:ext>
            </a:extLst>
          </p:cNvPr>
          <p:cNvSpPr/>
          <p:nvPr/>
        </p:nvSpPr>
        <p:spPr>
          <a:xfrm>
            <a:off x="8101584" y="1874520"/>
            <a:ext cx="3520440" cy="2606040"/>
          </a:xfrm>
          <a:prstGeom prst="roundRect">
            <a:avLst>
              <a:gd name="adj" fmla="val 3158"/>
            </a:avLst>
          </a:prstGeom>
          <a:solidFill>
            <a:srgbClr val="0A1526"/>
          </a:solidFill>
          <a:ln w="12700">
            <a:solidFill>
              <a:srgbClr val="0A1526"/>
            </a:solidFill>
            <a:prstDash val="solid"/>
          </a:ln>
        </p:spPr>
        <p:txBody>
          <a:bodyPr/>
          <a:lstStyle/>
          <a:p>
            <a:endParaRPr lang="es-CL"/>
          </a:p>
        </p:txBody>
      </p:sp>
      <p:sp>
        <p:nvSpPr>
          <p:cNvPr id="19" name="Shape 17">
            <a:extLst>
              <a:ext uri="{FF2B5EF4-FFF2-40B4-BE49-F238E27FC236}">
                <a16:creationId xmlns:a16="http://schemas.microsoft.com/office/drawing/2014/main" id="{5D4C0565-AE4E-4972-DE4F-D9C58FD1354D}"/>
              </a:ext>
            </a:extLst>
          </p:cNvPr>
          <p:cNvSpPr/>
          <p:nvPr/>
        </p:nvSpPr>
        <p:spPr>
          <a:xfrm>
            <a:off x="8330184" y="2084832"/>
            <a:ext cx="420624" cy="420624"/>
          </a:xfrm>
          <a:prstGeom prst="ellipse">
            <a:avLst/>
          </a:prstGeom>
          <a:solidFill>
            <a:srgbClr val="AC212E"/>
          </a:solidFill>
          <a:ln/>
        </p:spPr>
        <p:txBody>
          <a:bodyPr/>
          <a:lstStyle/>
          <a:p>
            <a:endParaRPr lang="es-CL"/>
          </a:p>
        </p:txBody>
      </p:sp>
      <p:sp>
        <p:nvSpPr>
          <p:cNvPr id="20" name="Text 18">
            <a:extLst>
              <a:ext uri="{FF2B5EF4-FFF2-40B4-BE49-F238E27FC236}">
                <a16:creationId xmlns:a16="http://schemas.microsoft.com/office/drawing/2014/main" id="{53EECDB6-E152-5FC9-BFE3-DBCA9284541C}"/>
              </a:ext>
            </a:extLst>
          </p:cNvPr>
          <p:cNvSpPr/>
          <p:nvPr/>
        </p:nvSpPr>
        <p:spPr>
          <a:xfrm>
            <a:off x="8330184" y="208483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9">
            <a:extLst>
              <a:ext uri="{FF2B5EF4-FFF2-40B4-BE49-F238E27FC236}">
                <a16:creationId xmlns:a16="http://schemas.microsoft.com/office/drawing/2014/main" id="{C3150BDE-C189-EA47-1CFB-CEC41EECBDA6}"/>
              </a:ext>
            </a:extLst>
          </p:cNvPr>
          <p:cNvSpPr/>
          <p:nvPr/>
        </p:nvSpPr>
        <p:spPr>
          <a:xfrm>
            <a:off x="8330184" y="2633472"/>
            <a:ext cx="306324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Pregunta analizable</a:t>
            </a:r>
            <a:endParaRPr lang="en-US" sz="1600" dirty="0"/>
          </a:p>
        </p:txBody>
      </p:sp>
      <p:sp>
        <p:nvSpPr>
          <p:cNvPr id="22" name="Text 20">
            <a:extLst>
              <a:ext uri="{FF2B5EF4-FFF2-40B4-BE49-F238E27FC236}">
                <a16:creationId xmlns:a16="http://schemas.microsoft.com/office/drawing/2014/main" id="{0D0969C9-0B90-9ECF-CBF7-672E39359BFC}"/>
              </a:ext>
            </a:extLst>
          </p:cNvPr>
          <p:cNvSpPr/>
          <p:nvPr/>
        </p:nvSpPr>
        <p:spPr>
          <a:xfrm>
            <a:off x="8330184" y="3017520"/>
            <a:ext cx="3063240" cy="64008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La pregunta se puede responder con los datos disponibles.</a:t>
            </a:r>
            <a:endParaRPr lang="en-US" sz="1250" dirty="0"/>
          </a:p>
        </p:txBody>
      </p:sp>
      <p:sp>
        <p:nvSpPr>
          <p:cNvPr id="23" name="Text 21">
            <a:extLst>
              <a:ext uri="{FF2B5EF4-FFF2-40B4-BE49-F238E27FC236}">
                <a16:creationId xmlns:a16="http://schemas.microsoft.com/office/drawing/2014/main" id="{0D0E0CE2-48EF-547B-F996-501437CBEAC2}"/>
              </a:ext>
            </a:extLst>
          </p:cNvPr>
          <p:cNvSpPr/>
          <p:nvPr/>
        </p:nvSpPr>
        <p:spPr>
          <a:xfrm>
            <a:off x="8330184" y="3703320"/>
            <a:ext cx="3063240" cy="640080"/>
          </a:xfrm>
          <a:prstGeom prst="rect">
            <a:avLst/>
          </a:prstGeom>
          <a:noFill/>
          <a:ln/>
        </p:spPr>
        <p:txBody>
          <a:bodyPr wrap="square" lIns="0" tIns="0" rIns="0" bIns="0" rtlCol="0" anchor="ctr"/>
          <a:lstStyle/>
          <a:p>
            <a:pPr marL="0" indent="0">
              <a:lnSpc>
                <a:spcPts val="1600"/>
              </a:lnSpc>
              <a:buNone/>
            </a:pPr>
            <a:r>
              <a:rPr lang="en-US" sz="1200" i="1" dirty="0">
                <a:solidFill>
                  <a:srgbClr val="D7E3EE"/>
                </a:solidFill>
                <a:latin typeface="Calibri" pitchFamily="34" charset="0"/>
                <a:ea typeface="Calibri" pitchFamily="34" charset="-122"/>
                <a:cs typeface="Calibri" pitchFamily="34" charset="-120"/>
              </a:rPr>
              <a:t>«¿Qué variables se asocian a la ocurrencia en este registro?»</a:t>
            </a:r>
            <a:endParaRPr lang="en-US" sz="1200" dirty="0"/>
          </a:p>
        </p:txBody>
      </p:sp>
      <p:sp>
        <p:nvSpPr>
          <p:cNvPr id="24" name="Text 22">
            <a:extLst>
              <a:ext uri="{FF2B5EF4-FFF2-40B4-BE49-F238E27FC236}">
                <a16:creationId xmlns:a16="http://schemas.microsoft.com/office/drawing/2014/main" id="{CDCFD581-34CC-5CE2-BC1A-DF4101779847}"/>
              </a:ext>
            </a:extLst>
          </p:cNvPr>
          <p:cNvSpPr/>
          <p:nvPr/>
        </p:nvSpPr>
        <p:spPr>
          <a:xfrm>
            <a:off x="548640" y="4754880"/>
            <a:ext cx="7315200" cy="36576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Tres condiciones de una pregunta analizable</a:t>
            </a:r>
            <a:endParaRPr lang="en-US" sz="1500" dirty="0"/>
          </a:p>
        </p:txBody>
      </p:sp>
      <p:sp>
        <p:nvSpPr>
          <p:cNvPr id="25" name="Shape 23">
            <a:extLst>
              <a:ext uri="{FF2B5EF4-FFF2-40B4-BE49-F238E27FC236}">
                <a16:creationId xmlns:a16="http://schemas.microsoft.com/office/drawing/2014/main" id="{935CD838-433C-756F-05CB-907288F68A14}"/>
              </a:ext>
            </a:extLst>
          </p:cNvPr>
          <p:cNvSpPr/>
          <p:nvPr/>
        </p:nvSpPr>
        <p:spPr>
          <a:xfrm>
            <a:off x="548640" y="5166360"/>
            <a:ext cx="3520440" cy="777240"/>
          </a:xfrm>
          <a:prstGeom prst="roundRect">
            <a:avLst>
              <a:gd name="adj" fmla="val 10588"/>
            </a:avLst>
          </a:prstGeom>
          <a:solidFill>
            <a:srgbClr val="F6E7E9"/>
          </a:solidFill>
          <a:ln w="12700">
            <a:solidFill>
              <a:srgbClr val="F6E7E9"/>
            </a:solidFill>
            <a:prstDash val="solid"/>
          </a:ln>
        </p:spPr>
        <p:txBody>
          <a:bodyPr/>
          <a:lstStyle/>
          <a:p>
            <a:endParaRPr lang="es-CL"/>
          </a:p>
        </p:txBody>
      </p:sp>
      <p:sp>
        <p:nvSpPr>
          <p:cNvPr id="26" name="Text 24">
            <a:extLst>
              <a:ext uri="{FF2B5EF4-FFF2-40B4-BE49-F238E27FC236}">
                <a16:creationId xmlns:a16="http://schemas.microsoft.com/office/drawing/2014/main" id="{C2EBEE8F-E385-47FC-D767-78B28E03E58B}"/>
              </a:ext>
            </a:extLst>
          </p:cNvPr>
          <p:cNvSpPr/>
          <p:nvPr/>
        </p:nvSpPr>
        <p:spPr>
          <a:xfrm>
            <a:off x="777240" y="5166360"/>
            <a:ext cx="3063240" cy="777240"/>
          </a:xfrm>
          <a:prstGeom prst="rect">
            <a:avLst/>
          </a:prstGeom>
          <a:noFill/>
          <a:ln/>
        </p:spPr>
        <p:txBody>
          <a:bodyPr wrap="square" lIns="0" tIns="0" rIns="0" bIns="0" rtlCol="0" anchor="ctr"/>
          <a:lstStyle/>
          <a:p>
            <a:pPr marL="0" indent="0">
              <a:lnSpc>
                <a:spcPts val="1600"/>
              </a:lnSpc>
              <a:buNone/>
            </a:pPr>
            <a:r>
              <a:rPr lang="en-US" sz="1250" dirty="0">
                <a:solidFill>
                  <a:srgbClr val="06304A"/>
                </a:solidFill>
                <a:latin typeface="Calibri" pitchFamily="34" charset="0"/>
                <a:ea typeface="Calibri" pitchFamily="34" charset="-122"/>
                <a:cs typeface="Calibri" pitchFamily="34" charset="-120"/>
              </a:rPr>
              <a:t>Los datos necesarios existen y son accesibles.</a:t>
            </a:r>
            <a:endParaRPr lang="en-US" sz="1250" dirty="0"/>
          </a:p>
        </p:txBody>
      </p:sp>
      <p:sp>
        <p:nvSpPr>
          <p:cNvPr id="27" name="Shape 25">
            <a:extLst>
              <a:ext uri="{FF2B5EF4-FFF2-40B4-BE49-F238E27FC236}">
                <a16:creationId xmlns:a16="http://schemas.microsoft.com/office/drawing/2014/main" id="{D83C3348-89EF-731F-B134-77C07CC264F7}"/>
              </a:ext>
            </a:extLst>
          </p:cNvPr>
          <p:cNvSpPr/>
          <p:nvPr/>
        </p:nvSpPr>
        <p:spPr>
          <a:xfrm>
            <a:off x="4325112" y="5166360"/>
            <a:ext cx="3520440" cy="777240"/>
          </a:xfrm>
          <a:prstGeom prst="roundRect">
            <a:avLst>
              <a:gd name="adj" fmla="val 10588"/>
            </a:avLst>
          </a:prstGeom>
          <a:solidFill>
            <a:srgbClr val="F6E7E9"/>
          </a:solidFill>
          <a:ln w="12700">
            <a:solidFill>
              <a:srgbClr val="F6E7E9"/>
            </a:solidFill>
            <a:prstDash val="solid"/>
          </a:ln>
        </p:spPr>
        <p:txBody>
          <a:bodyPr/>
          <a:lstStyle/>
          <a:p>
            <a:endParaRPr lang="es-CL"/>
          </a:p>
        </p:txBody>
      </p:sp>
      <p:sp>
        <p:nvSpPr>
          <p:cNvPr id="28" name="Text 26">
            <a:extLst>
              <a:ext uri="{FF2B5EF4-FFF2-40B4-BE49-F238E27FC236}">
                <a16:creationId xmlns:a16="http://schemas.microsoft.com/office/drawing/2014/main" id="{37034ABE-84C7-8127-6E8D-EC1726530F20}"/>
              </a:ext>
            </a:extLst>
          </p:cNvPr>
          <p:cNvSpPr/>
          <p:nvPr/>
        </p:nvSpPr>
        <p:spPr>
          <a:xfrm>
            <a:off x="4553712" y="5166360"/>
            <a:ext cx="3063240" cy="777240"/>
          </a:xfrm>
          <a:prstGeom prst="rect">
            <a:avLst/>
          </a:prstGeom>
          <a:noFill/>
          <a:ln/>
        </p:spPr>
        <p:txBody>
          <a:bodyPr wrap="square" lIns="0" tIns="0" rIns="0" bIns="0" rtlCol="0" anchor="ctr"/>
          <a:lstStyle/>
          <a:p>
            <a:pPr marL="0" indent="0">
              <a:lnSpc>
                <a:spcPts val="1600"/>
              </a:lnSpc>
              <a:buNone/>
            </a:pPr>
            <a:r>
              <a:rPr lang="en-US" sz="1250" dirty="0">
                <a:solidFill>
                  <a:srgbClr val="06304A"/>
                </a:solidFill>
                <a:latin typeface="Calibri" pitchFamily="34" charset="0"/>
                <a:ea typeface="Calibri" pitchFamily="34" charset="-122"/>
                <a:cs typeface="Calibri" pitchFamily="34" charset="-120"/>
              </a:rPr>
              <a:t>Los conceptos involucrados se pueden medir con esas variables.</a:t>
            </a:r>
            <a:endParaRPr lang="en-US" sz="1250" dirty="0"/>
          </a:p>
        </p:txBody>
      </p:sp>
      <p:sp>
        <p:nvSpPr>
          <p:cNvPr id="29" name="Shape 27">
            <a:extLst>
              <a:ext uri="{FF2B5EF4-FFF2-40B4-BE49-F238E27FC236}">
                <a16:creationId xmlns:a16="http://schemas.microsoft.com/office/drawing/2014/main" id="{EF3D569E-BB4C-3533-FC8F-3BB4C91EE86D}"/>
              </a:ext>
            </a:extLst>
          </p:cNvPr>
          <p:cNvSpPr/>
          <p:nvPr/>
        </p:nvSpPr>
        <p:spPr>
          <a:xfrm>
            <a:off x="8101584" y="5166360"/>
            <a:ext cx="3520440" cy="777240"/>
          </a:xfrm>
          <a:prstGeom prst="roundRect">
            <a:avLst>
              <a:gd name="adj" fmla="val 10588"/>
            </a:avLst>
          </a:prstGeom>
          <a:solidFill>
            <a:srgbClr val="F6E7E9"/>
          </a:solidFill>
          <a:ln w="12700">
            <a:solidFill>
              <a:srgbClr val="F6E7E9"/>
            </a:solidFill>
            <a:prstDash val="solid"/>
          </a:ln>
        </p:spPr>
        <p:txBody>
          <a:bodyPr/>
          <a:lstStyle/>
          <a:p>
            <a:endParaRPr lang="es-CL"/>
          </a:p>
        </p:txBody>
      </p:sp>
      <p:sp>
        <p:nvSpPr>
          <p:cNvPr id="30" name="Text 28">
            <a:extLst>
              <a:ext uri="{FF2B5EF4-FFF2-40B4-BE49-F238E27FC236}">
                <a16:creationId xmlns:a16="http://schemas.microsoft.com/office/drawing/2014/main" id="{CD961614-E57B-2788-C729-2D31399464A4}"/>
              </a:ext>
            </a:extLst>
          </p:cNvPr>
          <p:cNvSpPr/>
          <p:nvPr/>
        </p:nvSpPr>
        <p:spPr>
          <a:xfrm>
            <a:off x="8330184" y="5166360"/>
            <a:ext cx="3063240" cy="777240"/>
          </a:xfrm>
          <a:prstGeom prst="rect">
            <a:avLst/>
          </a:prstGeom>
          <a:noFill/>
          <a:ln/>
        </p:spPr>
        <p:txBody>
          <a:bodyPr wrap="square" lIns="0" tIns="0" rIns="0" bIns="0" rtlCol="0" anchor="ctr"/>
          <a:lstStyle/>
          <a:p>
            <a:pPr marL="0" indent="0">
              <a:lnSpc>
                <a:spcPts val="1600"/>
              </a:lnSpc>
              <a:buNone/>
            </a:pPr>
            <a:r>
              <a:rPr lang="en-US" sz="1250" dirty="0">
                <a:solidFill>
                  <a:srgbClr val="06304A"/>
                </a:solidFill>
                <a:latin typeface="Calibri" pitchFamily="34" charset="0"/>
                <a:ea typeface="Calibri" pitchFamily="34" charset="-122"/>
                <a:cs typeface="Calibri" pitchFamily="34" charset="-120"/>
              </a:rPr>
              <a:t>El alcance está acotado: se sabe qué queda fuera.</a:t>
            </a:r>
            <a:endParaRPr lang="en-US" sz="1250" dirty="0"/>
          </a:p>
        </p:txBody>
      </p:sp>
    </p:spTree>
    <p:extLst>
      <p:ext uri="{BB962C8B-B14F-4D97-AF65-F5344CB8AC3E}">
        <p14:creationId xmlns:p14="http://schemas.microsoft.com/office/powerpoint/2010/main" val="31035463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El ciclo de vida de un proyecto de datos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Las etapas no son burocráticas: cada una transforma el dato y deja evidencia de esa transformación.</a:t>
            </a:r>
            <a:endParaRPr lang="en-US" sz="1400" dirty="0"/>
          </a:p>
        </p:txBody>
      </p:sp>
      <p:sp>
        <p:nvSpPr>
          <p:cNvPr id="4" name="Shape 2"/>
          <p:cNvSpPr/>
          <p:nvPr/>
        </p:nvSpPr>
        <p:spPr>
          <a:xfrm>
            <a:off x="548640" y="1874520"/>
            <a:ext cx="1700784" cy="2286000"/>
          </a:xfrm>
          <a:prstGeom prst="roundRect">
            <a:avLst>
              <a:gd name="adj" fmla="val 4839"/>
            </a:avLst>
          </a:prstGeom>
          <a:solidFill>
            <a:srgbClr val="F6E7E9"/>
          </a:solidFill>
          <a:ln w="12700">
            <a:solidFill>
              <a:srgbClr val="F6E7E9"/>
            </a:solidFill>
            <a:prstDash val="solid"/>
          </a:ln>
        </p:spPr>
        <p:txBody>
          <a:bodyPr/>
          <a:lstStyle/>
          <a:p>
            <a:endParaRPr lang="es-CL"/>
          </a:p>
        </p:txBody>
      </p:sp>
      <p:sp>
        <p:nvSpPr>
          <p:cNvPr id="5" name="Shape 3"/>
          <p:cNvSpPr/>
          <p:nvPr/>
        </p:nvSpPr>
        <p:spPr>
          <a:xfrm>
            <a:off x="1207008" y="2057400"/>
            <a:ext cx="384048" cy="384048"/>
          </a:xfrm>
          <a:prstGeom prst="ellipse">
            <a:avLst/>
          </a:prstGeom>
          <a:solidFill>
            <a:srgbClr val="AC212E"/>
          </a:solidFill>
          <a:ln/>
        </p:spPr>
        <p:txBody>
          <a:bodyPr/>
          <a:lstStyle/>
          <a:p>
            <a:endParaRPr lang="es-CL"/>
          </a:p>
        </p:txBody>
      </p:sp>
      <p:sp>
        <p:nvSpPr>
          <p:cNvPr id="6" name="Text 4"/>
          <p:cNvSpPr/>
          <p:nvPr/>
        </p:nvSpPr>
        <p:spPr>
          <a:xfrm>
            <a:off x="1207008" y="20574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658368" y="2542032"/>
            <a:ext cx="1481328" cy="502920"/>
          </a:xfrm>
          <a:prstGeom prst="rect">
            <a:avLst/>
          </a:prstGeom>
          <a:noFill/>
          <a:ln/>
        </p:spPr>
        <p:txBody>
          <a:bodyPr wrap="square" lIns="0" tIns="0" rIns="0" bIns="0" rtlCol="0" anchor="ctr"/>
          <a:lstStyle/>
          <a:p>
            <a:pPr marL="0" indent="0" algn="ctr">
              <a:buNone/>
            </a:pPr>
            <a:r>
              <a:rPr lang="en-US" sz="1250" b="1" dirty="0">
                <a:solidFill>
                  <a:srgbClr val="AC212E"/>
                </a:solidFill>
                <a:latin typeface="Calibri" pitchFamily="34" charset="0"/>
                <a:ea typeface="Calibri" pitchFamily="34" charset="-122"/>
                <a:cs typeface="Calibri" pitchFamily="34" charset="-120"/>
              </a:rPr>
              <a:t>Definición</a:t>
            </a:r>
            <a:endParaRPr lang="en-US" sz="1250" dirty="0"/>
          </a:p>
        </p:txBody>
      </p:sp>
      <p:sp>
        <p:nvSpPr>
          <p:cNvPr id="8" name="Text 6"/>
          <p:cNvSpPr/>
          <p:nvPr/>
        </p:nvSpPr>
        <p:spPr>
          <a:xfrm>
            <a:off x="658368" y="3017520"/>
            <a:ext cx="1481328" cy="1005840"/>
          </a:xfrm>
          <a:prstGeom prst="rect">
            <a:avLst/>
          </a:prstGeom>
          <a:noFill/>
          <a:ln/>
        </p:spPr>
        <p:txBody>
          <a:bodyPr wrap="square" lIns="0" tIns="0" rIns="0" bIns="0" rtlCol="0" anchor="ctr"/>
          <a:lstStyle/>
          <a:p>
            <a:pPr marL="0" indent="0" algn="ctr">
              <a:lnSpc>
                <a:spcPts val="1400"/>
              </a:lnSpc>
              <a:buNone/>
            </a:pPr>
            <a:r>
              <a:rPr lang="en-US" sz="1050" dirty="0">
                <a:solidFill>
                  <a:srgbClr val="5A6B7B"/>
                </a:solidFill>
                <a:latin typeface="Calibri" pitchFamily="34" charset="0"/>
                <a:ea typeface="Calibri" pitchFamily="34" charset="-122"/>
                <a:cs typeface="Calibri" pitchFamily="34" charset="-120"/>
              </a:rPr>
              <a:t>Se acota el problema y se identifican los datos.</a:t>
            </a:r>
            <a:endParaRPr lang="en-US" sz="1050" dirty="0"/>
          </a:p>
        </p:txBody>
      </p:sp>
      <p:sp>
        <p:nvSpPr>
          <p:cNvPr id="9" name="Text 7"/>
          <p:cNvSpPr/>
          <p:nvPr/>
        </p:nvSpPr>
        <p:spPr>
          <a:xfrm>
            <a:off x="2249424" y="2743200"/>
            <a:ext cx="146304" cy="365760"/>
          </a:xfrm>
          <a:prstGeom prst="rect">
            <a:avLst/>
          </a:prstGeom>
          <a:noFill/>
          <a:ln/>
        </p:spPr>
        <p:txBody>
          <a:bodyPr wrap="square" lIns="0" tIns="0" rIns="0" bIns="0" rtlCol="0" anchor="ctr"/>
          <a:lstStyle/>
          <a:p>
            <a:pPr marL="0" indent="0" algn="ctr">
              <a:buNone/>
            </a:pPr>
            <a:r>
              <a:rPr lang="en-US" sz="1500" dirty="0">
                <a:solidFill>
                  <a:srgbClr val="AC212E"/>
                </a:solidFill>
                <a:latin typeface="Calibri" pitchFamily="34" charset="0"/>
                <a:ea typeface="Calibri" pitchFamily="34" charset="-122"/>
                <a:cs typeface="Calibri" pitchFamily="34" charset="-120"/>
              </a:rPr>
              <a:t>›</a:t>
            </a:r>
            <a:endParaRPr lang="en-US" sz="1500" dirty="0"/>
          </a:p>
        </p:txBody>
      </p:sp>
      <p:sp>
        <p:nvSpPr>
          <p:cNvPr id="10" name="Shape 8"/>
          <p:cNvSpPr/>
          <p:nvPr/>
        </p:nvSpPr>
        <p:spPr>
          <a:xfrm>
            <a:off x="2395728" y="1874520"/>
            <a:ext cx="1700784" cy="2286000"/>
          </a:xfrm>
          <a:prstGeom prst="roundRect">
            <a:avLst>
              <a:gd name="adj" fmla="val 4839"/>
            </a:avLst>
          </a:prstGeom>
          <a:solidFill>
            <a:srgbClr val="F4F7FA"/>
          </a:solidFill>
          <a:ln w="12700">
            <a:solidFill>
              <a:srgbClr val="F4F7FA"/>
            </a:solidFill>
            <a:prstDash val="solid"/>
          </a:ln>
        </p:spPr>
        <p:txBody>
          <a:bodyPr/>
          <a:lstStyle/>
          <a:p>
            <a:endParaRPr lang="es-CL"/>
          </a:p>
        </p:txBody>
      </p:sp>
      <p:sp>
        <p:nvSpPr>
          <p:cNvPr id="11" name="Shape 9"/>
          <p:cNvSpPr/>
          <p:nvPr/>
        </p:nvSpPr>
        <p:spPr>
          <a:xfrm>
            <a:off x="3054096" y="2057400"/>
            <a:ext cx="384048" cy="384048"/>
          </a:xfrm>
          <a:prstGeom prst="ellipse">
            <a:avLst/>
          </a:prstGeom>
          <a:solidFill>
            <a:srgbClr val="AC212E"/>
          </a:solidFill>
          <a:ln/>
        </p:spPr>
        <p:txBody>
          <a:bodyPr/>
          <a:lstStyle/>
          <a:p>
            <a:endParaRPr lang="es-CL"/>
          </a:p>
        </p:txBody>
      </p:sp>
      <p:sp>
        <p:nvSpPr>
          <p:cNvPr id="12" name="Text 10"/>
          <p:cNvSpPr/>
          <p:nvPr/>
        </p:nvSpPr>
        <p:spPr>
          <a:xfrm>
            <a:off x="3054096" y="20574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2505456" y="2542032"/>
            <a:ext cx="1481328" cy="502920"/>
          </a:xfrm>
          <a:prstGeom prst="rect">
            <a:avLst/>
          </a:prstGeom>
          <a:noFill/>
          <a:ln/>
        </p:spPr>
        <p:txBody>
          <a:bodyPr wrap="square" lIns="0" tIns="0" rIns="0" bIns="0" rtlCol="0" anchor="ctr"/>
          <a:lstStyle/>
          <a:p>
            <a:pPr marL="0" indent="0" algn="ctr">
              <a:buNone/>
            </a:pPr>
            <a:r>
              <a:rPr lang="en-US" sz="1250" b="1" dirty="0">
                <a:solidFill>
                  <a:srgbClr val="06304A"/>
                </a:solidFill>
                <a:latin typeface="Calibri" pitchFamily="34" charset="0"/>
                <a:ea typeface="Calibri" pitchFamily="34" charset="-122"/>
                <a:cs typeface="Calibri" pitchFamily="34" charset="-120"/>
              </a:rPr>
              <a:t>Obtención</a:t>
            </a:r>
            <a:endParaRPr lang="en-US" sz="1250" dirty="0"/>
          </a:p>
        </p:txBody>
      </p:sp>
      <p:sp>
        <p:nvSpPr>
          <p:cNvPr id="14" name="Text 12"/>
          <p:cNvSpPr/>
          <p:nvPr/>
        </p:nvSpPr>
        <p:spPr>
          <a:xfrm>
            <a:off x="2505456" y="3017520"/>
            <a:ext cx="1481328" cy="1005840"/>
          </a:xfrm>
          <a:prstGeom prst="rect">
            <a:avLst/>
          </a:prstGeom>
          <a:noFill/>
          <a:ln/>
        </p:spPr>
        <p:txBody>
          <a:bodyPr wrap="square" lIns="0" tIns="0" rIns="0" bIns="0" rtlCol="0" anchor="ctr"/>
          <a:lstStyle/>
          <a:p>
            <a:pPr marL="0" indent="0" algn="ctr">
              <a:lnSpc>
                <a:spcPts val="1400"/>
              </a:lnSpc>
              <a:buNone/>
            </a:pPr>
            <a:r>
              <a:rPr lang="en-US" sz="1050" dirty="0">
                <a:solidFill>
                  <a:srgbClr val="5A6B7B"/>
                </a:solidFill>
                <a:latin typeface="Calibri" pitchFamily="34" charset="0"/>
                <a:ea typeface="Calibri" pitchFamily="34" charset="-122"/>
                <a:cs typeface="Calibri" pitchFamily="34" charset="-120"/>
              </a:rPr>
              <a:t>Se accede a las fuentes y se incorpora el dato crudo.</a:t>
            </a:r>
            <a:endParaRPr lang="en-US" sz="1050" dirty="0"/>
          </a:p>
        </p:txBody>
      </p:sp>
      <p:sp>
        <p:nvSpPr>
          <p:cNvPr id="15" name="Text 13"/>
          <p:cNvSpPr/>
          <p:nvPr/>
        </p:nvSpPr>
        <p:spPr>
          <a:xfrm>
            <a:off x="4096512" y="2743200"/>
            <a:ext cx="146304" cy="365760"/>
          </a:xfrm>
          <a:prstGeom prst="rect">
            <a:avLst/>
          </a:prstGeom>
          <a:noFill/>
          <a:ln/>
        </p:spPr>
        <p:txBody>
          <a:bodyPr wrap="square" lIns="0" tIns="0" rIns="0" bIns="0" rtlCol="0" anchor="ctr"/>
          <a:lstStyle/>
          <a:p>
            <a:pPr marL="0" indent="0" algn="ctr">
              <a:buNone/>
            </a:pPr>
            <a:r>
              <a:rPr lang="en-US" sz="1500" dirty="0">
                <a:solidFill>
                  <a:srgbClr val="AC212E"/>
                </a:solidFill>
                <a:latin typeface="Calibri" pitchFamily="34" charset="0"/>
                <a:ea typeface="Calibri" pitchFamily="34" charset="-122"/>
                <a:cs typeface="Calibri" pitchFamily="34" charset="-120"/>
              </a:rPr>
              <a:t>›</a:t>
            </a:r>
            <a:endParaRPr lang="en-US" sz="1500" dirty="0"/>
          </a:p>
        </p:txBody>
      </p:sp>
      <p:sp>
        <p:nvSpPr>
          <p:cNvPr id="16" name="Shape 14"/>
          <p:cNvSpPr/>
          <p:nvPr/>
        </p:nvSpPr>
        <p:spPr>
          <a:xfrm>
            <a:off x="4242816" y="1874520"/>
            <a:ext cx="1700784" cy="2286000"/>
          </a:xfrm>
          <a:prstGeom prst="roundRect">
            <a:avLst>
              <a:gd name="adj" fmla="val 4839"/>
            </a:avLst>
          </a:prstGeom>
          <a:solidFill>
            <a:srgbClr val="F4F7FA"/>
          </a:solidFill>
          <a:ln w="12700">
            <a:solidFill>
              <a:srgbClr val="F4F7FA"/>
            </a:solidFill>
            <a:prstDash val="solid"/>
          </a:ln>
        </p:spPr>
        <p:txBody>
          <a:bodyPr/>
          <a:lstStyle/>
          <a:p>
            <a:endParaRPr lang="es-CL"/>
          </a:p>
        </p:txBody>
      </p:sp>
      <p:sp>
        <p:nvSpPr>
          <p:cNvPr id="17" name="Shape 15"/>
          <p:cNvSpPr/>
          <p:nvPr/>
        </p:nvSpPr>
        <p:spPr>
          <a:xfrm>
            <a:off x="4901184" y="2057400"/>
            <a:ext cx="384048" cy="384048"/>
          </a:xfrm>
          <a:prstGeom prst="ellipse">
            <a:avLst/>
          </a:prstGeom>
          <a:solidFill>
            <a:srgbClr val="AC212E"/>
          </a:solidFill>
          <a:ln/>
        </p:spPr>
        <p:txBody>
          <a:bodyPr/>
          <a:lstStyle/>
          <a:p>
            <a:endParaRPr lang="es-CL"/>
          </a:p>
        </p:txBody>
      </p:sp>
      <p:sp>
        <p:nvSpPr>
          <p:cNvPr id="18" name="Text 16"/>
          <p:cNvSpPr/>
          <p:nvPr/>
        </p:nvSpPr>
        <p:spPr>
          <a:xfrm>
            <a:off x="4901184" y="20574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4352544" y="2542032"/>
            <a:ext cx="1481328" cy="502920"/>
          </a:xfrm>
          <a:prstGeom prst="rect">
            <a:avLst/>
          </a:prstGeom>
          <a:noFill/>
          <a:ln/>
        </p:spPr>
        <p:txBody>
          <a:bodyPr wrap="square" lIns="0" tIns="0" rIns="0" bIns="0" rtlCol="0" anchor="ctr"/>
          <a:lstStyle/>
          <a:p>
            <a:pPr marL="0" indent="0" algn="ctr">
              <a:buNone/>
            </a:pPr>
            <a:r>
              <a:rPr lang="en-US" sz="1250" b="1" dirty="0">
                <a:solidFill>
                  <a:srgbClr val="06304A"/>
                </a:solidFill>
                <a:latin typeface="Calibri" pitchFamily="34" charset="0"/>
                <a:ea typeface="Calibri" pitchFamily="34" charset="-122"/>
                <a:cs typeface="Calibri" pitchFamily="34" charset="-120"/>
              </a:rPr>
              <a:t>Exploración</a:t>
            </a:r>
            <a:endParaRPr lang="en-US" sz="1250" dirty="0"/>
          </a:p>
        </p:txBody>
      </p:sp>
      <p:sp>
        <p:nvSpPr>
          <p:cNvPr id="20" name="Text 18"/>
          <p:cNvSpPr/>
          <p:nvPr/>
        </p:nvSpPr>
        <p:spPr>
          <a:xfrm>
            <a:off x="4352544" y="3017520"/>
            <a:ext cx="1481328" cy="1005840"/>
          </a:xfrm>
          <a:prstGeom prst="rect">
            <a:avLst/>
          </a:prstGeom>
          <a:noFill/>
          <a:ln/>
        </p:spPr>
        <p:txBody>
          <a:bodyPr wrap="square" lIns="0" tIns="0" rIns="0" bIns="0" rtlCol="0" anchor="ctr"/>
          <a:lstStyle/>
          <a:p>
            <a:pPr marL="0" indent="0" algn="ctr">
              <a:lnSpc>
                <a:spcPts val="1400"/>
              </a:lnSpc>
              <a:buNone/>
            </a:pPr>
            <a:r>
              <a:rPr lang="en-US" sz="1050" dirty="0">
                <a:solidFill>
                  <a:srgbClr val="5A6B7B"/>
                </a:solidFill>
                <a:latin typeface="Calibri" pitchFamily="34" charset="0"/>
                <a:ea typeface="Calibri" pitchFamily="34" charset="-122"/>
                <a:cs typeface="Calibri" pitchFamily="34" charset="-120"/>
              </a:rPr>
              <a:t>Se examina la estructura, la calidad y las anomalías.</a:t>
            </a:r>
            <a:endParaRPr lang="en-US" sz="1050" dirty="0"/>
          </a:p>
        </p:txBody>
      </p:sp>
      <p:sp>
        <p:nvSpPr>
          <p:cNvPr id="21" name="Text 19"/>
          <p:cNvSpPr/>
          <p:nvPr/>
        </p:nvSpPr>
        <p:spPr>
          <a:xfrm>
            <a:off x="5943600" y="2743200"/>
            <a:ext cx="146304" cy="365760"/>
          </a:xfrm>
          <a:prstGeom prst="rect">
            <a:avLst/>
          </a:prstGeom>
          <a:noFill/>
          <a:ln/>
        </p:spPr>
        <p:txBody>
          <a:bodyPr wrap="square" lIns="0" tIns="0" rIns="0" bIns="0" rtlCol="0" anchor="ctr"/>
          <a:lstStyle/>
          <a:p>
            <a:pPr marL="0" indent="0" algn="ctr">
              <a:buNone/>
            </a:pPr>
            <a:r>
              <a:rPr lang="en-US" sz="1500" dirty="0">
                <a:solidFill>
                  <a:srgbClr val="AC212E"/>
                </a:solidFill>
                <a:latin typeface="Calibri" pitchFamily="34" charset="0"/>
                <a:ea typeface="Calibri" pitchFamily="34" charset="-122"/>
                <a:cs typeface="Calibri" pitchFamily="34" charset="-120"/>
              </a:rPr>
              <a:t>›</a:t>
            </a:r>
            <a:endParaRPr lang="en-US" sz="1500" dirty="0"/>
          </a:p>
        </p:txBody>
      </p:sp>
      <p:sp>
        <p:nvSpPr>
          <p:cNvPr id="22" name="Shape 20"/>
          <p:cNvSpPr/>
          <p:nvPr/>
        </p:nvSpPr>
        <p:spPr>
          <a:xfrm>
            <a:off x="6089904" y="1874520"/>
            <a:ext cx="1700784" cy="2286000"/>
          </a:xfrm>
          <a:prstGeom prst="roundRect">
            <a:avLst>
              <a:gd name="adj" fmla="val 4839"/>
            </a:avLst>
          </a:prstGeom>
          <a:solidFill>
            <a:srgbClr val="F4F7FA"/>
          </a:solidFill>
          <a:ln w="12700">
            <a:solidFill>
              <a:srgbClr val="F4F7FA"/>
            </a:solidFill>
            <a:prstDash val="solid"/>
          </a:ln>
        </p:spPr>
        <p:txBody>
          <a:bodyPr/>
          <a:lstStyle/>
          <a:p>
            <a:endParaRPr lang="es-CL"/>
          </a:p>
        </p:txBody>
      </p:sp>
      <p:sp>
        <p:nvSpPr>
          <p:cNvPr id="23" name="Shape 21"/>
          <p:cNvSpPr/>
          <p:nvPr/>
        </p:nvSpPr>
        <p:spPr>
          <a:xfrm>
            <a:off x="6748272" y="2057400"/>
            <a:ext cx="384048" cy="384048"/>
          </a:xfrm>
          <a:prstGeom prst="ellipse">
            <a:avLst/>
          </a:prstGeom>
          <a:solidFill>
            <a:srgbClr val="AC212E"/>
          </a:solidFill>
          <a:ln/>
        </p:spPr>
        <p:txBody>
          <a:bodyPr/>
          <a:lstStyle/>
          <a:p>
            <a:endParaRPr lang="es-CL"/>
          </a:p>
        </p:txBody>
      </p:sp>
      <p:sp>
        <p:nvSpPr>
          <p:cNvPr id="24" name="Text 22"/>
          <p:cNvSpPr/>
          <p:nvPr/>
        </p:nvSpPr>
        <p:spPr>
          <a:xfrm>
            <a:off x="6748272" y="20574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p:nvPr/>
        </p:nvSpPr>
        <p:spPr>
          <a:xfrm>
            <a:off x="6199632" y="2542032"/>
            <a:ext cx="1481328" cy="502920"/>
          </a:xfrm>
          <a:prstGeom prst="rect">
            <a:avLst/>
          </a:prstGeom>
          <a:noFill/>
          <a:ln/>
        </p:spPr>
        <p:txBody>
          <a:bodyPr wrap="square" lIns="0" tIns="0" rIns="0" bIns="0" rtlCol="0" anchor="ctr"/>
          <a:lstStyle/>
          <a:p>
            <a:pPr marL="0" indent="0" algn="ctr">
              <a:buNone/>
            </a:pPr>
            <a:r>
              <a:rPr lang="en-US" sz="1250" b="1" dirty="0">
                <a:solidFill>
                  <a:srgbClr val="06304A"/>
                </a:solidFill>
                <a:latin typeface="Calibri" pitchFamily="34" charset="0"/>
                <a:ea typeface="Calibri" pitchFamily="34" charset="-122"/>
                <a:cs typeface="Calibri" pitchFamily="34" charset="-120"/>
              </a:rPr>
              <a:t>Transformación</a:t>
            </a:r>
            <a:endParaRPr lang="en-US" sz="1250" dirty="0"/>
          </a:p>
        </p:txBody>
      </p:sp>
      <p:sp>
        <p:nvSpPr>
          <p:cNvPr id="26" name="Text 24"/>
          <p:cNvSpPr/>
          <p:nvPr/>
        </p:nvSpPr>
        <p:spPr>
          <a:xfrm>
            <a:off x="6199632" y="3017520"/>
            <a:ext cx="1481328" cy="1005840"/>
          </a:xfrm>
          <a:prstGeom prst="rect">
            <a:avLst/>
          </a:prstGeom>
          <a:noFill/>
          <a:ln/>
        </p:spPr>
        <p:txBody>
          <a:bodyPr wrap="square" lIns="0" tIns="0" rIns="0" bIns="0" rtlCol="0" anchor="ctr"/>
          <a:lstStyle/>
          <a:p>
            <a:pPr marL="0" indent="0" algn="ctr">
              <a:lnSpc>
                <a:spcPts val="1400"/>
              </a:lnSpc>
              <a:buNone/>
            </a:pPr>
            <a:r>
              <a:rPr lang="en-US" sz="1050" dirty="0">
                <a:solidFill>
                  <a:srgbClr val="5A6B7B"/>
                </a:solidFill>
                <a:latin typeface="Calibri" pitchFamily="34" charset="0"/>
                <a:ea typeface="Calibri" pitchFamily="34" charset="-122"/>
                <a:cs typeface="Calibri" pitchFamily="34" charset="-120"/>
              </a:rPr>
              <a:t>Se limpia, se corrige y se derivan nuevas variables.</a:t>
            </a:r>
            <a:endParaRPr lang="en-US" sz="1050" dirty="0"/>
          </a:p>
        </p:txBody>
      </p:sp>
      <p:sp>
        <p:nvSpPr>
          <p:cNvPr id="27" name="Text 25"/>
          <p:cNvSpPr/>
          <p:nvPr/>
        </p:nvSpPr>
        <p:spPr>
          <a:xfrm>
            <a:off x="7790688" y="2743200"/>
            <a:ext cx="146304" cy="365760"/>
          </a:xfrm>
          <a:prstGeom prst="rect">
            <a:avLst/>
          </a:prstGeom>
          <a:noFill/>
          <a:ln/>
        </p:spPr>
        <p:txBody>
          <a:bodyPr wrap="square" lIns="0" tIns="0" rIns="0" bIns="0" rtlCol="0" anchor="ctr"/>
          <a:lstStyle/>
          <a:p>
            <a:pPr marL="0" indent="0" algn="ctr">
              <a:buNone/>
            </a:pPr>
            <a:r>
              <a:rPr lang="en-US" sz="1500" dirty="0">
                <a:solidFill>
                  <a:srgbClr val="AC212E"/>
                </a:solidFill>
                <a:latin typeface="Calibri" pitchFamily="34" charset="0"/>
                <a:ea typeface="Calibri" pitchFamily="34" charset="-122"/>
                <a:cs typeface="Calibri" pitchFamily="34" charset="-120"/>
              </a:rPr>
              <a:t>›</a:t>
            </a:r>
            <a:endParaRPr lang="en-US" sz="1500" dirty="0"/>
          </a:p>
        </p:txBody>
      </p:sp>
      <p:sp>
        <p:nvSpPr>
          <p:cNvPr id="28" name="Shape 26"/>
          <p:cNvSpPr/>
          <p:nvPr/>
        </p:nvSpPr>
        <p:spPr>
          <a:xfrm>
            <a:off x="7936992" y="1874520"/>
            <a:ext cx="1700784" cy="2286000"/>
          </a:xfrm>
          <a:prstGeom prst="roundRect">
            <a:avLst>
              <a:gd name="adj" fmla="val 4839"/>
            </a:avLst>
          </a:prstGeom>
          <a:solidFill>
            <a:srgbClr val="F4F7FA"/>
          </a:solidFill>
          <a:ln w="12700">
            <a:solidFill>
              <a:srgbClr val="F4F7FA"/>
            </a:solidFill>
            <a:prstDash val="solid"/>
          </a:ln>
        </p:spPr>
        <p:txBody>
          <a:bodyPr/>
          <a:lstStyle/>
          <a:p>
            <a:endParaRPr lang="es-CL"/>
          </a:p>
        </p:txBody>
      </p:sp>
      <p:sp>
        <p:nvSpPr>
          <p:cNvPr id="29" name="Shape 27"/>
          <p:cNvSpPr/>
          <p:nvPr/>
        </p:nvSpPr>
        <p:spPr>
          <a:xfrm>
            <a:off x="8595360" y="2057400"/>
            <a:ext cx="384048" cy="384048"/>
          </a:xfrm>
          <a:prstGeom prst="ellipse">
            <a:avLst/>
          </a:prstGeom>
          <a:solidFill>
            <a:srgbClr val="AC212E"/>
          </a:solidFill>
          <a:ln/>
        </p:spPr>
        <p:txBody>
          <a:bodyPr/>
          <a:lstStyle/>
          <a:p>
            <a:endParaRPr lang="es-CL"/>
          </a:p>
        </p:txBody>
      </p:sp>
      <p:sp>
        <p:nvSpPr>
          <p:cNvPr id="30" name="Text 28"/>
          <p:cNvSpPr/>
          <p:nvPr/>
        </p:nvSpPr>
        <p:spPr>
          <a:xfrm>
            <a:off x="8595360" y="20574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1" name="Text 29"/>
          <p:cNvSpPr/>
          <p:nvPr/>
        </p:nvSpPr>
        <p:spPr>
          <a:xfrm>
            <a:off x="8046720" y="2542032"/>
            <a:ext cx="1481328" cy="502920"/>
          </a:xfrm>
          <a:prstGeom prst="rect">
            <a:avLst/>
          </a:prstGeom>
          <a:noFill/>
          <a:ln/>
        </p:spPr>
        <p:txBody>
          <a:bodyPr wrap="square" lIns="0" tIns="0" rIns="0" bIns="0" rtlCol="0" anchor="ctr"/>
          <a:lstStyle/>
          <a:p>
            <a:pPr marL="0" indent="0" algn="ctr">
              <a:buNone/>
            </a:pPr>
            <a:r>
              <a:rPr lang="en-US" sz="1250" b="1" dirty="0">
                <a:solidFill>
                  <a:srgbClr val="06304A"/>
                </a:solidFill>
                <a:latin typeface="Calibri" pitchFamily="34" charset="0"/>
                <a:ea typeface="Calibri" pitchFamily="34" charset="-122"/>
                <a:cs typeface="Calibri" pitchFamily="34" charset="-120"/>
              </a:rPr>
              <a:t>Análisis</a:t>
            </a:r>
            <a:endParaRPr lang="en-US" sz="1250" dirty="0"/>
          </a:p>
        </p:txBody>
      </p:sp>
      <p:sp>
        <p:nvSpPr>
          <p:cNvPr id="32" name="Text 30"/>
          <p:cNvSpPr/>
          <p:nvPr/>
        </p:nvSpPr>
        <p:spPr>
          <a:xfrm>
            <a:off x="8046720" y="3017520"/>
            <a:ext cx="1481328" cy="1005840"/>
          </a:xfrm>
          <a:prstGeom prst="rect">
            <a:avLst/>
          </a:prstGeom>
          <a:noFill/>
          <a:ln/>
        </p:spPr>
        <p:txBody>
          <a:bodyPr wrap="square" lIns="0" tIns="0" rIns="0" bIns="0" rtlCol="0" anchor="ctr"/>
          <a:lstStyle/>
          <a:p>
            <a:pPr marL="0" indent="0" algn="ctr">
              <a:lnSpc>
                <a:spcPts val="1400"/>
              </a:lnSpc>
              <a:buNone/>
            </a:pPr>
            <a:r>
              <a:rPr lang="en-US" sz="1050" dirty="0">
                <a:solidFill>
                  <a:srgbClr val="5A6B7B"/>
                </a:solidFill>
                <a:latin typeface="Calibri" pitchFamily="34" charset="0"/>
                <a:ea typeface="Calibri" pitchFamily="34" charset="-122"/>
                <a:cs typeface="Calibri" pitchFamily="34" charset="-120"/>
              </a:rPr>
              <a:t>Se aplican procedimientos para responder la pregunta.</a:t>
            </a:r>
            <a:endParaRPr lang="en-US" sz="1050" dirty="0"/>
          </a:p>
        </p:txBody>
      </p:sp>
      <p:sp>
        <p:nvSpPr>
          <p:cNvPr id="33" name="Text 31"/>
          <p:cNvSpPr/>
          <p:nvPr/>
        </p:nvSpPr>
        <p:spPr>
          <a:xfrm>
            <a:off x="9637776" y="2743200"/>
            <a:ext cx="146304" cy="365760"/>
          </a:xfrm>
          <a:prstGeom prst="rect">
            <a:avLst/>
          </a:prstGeom>
          <a:noFill/>
          <a:ln/>
        </p:spPr>
        <p:txBody>
          <a:bodyPr wrap="square" lIns="0" tIns="0" rIns="0" bIns="0" rtlCol="0" anchor="ctr"/>
          <a:lstStyle/>
          <a:p>
            <a:pPr marL="0" indent="0" algn="ctr">
              <a:buNone/>
            </a:pPr>
            <a:r>
              <a:rPr lang="en-US" sz="1500" dirty="0">
                <a:solidFill>
                  <a:srgbClr val="AC212E"/>
                </a:solidFill>
                <a:latin typeface="Calibri" pitchFamily="34" charset="0"/>
                <a:ea typeface="Calibri" pitchFamily="34" charset="-122"/>
                <a:cs typeface="Calibri" pitchFamily="34" charset="-120"/>
              </a:rPr>
              <a:t>›</a:t>
            </a:r>
            <a:endParaRPr lang="en-US" sz="1500" dirty="0"/>
          </a:p>
        </p:txBody>
      </p:sp>
      <p:sp>
        <p:nvSpPr>
          <p:cNvPr id="34" name="Shape 32"/>
          <p:cNvSpPr/>
          <p:nvPr/>
        </p:nvSpPr>
        <p:spPr>
          <a:xfrm>
            <a:off x="9784080" y="1874520"/>
            <a:ext cx="1700784" cy="2286000"/>
          </a:xfrm>
          <a:prstGeom prst="roundRect">
            <a:avLst>
              <a:gd name="adj" fmla="val 4839"/>
            </a:avLst>
          </a:prstGeom>
          <a:solidFill>
            <a:srgbClr val="F4F7FA"/>
          </a:solidFill>
          <a:ln w="12700">
            <a:solidFill>
              <a:srgbClr val="F4F7FA"/>
            </a:solidFill>
            <a:prstDash val="solid"/>
          </a:ln>
        </p:spPr>
        <p:txBody>
          <a:bodyPr/>
          <a:lstStyle/>
          <a:p>
            <a:endParaRPr lang="es-CL"/>
          </a:p>
        </p:txBody>
      </p:sp>
      <p:sp>
        <p:nvSpPr>
          <p:cNvPr id="35" name="Shape 33"/>
          <p:cNvSpPr/>
          <p:nvPr/>
        </p:nvSpPr>
        <p:spPr>
          <a:xfrm>
            <a:off x="10442448" y="2057400"/>
            <a:ext cx="384048" cy="384048"/>
          </a:xfrm>
          <a:prstGeom prst="ellipse">
            <a:avLst/>
          </a:prstGeom>
          <a:solidFill>
            <a:srgbClr val="AC212E"/>
          </a:solidFill>
          <a:ln/>
        </p:spPr>
        <p:txBody>
          <a:bodyPr/>
          <a:lstStyle/>
          <a:p>
            <a:endParaRPr lang="es-CL"/>
          </a:p>
        </p:txBody>
      </p:sp>
      <p:sp>
        <p:nvSpPr>
          <p:cNvPr id="36" name="Text 34"/>
          <p:cNvSpPr/>
          <p:nvPr/>
        </p:nvSpPr>
        <p:spPr>
          <a:xfrm>
            <a:off x="10442448" y="20574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7" name="Text 35"/>
          <p:cNvSpPr/>
          <p:nvPr/>
        </p:nvSpPr>
        <p:spPr>
          <a:xfrm>
            <a:off x="9893808" y="2542032"/>
            <a:ext cx="1481328" cy="502920"/>
          </a:xfrm>
          <a:prstGeom prst="rect">
            <a:avLst/>
          </a:prstGeom>
          <a:noFill/>
          <a:ln/>
        </p:spPr>
        <p:txBody>
          <a:bodyPr wrap="square" lIns="0" tIns="0" rIns="0" bIns="0" rtlCol="0" anchor="ctr"/>
          <a:lstStyle/>
          <a:p>
            <a:pPr marL="0" indent="0" algn="ctr">
              <a:buNone/>
            </a:pPr>
            <a:r>
              <a:rPr lang="en-US" sz="1250" b="1" dirty="0">
                <a:solidFill>
                  <a:srgbClr val="06304A"/>
                </a:solidFill>
                <a:latin typeface="Calibri" pitchFamily="34" charset="0"/>
                <a:ea typeface="Calibri" pitchFamily="34" charset="-122"/>
                <a:cs typeface="Calibri" pitchFamily="34" charset="-120"/>
              </a:rPr>
              <a:t>Comunicación</a:t>
            </a:r>
            <a:endParaRPr lang="en-US" sz="1250" dirty="0"/>
          </a:p>
        </p:txBody>
      </p:sp>
      <p:sp>
        <p:nvSpPr>
          <p:cNvPr id="38" name="Text 36"/>
          <p:cNvSpPr/>
          <p:nvPr/>
        </p:nvSpPr>
        <p:spPr>
          <a:xfrm>
            <a:off x="9893808" y="3017520"/>
            <a:ext cx="1481328" cy="1005840"/>
          </a:xfrm>
          <a:prstGeom prst="rect">
            <a:avLst/>
          </a:prstGeom>
          <a:noFill/>
          <a:ln/>
        </p:spPr>
        <p:txBody>
          <a:bodyPr wrap="square" lIns="0" tIns="0" rIns="0" bIns="0" rtlCol="0" anchor="ctr"/>
          <a:lstStyle/>
          <a:p>
            <a:pPr marL="0" indent="0" algn="ctr">
              <a:lnSpc>
                <a:spcPts val="1400"/>
              </a:lnSpc>
              <a:buNone/>
            </a:pPr>
            <a:r>
              <a:rPr lang="en-US" sz="1050" dirty="0">
                <a:solidFill>
                  <a:srgbClr val="5A6B7B"/>
                </a:solidFill>
                <a:latin typeface="Calibri" pitchFamily="34" charset="0"/>
                <a:ea typeface="Calibri" pitchFamily="34" charset="-122"/>
                <a:cs typeface="Calibri" pitchFamily="34" charset="-120"/>
              </a:rPr>
              <a:t>Se interpretan y se transmiten los hallazgos.</a:t>
            </a:r>
            <a:endParaRPr lang="en-US" sz="1050" dirty="0"/>
          </a:p>
        </p:txBody>
      </p:sp>
      <p:sp>
        <p:nvSpPr>
          <p:cNvPr id="39" name="Shape 37"/>
          <p:cNvSpPr/>
          <p:nvPr/>
        </p:nvSpPr>
        <p:spPr>
          <a:xfrm>
            <a:off x="548640" y="4434840"/>
            <a:ext cx="11064240" cy="1508760"/>
          </a:xfrm>
          <a:prstGeom prst="roundRect">
            <a:avLst>
              <a:gd name="adj" fmla="val 5455"/>
            </a:avLst>
          </a:prstGeom>
          <a:solidFill>
            <a:srgbClr val="0A1526"/>
          </a:solidFill>
          <a:ln w="12700">
            <a:solidFill>
              <a:srgbClr val="0A1526"/>
            </a:solidFill>
            <a:prstDash val="solid"/>
          </a:ln>
        </p:spPr>
        <p:txBody>
          <a:bodyPr/>
          <a:lstStyle/>
          <a:p>
            <a:endParaRPr lang="es-CL"/>
          </a:p>
        </p:txBody>
      </p:sp>
      <p:sp>
        <p:nvSpPr>
          <p:cNvPr id="40" name="Text 38"/>
          <p:cNvSpPr/>
          <p:nvPr/>
        </p:nvSpPr>
        <p:spPr>
          <a:xfrm>
            <a:off x="868680" y="4590288"/>
            <a:ext cx="365760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Dos propiedades del ciclo</a:t>
            </a:r>
            <a:endParaRPr lang="en-US" sz="1400" dirty="0"/>
          </a:p>
        </p:txBody>
      </p:sp>
      <p:sp>
        <p:nvSpPr>
          <p:cNvPr id="41" name="Text 39"/>
          <p:cNvSpPr/>
          <p:nvPr/>
        </p:nvSpPr>
        <p:spPr>
          <a:xfrm>
            <a:off x="868680" y="4956048"/>
            <a:ext cx="10424160" cy="868680"/>
          </a:xfrm>
          <a:prstGeom prst="rect">
            <a:avLst/>
          </a:prstGeom>
          <a:noFill/>
          <a:ln/>
        </p:spPr>
        <p:txBody>
          <a:bodyPr wrap="square" lIns="0" tIns="0" rIns="0" bIns="0" rtlCol="0" anchor="ctr"/>
          <a:lstStyle/>
          <a:p>
            <a:pPr marL="0" indent="0">
              <a:lnSpc>
                <a:spcPts val="1900"/>
              </a:lnSpc>
              <a:buNone/>
            </a:pPr>
            <a:r>
              <a:rPr lang="en-US" sz="1350" dirty="0">
                <a:solidFill>
                  <a:srgbClr val="D7E3EE"/>
                </a:solidFill>
                <a:latin typeface="Calibri" pitchFamily="34" charset="0"/>
                <a:ea typeface="Calibri" pitchFamily="34" charset="-122"/>
                <a:cs typeface="Calibri" pitchFamily="34" charset="-120"/>
              </a:rPr>
              <a:t>No es lineal en la práctica: se vuelve atrás cada vez que la exploración revela algo que obliga a redefinir. Y el dato crudo nunca se modifica: cada etapa produce una versión nueva, de modo que siempre se puede volver al origen y demostrar qué se transformó.</a:t>
            </a:r>
            <a:endParaRPr lang="en-US" sz="1350" dirty="0"/>
          </a:p>
        </p:txBody>
      </p:sp>
      <p:pic>
        <p:nvPicPr>
          <p:cNvPr id="43" name="Imagen 42">
            <a:extLst>
              <a:ext uri="{FF2B5EF4-FFF2-40B4-BE49-F238E27FC236}">
                <a16:creationId xmlns:a16="http://schemas.microsoft.com/office/drawing/2014/main" id="{38D39BFD-9FBE-56B1-013E-3FAEE6FFE06E}"/>
              </a:ext>
            </a:extLst>
          </p:cNvPr>
          <p:cNvPicPr>
            <a:picLocks noChangeAspect="1"/>
          </p:cNvPicPr>
          <p:nvPr/>
        </p:nvPicPr>
        <p:blipFill>
          <a:blip r:embed="rId3"/>
          <a:stretch>
            <a:fillRect/>
          </a:stretch>
        </p:blipFill>
        <p:spPr>
          <a:xfrm>
            <a:off x="8514842" y="171817"/>
            <a:ext cx="2970022" cy="1565543"/>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Reproducibilidad: el concepto central de la unidad</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Es la propiedad que distingue un resultado verificable de una afirmación sin respaldo.</a:t>
            </a:r>
            <a:endParaRPr lang="en-US" sz="1400" dirty="0"/>
          </a:p>
        </p:txBody>
      </p:sp>
      <p:sp>
        <p:nvSpPr>
          <p:cNvPr id="4" name="Shape 2"/>
          <p:cNvSpPr/>
          <p:nvPr/>
        </p:nvSpPr>
        <p:spPr>
          <a:xfrm>
            <a:off x="548640" y="1737360"/>
            <a:ext cx="11064240" cy="914400"/>
          </a:xfrm>
          <a:prstGeom prst="roundRect">
            <a:avLst>
              <a:gd name="adj" fmla="val 9000"/>
            </a:avLst>
          </a:prstGeom>
          <a:solidFill>
            <a:srgbClr val="0A1526"/>
          </a:solidFill>
          <a:ln w="12700">
            <a:solidFill>
              <a:srgbClr val="0A1526"/>
            </a:solidFill>
            <a:prstDash val="solid"/>
          </a:ln>
        </p:spPr>
        <p:txBody>
          <a:bodyPr/>
          <a:lstStyle/>
          <a:p>
            <a:endParaRPr lang="es-CL"/>
          </a:p>
        </p:txBody>
      </p:sp>
      <p:sp>
        <p:nvSpPr>
          <p:cNvPr id="5" name="Text 3"/>
          <p:cNvSpPr/>
          <p:nvPr/>
        </p:nvSpPr>
        <p:spPr>
          <a:xfrm>
            <a:off x="868680" y="1874520"/>
            <a:ext cx="10424160" cy="64008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Un trabajo es reproducible cuando otra persona, con los mismos datos y el mismo código, obtiene exactamente el mismo resultado.</a:t>
            </a:r>
            <a:endParaRPr lang="en-US" sz="1600" dirty="0"/>
          </a:p>
        </p:txBody>
      </p:sp>
      <p:sp>
        <p:nvSpPr>
          <p:cNvPr id="6" name="Shape 4"/>
          <p:cNvSpPr/>
          <p:nvPr/>
        </p:nvSpPr>
        <p:spPr>
          <a:xfrm>
            <a:off x="548640" y="2834640"/>
            <a:ext cx="5303520" cy="1417320"/>
          </a:xfrm>
          <a:prstGeom prst="roundRect">
            <a:avLst>
              <a:gd name="adj" fmla="val 5806"/>
            </a:avLst>
          </a:prstGeom>
          <a:solidFill>
            <a:srgbClr val="F6E7E9"/>
          </a:solidFill>
          <a:ln w="12700">
            <a:solidFill>
              <a:srgbClr val="F6E7E9"/>
            </a:solidFill>
            <a:prstDash val="solid"/>
          </a:ln>
        </p:spPr>
        <p:txBody>
          <a:bodyPr/>
          <a:lstStyle/>
          <a:p>
            <a:endParaRPr lang="es-CL"/>
          </a:p>
        </p:txBody>
      </p:sp>
      <p:sp>
        <p:nvSpPr>
          <p:cNvPr id="7" name="Text 5"/>
          <p:cNvSpPr/>
          <p:nvPr/>
        </p:nvSpPr>
        <p:spPr>
          <a:xfrm>
            <a:off x="822960" y="2999232"/>
            <a:ext cx="4754880" cy="347472"/>
          </a:xfrm>
          <a:prstGeom prst="rect">
            <a:avLst/>
          </a:prstGeom>
          <a:noFill/>
          <a:ln/>
        </p:spPr>
        <p:txBody>
          <a:bodyPr wrap="square" lIns="0" tIns="0" rIns="0" bIns="0" rtlCol="0" anchor="ctr"/>
          <a:lstStyle/>
          <a:p>
            <a:pPr marL="0" indent="0">
              <a:buNone/>
            </a:pPr>
            <a:r>
              <a:rPr lang="en-US" sz="1600" b="1" dirty="0">
                <a:solidFill>
                  <a:srgbClr val="AC212E"/>
                </a:solidFill>
                <a:latin typeface="Calibri" pitchFamily="34" charset="0"/>
                <a:ea typeface="Calibri" pitchFamily="34" charset="-122"/>
                <a:cs typeface="Calibri" pitchFamily="34" charset="-120"/>
              </a:rPr>
              <a:t>Reproducibilidad</a:t>
            </a:r>
            <a:endParaRPr lang="en-US" sz="1600" dirty="0"/>
          </a:p>
        </p:txBody>
      </p:sp>
      <p:sp>
        <p:nvSpPr>
          <p:cNvPr id="8" name="Text 6"/>
          <p:cNvSpPr/>
          <p:nvPr/>
        </p:nvSpPr>
        <p:spPr>
          <a:xfrm>
            <a:off x="822960" y="3364992"/>
            <a:ext cx="4754880" cy="457200"/>
          </a:xfrm>
          <a:prstGeom prst="rect">
            <a:avLst/>
          </a:prstGeom>
          <a:noFill/>
          <a:ln/>
        </p:spPr>
        <p:txBody>
          <a:bodyPr wrap="square" lIns="0" tIns="0" rIns="0" bIns="0" rtlCol="0" anchor="ctr"/>
          <a:lstStyle/>
          <a:p>
            <a:pPr marL="0" indent="0">
              <a:lnSpc>
                <a:spcPts val="1700"/>
              </a:lnSpc>
              <a:buNone/>
            </a:pPr>
            <a:r>
              <a:rPr lang="en-US" sz="1300" dirty="0">
                <a:solidFill>
                  <a:srgbClr val="06304A"/>
                </a:solidFill>
                <a:latin typeface="Calibri" pitchFamily="34" charset="0"/>
                <a:ea typeface="Calibri" pitchFamily="34" charset="-122"/>
                <a:cs typeface="Calibri" pitchFamily="34" charset="-120"/>
              </a:rPr>
              <a:t>Mismos datos, mismo código, mismo resultado.</a:t>
            </a:r>
            <a:endParaRPr lang="en-US" sz="1300" dirty="0"/>
          </a:p>
        </p:txBody>
      </p:sp>
      <p:sp>
        <p:nvSpPr>
          <p:cNvPr id="9" name="Text 7"/>
          <p:cNvSpPr/>
          <p:nvPr/>
        </p:nvSpPr>
        <p:spPr>
          <a:xfrm>
            <a:off x="822960" y="3840480"/>
            <a:ext cx="4754880" cy="320040"/>
          </a:xfrm>
          <a:prstGeom prst="rect">
            <a:avLst/>
          </a:prstGeom>
          <a:noFill/>
          <a:ln/>
        </p:spPr>
        <p:txBody>
          <a:bodyPr wrap="square" lIns="0" tIns="0" rIns="0" bIns="0" rtlCol="0" anchor="ctr"/>
          <a:lstStyle/>
          <a:p>
            <a:pPr marL="0" indent="0">
              <a:buNone/>
            </a:pPr>
            <a:r>
              <a:rPr lang="en-US" sz="1200" i="1" dirty="0">
                <a:solidFill>
                  <a:srgbClr val="5A6B7B"/>
                </a:solidFill>
                <a:latin typeface="Calibri" pitchFamily="34" charset="0"/>
                <a:ea typeface="Calibri" pitchFamily="34" charset="-122"/>
                <a:cs typeface="Calibri" pitchFamily="34" charset="-120"/>
              </a:rPr>
              <a:t>Es lo que se exige en este curso.</a:t>
            </a:r>
            <a:endParaRPr lang="en-US" sz="1200" dirty="0"/>
          </a:p>
        </p:txBody>
      </p:sp>
      <p:sp>
        <p:nvSpPr>
          <p:cNvPr id="10" name="Shape 8"/>
          <p:cNvSpPr/>
          <p:nvPr/>
        </p:nvSpPr>
        <p:spPr>
          <a:xfrm>
            <a:off x="6309360" y="2834640"/>
            <a:ext cx="5303520" cy="1417320"/>
          </a:xfrm>
          <a:prstGeom prst="roundRect">
            <a:avLst>
              <a:gd name="adj" fmla="val 5806"/>
            </a:avLst>
          </a:prstGeom>
          <a:solidFill>
            <a:srgbClr val="F4F7FA"/>
          </a:solidFill>
          <a:ln w="12700">
            <a:solidFill>
              <a:srgbClr val="F4F7FA"/>
            </a:solidFill>
            <a:prstDash val="solid"/>
          </a:ln>
        </p:spPr>
        <p:txBody>
          <a:bodyPr/>
          <a:lstStyle/>
          <a:p>
            <a:endParaRPr lang="es-CL"/>
          </a:p>
        </p:txBody>
      </p:sp>
      <p:sp>
        <p:nvSpPr>
          <p:cNvPr id="11" name="Text 9"/>
          <p:cNvSpPr/>
          <p:nvPr/>
        </p:nvSpPr>
        <p:spPr>
          <a:xfrm>
            <a:off x="6583680" y="2999232"/>
            <a:ext cx="4754880" cy="347472"/>
          </a:xfrm>
          <a:prstGeom prst="rect">
            <a:avLst/>
          </a:prstGeom>
          <a:noFill/>
          <a:ln/>
        </p:spPr>
        <p:txBody>
          <a:bodyPr wrap="square" lIns="0" tIns="0" rIns="0" bIns="0" rtlCol="0" anchor="ctr"/>
          <a:lstStyle/>
          <a:p>
            <a:pPr marL="0" indent="0">
              <a:buNone/>
            </a:pPr>
            <a:r>
              <a:rPr lang="en-US" sz="1600" b="1" dirty="0">
                <a:solidFill>
                  <a:srgbClr val="06304A"/>
                </a:solidFill>
                <a:latin typeface="Calibri" pitchFamily="34" charset="0"/>
                <a:ea typeface="Calibri" pitchFamily="34" charset="-122"/>
                <a:cs typeface="Calibri" pitchFamily="34" charset="-120"/>
              </a:rPr>
              <a:t>Replicabilidad</a:t>
            </a:r>
            <a:endParaRPr lang="en-US" sz="1600" dirty="0"/>
          </a:p>
        </p:txBody>
      </p:sp>
      <p:sp>
        <p:nvSpPr>
          <p:cNvPr id="12" name="Text 10"/>
          <p:cNvSpPr/>
          <p:nvPr/>
        </p:nvSpPr>
        <p:spPr>
          <a:xfrm>
            <a:off x="6583680" y="3364992"/>
            <a:ext cx="4754880" cy="457200"/>
          </a:xfrm>
          <a:prstGeom prst="rect">
            <a:avLst/>
          </a:prstGeom>
          <a:noFill/>
          <a:ln/>
        </p:spPr>
        <p:txBody>
          <a:bodyPr wrap="square" lIns="0" tIns="0" rIns="0" bIns="0" rtlCol="0" anchor="ctr"/>
          <a:lstStyle/>
          <a:p>
            <a:pPr marL="0" indent="0">
              <a:lnSpc>
                <a:spcPts val="1700"/>
              </a:lnSpc>
              <a:buNone/>
            </a:pPr>
            <a:r>
              <a:rPr lang="en-US" sz="1300" dirty="0">
                <a:solidFill>
                  <a:srgbClr val="06304A"/>
                </a:solidFill>
                <a:latin typeface="Calibri" pitchFamily="34" charset="0"/>
                <a:ea typeface="Calibri" pitchFamily="34" charset="-122"/>
                <a:cs typeface="Calibri" pitchFamily="34" charset="-120"/>
              </a:rPr>
              <a:t>Datos nuevos, mismo procedimiento, conclusiones equivalentes.</a:t>
            </a:r>
            <a:endParaRPr lang="en-US" sz="1300" dirty="0"/>
          </a:p>
        </p:txBody>
      </p:sp>
      <p:sp>
        <p:nvSpPr>
          <p:cNvPr id="13" name="Text 11"/>
          <p:cNvSpPr/>
          <p:nvPr/>
        </p:nvSpPr>
        <p:spPr>
          <a:xfrm>
            <a:off x="6583680" y="3840480"/>
            <a:ext cx="4754880" cy="320040"/>
          </a:xfrm>
          <a:prstGeom prst="rect">
            <a:avLst/>
          </a:prstGeom>
          <a:noFill/>
          <a:ln/>
        </p:spPr>
        <p:txBody>
          <a:bodyPr wrap="square" lIns="0" tIns="0" rIns="0" bIns="0" rtlCol="0" anchor="ctr"/>
          <a:lstStyle/>
          <a:p>
            <a:pPr marL="0" indent="0">
              <a:buNone/>
            </a:pPr>
            <a:r>
              <a:rPr lang="en-US" sz="1200" i="1" dirty="0">
                <a:solidFill>
                  <a:srgbClr val="5A6B7B"/>
                </a:solidFill>
                <a:latin typeface="Calibri" pitchFamily="34" charset="0"/>
                <a:ea typeface="Calibri" pitchFamily="34" charset="-122"/>
                <a:cs typeface="Calibri" pitchFamily="34" charset="-120"/>
              </a:rPr>
              <a:t>Pertenece al diseño de la investigación.</a:t>
            </a:r>
            <a:endParaRPr lang="en-US" sz="1200" dirty="0"/>
          </a:p>
        </p:txBody>
      </p:sp>
      <p:sp>
        <p:nvSpPr>
          <p:cNvPr id="14" name="Text 12"/>
          <p:cNvSpPr/>
          <p:nvPr/>
        </p:nvSpPr>
        <p:spPr>
          <a:xfrm>
            <a:off x="548640" y="4434840"/>
            <a:ext cx="7315200" cy="36576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Tres condiciones que deben cumplirse a la vez</a:t>
            </a:r>
            <a:endParaRPr lang="en-US" sz="1500" dirty="0"/>
          </a:p>
        </p:txBody>
      </p:sp>
      <p:sp>
        <p:nvSpPr>
          <p:cNvPr id="15" name="Shape 13"/>
          <p:cNvSpPr/>
          <p:nvPr/>
        </p:nvSpPr>
        <p:spPr>
          <a:xfrm>
            <a:off x="548640" y="4846320"/>
            <a:ext cx="3520440" cy="1097280"/>
          </a:xfrm>
          <a:prstGeom prst="roundRect">
            <a:avLst>
              <a:gd name="adj" fmla="val 7500"/>
            </a:avLst>
          </a:prstGeom>
          <a:solidFill>
            <a:srgbClr val="F4F7FA"/>
          </a:solidFill>
          <a:ln w="12700">
            <a:solidFill>
              <a:srgbClr val="F4F7FA"/>
            </a:solidFill>
            <a:prstDash val="solid"/>
          </a:ln>
        </p:spPr>
        <p:txBody>
          <a:bodyPr/>
          <a:lstStyle/>
          <a:p>
            <a:endParaRPr lang="es-CL"/>
          </a:p>
        </p:txBody>
      </p:sp>
      <p:sp>
        <p:nvSpPr>
          <p:cNvPr id="16" name="Text 14"/>
          <p:cNvSpPr/>
          <p:nvPr/>
        </p:nvSpPr>
        <p:spPr>
          <a:xfrm>
            <a:off x="777240" y="4983480"/>
            <a:ext cx="3063240" cy="292608"/>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Los datos</a:t>
            </a:r>
            <a:endParaRPr lang="en-US" sz="1400" dirty="0"/>
          </a:p>
        </p:txBody>
      </p:sp>
      <p:sp>
        <p:nvSpPr>
          <p:cNvPr id="17" name="Text 15"/>
          <p:cNvSpPr/>
          <p:nvPr/>
        </p:nvSpPr>
        <p:spPr>
          <a:xfrm>
            <a:off x="777240" y="5303520"/>
            <a:ext cx="3063240" cy="548640"/>
          </a:xfrm>
          <a:prstGeom prst="rect">
            <a:avLst/>
          </a:prstGeom>
          <a:noFill/>
          <a:ln/>
        </p:spPr>
        <p:txBody>
          <a:bodyPr wrap="square" lIns="0" tIns="0" rIns="0" bIns="0" rtlCol="0" anchor="ctr"/>
          <a:lstStyle/>
          <a:p>
            <a:pPr marL="0" indent="0">
              <a:lnSpc>
                <a:spcPts val="1600"/>
              </a:lnSpc>
              <a:buNone/>
            </a:pPr>
            <a:r>
              <a:rPr lang="en-US" sz="1250" dirty="0">
                <a:solidFill>
                  <a:srgbClr val="06304A"/>
                </a:solidFill>
                <a:latin typeface="Calibri" pitchFamily="34" charset="0"/>
                <a:ea typeface="Calibri" pitchFamily="34" charset="-122"/>
                <a:cs typeface="Calibri" pitchFamily="34" charset="-120"/>
              </a:rPr>
              <a:t>Disponibles, o su origen documentado con precisión.</a:t>
            </a:r>
            <a:endParaRPr lang="en-US" sz="1250" dirty="0"/>
          </a:p>
        </p:txBody>
      </p:sp>
      <p:sp>
        <p:nvSpPr>
          <p:cNvPr id="18" name="Shape 16"/>
          <p:cNvSpPr/>
          <p:nvPr/>
        </p:nvSpPr>
        <p:spPr>
          <a:xfrm>
            <a:off x="4325112" y="4846320"/>
            <a:ext cx="3520440" cy="1097280"/>
          </a:xfrm>
          <a:prstGeom prst="roundRect">
            <a:avLst>
              <a:gd name="adj" fmla="val 7500"/>
            </a:avLst>
          </a:prstGeom>
          <a:solidFill>
            <a:srgbClr val="F4F7FA"/>
          </a:solidFill>
          <a:ln w="12700">
            <a:solidFill>
              <a:srgbClr val="F4F7FA"/>
            </a:solidFill>
            <a:prstDash val="solid"/>
          </a:ln>
        </p:spPr>
        <p:txBody>
          <a:bodyPr/>
          <a:lstStyle/>
          <a:p>
            <a:endParaRPr lang="es-CL"/>
          </a:p>
        </p:txBody>
      </p:sp>
      <p:sp>
        <p:nvSpPr>
          <p:cNvPr id="19" name="Text 17"/>
          <p:cNvSpPr/>
          <p:nvPr/>
        </p:nvSpPr>
        <p:spPr>
          <a:xfrm>
            <a:off x="4553712" y="4983480"/>
            <a:ext cx="3063240" cy="292608"/>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El código</a:t>
            </a:r>
            <a:endParaRPr lang="en-US" sz="1400" dirty="0"/>
          </a:p>
        </p:txBody>
      </p:sp>
      <p:sp>
        <p:nvSpPr>
          <p:cNvPr id="20" name="Text 18"/>
          <p:cNvSpPr/>
          <p:nvPr/>
        </p:nvSpPr>
        <p:spPr>
          <a:xfrm>
            <a:off x="4553712" y="5303520"/>
            <a:ext cx="3063240" cy="548640"/>
          </a:xfrm>
          <a:prstGeom prst="rect">
            <a:avLst/>
          </a:prstGeom>
          <a:noFill/>
          <a:ln/>
        </p:spPr>
        <p:txBody>
          <a:bodyPr wrap="square" lIns="0" tIns="0" rIns="0" bIns="0" rtlCol="0" anchor="ctr"/>
          <a:lstStyle/>
          <a:p>
            <a:pPr marL="0" indent="0">
              <a:lnSpc>
                <a:spcPts val="1600"/>
              </a:lnSpc>
              <a:buNone/>
            </a:pPr>
            <a:r>
              <a:rPr lang="en-US" sz="1250" dirty="0">
                <a:solidFill>
                  <a:srgbClr val="06304A"/>
                </a:solidFill>
                <a:latin typeface="Calibri" pitchFamily="34" charset="0"/>
                <a:ea typeface="Calibri" pitchFamily="34" charset="-122"/>
                <a:cs typeface="Calibri" pitchFamily="34" charset="-120"/>
              </a:rPr>
              <a:t>Completo, ordenado y ejecutable de principio a fin.</a:t>
            </a:r>
            <a:endParaRPr lang="en-US" sz="1250" dirty="0"/>
          </a:p>
        </p:txBody>
      </p:sp>
      <p:sp>
        <p:nvSpPr>
          <p:cNvPr id="21" name="Shape 19"/>
          <p:cNvSpPr/>
          <p:nvPr/>
        </p:nvSpPr>
        <p:spPr>
          <a:xfrm>
            <a:off x="8101584" y="4846320"/>
            <a:ext cx="3520440" cy="1097280"/>
          </a:xfrm>
          <a:prstGeom prst="roundRect">
            <a:avLst>
              <a:gd name="adj" fmla="val 7500"/>
            </a:avLst>
          </a:prstGeom>
          <a:solidFill>
            <a:srgbClr val="F4F7FA"/>
          </a:solidFill>
          <a:ln w="12700">
            <a:solidFill>
              <a:srgbClr val="F4F7FA"/>
            </a:solidFill>
            <a:prstDash val="solid"/>
          </a:ln>
        </p:spPr>
        <p:txBody>
          <a:bodyPr/>
          <a:lstStyle/>
          <a:p>
            <a:endParaRPr lang="es-CL"/>
          </a:p>
        </p:txBody>
      </p:sp>
      <p:sp>
        <p:nvSpPr>
          <p:cNvPr id="22" name="Text 20"/>
          <p:cNvSpPr/>
          <p:nvPr/>
        </p:nvSpPr>
        <p:spPr>
          <a:xfrm>
            <a:off x="8330184" y="4983480"/>
            <a:ext cx="3063240" cy="292608"/>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El entorno</a:t>
            </a:r>
            <a:endParaRPr lang="en-US" sz="1400" dirty="0"/>
          </a:p>
        </p:txBody>
      </p:sp>
      <p:sp>
        <p:nvSpPr>
          <p:cNvPr id="23" name="Text 21"/>
          <p:cNvSpPr/>
          <p:nvPr/>
        </p:nvSpPr>
        <p:spPr>
          <a:xfrm>
            <a:off x="8330184" y="5303520"/>
            <a:ext cx="3063240" cy="548640"/>
          </a:xfrm>
          <a:prstGeom prst="rect">
            <a:avLst/>
          </a:prstGeom>
          <a:noFill/>
          <a:ln/>
        </p:spPr>
        <p:txBody>
          <a:bodyPr wrap="square" lIns="0" tIns="0" rIns="0" bIns="0" rtlCol="0" anchor="ctr"/>
          <a:lstStyle/>
          <a:p>
            <a:pPr marL="0" indent="0">
              <a:lnSpc>
                <a:spcPts val="1600"/>
              </a:lnSpc>
              <a:buNone/>
            </a:pPr>
            <a:r>
              <a:rPr lang="en-US" sz="1250" dirty="0">
                <a:solidFill>
                  <a:srgbClr val="06304A"/>
                </a:solidFill>
                <a:latin typeface="Calibri" pitchFamily="34" charset="0"/>
                <a:ea typeface="Calibri" pitchFamily="34" charset="-122"/>
                <a:cs typeface="Calibri" pitchFamily="34" charset="-120"/>
              </a:rPr>
              <a:t>Las versiones de las librerías, declaradas explícitamente.</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Trazabilidad: poder reconstruir el camino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La reproducibilidad mira el resultado. La trazabilidad mira el proceso que llevó a él.</a:t>
            </a:r>
            <a:endParaRPr lang="en-US" sz="1400" dirty="0"/>
          </a:p>
        </p:txBody>
      </p:sp>
      <p:sp>
        <p:nvSpPr>
          <p:cNvPr id="4" name="Shape 2"/>
          <p:cNvSpPr/>
          <p:nvPr/>
        </p:nvSpPr>
        <p:spPr>
          <a:xfrm>
            <a:off x="548640" y="1783080"/>
            <a:ext cx="5394960" cy="2377440"/>
          </a:xfrm>
          <a:prstGeom prst="roundRect">
            <a:avLst>
              <a:gd name="adj" fmla="val 3462"/>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68680" y="1938528"/>
            <a:ext cx="475488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Qué debe poder reconstruirse</a:t>
            </a:r>
            <a:endParaRPr lang="en-US" sz="1400" dirty="0"/>
          </a:p>
        </p:txBody>
      </p:sp>
      <p:sp>
        <p:nvSpPr>
          <p:cNvPr id="6" name="Shape 4"/>
          <p:cNvSpPr/>
          <p:nvPr/>
        </p:nvSpPr>
        <p:spPr>
          <a:xfrm>
            <a:off x="868680" y="2432304"/>
            <a:ext cx="182880" cy="182880"/>
          </a:xfrm>
          <a:prstGeom prst="ellipse">
            <a:avLst/>
          </a:prstGeom>
          <a:solidFill>
            <a:srgbClr val="AC212E"/>
          </a:solidFill>
          <a:ln/>
        </p:spPr>
        <p:txBody>
          <a:bodyPr/>
          <a:lstStyle/>
          <a:p>
            <a:endParaRPr lang="es-CL"/>
          </a:p>
        </p:txBody>
      </p:sp>
      <p:sp>
        <p:nvSpPr>
          <p:cNvPr id="7" name="Text 5"/>
          <p:cNvSpPr/>
          <p:nvPr/>
        </p:nvSpPr>
        <p:spPr>
          <a:xfrm>
            <a:off x="1188720" y="2359152"/>
            <a:ext cx="4480560" cy="329184"/>
          </a:xfrm>
          <a:prstGeom prst="rect">
            <a:avLst/>
          </a:prstGeom>
          <a:noFill/>
          <a:ln/>
        </p:spPr>
        <p:txBody>
          <a:bodyPr wrap="square" lIns="0" tIns="0" rIns="0" bIns="0" rtlCol="0" anchor="ctr"/>
          <a:lstStyle/>
          <a:p>
            <a:pPr marL="0" indent="0">
              <a:buNone/>
            </a:pPr>
            <a:r>
              <a:rPr lang="en-US" sz="1300" dirty="0">
                <a:solidFill>
                  <a:srgbClr val="06304A"/>
                </a:solidFill>
                <a:latin typeface="Calibri" pitchFamily="34" charset="0"/>
                <a:ea typeface="Calibri" pitchFamily="34" charset="-122"/>
                <a:cs typeface="Calibri" pitchFamily="34" charset="-120"/>
              </a:rPr>
              <a:t>Qué cambió en el proyecto.</a:t>
            </a:r>
            <a:endParaRPr lang="en-US" sz="1300" dirty="0"/>
          </a:p>
        </p:txBody>
      </p:sp>
      <p:sp>
        <p:nvSpPr>
          <p:cNvPr id="8" name="Shape 6"/>
          <p:cNvSpPr/>
          <p:nvPr/>
        </p:nvSpPr>
        <p:spPr>
          <a:xfrm>
            <a:off x="868680" y="2852928"/>
            <a:ext cx="182880" cy="182880"/>
          </a:xfrm>
          <a:prstGeom prst="ellipse">
            <a:avLst/>
          </a:prstGeom>
          <a:solidFill>
            <a:srgbClr val="AC212E"/>
          </a:solidFill>
          <a:ln/>
        </p:spPr>
        <p:txBody>
          <a:bodyPr/>
          <a:lstStyle/>
          <a:p>
            <a:endParaRPr lang="es-CL"/>
          </a:p>
        </p:txBody>
      </p:sp>
      <p:sp>
        <p:nvSpPr>
          <p:cNvPr id="9" name="Text 7"/>
          <p:cNvSpPr/>
          <p:nvPr/>
        </p:nvSpPr>
        <p:spPr>
          <a:xfrm>
            <a:off x="1188720" y="2779776"/>
            <a:ext cx="4480560" cy="329184"/>
          </a:xfrm>
          <a:prstGeom prst="rect">
            <a:avLst/>
          </a:prstGeom>
          <a:noFill/>
          <a:ln/>
        </p:spPr>
        <p:txBody>
          <a:bodyPr wrap="square" lIns="0" tIns="0" rIns="0" bIns="0" rtlCol="0" anchor="ctr"/>
          <a:lstStyle/>
          <a:p>
            <a:pPr marL="0" indent="0">
              <a:buNone/>
            </a:pPr>
            <a:r>
              <a:rPr lang="en-US" sz="1300" dirty="0">
                <a:solidFill>
                  <a:srgbClr val="06304A"/>
                </a:solidFill>
                <a:latin typeface="Calibri" pitchFamily="34" charset="0"/>
                <a:ea typeface="Calibri" pitchFamily="34" charset="-122"/>
                <a:cs typeface="Calibri" pitchFamily="34" charset="-120"/>
              </a:rPr>
              <a:t>Cuándo se produjo ese cambio.</a:t>
            </a:r>
            <a:endParaRPr lang="en-US" sz="1300" dirty="0"/>
          </a:p>
        </p:txBody>
      </p:sp>
      <p:sp>
        <p:nvSpPr>
          <p:cNvPr id="10" name="Shape 8"/>
          <p:cNvSpPr/>
          <p:nvPr/>
        </p:nvSpPr>
        <p:spPr>
          <a:xfrm>
            <a:off x="868680" y="3273552"/>
            <a:ext cx="182880" cy="182880"/>
          </a:xfrm>
          <a:prstGeom prst="ellipse">
            <a:avLst/>
          </a:prstGeom>
          <a:solidFill>
            <a:srgbClr val="AC212E"/>
          </a:solidFill>
          <a:ln/>
        </p:spPr>
        <p:txBody>
          <a:bodyPr/>
          <a:lstStyle/>
          <a:p>
            <a:endParaRPr lang="es-CL"/>
          </a:p>
        </p:txBody>
      </p:sp>
      <p:sp>
        <p:nvSpPr>
          <p:cNvPr id="11" name="Text 9"/>
          <p:cNvSpPr/>
          <p:nvPr/>
        </p:nvSpPr>
        <p:spPr>
          <a:xfrm>
            <a:off x="1188720" y="3200400"/>
            <a:ext cx="4480560" cy="329184"/>
          </a:xfrm>
          <a:prstGeom prst="rect">
            <a:avLst/>
          </a:prstGeom>
          <a:noFill/>
          <a:ln/>
        </p:spPr>
        <p:txBody>
          <a:bodyPr wrap="square" lIns="0" tIns="0" rIns="0" bIns="0" rtlCol="0" anchor="ctr"/>
          <a:lstStyle/>
          <a:p>
            <a:pPr marL="0" indent="0">
              <a:buNone/>
            </a:pPr>
            <a:r>
              <a:rPr lang="en-US" sz="1300" dirty="0">
                <a:solidFill>
                  <a:srgbClr val="06304A"/>
                </a:solidFill>
                <a:latin typeface="Calibri" pitchFamily="34" charset="0"/>
                <a:ea typeface="Calibri" pitchFamily="34" charset="-122"/>
                <a:cs typeface="Calibri" pitchFamily="34" charset="-120"/>
              </a:rPr>
              <a:t>Quién lo hizo.</a:t>
            </a:r>
            <a:endParaRPr lang="en-US" sz="1300" dirty="0"/>
          </a:p>
        </p:txBody>
      </p:sp>
      <p:sp>
        <p:nvSpPr>
          <p:cNvPr id="12" name="Shape 10"/>
          <p:cNvSpPr/>
          <p:nvPr/>
        </p:nvSpPr>
        <p:spPr>
          <a:xfrm>
            <a:off x="868680" y="3694176"/>
            <a:ext cx="182880" cy="182880"/>
          </a:xfrm>
          <a:prstGeom prst="ellipse">
            <a:avLst/>
          </a:prstGeom>
          <a:solidFill>
            <a:srgbClr val="AC212E"/>
          </a:solidFill>
          <a:ln/>
        </p:spPr>
        <p:txBody>
          <a:bodyPr/>
          <a:lstStyle/>
          <a:p>
            <a:endParaRPr lang="es-CL"/>
          </a:p>
        </p:txBody>
      </p:sp>
      <p:sp>
        <p:nvSpPr>
          <p:cNvPr id="13" name="Text 11"/>
          <p:cNvSpPr/>
          <p:nvPr/>
        </p:nvSpPr>
        <p:spPr>
          <a:xfrm>
            <a:off x="1188720" y="3621024"/>
            <a:ext cx="4480560" cy="329184"/>
          </a:xfrm>
          <a:prstGeom prst="rect">
            <a:avLst/>
          </a:prstGeom>
          <a:noFill/>
          <a:ln/>
        </p:spPr>
        <p:txBody>
          <a:bodyPr wrap="square" lIns="0" tIns="0" rIns="0" bIns="0" rtlCol="0" anchor="ctr"/>
          <a:lstStyle/>
          <a:p>
            <a:pPr marL="0" indent="0">
              <a:buNone/>
            </a:pPr>
            <a:r>
              <a:rPr lang="en-US" sz="1300" dirty="0">
                <a:solidFill>
                  <a:srgbClr val="06304A"/>
                </a:solidFill>
                <a:latin typeface="Calibri" pitchFamily="34" charset="0"/>
                <a:ea typeface="Calibri" pitchFamily="34" charset="-122"/>
                <a:cs typeface="Calibri" pitchFamily="34" charset="-120"/>
              </a:rPr>
              <a:t>Por qué se decidió hacerlo.</a:t>
            </a:r>
            <a:endParaRPr lang="en-US" sz="1300" dirty="0"/>
          </a:p>
        </p:txBody>
      </p:sp>
      <p:sp>
        <p:nvSpPr>
          <p:cNvPr id="14" name="Shape 12"/>
          <p:cNvSpPr/>
          <p:nvPr/>
        </p:nvSpPr>
        <p:spPr>
          <a:xfrm>
            <a:off x="6217920" y="1783080"/>
            <a:ext cx="5394960" cy="2377440"/>
          </a:xfrm>
          <a:prstGeom prst="roundRect">
            <a:avLst>
              <a:gd name="adj" fmla="val 3462"/>
            </a:avLst>
          </a:prstGeom>
          <a:solidFill>
            <a:srgbClr val="0A1526"/>
          </a:solidFill>
          <a:ln w="12700">
            <a:solidFill>
              <a:srgbClr val="0A1526"/>
            </a:solidFill>
            <a:prstDash val="solid"/>
          </a:ln>
        </p:spPr>
        <p:txBody>
          <a:bodyPr/>
          <a:lstStyle/>
          <a:p>
            <a:endParaRPr lang="es-CL"/>
          </a:p>
        </p:txBody>
      </p:sp>
      <p:sp>
        <p:nvSpPr>
          <p:cNvPr id="15" name="Text 13"/>
          <p:cNvSpPr/>
          <p:nvPr/>
        </p:nvSpPr>
        <p:spPr>
          <a:xfrm>
            <a:off x="6537960" y="1938528"/>
            <a:ext cx="475488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El control de versiones como concepto</a:t>
            </a:r>
            <a:endParaRPr lang="en-US" sz="1400" dirty="0"/>
          </a:p>
        </p:txBody>
      </p:sp>
      <p:sp>
        <p:nvSpPr>
          <p:cNvPr id="16" name="Text 14"/>
          <p:cNvSpPr/>
          <p:nvPr/>
        </p:nvSpPr>
        <p:spPr>
          <a:xfrm>
            <a:off x="6537960" y="2331720"/>
            <a:ext cx="4754880" cy="1691640"/>
          </a:xfrm>
          <a:prstGeom prst="rect">
            <a:avLst/>
          </a:prstGeom>
          <a:noFill/>
          <a:ln/>
        </p:spPr>
        <p:txBody>
          <a:bodyPr wrap="square" lIns="0" tIns="0" rIns="0" bIns="0" rtlCol="0" anchor="ctr"/>
          <a:lstStyle/>
          <a:p>
            <a:pPr marL="0" indent="0">
              <a:lnSpc>
                <a:spcPts val="1800"/>
              </a:lnSpc>
              <a:buNone/>
            </a:pPr>
            <a:r>
              <a:rPr lang="en-US" sz="1300" dirty="0">
                <a:solidFill>
                  <a:srgbClr val="D7E3EE"/>
                </a:solidFill>
                <a:latin typeface="Calibri" pitchFamily="34" charset="0"/>
                <a:ea typeface="Calibri" pitchFamily="34" charset="-122"/>
                <a:cs typeface="Calibri" pitchFamily="34" charset="-120"/>
              </a:rPr>
              <a:t>Es la práctica de registrar la evolución de un proyecto como una secuencia de estados identificables, en lugar de una sucesión de archivos sobrescritos.</a:t>
            </a:r>
            <a:endParaRPr lang="en-US" sz="1300" dirty="0"/>
          </a:p>
          <a:p>
            <a:pPr marL="0" indent="0">
              <a:lnSpc>
                <a:spcPts val="1800"/>
              </a:lnSpc>
              <a:buNone/>
            </a:pPr>
            <a:endParaRPr lang="en-US" sz="1300" dirty="0"/>
          </a:p>
          <a:p>
            <a:pPr marL="0" indent="0">
              <a:lnSpc>
                <a:spcPts val="1800"/>
              </a:lnSpc>
              <a:buNone/>
            </a:pPr>
            <a:r>
              <a:rPr lang="en-US" sz="1300" dirty="0">
                <a:solidFill>
                  <a:srgbClr val="D7E3EE"/>
                </a:solidFill>
                <a:latin typeface="Calibri" pitchFamily="34" charset="0"/>
                <a:ea typeface="Calibri" pitchFamily="34" charset="-122"/>
                <a:cs typeface="Calibri" pitchFamily="34" charset="-120"/>
              </a:rPr>
              <a:t>Git es una implementación de esa práctica; la práctica es anterior a la herramienta y más importante que ella.</a:t>
            </a:r>
            <a:endParaRPr lang="en-US" sz="1300" dirty="0"/>
          </a:p>
        </p:txBody>
      </p:sp>
      <p:sp>
        <p:nvSpPr>
          <p:cNvPr id="17" name="Shape 15"/>
          <p:cNvSpPr/>
          <p:nvPr/>
        </p:nvSpPr>
        <p:spPr>
          <a:xfrm>
            <a:off x="548640" y="4434840"/>
            <a:ext cx="11064240" cy="1508760"/>
          </a:xfrm>
          <a:prstGeom prst="roundRect">
            <a:avLst>
              <a:gd name="adj" fmla="val 5455"/>
            </a:avLst>
          </a:prstGeom>
          <a:solidFill>
            <a:srgbClr val="F6E7E9"/>
          </a:solidFill>
          <a:ln w="12700">
            <a:solidFill>
              <a:srgbClr val="F6E7E9"/>
            </a:solidFill>
            <a:prstDash val="solid"/>
          </a:ln>
        </p:spPr>
        <p:txBody>
          <a:bodyPr/>
          <a:lstStyle/>
          <a:p>
            <a:endParaRPr lang="es-CL"/>
          </a:p>
        </p:txBody>
      </p:sp>
      <p:sp>
        <p:nvSpPr>
          <p:cNvPr id="18" name="Text 16"/>
          <p:cNvSpPr/>
          <p:nvPr/>
        </p:nvSpPr>
        <p:spPr>
          <a:xfrm>
            <a:off x="868680" y="4590288"/>
            <a:ext cx="457200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Por qué importa en trabajo grupal</a:t>
            </a:r>
            <a:endParaRPr lang="en-US" sz="1400" dirty="0"/>
          </a:p>
        </p:txBody>
      </p:sp>
      <p:sp>
        <p:nvSpPr>
          <p:cNvPr id="19" name="Text 17"/>
          <p:cNvSpPr/>
          <p:nvPr/>
        </p:nvSpPr>
        <p:spPr>
          <a:xfrm>
            <a:off x="868680" y="4956048"/>
            <a:ext cx="10424160" cy="868680"/>
          </a:xfrm>
          <a:prstGeom prst="rect">
            <a:avLst/>
          </a:prstGeom>
          <a:noFill/>
          <a:ln/>
        </p:spPr>
        <p:txBody>
          <a:bodyPr wrap="square" lIns="0" tIns="0" rIns="0" bIns="0" rtlCol="0" anchor="ctr"/>
          <a:lstStyle/>
          <a:p>
            <a:pPr marL="0" indent="0">
              <a:lnSpc>
                <a:spcPts val="1900"/>
              </a:lnSpc>
              <a:buNone/>
            </a:pPr>
            <a:r>
              <a:rPr lang="en-US" sz="1350" dirty="0">
                <a:solidFill>
                  <a:srgbClr val="06304A"/>
                </a:solidFill>
                <a:latin typeface="Calibri" pitchFamily="34" charset="0"/>
                <a:ea typeface="Calibri" pitchFamily="34" charset="-122"/>
                <a:cs typeface="Calibri" pitchFamily="34" charset="-120"/>
              </a:rPr>
              <a:t>La trazabilidad hace visible la contribución individual dentro de un producto colectivo. Sin ella, el trabajo del equipo aparece como una masa indistinta y no hay forma de reconocer —ni de evaluar— el aporte de cada integrante.</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Documentación científica y narrativa computacional</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El notebook no es un editor de código: es un formato de comunicación científica.</a:t>
            </a:r>
            <a:endParaRPr lang="en-US" sz="1400" dirty="0"/>
          </a:p>
        </p:txBody>
      </p:sp>
      <p:sp>
        <p:nvSpPr>
          <p:cNvPr id="4" name="Shape 2"/>
          <p:cNvSpPr/>
          <p:nvPr/>
        </p:nvSpPr>
        <p:spPr>
          <a:xfrm>
            <a:off x="548640" y="1737360"/>
            <a:ext cx="5394960" cy="2651760"/>
          </a:xfrm>
          <a:prstGeom prst="roundRect">
            <a:avLst>
              <a:gd name="adj" fmla="val 3103"/>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68680" y="1901952"/>
            <a:ext cx="475488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La idea de fondo</a:t>
            </a:r>
            <a:endParaRPr lang="en-US" sz="1400" dirty="0"/>
          </a:p>
        </p:txBody>
      </p:sp>
      <p:sp>
        <p:nvSpPr>
          <p:cNvPr id="6" name="Text 4"/>
          <p:cNvSpPr/>
          <p:nvPr/>
        </p:nvSpPr>
        <p:spPr>
          <a:xfrm>
            <a:off x="868680" y="2286000"/>
            <a:ext cx="4754880" cy="1920240"/>
          </a:xfrm>
          <a:prstGeom prst="rect">
            <a:avLst/>
          </a:prstGeom>
          <a:noFill/>
          <a:ln/>
        </p:spPr>
        <p:txBody>
          <a:bodyPr wrap="square" lIns="0" tIns="0" rIns="0" bIns="0" rtlCol="0" anchor="ctr"/>
          <a:lstStyle/>
          <a:p>
            <a:pPr marL="0" indent="0">
              <a:lnSpc>
                <a:spcPts val="1800"/>
              </a:lnSpc>
              <a:buNone/>
            </a:pPr>
            <a:r>
              <a:rPr lang="en-US" sz="1300" dirty="0">
                <a:solidFill>
                  <a:srgbClr val="06304A"/>
                </a:solidFill>
                <a:latin typeface="Calibri" pitchFamily="34" charset="0"/>
                <a:ea typeface="Calibri" pitchFamily="34" charset="-122"/>
                <a:cs typeface="Calibri" pitchFamily="34" charset="-120"/>
              </a:rPr>
              <a:t>Un análisis no se comunica solo con su código, ni solo con sus resultados. Se comunica con el razonamiento que los une.</a:t>
            </a:r>
            <a:endParaRPr lang="en-US" sz="1300" dirty="0"/>
          </a:p>
          <a:p>
            <a:pPr marL="0" indent="0">
              <a:lnSpc>
                <a:spcPts val="1800"/>
              </a:lnSpc>
              <a:buNone/>
            </a:pPr>
            <a:endParaRPr lang="en-US" sz="1300" dirty="0"/>
          </a:p>
          <a:p>
            <a:pPr marL="0" indent="0">
              <a:lnSpc>
                <a:spcPts val="1800"/>
              </a:lnSpc>
              <a:buNone/>
            </a:pPr>
            <a:r>
              <a:rPr lang="en-US" sz="1300" dirty="0">
                <a:solidFill>
                  <a:srgbClr val="06304A"/>
                </a:solidFill>
                <a:latin typeface="Calibri" pitchFamily="34" charset="0"/>
                <a:ea typeface="Calibri" pitchFamily="34" charset="-122"/>
                <a:cs typeface="Calibri" pitchFamily="34" charset="-120"/>
              </a:rPr>
              <a:t>El notebook materializa esa idea: el texto explica, el código ejecuta y la salida evidencia, en un mismo documento y en el mismo orden en que ocurrió el pensamiento.</a:t>
            </a:r>
            <a:endParaRPr lang="en-US" sz="1300" dirty="0"/>
          </a:p>
        </p:txBody>
      </p:sp>
      <p:sp>
        <p:nvSpPr>
          <p:cNvPr id="7" name="Shape 5"/>
          <p:cNvSpPr/>
          <p:nvPr/>
        </p:nvSpPr>
        <p:spPr>
          <a:xfrm>
            <a:off x="6217920" y="1737360"/>
            <a:ext cx="5394960" cy="2651760"/>
          </a:xfrm>
          <a:prstGeom prst="roundRect">
            <a:avLst>
              <a:gd name="adj" fmla="val 3103"/>
            </a:avLst>
          </a:prstGeom>
          <a:solidFill>
            <a:srgbClr val="0A1526"/>
          </a:solidFill>
          <a:ln w="12700">
            <a:solidFill>
              <a:srgbClr val="0A1526"/>
            </a:solidFill>
            <a:prstDash val="solid"/>
          </a:ln>
        </p:spPr>
        <p:txBody>
          <a:bodyPr/>
          <a:lstStyle/>
          <a:p>
            <a:endParaRPr lang="es-CL"/>
          </a:p>
        </p:txBody>
      </p:sp>
      <p:sp>
        <p:nvSpPr>
          <p:cNvPr id="8" name="Text 6"/>
          <p:cNvSpPr/>
          <p:nvPr/>
        </p:nvSpPr>
        <p:spPr>
          <a:xfrm>
            <a:off x="6537960" y="1901952"/>
            <a:ext cx="475488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Dos niveles de documentación</a:t>
            </a:r>
            <a:endParaRPr lang="en-US" sz="1400" dirty="0"/>
          </a:p>
        </p:txBody>
      </p:sp>
      <p:sp>
        <p:nvSpPr>
          <p:cNvPr id="9" name="Text 7"/>
          <p:cNvSpPr/>
          <p:nvPr/>
        </p:nvSpPr>
        <p:spPr>
          <a:xfrm>
            <a:off x="6537960" y="2377440"/>
            <a:ext cx="475488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Descriptivo</a:t>
            </a:r>
            <a:endParaRPr lang="en-US" sz="1400" dirty="0"/>
          </a:p>
        </p:txBody>
      </p:sp>
      <p:sp>
        <p:nvSpPr>
          <p:cNvPr id="10" name="Text 8"/>
          <p:cNvSpPr/>
          <p:nvPr/>
        </p:nvSpPr>
        <p:spPr>
          <a:xfrm>
            <a:off x="6537960" y="2697480"/>
            <a:ext cx="4754880" cy="54864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Registra qué se hizo. Es necesario, pero insuficiente.</a:t>
            </a:r>
            <a:endParaRPr lang="en-US" sz="1250" dirty="0"/>
          </a:p>
        </p:txBody>
      </p:sp>
      <p:sp>
        <p:nvSpPr>
          <p:cNvPr id="11" name="Text 9"/>
          <p:cNvSpPr/>
          <p:nvPr/>
        </p:nvSpPr>
        <p:spPr>
          <a:xfrm>
            <a:off x="6537960" y="3337560"/>
            <a:ext cx="475488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Justificativo</a:t>
            </a:r>
            <a:endParaRPr lang="en-US" sz="1400" dirty="0"/>
          </a:p>
        </p:txBody>
      </p:sp>
      <p:sp>
        <p:nvSpPr>
          <p:cNvPr id="12" name="Text 10"/>
          <p:cNvSpPr/>
          <p:nvPr/>
        </p:nvSpPr>
        <p:spPr>
          <a:xfrm>
            <a:off x="6537960" y="3657600"/>
            <a:ext cx="4754880" cy="54864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Registra por qué se decidió hacerlo así y qué alternativas se descartaron.</a:t>
            </a:r>
            <a:endParaRPr lang="en-US" sz="1250" dirty="0"/>
          </a:p>
        </p:txBody>
      </p:sp>
      <p:sp>
        <p:nvSpPr>
          <p:cNvPr id="13" name="Text 11"/>
          <p:cNvSpPr/>
          <p:nvPr/>
        </p:nvSpPr>
        <p:spPr>
          <a:xfrm>
            <a:off x="6537960" y="3977640"/>
            <a:ext cx="4754880" cy="320040"/>
          </a:xfrm>
          <a:prstGeom prst="rect">
            <a:avLst/>
          </a:prstGeom>
          <a:noFill/>
          <a:ln/>
        </p:spPr>
        <p:txBody>
          <a:bodyPr wrap="square" lIns="0" tIns="0" rIns="0" bIns="0" rtlCol="0" anchor="ctr"/>
          <a:lstStyle/>
          <a:p>
            <a:pPr marL="0" indent="0">
              <a:buNone/>
            </a:pPr>
            <a:r>
              <a:rPr lang="en-US" sz="1200" i="1" dirty="0">
                <a:solidFill>
                  <a:srgbClr val="AC212E"/>
                </a:solidFill>
                <a:latin typeface="Calibri" pitchFamily="34" charset="0"/>
                <a:ea typeface="Calibri" pitchFamily="34" charset="-122"/>
                <a:cs typeface="Calibri" pitchFamily="34" charset="-120"/>
              </a:rPr>
              <a:t>El nivel justificativo es el que exige el trabajo académico.</a:t>
            </a:r>
            <a:endParaRPr lang="en-US" sz="1200" dirty="0"/>
          </a:p>
        </p:txBody>
      </p:sp>
      <p:sp>
        <p:nvSpPr>
          <p:cNvPr id="14" name="Shape 12"/>
          <p:cNvSpPr/>
          <p:nvPr/>
        </p:nvSpPr>
        <p:spPr>
          <a:xfrm>
            <a:off x="548640" y="4663440"/>
            <a:ext cx="11064240" cy="1280160"/>
          </a:xfrm>
          <a:prstGeom prst="roundRect">
            <a:avLst>
              <a:gd name="adj" fmla="val 6429"/>
            </a:avLst>
          </a:prstGeom>
          <a:solidFill>
            <a:srgbClr val="F6E7E9"/>
          </a:solidFill>
          <a:ln w="12700">
            <a:solidFill>
              <a:srgbClr val="F6E7E9"/>
            </a:solidFill>
            <a:prstDash val="solid"/>
          </a:ln>
        </p:spPr>
        <p:txBody>
          <a:bodyPr/>
          <a:lstStyle/>
          <a:p>
            <a:endParaRPr lang="es-CL"/>
          </a:p>
        </p:txBody>
      </p:sp>
      <p:sp>
        <p:nvSpPr>
          <p:cNvPr id="15" name="Text 13"/>
          <p:cNvSpPr/>
          <p:nvPr/>
        </p:nvSpPr>
        <p:spPr>
          <a:xfrm>
            <a:off x="868680" y="4800600"/>
            <a:ext cx="3657600" cy="292608"/>
          </a:xfrm>
          <a:prstGeom prst="rect">
            <a:avLst/>
          </a:prstGeom>
          <a:noFill/>
          <a:ln/>
        </p:spPr>
        <p:txBody>
          <a:bodyPr wrap="square" lIns="0" tIns="0" rIns="0" bIns="0" rtlCol="0" anchor="ctr"/>
          <a:lstStyle/>
          <a:p>
            <a:pPr marL="0" indent="0">
              <a:buNone/>
            </a:pPr>
            <a:r>
              <a:rPr lang="en-US" sz="1350" b="1" dirty="0">
                <a:solidFill>
                  <a:srgbClr val="AC212E"/>
                </a:solidFill>
                <a:latin typeface="Calibri" pitchFamily="34" charset="0"/>
                <a:ea typeface="Calibri" pitchFamily="34" charset="-122"/>
                <a:cs typeface="Calibri" pitchFamily="34" charset="-120"/>
              </a:rPr>
              <a:t>Ejemplo de la diferencia</a:t>
            </a:r>
            <a:endParaRPr lang="en-US" sz="1350" dirty="0"/>
          </a:p>
        </p:txBody>
      </p:sp>
      <p:sp>
        <p:nvSpPr>
          <p:cNvPr id="16" name="Text 14"/>
          <p:cNvSpPr/>
          <p:nvPr/>
        </p:nvSpPr>
        <p:spPr>
          <a:xfrm>
            <a:off x="868680" y="5138928"/>
            <a:ext cx="10424160" cy="640080"/>
          </a:xfrm>
          <a:prstGeom prst="rect">
            <a:avLst/>
          </a:prstGeom>
          <a:noFill/>
          <a:ln/>
        </p:spPr>
        <p:txBody>
          <a:bodyPr wrap="square" lIns="0" tIns="0" rIns="0" bIns="0" rtlCol="0" anchor="ctr"/>
          <a:lstStyle/>
          <a:p>
            <a:pPr marL="0" indent="0">
              <a:lnSpc>
                <a:spcPts val="1900"/>
              </a:lnSpc>
              <a:buNone/>
            </a:pPr>
            <a:r>
              <a:rPr lang="en-US" sz="1350" dirty="0">
                <a:solidFill>
                  <a:srgbClr val="06304A"/>
                </a:solidFill>
                <a:latin typeface="Calibri" pitchFamily="34" charset="0"/>
                <a:ea typeface="Calibri" pitchFamily="34" charset="-122"/>
                <a:cs typeface="Calibri" pitchFamily="34" charset="-120"/>
              </a:rPr>
              <a:t>«Se imputó la mediana» describe.   |   «Se imputó la mediana porque el 9% de los valores falta y la variable presenta valores extremos que desplazarían la media» justifica.</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Buenas prácticas de software científico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Los contenidos de la unidad temática 1, leídos como principios y no como sintaxis.</a:t>
            </a:r>
            <a:endParaRPr lang="en-US" sz="1400" dirty="0"/>
          </a:p>
        </p:txBody>
      </p:sp>
      <p:sp>
        <p:nvSpPr>
          <p:cNvPr id="4" name="Shape 2"/>
          <p:cNvSpPr/>
          <p:nvPr/>
        </p:nvSpPr>
        <p:spPr>
          <a:xfrm>
            <a:off x="548640" y="1783080"/>
            <a:ext cx="3520440" cy="3200400"/>
          </a:xfrm>
          <a:prstGeom prst="roundRect">
            <a:avLst>
              <a:gd name="adj" fmla="val 2571"/>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804672" y="2011680"/>
            <a:ext cx="438912" cy="438912"/>
          </a:xfrm>
          <a:prstGeom prst="ellipse">
            <a:avLst/>
          </a:prstGeom>
          <a:solidFill>
            <a:srgbClr val="AC212E"/>
          </a:solidFill>
          <a:ln/>
        </p:spPr>
        <p:txBody>
          <a:bodyPr/>
          <a:lstStyle/>
          <a:p>
            <a:endParaRPr lang="es-CL"/>
          </a:p>
        </p:txBody>
      </p:sp>
      <p:sp>
        <p:nvSpPr>
          <p:cNvPr id="6" name="Text 4"/>
          <p:cNvSpPr/>
          <p:nvPr/>
        </p:nvSpPr>
        <p:spPr>
          <a:xfrm>
            <a:off x="804672" y="2011680"/>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804672" y="2606040"/>
            <a:ext cx="3017520" cy="384048"/>
          </a:xfrm>
          <a:prstGeom prst="rect">
            <a:avLst/>
          </a:prstGeom>
          <a:noFill/>
          <a:ln/>
        </p:spPr>
        <p:txBody>
          <a:bodyPr wrap="square" lIns="0" tIns="0" rIns="0" bIns="0" rtlCol="0" anchor="ctr"/>
          <a:lstStyle/>
          <a:p>
            <a:pPr marL="0" indent="0">
              <a:buNone/>
            </a:pPr>
            <a:r>
              <a:rPr lang="en-US" sz="1900" b="1" dirty="0">
                <a:solidFill>
                  <a:srgbClr val="06304A"/>
                </a:solidFill>
                <a:latin typeface="Cambria" pitchFamily="34" charset="0"/>
                <a:ea typeface="Cambria" pitchFamily="34" charset="-122"/>
                <a:cs typeface="Cambria" pitchFamily="34" charset="-120"/>
              </a:rPr>
              <a:t>Funciones</a:t>
            </a:r>
            <a:endParaRPr lang="en-US" sz="1900" dirty="0"/>
          </a:p>
        </p:txBody>
      </p:sp>
      <p:sp>
        <p:nvSpPr>
          <p:cNvPr id="8" name="Text 6"/>
          <p:cNvSpPr/>
          <p:nvPr/>
        </p:nvSpPr>
        <p:spPr>
          <a:xfrm>
            <a:off x="804672" y="3017520"/>
            <a:ext cx="3017520" cy="731520"/>
          </a:xfrm>
          <a:prstGeom prst="rect">
            <a:avLst/>
          </a:prstGeom>
          <a:noFill/>
          <a:ln/>
        </p:spPr>
        <p:txBody>
          <a:bodyPr wrap="square" lIns="0" tIns="0" rIns="0" bIns="0" rtlCol="0" anchor="ctr"/>
          <a:lstStyle/>
          <a:p>
            <a:pPr marL="0" indent="0">
              <a:lnSpc>
                <a:spcPts val="1700"/>
              </a:lnSpc>
              <a:buNone/>
            </a:pPr>
            <a:r>
              <a:rPr lang="en-US" sz="1300" b="1" dirty="0">
                <a:solidFill>
                  <a:srgbClr val="AC212E"/>
                </a:solidFill>
                <a:latin typeface="Calibri" pitchFamily="34" charset="0"/>
                <a:ea typeface="Calibri" pitchFamily="34" charset="-122"/>
                <a:cs typeface="Calibri" pitchFamily="34" charset="-120"/>
              </a:rPr>
              <a:t>Encapsular una tarea con entradas y salidas explícitas.</a:t>
            </a:r>
            <a:endParaRPr lang="en-US" sz="1300" dirty="0"/>
          </a:p>
        </p:txBody>
      </p:sp>
      <p:sp>
        <p:nvSpPr>
          <p:cNvPr id="9" name="Text 7"/>
          <p:cNvSpPr/>
          <p:nvPr/>
        </p:nvSpPr>
        <p:spPr>
          <a:xfrm>
            <a:off x="804672" y="3794760"/>
            <a:ext cx="3017520" cy="105156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Un análisis escrito como una sucesión de celdas sueltas no se puede reutilizar ni verificar por partes.</a:t>
            </a:r>
            <a:endParaRPr lang="en-US" sz="1200" dirty="0"/>
          </a:p>
        </p:txBody>
      </p:sp>
      <p:sp>
        <p:nvSpPr>
          <p:cNvPr id="10" name="Shape 8"/>
          <p:cNvSpPr/>
          <p:nvPr/>
        </p:nvSpPr>
        <p:spPr>
          <a:xfrm>
            <a:off x="4325112" y="1783080"/>
            <a:ext cx="3520440" cy="3200400"/>
          </a:xfrm>
          <a:prstGeom prst="roundRect">
            <a:avLst>
              <a:gd name="adj" fmla="val 2571"/>
            </a:avLst>
          </a:prstGeom>
          <a:solidFill>
            <a:srgbClr val="F4F7FA"/>
          </a:solidFill>
          <a:ln w="12700">
            <a:solidFill>
              <a:srgbClr val="F4F7FA"/>
            </a:solidFill>
            <a:prstDash val="solid"/>
          </a:ln>
        </p:spPr>
        <p:txBody>
          <a:bodyPr/>
          <a:lstStyle/>
          <a:p>
            <a:endParaRPr lang="es-CL"/>
          </a:p>
        </p:txBody>
      </p:sp>
      <p:sp>
        <p:nvSpPr>
          <p:cNvPr id="11" name="Shape 9"/>
          <p:cNvSpPr/>
          <p:nvPr/>
        </p:nvSpPr>
        <p:spPr>
          <a:xfrm>
            <a:off x="4581144" y="2011680"/>
            <a:ext cx="438912" cy="438912"/>
          </a:xfrm>
          <a:prstGeom prst="ellipse">
            <a:avLst/>
          </a:prstGeom>
          <a:solidFill>
            <a:srgbClr val="AC212E"/>
          </a:solidFill>
          <a:ln/>
        </p:spPr>
        <p:txBody>
          <a:bodyPr/>
          <a:lstStyle/>
          <a:p>
            <a:endParaRPr lang="es-CL"/>
          </a:p>
        </p:txBody>
      </p:sp>
      <p:sp>
        <p:nvSpPr>
          <p:cNvPr id="12" name="Text 10"/>
          <p:cNvSpPr/>
          <p:nvPr/>
        </p:nvSpPr>
        <p:spPr>
          <a:xfrm>
            <a:off x="4581144" y="2011680"/>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4581144" y="2606040"/>
            <a:ext cx="3017520" cy="384048"/>
          </a:xfrm>
          <a:prstGeom prst="rect">
            <a:avLst/>
          </a:prstGeom>
          <a:noFill/>
          <a:ln/>
        </p:spPr>
        <p:txBody>
          <a:bodyPr wrap="square" lIns="0" tIns="0" rIns="0" bIns="0" rtlCol="0" anchor="ctr"/>
          <a:lstStyle/>
          <a:p>
            <a:pPr marL="0" indent="0">
              <a:buNone/>
            </a:pPr>
            <a:r>
              <a:rPr lang="en-US" sz="1900" b="1" dirty="0">
                <a:solidFill>
                  <a:srgbClr val="06304A"/>
                </a:solidFill>
                <a:latin typeface="Cambria" pitchFamily="34" charset="0"/>
                <a:ea typeface="Cambria" pitchFamily="34" charset="-122"/>
                <a:cs typeface="Cambria" pitchFamily="34" charset="-120"/>
              </a:rPr>
              <a:t>Módulos</a:t>
            </a:r>
            <a:endParaRPr lang="en-US" sz="1900" dirty="0"/>
          </a:p>
        </p:txBody>
      </p:sp>
      <p:sp>
        <p:nvSpPr>
          <p:cNvPr id="14" name="Text 12"/>
          <p:cNvSpPr/>
          <p:nvPr/>
        </p:nvSpPr>
        <p:spPr>
          <a:xfrm>
            <a:off x="4581144" y="3017520"/>
            <a:ext cx="3017520" cy="731520"/>
          </a:xfrm>
          <a:prstGeom prst="rect">
            <a:avLst/>
          </a:prstGeom>
          <a:noFill/>
          <a:ln/>
        </p:spPr>
        <p:txBody>
          <a:bodyPr wrap="square" lIns="0" tIns="0" rIns="0" bIns="0" rtlCol="0" anchor="ctr"/>
          <a:lstStyle/>
          <a:p>
            <a:pPr marL="0" indent="0">
              <a:lnSpc>
                <a:spcPts val="1700"/>
              </a:lnSpc>
              <a:buNone/>
            </a:pPr>
            <a:r>
              <a:rPr lang="en-US" sz="1300" b="1" dirty="0">
                <a:solidFill>
                  <a:srgbClr val="AC212E"/>
                </a:solidFill>
                <a:latin typeface="Calibri" pitchFamily="34" charset="0"/>
                <a:ea typeface="Calibri" pitchFamily="34" charset="-122"/>
                <a:cs typeface="Calibri" pitchFamily="34" charset="-120"/>
              </a:rPr>
              <a:t>Separar el código reutilizable del documento narrativo.</a:t>
            </a:r>
            <a:endParaRPr lang="en-US" sz="1300" dirty="0"/>
          </a:p>
        </p:txBody>
      </p:sp>
      <p:sp>
        <p:nvSpPr>
          <p:cNvPr id="15" name="Text 13"/>
          <p:cNvSpPr/>
          <p:nvPr/>
        </p:nvSpPr>
        <p:spPr>
          <a:xfrm>
            <a:off x="4581144" y="3794760"/>
            <a:ext cx="3017520" cy="105156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Lo que se usa en varias etapas vive en un archivo propio, no copiado tres veces.</a:t>
            </a:r>
            <a:endParaRPr lang="en-US" sz="1200" dirty="0"/>
          </a:p>
        </p:txBody>
      </p:sp>
      <p:sp>
        <p:nvSpPr>
          <p:cNvPr id="16" name="Shape 14"/>
          <p:cNvSpPr/>
          <p:nvPr/>
        </p:nvSpPr>
        <p:spPr>
          <a:xfrm>
            <a:off x="8101584" y="1783080"/>
            <a:ext cx="3520440" cy="3200400"/>
          </a:xfrm>
          <a:prstGeom prst="roundRect">
            <a:avLst>
              <a:gd name="adj" fmla="val 2571"/>
            </a:avLst>
          </a:prstGeom>
          <a:solidFill>
            <a:srgbClr val="F4F7FA"/>
          </a:solidFill>
          <a:ln w="12700">
            <a:solidFill>
              <a:srgbClr val="F4F7FA"/>
            </a:solidFill>
            <a:prstDash val="solid"/>
          </a:ln>
        </p:spPr>
        <p:txBody>
          <a:bodyPr/>
          <a:lstStyle/>
          <a:p>
            <a:endParaRPr lang="es-CL"/>
          </a:p>
        </p:txBody>
      </p:sp>
      <p:sp>
        <p:nvSpPr>
          <p:cNvPr id="17" name="Shape 15"/>
          <p:cNvSpPr/>
          <p:nvPr/>
        </p:nvSpPr>
        <p:spPr>
          <a:xfrm>
            <a:off x="8357616" y="2011680"/>
            <a:ext cx="438912" cy="438912"/>
          </a:xfrm>
          <a:prstGeom prst="ellipse">
            <a:avLst/>
          </a:prstGeom>
          <a:solidFill>
            <a:srgbClr val="AC212E"/>
          </a:solidFill>
          <a:ln/>
        </p:spPr>
        <p:txBody>
          <a:bodyPr/>
          <a:lstStyle/>
          <a:p>
            <a:endParaRPr lang="es-CL"/>
          </a:p>
        </p:txBody>
      </p:sp>
      <p:sp>
        <p:nvSpPr>
          <p:cNvPr id="18" name="Text 16"/>
          <p:cNvSpPr/>
          <p:nvPr/>
        </p:nvSpPr>
        <p:spPr>
          <a:xfrm>
            <a:off x="8357616" y="2011680"/>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8357616" y="2606040"/>
            <a:ext cx="3017520" cy="384048"/>
          </a:xfrm>
          <a:prstGeom prst="rect">
            <a:avLst/>
          </a:prstGeom>
          <a:noFill/>
          <a:ln/>
        </p:spPr>
        <p:txBody>
          <a:bodyPr wrap="square" lIns="0" tIns="0" rIns="0" bIns="0" rtlCol="0" anchor="ctr"/>
          <a:lstStyle/>
          <a:p>
            <a:pPr marL="0" indent="0">
              <a:buNone/>
            </a:pPr>
            <a:r>
              <a:rPr lang="en-US" sz="1900" b="1" dirty="0">
                <a:solidFill>
                  <a:srgbClr val="06304A"/>
                </a:solidFill>
                <a:latin typeface="Cambria" pitchFamily="34" charset="0"/>
                <a:ea typeface="Cambria" pitchFamily="34" charset="-122"/>
                <a:cs typeface="Cambria" pitchFamily="34" charset="-120"/>
              </a:rPr>
              <a:t>Excepciones</a:t>
            </a:r>
            <a:endParaRPr lang="en-US" sz="1900" dirty="0"/>
          </a:p>
        </p:txBody>
      </p:sp>
      <p:sp>
        <p:nvSpPr>
          <p:cNvPr id="20" name="Text 18"/>
          <p:cNvSpPr/>
          <p:nvPr/>
        </p:nvSpPr>
        <p:spPr>
          <a:xfrm>
            <a:off x="8357616" y="3017520"/>
            <a:ext cx="3017520" cy="731520"/>
          </a:xfrm>
          <a:prstGeom prst="rect">
            <a:avLst/>
          </a:prstGeom>
          <a:noFill/>
          <a:ln/>
        </p:spPr>
        <p:txBody>
          <a:bodyPr wrap="square" lIns="0" tIns="0" rIns="0" bIns="0" rtlCol="0" anchor="ctr"/>
          <a:lstStyle/>
          <a:p>
            <a:pPr marL="0" indent="0">
              <a:lnSpc>
                <a:spcPts val="1700"/>
              </a:lnSpc>
              <a:buNone/>
            </a:pPr>
            <a:r>
              <a:rPr lang="en-US" sz="1300" b="1" dirty="0">
                <a:solidFill>
                  <a:srgbClr val="AC212E"/>
                </a:solidFill>
                <a:latin typeface="Calibri" pitchFamily="34" charset="0"/>
                <a:ea typeface="Calibri" pitchFamily="34" charset="-122"/>
                <a:cs typeface="Calibri" pitchFamily="34" charset="-120"/>
              </a:rPr>
              <a:t>Prever y gestionar lo que puede fallar.</a:t>
            </a:r>
            <a:endParaRPr lang="en-US" sz="1300" dirty="0"/>
          </a:p>
        </p:txBody>
      </p:sp>
      <p:sp>
        <p:nvSpPr>
          <p:cNvPr id="21" name="Text 19"/>
          <p:cNvSpPr/>
          <p:nvPr/>
        </p:nvSpPr>
        <p:spPr>
          <a:xfrm>
            <a:off x="8357616" y="3794760"/>
            <a:ext cx="3017520" cy="105156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Los datos reales traen valores anómalos: el código debe decidir qué hacer con ellos, no detenerse.</a:t>
            </a:r>
            <a:endParaRPr lang="en-US" sz="1200" dirty="0"/>
          </a:p>
        </p:txBody>
      </p:sp>
      <p:sp>
        <p:nvSpPr>
          <p:cNvPr id="22" name="Shape 20"/>
          <p:cNvSpPr/>
          <p:nvPr/>
        </p:nvSpPr>
        <p:spPr>
          <a:xfrm>
            <a:off x="548640" y="5212080"/>
            <a:ext cx="11064240" cy="777240"/>
          </a:xfrm>
          <a:prstGeom prst="roundRect">
            <a:avLst>
              <a:gd name="adj" fmla="val 10588"/>
            </a:avLst>
          </a:prstGeom>
          <a:solidFill>
            <a:srgbClr val="0A1526"/>
          </a:solidFill>
          <a:ln w="12700">
            <a:solidFill>
              <a:srgbClr val="0A1526"/>
            </a:solidFill>
            <a:prstDash val="solid"/>
          </a:ln>
        </p:spPr>
        <p:txBody>
          <a:bodyPr/>
          <a:lstStyle/>
          <a:p>
            <a:endParaRPr lang="es-CL"/>
          </a:p>
        </p:txBody>
      </p:sp>
      <p:sp>
        <p:nvSpPr>
          <p:cNvPr id="23" name="Text 21"/>
          <p:cNvSpPr/>
          <p:nvPr/>
        </p:nvSpPr>
        <p:spPr>
          <a:xfrm>
            <a:off x="868680" y="5212080"/>
            <a:ext cx="10424160" cy="77724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El principio común: un programa científico se escribe para ser leído, revisado y ejecutado por otros, no solo por quien lo escribió.</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A1526"/>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El mapa conceptual como instrumento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D7E3EE"/>
                </a:solidFill>
                <a:latin typeface="Calibri" pitchFamily="34" charset="0"/>
                <a:ea typeface="Calibri" pitchFamily="34" charset="-122"/>
                <a:cs typeface="Calibri" pitchFamily="34" charset="-120"/>
              </a:rPr>
              <a:t>No es un resumen ilustrado: es una representación de relaciones entre conceptos.</a:t>
            </a:r>
            <a:endParaRPr lang="en-US" sz="1400" dirty="0"/>
          </a:p>
        </p:txBody>
      </p:sp>
      <p:sp>
        <p:nvSpPr>
          <p:cNvPr id="4" name="Shape 2"/>
          <p:cNvSpPr/>
          <p:nvPr/>
        </p:nvSpPr>
        <p:spPr>
          <a:xfrm>
            <a:off x="548640" y="1783080"/>
            <a:ext cx="5303520" cy="1143000"/>
          </a:xfrm>
          <a:prstGeom prst="roundRect">
            <a:avLst>
              <a:gd name="adj" fmla="val 7200"/>
            </a:avLst>
          </a:prstGeom>
          <a:solidFill>
            <a:srgbClr val="12203A"/>
          </a:solidFill>
          <a:ln w="12700">
            <a:solidFill>
              <a:srgbClr val="12203A"/>
            </a:solidFill>
            <a:prstDash val="solid"/>
          </a:ln>
        </p:spPr>
        <p:txBody>
          <a:bodyPr/>
          <a:lstStyle/>
          <a:p>
            <a:endParaRPr lang="es-CL"/>
          </a:p>
        </p:txBody>
      </p:sp>
      <p:sp>
        <p:nvSpPr>
          <p:cNvPr id="5" name="Shape 3"/>
          <p:cNvSpPr/>
          <p:nvPr/>
        </p:nvSpPr>
        <p:spPr>
          <a:xfrm>
            <a:off x="804672" y="2130552"/>
            <a:ext cx="420624" cy="420624"/>
          </a:xfrm>
          <a:prstGeom prst="ellipse">
            <a:avLst/>
          </a:prstGeom>
          <a:solidFill>
            <a:srgbClr val="AC212E"/>
          </a:solidFill>
          <a:ln/>
        </p:spPr>
        <p:txBody>
          <a:bodyPr/>
          <a:lstStyle/>
          <a:p>
            <a:endParaRPr lang="es-CL"/>
          </a:p>
        </p:txBody>
      </p:sp>
      <p:sp>
        <p:nvSpPr>
          <p:cNvPr id="6" name="Text 4"/>
          <p:cNvSpPr/>
          <p:nvPr/>
        </p:nvSpPr>
        <p:spPr>
          <a:xfrm>
            <a:off x="804672" y="213055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71600" y="1947672"/>
            <a:ext cx="429768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Conceptos</a:t>
            </a:r>
            <a:endParaRPr lang="en-US" sz="1500" dirty="0"/>
          </a:p>
        </p:txBody>
      </p:sp>
      <p:sp>
        <p:nvSpPr>
          <p:cNvPr id="8" name="Text 6"/>
          <p:cNvSpPr/>
          <p:nvPr/>
        </p:nvSpPr>
        <p:spPr>
          <a:xfrm>
            <a:off x="1371600" y="2286000"/>
            <a:ext cx="4297680" cy="50292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Las ideas, en nodos. Sustantivos, no frases.</a:t>
            </a:r>
            <a:endParaRPr lang="en-US" sz="1250" dirty="0"/>
          </a:p>
        </p:txBody>
      </p:sp>
      <p:sp>
        <p:nvSpPr>
          <p:cNvPr id="9" name="Shape 7"/>
          <p:cNvSpPr/>
          <p:nvPr/>
        </p:nvSpPr>
        <p:spPr>
          <a:xfrm>
            <a:off x="6309360" y="1783080"/>
            <a:ext cx="5303520" cy="1143000"/>
          </a:xfrm>
          <a:prstGeom prst="roundRect">
            <a:avLst>
              <a:gd name="adj" fmla="val 7200"/>
            </a:avLst>
          </a:prstGeom>
          <a:solidFill>
            <a:srgbClr val="12203A"/>
          </a:solidFill>
          <a:ln w="12700">
            <a:solidFill>
              <a:srgbClr val="12203A"/>
            </a:solidFill>
            <a:prstDash val="solid"/>
          </a:ln>
        </p:spPr>
        <p:txBody>
          <a:bodyPr/>
          <a:lstStyle/>
          <a:p>
            <a:endParaRPr lang="es-CL"/>
          </a:p>
        </p:txBody>
      </p:sp>
      <p:sp>
        <p:nvSpPr>
          <p:cNvPr id="10" name="Shape 8"/>
          <p:cNvSpPr/>
          <p:nvPr/>
        </p:nvSpPr>
        <p:spPr>
          <a:xfrm>
            <a:off x="6565392" y="2130552"/>
            <a:ext cx="420624" cy="420624"/>
          </a:xfrm>
          <a:prstGeom prst="ellipse">
            <a:avLst/>
          </a:prstGeom>
          <a:solidFill>
            <a:srgbClr val="AC212E"/>
          </a:solidFill>
          <a:ln/>
        </p:spPr>
        <p:txBody>
          <a:bodyPr/>
          <a:lstStyle/>
          <a:p>
            <a:endParaRPr lang="es-CL"/>
          </a:p>
        </p:txBody>
      </p:sp>
      <p:sp>
        <p:nvSpPr>
          <p:cNvPr id="11" name="Text 9"/>
          <p:cNvSpPr/>
          <p:nvPr/>
        </p:nvSpPr>
        <p:spPr>
          <a:xfrm>
            <a:off x="6565392" y="213055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7132320" y="1947672"/>
            <a:ext cx="429768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Conectores</a:t>
            </a:r>
            <a:endParaRPr lang="en-US" sz="1500" dirty="0"/>
          </a:p>
        </p:txBody>
      </p:sp>
      <p:sp>
        <p:nvSpPr>
          <p:cNvPr id="13" name="Text 11"/>
          <p:cNvSpPr/>
          <p:nvPr/>
        </p:nvSpPr>
        <p:spPr>
          <a:xfrm>
            <a:off x="7132320" y="2286000"/>
            <a:ext cx="4297680" cy="50292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Las líneas que unen. Llevan una relación explícita.</a:t>
            </a:r>
            <a:endParaRPr lang="en-US" sz="1250" dirty="0"/>
          </a:p>
        </p:txBody>
      </p:sp>
      <p:sp>
        <p:nvSpPr>
          <p:cNvPr id="14" name="Shape 12"/>
          <p:cNvSpPr/>
          <p:nvPr/>
        </p:nvSpPr>
        <p:spPr>
          <a:xfrm>
            <a:off x="548640" y="3108960"/>
            <a:ext cx="5303520" cy="1143000"/>
          </a:xfrm>
          <a:prstGeom prst="roundRect">
            <a:avLst>
              <a:gd name="adj" fmla="val 7200"/>
            </a:avLst>
          </a:prstGeom>
          <a:solidFill>
            <a:srgbClr val="12203A"/>
          </a:solidFill>
          <a:ln w="12700">
            <a:solidFill>
              <a:srgbClr val="12203A"/>
            </a:solidFill>
            <a:prstDash val="solid"/>
          </a:ln>
        </p:spPr>
        <p:txBody>
          <a:bodyPr/>
          <a:lstStyle/>
          <a:p>
            <a:endParaRPr lang="es-CL"/>
          </a:p>
        </p:txBody>
      </p:sp>
      <p:sp>
        <p:nvSpPr>
          <p:cNvPr id="15" name="Shape 13"/>
          <p:cNvSpPr/>
          <p:nvPr/>
        </p:nvSpPr>
        <p:spPr>
          <a:xfrm>
            <a:off x="804672" y="3456432"/>
            <a:ext cx="420624" cy="420624"/>
          </a:xfrm>
          <a:prstGeom prst="ellipse">
            <a:avLst/>
          </a:prstGeom>
          <a:solidFill>
            <a:srgbClr val="AC212E"/>
          </a:solidFill>
          <a:ln/>
        </p:spPr>
        <p:txBody>
          <a:bodyPr/>
          <a:lstStyle/>
          <a:p>
            <a:endParaRPr lang="es-CL"/>
          </a:p>
        </p:txBody>
      </p:sp>
      <p:sp>
        <p:nvSpPr>
          <p:cNvPr id="16" name="Text 14"/>
          <p:cNvSpPr/>
          <p:nvPr/>
        </p:nvSpPr>
        <p:spPr>
          <a:xfrm>
            <a:off x="804672" y="345643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371600" y="3273552"/>
            <a:ext cx="429768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Proposiciones</a:t>
            </a:r>
            <a:endParaRPr lang="en-US" sz="1500" dirty="0"/>
          </a:p>
        </p:txBody>
      </p:sp>
      <p:sp>
        <p:nvSpPr>
          <p:cNvPr id="18" name="Text 16"/>
          <p:cNvSpPr/>
          <p:nvPr/>
        </p:nvSpPr>
        <p:spPr>
          <a:xfrm>
            <a:off x="1371600" y="3611880"/>
            <a:ext cx="4297680" cy="50292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Concepto + conector + concepto forman una afirmación.</a:t>
            </a:r>
            <a:endParaRPr lang="en-US" sz="1250" dirty="0"/>
          </a:p>
        </p:txBody>
      </p:sp>
      <p:sp>
        <p:nvSpPr>
          <p:cNvPr id="19" name="Shape 17"/>
          <p:cNvSpPr/>
          <p:nvPr/>
        </p:nvSpPr>
        <p:spPr>
          <a:xfrm>
            <a:off x="6309360" y="3108960"/>
            <a:ext cx="5303520" cy="1143000"/>
          </a:xfrm>
          <a:prstGeom prst="roundRect">
            <a:avLst>
              <a:gd name="adj" fmla="val 7200"/>
            </a:avLst>
          </a:prstGeom>
          <a:solidFill>
            <a:srgbClr val="12203A"/>
          </a:solidFill>
          <a:ln w="12700">
            <a:solidFill>
              <a:srgbClr val="12203A"/>
            </a:solidFill>
            <a:prstDash val="solid"/>
          </a:ln>
        </p:spPr>
        <p:txBody>
          <a:bodyPr/>
          <a:lstStyle/>
          <a:p>
            <a:endParaRPr lang="es-CL"/>
          </a:p>
        </p:txBody>
      </p:sp>
      <p:sp>
        <p:nvSpPr>
          <p:cNvPr id="20" name="Shape 18"/>
          <p:cNvSpPr/>
          <p:nvPr/>
        </p:nvSpPr>
        <p:spPr>
          <a:xfrm>
            <a:off x="6565392" y="3456432"/>
            <a:ext cx="420624" cy="420624"/>
          </a:xfrm>
          <a:prstGeom prst="ellipse">
            <a:avLst/>
          </a:prstGeom>
          <a:solidFill>
            <a:srgbClr val="AC212E"/>
          </a:solidFill>
          <a:ln/>
        </p:spPr>
        <p:txBody>
          <a:bodyPr/>
          <a:lstStyle/>
          <a:p>
            <a:endParaRPr lang="es-CL"/>
          </a:p>
        </p:txBody>
      </p:sp>
      <p:sp>
        <p:nvSpPr>
          <p:cNvPr id="21" name="Text 19"/>
          <p:cNvSpPr/>
          <p:nvPr/>
        </p:nvSpPr>
        <p:spPr>
          <a:xfrm>
            <a:off x="6565392" y="345643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7132320" y="3273552"/>
            <a:ext cx="429768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Jerarquía</a:t>
            </a:r>
            <a:endParaRPr lang="en-US" sz="1500" dirty="0"/>
          </a:p>
        </p:txBody>
      </p:sp>
      <p:sp>
        <p:nvSpPr>
          <p:cNvPr id="23" name="Text 21"/>
          <p:cNvSpPr/>
          <p:nvPr/>
        </p:nvSpPr>
        <p:spPr>
          <a:xfrm>
            <a:off x="7132320" y="3611880"/>
            <a:ext cx="4297680" cy="50292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Lo general arriba, lo específico abajo o hacia fuera.</a:t>
            </a:r>
            <a:endParaRPr lang="en-US" sz="1250" dirty="0"/>
          </a:p>
        </p:txBody>
      </p:sp>
      <p:sp>
        <p:nvSpPr>
          <p:cNvPr id="24" name="Shape 22"/>
          <p:cNvSpPr/>
          <p:nvPr/>
        </p:nvSpPr>
        <p:spPr>
          <a:xfrm>
            <a:off x="548640" y="4526280"/>
            <a:ext cx="11064240" cy="1371600"/>
          </a:xfrm>
          <a:prstGeom prst="roundRect">
            <a:avLst>
              <a:gd name="adj" fmla="val 6000"/>
            </a:avLst>
          </a:prstGeom>
          <a:solidFill>
            <a:srgbClr val="12203A"/>
          </a:solidFill>
          <a:ln w="12700">
            <a:solidFill>
              <a:srgbClr val="12203A"/>
            </a:solidFill>
            <a:prstDash val="solid"/>
          </a:ln>
        </p:spPr>
        <p:txBody>
          <a:bodyPr/>
          <a:lstStyle/>
          <a:p>
            <a:endParaRPr lang="es-CL"/>
          </a:p>
        </p:txBody>
      </p:sp>
      <p:sp>
        <p:nvSpPr>
          <p:cNvPr id="25" name="Text 23"/>
          <p:cNvSpPr/>
          <p:nvPr/>
        </p:nvSpPr>
        <p:spPr>
          <a:xfrm>
            <a:off x="868680" y="4681728"/>
            <a:ext cx="457200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La prueba de un buen conector</a:t>
            </a:r>
            <a:endParaRPr lang="en-US" sz="1400" dirty="0"/>
          </a:p>
        </p:txBody>
      </p:sp>
      <p:sp>
        <p:nvSpPr>
          <p:cNvPr id="26" name="Text 24"/>
          <p:cNvSpPr/>
          <p:nvPr/>
        </p:nvSpPr>
        <p:spPr>
          <a:xfrm>
            <a:off x="868680" y="5029200"/>
            <a:ext cx="10424160" cy="777240"/>
          </a:xfrm>
          <a:prstGeom prst="rect">
            <a:avLst/>
          </a:prstGeom>
          <a:noFill/>
          <a:ln/>
        </p:spPr>
        <p:txBody>
          <a:bodyPr wrap="square" lIns="0" tIns="0" rIns="0" bIns="0" rtlCol="0" anchor="ctr"/>
          <a:lstStyle/>
          <a:p>
            <a:pPr marL="0" indent="0">
              <a:lnSpc>
                <a:spcPts val="1900"/>
              </a:lnSpc>
              <a:buNone/>
            </a:pPr>
            <a:r>
              <a:rPr lang="en-US" sz="1350" dirty="0">
                <a:solidFill>
                  <a:srgbClr val="FFFFFF"/>
                </a:solidFill>
                <a:latin typeface="Calibri" pitchFamily="34" charset="0"/>
                <a:ea typeface="Calibri" pitchFamily="34" charset="-122"/>
                <a:cs typeface="Calibri" pitchFamily="34" charset="-120"/>
              </a:rPr>
              <a:t>Una flecha sin etiqueta no dice nada. «Git ——→ GitHub» es ambiguo; «Git ——sincroniza con——→ GitHub» es una proposición verificable. Si al leer una flecha en voz alta no resulta una frase con sentido, esa relación todavía no está definida.</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Cómo se construye un mapa con precisión conceptual</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Cuatro decisiones que separan una representación técnica de un diagrama decorativo.</a:t>
            </a:r>
            <a:endParaRPr lang="en-US" sz="1400" dirty="0"/>
          </a:p>
        </p:txBody>
      </p:sp>
      <p:graphicFrame>
        <p:nvGraphicFramePr>
          <p:cNvPr id="12" name="Table 0"/>
          <p:cNvGraphicFramePr>
            <a:graphicFrameLocks noGrp="1"/>
          </p:cNvGraphicFramePr>
          <p:nvPr/>
        </p:nvGraphicFramePr>
        <p:xfrm>
          <a:off x="548640" y="1783080"/>
          <a:ext cx="11064240" cy="2834640"/>
        </p:xfrm>
        <a:graphic>
          <a:graphicData uri="http://schemas.openxmlformats.org/drawingml/2006/table">
            <a:tbl>
              <a:tblPr/>
              <a:tblGrid>
                <a:gridCol w="32004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56692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Decisión</a:t>
                      </a:r>
                      <a:endParaRPr lang="en-US" sz="135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Representación débil</a:t>
                      </a:r>
                      <a:endParaRPr lang="en-US" sz="135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Representación precisa</a:t>
                      </a:r>
                      <a:endParaRPr lang="en-US" sz="135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extLst>
                  <a:ext uri="{0D108BD9-81ED-4DB2-BD59-A6C34878D82A}">
                    <a16:rowId xmlns:a16="http://schemas.microsoft.com/office/drawing/2014/main" val="10000"/>
                  </a:ext>
                </a:extLst>
              </a:tr>
              <a:tr h="566928">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Qué se pone en los nodos</a:t>
                      </a:r>
                      <a:endParaRPr lang="en-US" sz="125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Frases largas que ya explican todo</a:t>
                      </a:r>
                      <a:endParaRPr lang="en-US" sz="125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Conceptos acotados, que la relación conecta</a:t>
                      </a:r>
                      <a:endParaRPr lang="en-US" sz="125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Cómo se etiquetan las flechas</a:t>
                      </a:r>
                      <a:endParaRPr lang="en-US" sz="125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Sin etiqueta, o con «y», «también»</a:t>
                      </a:r>
                      <a:endParaRPr lang="en-US" sz="125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Con el verbo que nombra la relación</a:t>
                      </a:r>
                      <a:endParaRPr lang="en-US" sz="125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Cómo se organiza el espacio</a:t>
                      </a:r>
                      <a:endParaRPr lang="en-US" sz="125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Nodos distribuidos por estética</a:t>
                      </a:r>
                      <a:endParaRPr lang="en-US" sz="125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Jerarquía que refleja niveles de generalidad</a:t>
                      </a:r>
                      <a:endParaRPr lang="en-US" sz="125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Qué explica la leyenda</a:t>
                      </a:r>
                      <a:endParaRPr lang="en-US" sz="125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Símbolos que no aparecen en el mapa</a:t>
                      </a:r>
                      <a:endParaRPr lang="en-US" sz="125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Cada elemento gráfico efectivamente usado</a:t>
                      </a:r>
                      <a:endParaRPr lang="en-US" sz="125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2"/>
          <p:cNvSpPr/>
          <p:nvPr/>
        </p:nvSpPr>
        <p:spPr>
          <a:xfrm>
            <a:off x="548640" y="4709160"/>
            <a:ext cx="11064240" cy="1234440"/>
          </a:xfrm>
          <a:prstGeom prst="roundRect">
            <a:avLst>
              <a:gd name="adj" fmla="val 6667"/>
            </a:avLst>
          </a:prstGeom>
          <a:solidFill>
            <a:srgbClr val="F6E7E9"/>
          </a:solidFill>
          <a:ln w="12700">
            <a:solidFill>
              <a:srgbClr val="F6E7E9"/>
            </a:solidFill>
            <a:prstDash val="solid"/>
          </a:ln>
        </p:spPr>
        <p:txBody>
          <a:bodyPr/>
          <a:lstStyle/>
          <a:p>
            <a:endParaRPr lang="es-CL"/>
          </a:p>
        </p:txBody>
      </p:sp>
      <p:sp>
        <p:nvSpPr>
          <p:cNvPr id="6" name="Text 3"/>
          <p:cNvSpPr/>
          <p:nvPr/>
        </p:nvSpPr>
        <p:spPr>
          <a:xfrm>
            <a:off x="868680" y="4846320"/>
            <a:ext cx="365760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Orden de trabajo sugerido</a:t>
            </a:r>
            <a:endParaRPr lang="en-US" sz="1400" dirty="0"/>
          </a:p>
        </p:txBody>
      </p:sp>
      <p:sp>
        <p:nvSpPr>
          <p:cNvPr id="7" name="Text 4"/>
          <p:cNvSpPr/>
          <p:nvPr/>
        </p:nvSpPr>
        <p:spPr>
          <a:xfrm>
            <a:off x="868680" y="5193792"/>
            <a:ext cx="10424160" cy="640080"/>
          </a:xfrm>
          <a:prstGeom prst="rect">
            <a:avLst/>
          </a:prstGeom>
          <a:noFill/>
          <a:ln/>
        </p:spPr>
        <p:txBody>
          <a:bodyPr wrap="square" lIns="0" tIns="0" rIns="0" bIns="0" rtlCol="0" anchor="ctr"/>
          <a:lstStyle/>
          <a:p>
            <a:pPr marL="0" indent="0">
              <a:lnSpc>
                <a:spcPts val="1900"/>
              </a:lnSpc>
              <a:buNone/>
            </a:pPr>
            <a:r>
              <a:rPr lang="en-US" sz="1350" dirty="0">
                <a:solidFill>
                  <a:srgbClr val="06304A"/>
                </a:solidFill>
                <a:latin typeface="Calibri" pitchFamily="34" charset="0"/>
                <a:ea typeface="Calibri" pitchFamily="34" charset="-122"/>
                <a:cs typeface="Calibri" pitchFamily="34" charset="-120"/>
              </a:rPr>
              <a:t>Primero listar los conceptos sueltos. Luego agruparlos por nivel de generalidad. Después trazar las relaciones y recién ahí etiquetarlas. Dibujar antes de haber decidido las relaciones produce mapas bonitos y vacíos.</a:t>
            </a:r>
            <a:endParaRPr lang="en-US"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Del concepto a la evidencia evaluada</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Cada concepto teórico se manifiesta en algo concreto del proyecto.</a:t>
            </a:r>
            <a:endParaRPr lang="en-US" sz="1400" dirty="0"/>
          </a:p>
        </p:txBody>
      </p:sp>
      <p:graphicFrame>
        <p:nvGraphicFramePr>
          <p:cNvPr id="13" name="Table 0"/>
          <p:cNvGraphicFramePr>
            <a:graphicFrameLocks noGrp="1"/>
          </p:cNvGraphicFramePr>
          <p:nvPr/>
        </p:nvGraphicFramePr>
        <p:xfrm>
          <a:off x="548640" y="1737360"/>
          <a:ext cx="11064240" cy="3182112"/>
        </p:xfrm>
        <a:graphic>
          <a:graphicData uri="http://schemas.openxmlformats.org/drawingml/2006/table">
            <a:tbl>
              <a:tblPr/>
              <a:tblGrid>
                <a:gridCol w="3657600">
                  <a:extLst>
                    <a:ext uri="{9D8B030D-6E8A-4147-A177-3AD203B41FA5}">
                      <a16:colId xmlns:a16="http://schemas.microsoft.com/office/drawing/2014/main" val="20000"/>
                    </a:ext>
                  </a:extLst>
                </a:gridCol>
                <a:gridCol w="557784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530352">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Concepto</a:t>
                      </a:r>
                      <a:endParaRPr lang="en-US" sz="13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Evidencia en el proyecto</a:t>
                      </a:r>
                      <a:endParaRPr lang="en-US" sz="13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Indicador</a:t>
                      </a:r>
                      <a:endParaRPr lang="en-US" sz="13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extLst>
                  <a:ext uri="{0D108BD9-81ED-4DB2-BD59-A6C34878D82A}">
                    <a16:rowId xmlns:a16="http://schemas.microsoft.com/office/drawing/2014/main" val="10000"/>
                  </a:ext>
                </a:extLst>
              </a:tr>
              <a:tr h="530352">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Contexto problematizador</a:t>
                      </a:r>
                      <a:endParaRPr lang="en-US" sz="12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Problema y dataset declarados y acotados</a:t>
                      </a:r>
                      <a:endParaRPr lang="en-US" sz="12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ID 1.1</a:t>
                      </a:r>
                      <a:endParaRPr lang="en-US" sz="12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Ciclo de vida del dato</a:t>
                      </a:r>
                      <a:endParaRPr lang="en-US" sz="12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Secuencia de etapas representada en el mapa</a:t>
                      </a:r>
                      <a:endParaRPr lang="en-US" sz="12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ID 1.1</a:t>
                      </a:r>
                      <a:endParaRPr lang="en-US" sz="12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0352">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Reproducibilidad</a:t>
                      </a:r>
                      <a:endParaRPr lang="en-US" sz="12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Entorno, dependencias y ejecución verificable</a:t>
                      </a:r>
                      <a:endParaRPr lang="en-US" sz="12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ID 1.2</a:t>
                      </a:r>
                      <a:endParaRPr lang="en-US" sz="12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Trazabilidad</a:t>
                      </a:r>
                      <a:endParaRPr lang="en-US" sz="12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Historial de cambios con autoría identificable</a:t>
                      </a:r>
                      <a:endParaRPr lang="en-US" sz="12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ID 1.2</a:t>
                      </a:r>
                      <a:endParaRPr lang="en-US" sz="12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0352">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Documentación científica</a:t>
                      </a:r>
                      <a:endParaRPr lang="en-US" sz="12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Código, narrativa y referencias articulados</a:t>
                      </a:r>
                      <a:endParaRPr lang="en-US" sz="12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ID 1.3</a:t>
                      </a:r>
                      <a:endParaRPr lang="en-US" sz="12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548640" y="5257800"/>
            <a:ext cx="11064240" cy="731520"/>
          </a:xfrm>
          <a:prstGeom prst="roundRect">
            <a:avLst>
              <a:gd name="adj" fmla="val 11250"/>
            </a:avLst>
          </a:prstGeom>
          <a:solidFill>
            <a:srgbClr val="0A1526"/>
          </a:solidFill>
          <a:ln w="12700">
            <a:solidFill>
              <a:srgbClr val="0A1526"/>
            </a:solidFill>
            <a:prstDash val="solid"/>
          </a:ln>
        </p:spPr>
        <p:txBody>
          <a:bodyPr/>
          <a:lstStyle/>
          <a:p>
            <a:endParaRPr lang="es-CL"/>
          </a:p>
        </p:txBody>
      </p:sp>
      <p:sp>
        <p:nvSpPr>
          <p:cNvPr id="6" name="Text 3"/>
          <p:cNvSpPr/>
          <p:nvPr/>
        </p:nvSpPr>
        <p:spPr>
          <a:xfrm>
            <a:off x="868680" y="5257800"/>
            <a:ext cx="10424160" cy="73152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Los conceptos no se evalúan preguntando su definición: se evalúan observando si el trabajo los aplica.</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Compruebe su comprensión</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Si puede responder estas seis preguntas, tiene la base conceptual para elaborar el mapa.</a:t>
            </a:r>
            <a:endParaRPr lang="en-US" sz="1400" dirty="0"/>
          </a:p>
        </p:txBody>
      </p:sp>
      <p:sp>
        <p:nvSpPr>
          <p:cNvPr id="4" name="Shape 2"/>
          <p:cNvSpPr/>
          <p:nvPr/>
        </p:nvSpPr>
        <p:spPr>
          <a:xfrm>
            <a:off x="548640" y="1783080"/>
            <a:ext cx="5303520" cy="1097280"/>
          </a:xfrm>
          <a:prstGeom prst="roundRect">
            <a:avLst>
              <a:gd name="adj" fmla="val 7500"/>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804672" y="2112264"/>
            <a:ext cx="402336" cy="402336"/>
          </a:xfrm>
          <a:prstGeom prst="ellipse">
            <a:avLst/>
          </a:prstGeom>
          <a:solidFill>
            <a:srgbClr val="AC212E"/>
          </a:solidFill>
          <a:ln/>
        </p:spPr>
        <p:txBody>
          <a:bodyPr/>
          <a:lstStyle/>
          <a:p>
            <a:endParaRPr lang="es-CL"/>
          </a:p>
        </p:txBody>
      </p:sp>
      <p:sp>
        <p:nvSpPr>
          <p:cNvPr id="6" name="Text 4"/>
          <p:cNvSpPr/>
          <p:nvPr/>
        </p:nvSpPr>
        <p:spPr>
          <a:xfrm>
            <a:off x="804672" y="211226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71600" y="1892808"/>
            <a:ext cx="4343400" cy="877824"/>
          </a:xfrm>
          <a:prstGeom prst="rect">
            <a:avLst/>
          </a:prstGeom>
          <a:noFill/>
          <a:ln/>
        </p:spPr>
        <p:txBody>
          <a:bodyPr wrap="square" lIns="0" tIns="0" rIns="0" bIns="0" rtlCol="0" anchor="ctr"/>
          <a:lstStyle/>
          <a:p>
            <a:pPr marL="0" indent="0">
              <a:lnSpc>
                <a:spcPts val="1700"/>
              </a:lnSpc>
              <a:buNone/>
            </a:pPr>
            <a:r>
              <a:rPr lang="en-US" sz="1300" dirty="0">
                <a:solidFill>
                  <a:srgbClr val="06304A"/>
                </a:solidFill>
                <a:latin typeface="Calibri" pitchFamily="34" charset="0"/>
                <a:ea typeface="Calibri" pitchFamily="34" charset="-122"/>
                <a:cs typeface="Calibri" pitchFamily="34" charset="-120"/>
              </a:rPr>
              <a:t>¿Por qué una situación no equivale todavía a una pregunta analizable?</a:t>
            </a:r>
            <a:endParaRPr lang="en-US" sz="1300" dirty="0"/>
          </a:p>
        </p:txBody>
      </p:sp>
      <p:sp>
        <p:nvSpPr>
          <p:cNvPr id="8" name="Shape 6"/>
          <p:cNvSpPr/>
          <p:nvPr/>
        </p:nvSpPr>
        <p:spPr>
          <a:xfrm>
            <a:off x="6309360" y="1783080"/>
            <a:ext cx="5303520" cy="1097280"/>
          </a:xfrm>
          <a:prstGeom prst="roundRect">
            <a:avLst>
              <a:gd name="adj" fmla="val 7500"/>
            </a:avLst>
          </a:prstGeom>
          <a:solidFill>
            <a:srgbClr val="F4F7FA"/>
          </a:solidFill>
          <a:ln w="12700">
            <a:solidFill>
              <a:srgbClr val="F4F7FA"/>
            </a:solidFill>
            <a:prstDash val="solid"/>
          </a:ln>
        </p:spPr>
        <p:txBody>
          <a:bodyPr/>
          <a:lstStyle/>
          <a:p>
            <a:endParaRPr lang="es-CL"/>
          </a:p>
        </p:txBody>
      </p:sp>
      <p:sp>
        <p:nvSpPr>
          <p:cNvPr id="9" name="Shape 7"/>
          <p:cNvSpPr/>
          <p:nvPr/>
        </p:nvSpPr>
        <p:spPr>
          <a:xfrm>
            <a:off x="6565392" y="2112264"/>
            <a:ext cx="402336" cy="402336"/>
          </a:xfrm>
          <a:prstGeom prst="ellipse">
            <a:avLst/>
          </a:prstGeom>
          <a:solidFill>
            <a:srgbClr val="AC212E"/>
          </a:solidFill>
          <a:ln/>
        </p:spPr>
        <p:txBody>
          <a:bodyPr/>
          <a:lstStyle/>
          <a:p>
            <a:endParaRPr lang="es-CL"/>
          </a:p>
        </p:txBody>
      </p:sp>
      <p:sp>
        <p:nvSpPr>
          <p:cNvPr id="10" name="Text 8"/>
          <p:cNvSpPr/>
          <p:nvPr/>
        </p:nvSpPr>
        <p:spPr>
          <a:xfrm>
            <a:off x="6565392" y="211226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7132320" y="1892808"/>
            <a:ext cx="4343400" cy="877824"/>
          </a:xfrm>
          <a:prstGeom prst="rect">
            <a:avLst/>
          </a:prstGeom>
          <a:noFill/>
          <a:ln/>
        </p:spPr>
        <p:txBody>
          <a:bodyPr wrap="square" lIns="0" tIns="0" rIns="0" bIns="0" rtlCol="0" anchor="ctr"/>
          <a:lstStyle/>
          <a:p>
            <a:pPr marL="0" indent="0">
              <a:lnSpc>
                <a:spcPts val="1700"/>
              </a:lnSpc>
              <a:buNone/>
            </a:pPr>
            <a:r>
              <a:rPr lang="en-US" sz="1300" dirty="0">
                <a:solidFill>
                  <a:srgbClr val="06304A"/>
                </a:solidFill>
                <a:latin typeface="Calibri" pitchFamily="34" charset="0"/>
                <a:ea typeface="Calibri" pitchFamily="34" charset="-122"/>
                <a:cs typeface="Calibri" pitchFamily="34" charset="-120"/>
              </a:rPr>
              <a:t>¿Qué diferencia hay entre reproducibilidad y replicabilidad?</a:t>
            </a:r>
            <a:endParaRPr lang="en-US" sz="1300" dirty="0"/>
          </a:p>
        </p:txBody>
      </p:sp>
      <p:sp>
        <p:nvSpPr>
          <p:cNvPr id="12" name="Shape 10"/>
          <p:cNvSpPr/>
          <p:nvPr/>
        </p:nvSpPr>
        <p:spPr>
          <a:xfrm>
            <a:off x="548640" y="3081528"/>
            <a:ext cx="5303520" cy="1097280"/>
          </a:xfrm>
          <a:prstGeom prst="roundRect">
            <a:avLst>
              <a:gd name="adj" fmla="val 7500"/>
            </a:avLst>
          </a:prstGeom>
          <a:solidFill>
            <a:srgbClr val="F4F7FA"/>
          </a:solidFill>
          <a:ln w="12700">
            <a:solidFill>
              <a:srgbClr val="F4F7FA"/>
            </a:solidFill>
            <a:prstDash val="solid"/>
          </a:ln>
        </p:spPr>
        <p:txBody>
          <a:bodyPr/>
          <a:lstStyle/>
          <a:p>
            <a:endParaRPr lang="es-CL"/>
          </a:p>
        </p:txBody>
      </p:sp>
      <p:sp>
        <p:nvSpPr>
          <p:cNvPr id="13" name="Shape 11"/>
          <p:cNvSpPr/>
          <p:nvPr/>
        </p:nvSpPr>
        <p:spPr>
          <a:xfrm>
            <a:off x="804672" y="3410712"/>
            <a:ext cx="402336" cy="402336"/>
          </a:xfrm>
          <a:prstGeom prst="ellipse">
            <a:avLst/>
          </a:prstGeom>
          <a:solidFill>
            <a:srgbClr val="AC212E"/>
          </a:solidFill>
          <a:ln/>
        </p:spPr>
        <p:txBody>
          <a:bodyPr/>
          <a:lstStyle/>
          <a:p>
            <a:endParaRPr lang="es-CL"/>
          </a:p>
        </p:txBody>
      </p:sp>
      <p:sp>
        <p:nvSpPr>
          <p:cNvPr id="14" name="Text 12"/>
          <p:cNvSpPr/>
          <p:nvPr/>
        </p:nvSpPr>
        <p:spPr>
          <a:xfrm>
            <a:off x="804672" y="341071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371600" y="3191256"/>
            <a:ext cx="4343400" cy="877824"/>
          </a:xfrm>
          <a:prstGeom prst="rect">
            <a:avLst/>
          </a:prstGeom>
          <a:noFill/>
          <a:ln/>
        </p:spPr>
        <p:txBody>
          <a:bodyPr wrap="square" lIns="0" tIns="0" rIns="0" bIns="0" rtlCol="0" anchor="ctr"/>
          <a:lstStyle/>
          <a:p>
            <a:pPr marL="0" indent="0">
              <a:lnSpc>
                <a:spcPts val="1700"/>
              </a:lnSpc>
              <a:buNone/>
            </a:pPr>
            <a:r>
              <a:rPr lang="en-US" sz="1300" dirty="0">
                <a:solidFill>
                  <a:srgbClr val="06304A"/>
                </a:solidFill>
                <a:latin typeface="Calibri" pitchFamily="34" charset="0"/>
                <a:ea typeface="Calibri" pitchFamily="34" charset="-122"/>
                <a:cs typeface="Calibri" pitchFamily="34" charset="-120"/>
              </a:rPr>
              <a:t>¿Puede un trabajo ser reproducible y no trazable? ¿Y al revés?</a:t>
            </a:r>
            <a:endParaRPr lang="en-US" sz="1300" dirty="0"/>
          </a:p>
        </p:txBody>
      </p:sp>
      <p:sp>
        <p:nvSpPr>
          <p:cNvPr id="16" name="Shape 14"/>
          <p:cNvSpPr/>
          <p:nvPr/>
        </p:nvSpPr>
        <p:spPr>
          <a:xfrm>
            <a:off x="6309360" y="3081528"/>
            <a:ext cx="5303520" cy="1097280"/>
          </a:xfrm>
          <a:prstGeom prst="roundRect">
            <a:avLst>
              <a:gd name="adj" fmla="val 7500"/>
            </a:avLst>
          </a:prstGeom>
          <a:solidFill>
            <a:srgbClr val="F4F7FA"/>
          </a:solidFill>
          <a:ln w="12700">
            <a:solidFill>
              <a:srgbClr val="F4F7FA"/>
            </a:solidFill>
            <a:prstDash val="solid"/>
          </a:ln>
        </p:spPr>
        <p:txBody>
          <a:bodyPr/>
          <a:lstStyle/>
          <a:p>
            <a:endParaRPr lang="es-CL"/>
          </a:p>
        </p:txBody>
      </p:sp>
      <p:sp>
        <p:nvSpPr>
          <p:cNvPr id="17" name="Shape 15"/>
          <p:cNvSpPr/>
          <p:nvPr/>
        </p:nvSpPr>
        <p:spPr>
          <a:xfrm>
            <a:off x="6565392" y="3410712"/>
            <a:ext cx="402336" cy="402336"/>
          </a:xfrm>
          <a:prstGeom prst="ellipse">
            <a:avLst/>
          </a:prstGeom>
          <a:solidFill>
            <a:srgbClr val="AC212E"/>
          </a:solidFill>
          <a:ln/>
        </p:spPr>
        <p:txBody>
          <a:bodyPr/>
          <a:lstStyle/>
          <a:p>
            <a:endParaRPr lang="es-CL"/>
          </a:p>
        </p:txBody>
      </p:sp>
      <p:sp>
        <p:nvSpPr>
          <p:cNvPr id="18" name="Text 16"/>
          <p:cNvSpPr/>
          <p:nvPr/>
        </p:nvSpPr>
        <p:spPr>
          <a:xfrm>
            <a:off x="6565392" y="341071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p:nvPr/>
        </p:nvSpPr>
        <p:spPr>
          <a:xfrm>
            <a:off x="7132320" y="3191256"/>
            <a:ext cx="4343400" cy="877824"/>
          </a:xfrm>
          <a:prstGeom prst="rect">
            <a:avLst/>
          </a:prstGeom>
          <a:noFill/>
          <a:ln/>
        </p:spPr>
        <p:txBody>
          <a:bodyPr wrap="square" lIns="0" tIns="0" rIns="0" bIns="0" rtlCol="0" anchor="ctr"/>
          <a:lstStyle/>
          <a:p>
            <a:pPr marL="0" indent="0">
              <a:lnSpc>
                <a:spcPts val="1700"/>
              </a:lnSpc>
              <a:buNone/>
            </a:pPr>
            <a:r>
              <a:rPr lang="en-US" sz="1300" dirty="0">
                <a:solidFill>
                  <a:srgbClr val="06304A"/>
                </a:solidFill>
                <a:latin typeface="Calibri" pitchFamily="34" charset="0"/>
                <a:ea typeface="Calibri" pitchFamily="34" charset="-122"/>
                <a:cs typeface="Calibri" pitchFamily="34" charset="-120"/>
              </a:rPr>
              <a:t>¿Qué distingue documentar «qué se hizo» de documentar «por qué se hizo»?</a:t>
            </a:r>
            <a:endParaRPr lang="en-US" sz="1300" dirty="0"/>
          </a:p>
        </p:txBody>
      </p:sp>
      <p:sp>
        <p:nvSpPr>
          <p:cNvPr id="20" name="Shape 18"/>
          <p:cNvSpPr/>
          <p:nvPr/>
        </p:nvSpPr>
        <p:spPr>
          <a:xfrm>
            <a:off x="548640" y="4379976"/>
            <a:ext cx="5303520" cy="1097280"/>
          </a:xfrm>
          <a:prstGeom prst="roundRect">
            <a:avLst>
              <a:gd name="adj" fmla="val 7500"/>
            </a:avLst>
          </a:prstGeom>
          <a:solidFill>
            <a:srgbClr val="F4F7FA"/>
          </a:solidFill>
          <a:ln w="12700">
            <a:solidFill>
              <a:srgbClr val="F4F7FA"/>
            </a:solidFill>
            <a:prstDash val="solid"/>
          </a:ln>
        </p:spPr>
        <p:txBody>
          <a:bodyPr/>
          <a:lstStyle/>
          <a:p>
            <a:endParaRPr lang="es-CL"/>
          </a:p>
        </p:txBody>
      </p:sp>
      <p:sp>
        <p:nvSpPr>
          <p:cNvPr id="21" name="Shape 19"/>
          <p:cNvSpPr/>
          <p:nvPr/>
        </p:nvSpPr>
        <p:spPr>
          <a:xfrm>
            <a:off x="804672" y="4709160"/>
            <a:ext cx="402336" cy="402336"/>
          </a:xfrm>
          <a:prstGeom prst="ellipse">
            <a:avLst/>
          </a:prstGeom>
          <a:solidFill>
            <a:srgbClr val="AC212E"/>
          </a:solidFill>
          <a:ln/>
        </p:spPr>
        <p:txBody>
          <a:bodyPr/>
          <a:lstStyle/>
          <a:p>
            <a:endParaRPr lang="es-CL"/>
          </a:p>
        </p:txBody>
      </p:sp>
      <p:sp>
        <p:nvSpPr>
          <p:cNvPr id="22" name="Text 20"/>
          <p:cNvSpPr/>
          <p:nvPr/>
        </p:nvSpPr>
        <p:spPr>
          <a:xfrm>
            <a:off x="804672" y="470916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1"/>
          <p:cNvSpPr/>
          <p:nvPr/>
        </p:nvSpPr>
        <p:spPr>
          <a:xfrm>
            <a:off x="1371600" y="4489704"/>
            <a:ext cx="4343400" cy="877824"/>
          </a:xfrm>
          <a:prstGeom prst="rect">
            <a:avLst/>
          </a:prstGeom>
          <a:noFill/>
          <a:ln/>
        </p:spPr>
        <p:txBody>
          <a:bodyPr wrap="square" lIns="0" tIns="0" rIns="0" bIns="0" rtlCol="0" anchor="ctr"/>
          <a:lstStyle/>
          <a:p>
            <a:pPr marL="0" indent="0">
              <a:lnSpc>
                <a:spcPts val="1700"/>
              </a:lnSpc>
              <a:buNone/>
            </a:pPr>
            <a:r>
              <a:rPr lang="en-US" sz="1300" dirty="0">
                <a:solidFill>
                  <a:srgbClr val="06304A"/>
                </a:solidFill>
                <a:latin typeface="Calibri" pitchFamily="34" charset="0"/>
                <a:ea typeface="Calibri" pitchFamily="34" charset="-122"/>
                <a:cs typeface="Calibri" pitchFamily="34" charset="-120"/>
              </a:rPr>
              <a:t>¿Por qué el ciclo de vida del dato no es realmente lineal?</a:t>
            </a:r>
            <a:endParaRPr lang="en-US" sz="1300" dirty="0"/>
          </a:p>
        </p:txBody>
      </p:sp>
      <p:sp>
        <p:nvSpPr>
          <p:cNvPr id="24" name="Shape 22"/>
          <p:cNvSpPr/>
          <p:nvPr/>
        </p:nvSpPr>
        <p:spPr>
          <a:xfrm>
            <a:off x="6309360" y="4379976"/>
            <a:ext cx="5303520" cy="1097280"/>
          </a:xfrm>
          <a:prstGeom prst="roundRect">
            <a:avLst>
              <a:gd name="adj" fmla="val 7500"/>
            </a:avLst>
          </a:prstGeom>
          <a:solidFill>
            <a:srgbClr val="F4F7FA"/>
          </a:solidFill>
          <a:ln w="12700">
            <a:solidFill>
              <a:srgbClr val="F4F7FA"/>
            </a:solidFill>
            <a:prstDash val="solid"/>
          </a:ln>
        </p:spPr>
        <p:txBody>
          <a:bodyPr/>
          <a:lstStyle/>
          <a:p>
            <a:endParaRPr lang="es-CL"/>
          </a:p>
        </p:txBody>
      </p:sp>
      <p:sp>
        <p:nvSpPr>
          <p:cNvPr id="25" name="Shape 23"/>
          <p:cNvSpPr/>
          <p:nvPr/>
        </p:nvSpPr>
        <p:spPr>
          <a:xfrm>
            <a:off x="6565392" y="4709160"/>
            <a:ext cx="402336" cy="402336"/>
          </a:xfrm>
          <a:prstGeom prst="ellipse">
            <a:avLst/>
          </a:prstGeom>
          <a:solidFill>
            <a:srgbClr val="AC212E"/>
          </a:solidFill>
          <a:ln/>
        </p:spPr>
        <p:txBody>
          <a:bodyPr/>
          <a:lstStyle/>
          <a:p>
            <a:endParaRPr lang="es-CL"/>
          </a:p>
        </p:txBody>
      </p:sp>
      <p:sp>
        <p:nvSpPr>
          <p:cNvPr id="26" name="Text 24"/>
          <p:cNvSpPr/>
          <p:nvPr/>
        </p:nvSpPr>
        <p:spPr>
          <a:xfrm>
            <a:off x="6565392" y="470916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7" name="Text 25"/>
          <p:cNvSpPr/>
          <p:nvPr/>
        </p:nvSpPr>
        <p:spPr>
          <a:xfrm>
            <a:off x="7132320" y="4489704"/>
            <a:ext cx="4343400" cy="877824"/>
          </a:xfrm>
          <a:prstGeom prst="rect">
            <a:avLst/>
          </a:prstGeom>
          <a:noFill/>
          <a:ln/>
        </p:spPr>
        <p:txBody>
          <a:bodyPr wrap="square" lIns="0" tIns="0" rIns="0" bIns="0" rtlCol="0" anchor="ctr"/>
          <a:lstStyle/>
          <a:p>
            <a:pPr marL="0" indent="0">
              <a:lnSpc>
                <a:spcPts val="1700"/>
              </a:lnSpc>
              <a:buNone/>
            </a:pPr>
            <a:r>
              <a:rPr lang="en-US" sz="1300" dirty="0">
                <a:solidFill>
                  <a:srgbClr val="06304A"/>
                </a:solidFill>
                <a:latin typeface="Calibri" pitchFamily="34" charset="0"/>
                <a:ea typeface="Calibri" pitchFamily="34" charset="-122"/>
                <a:cs typeface="Calibri" pitchFamily="34" charset="-120"/>
              </a:rPr>
              <a:t>¿Qué convierte una flecha de su mapa en una proposición verificable?</a:t>
            </a:r>
            <a:endParaRPr lang="en-US" sz="1300" dirty="0"/>
          </a:p>
        </p:txBody>
      </p:sp>
      <p:sp>
        <p:nvSpPr>
          <p:cNvPr id="28" name="Text 26"/>
          <p:cNvSpPr/>
          <p:nvPr/>
        </p:nvSpPr>
        <p:spPr>
          <a:xfrm>
            <a:off x="548640" y="6327648"/>
            <a:ext cx="11064240" cy="274320"/>
          </a:xfrm>
          <a:prstGeom prst="rect">
            <a:avLst/>
          </a:prstGeom>
          <a:noFill/>
          <a:ln/>
        </p:spPr>
        <p:txBody>
          <a:bodyPr wrap="square" lIns="0" tIns="0" rIns="0" bIns="0" rtlCol="0" anchor="ctr"/>
          <a:lstStyle/>
          <a:p>
            <a:pPr marL="0" indent="0">
              <a:buNone/>
            </a:pPr>
            <a:r>
              <a:rPr lang="en-US" sz="1000" dirty="0">
                <a:solidFill>
                  <a:srgbClr val="5A6B7B"/>
                </a:solidFill>
                <a:latin typeface="Calibri" pitchFamily="34" charset="0"/>
                <a:ea typeface="Calibri" pitchFamily="34" charset="-122"/>
                <a:cs typeface="Calibri" pitchFamily="34" charset="-120"/>
              </a:rPr>
              <a:t>Estas preguntas son también un buen punto de partida para las intervenciones en el foro de reflexión de la fase.</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A152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55000"/>
          </a:blip>
          <a:stretch>
            <a:fillRect/>
          </a:stretch>
        </p:blipFill>
        <p:spPr>
          <a:xfrm>
            <a:off x="6675120" y="0"/>
            <a:ext cx="5513832" cy="3227832"/>
          </a:xfrm>
          <a:prstGeom prst="rect">
            <a:avLst/>
          </a:prstGeom>
        </p:spPr>
      </p:pic>
      <p:sp>
        <p:nvSpPr>
          <p:cNvPr id="3" name="Shape 0"/>
          <p:cNvSpPr/>
          <p:nvPr/>
        </p:nvSpPr>
        <p:spPr>
          <a:xfrm>
            <a:off x="6675120" y="0"/>
            <a:ext cx="5513832" cy="3227832"/>
          </a:xfrm>
          <a:prstGeom prst="rect">
            <a:avLst/>
          </a:prstGeom>
          <a:solidFill>
            <a:srgbClr val="0A1526">
              <a:alpha val="45000"/>
            </a:srgbClr>
          </a:solidFill>
          <a:ln w="12700">
            <a:solidFill>
              <a:srgbClr val="0A1526">
                <a:alpha val="0"/>
              </a:srgbClr>
            </a:solidFill>
            <a:prstDash val="solid"/>
          </a:ln>
        </p:spPr>
        <p:txBody>
          <a:bodyPr/>
          <a:lstStyle/>
          <a:p>
            <a:endParaRPr lang="es-CL"/>
          </a:p>
        </p:txBody>
      </p:sp>
      <p:pic>
        <p:nvPicPr>
          <p:cNvPr id="4" name="Image 1" descr="preencoded.png"/>
          <p:cNvPicPr>
            <a:picLocks noChangeAspect="1"/>
          </p:cNvPicPr>
          <p:nvPr/>
        </p:nvPicPr>
        <p:blipFill>
          <a:blip r:embed="rId4"/>
          <a:stretch>
            <a:fillRect/>
          </a:stretch>
        </p:blipFill>
        <p:spPr>
          <a:xfrm>
            <a:off x="548640" y="457200"/>
            <a:ext cx="4754880" cy="886968"/>
          </a:xfrm>
          <a:prstGeom prst="rect">
            <a:avLst/>
          </a:prstGeom>
        </p:spPr>
      </p:pic>
      <p:sp>
        <p:nvSpPr>
          <p:cNvPr id="5" name="Text 1"/>
          <p:cNvSpPr/>
          <p:nvPr/>
        </p:nvSpPr>
        <p:spPr>
          <a:xfrm>
            <a:off x="548640" y="1920240"/>
            <a:ext cx="7680960" cy="594360"/>
          </a:xfrm>
          <a:prstGeom prst="rect">
            <a:avLst/>
          </a:prstGeom>
          <a:noFill/>
          <a:ln/>
        </p:spPr>
        <p:txBody>
          <a:bodyPr wrap="square" lIns="0" tIns="0" rIns="0" bIns="0" rtlCol="0" anchor="ctr"/>
          <a:lstStyle/>
          <a:p>
            <a:pPr marL="0" indent="0">
              <a:buNone/>
            </a:pPr>
            <a:r>
              <a:rPr lang="en-US" sz="3400" b="1" kern="0" spc="200" dirty="0">
                <a:solidFill>
                  <a:srgbClr val="FFFFFF"/>
                </a:solidFill>
                <a:latin typeface="Cambria" pitchFamily="34" charset="0"/>
                <a:ea typeface="Cambria" pitchFamily="34" charset="-122"/>
                <a:cs typeface="Cambria" pitchFamily="34" charset="-120"/>
              </a:rPr>
              <a:t>EL ECOSISTEMA CIENTÍFICO</a:t>
            </a:r>
            <a:endParaRPr lang="en-US" sz="3400" dirty="0"/>
          </a:p>
        </p:txBody>
      </p:sp>
      <p:sp>
        <p:nvSpPr>
          <p:cNvPr id="6" name="Text 2"/>
          <p:cNvSpPr/>
          <p:nvPr/>
        </p:nvSpPr>
        <p:spPr>
          <a:xfrm>
            <a:off x="548640" y="2606040"/>
            <a:ext cx="7680960" cy="548640"/>
          </a:xfrm>
          <a:prstGeom prst="rect">
            <a:avLst/>
          </a:prstGeom>
          <a:noFill/>
          <a:ln/>
        </p:spPr>
        <p:txBody>
          <a:bodyPr wrap="square" lIns="0" tIns="0" rIns="0" bIns="0" rtlCol="0" anchor="ctr"/>
          <a:lstStyle/>
          <a:p>
            <a:pPr marL="0" indent="0">
              <a:buNone/>
            </a:pPr>
            <a:r>
              <a:rPr lang="en-US" sz="2600" dirty="0">
                <a:solidFill>
                  <a:srgbClr val="D7E3EE"/>
                </a:solidFill>
                <a:latin typeface="Cambria" pitchFamily="34" charset="0"/>
                <a:ea typeface="Cambria" pitchFamily="34" charset="-122"/>
                <a:cs typeface="Cambria" pitchFamily="34" charset="-120"/>
              </a:rPr>
              <a:t>Python · Jupyter · Git · GitHub</a:t>
            </a:r>
            <a:endParaRPr lang="en-US" sz="2600" dirty="0"/>
          </a:p>
        </p:txBody>
      </p:sp>
      <p:sp>
        <p:nvSpPr>
          <p:cNvPr id="7" name="Shape 3"/>
          <p:cNvSpPr/>
          <p:nvPr/>
        </p:nvSpPr>
        <p:spPr>
          <a:xfrm>
            <a:off x="548640" y="3337560"/>
            <a:ext cx="1280160" cy="45720"/>
          </a:xfrm>
          <a:prstGeom prst="rect">
            <a:avLst/>
          </a:prstGeom>
          <a:solidFill>
            <a:srgbClr val="AC212E"/>
          </a:solidFill>
          <a:ln w="12700">
            <a:solidFill>
              <a:srgbClr val="AC212E"/>
            </a:solidFill>
            <a:prstDash val="solid"/>
          </a:ln>
        </p:spPr>
        <p:txBody>
          <a:bodyPr/>
          <a:lstStyle/>
          <a:p>
            <a:endParaRPr lang="es-CL"/>
          </a:p>
        </p:txBody>
      </p:sp>
      <p:sp>
        <p:nvSpPr>
          <p:cNvPr id="8" name="Text 4"/>
          <p:cNvSpPr/>
          <p:nvPr/>
        </p:nvSpPr>
        <p:spPr>
          <a:xfrm>
            <a:off x="548640" y="3611880"/>
            <a:ext cx="7863840" cy="457200"/>
          </a:xfrm>
          <a:prstGeom prst="rect">
            <a:avLst/>
          </a:prstGeom>
          <a:noFill/>
          <a:ln/>
        </p:spPr>
        <p:txBody>
          <a:bodyPr wrap="square" lIns="0" tIns="0" rIns="0" bIns="0" rtlCol="0" anchor="ctr"/>
          <a:lstStyle/>
          <a:p>
            <a:pPr marL="0" indent="0">
              <a:buNone/>
            </a:pPr>
            <a:r>
              <a:rPr lang="en-US" sz="1700" dirty="0">
                <a:solidFill>
                  <a:srgbClr val="D7E3EE"/>
                </a:solidFill>
                <a:latin typeface="Calibri" pitchFamily="34" charset="0"/>
                <a:ea typeface="Calibri" pitchFamily="34" charset="-122"/>
                <a:cs typeface="Calibri" pitchFamily="34" charset="-120"/>
              </a:rPr>
              <a:t>Cuatro herramientas, una sola forma de trabajar</a:t>
            </a:r>
            <a:endParaRPr lang="en-US" sz="1700" dirty="0"/>
          </a:p>
        </p:txBody>
      </p:sp>
      <p:sp>
        <p:nvSpPr>
          <p:cNvPr id="9" name="Text 5"/>
          <p:cNvSpPr/>
          <p:nvPr/>
        </p:nvSpPr>
        <p:spPr>
          <a:xfrm>
            <a:off x="548640" y="5943600"/>
            <a:ext cx="11064240" cy="365760"/>
          </a:xfrm>
          <a:prstGeom prst="rect">
            <a:avLst/>
          </a:prstGeom>
          <a:noFill/>
          <a:ln/>
        </p:spPr>
        <p:txBody>
          <a:bodyPr wrap="square" lIns="0" tIns="0" rIns="0" bIns="0" rtlCol="0" anchor="ctr"/>
          <a:lstStyle/>
          <a:p>
            <a:pPr marL="0" indent="0">
              <a:buNone/>
            </a:pPr>
            <a:r>
              <a:rPr lang="en-US" sz="1200" dirty="0">
                <a:solidFill>
                  <a:srgbClr val="5A6B7B"/>
                </a:solidFill>
                <a:latin typeface="Calibri" pitchFamily="34" charset="0"/>
                <a:ea typeface="Calibri" pitchFamily="34" charset="-122"/>
                <a:cs typeface="Calibri" pitchFamily="34" charset="-120"/>
              </a:rPr>
              <a:t>MCDI500 · Programación para la Ciencia de Datos   |   Material de apoyo del proyecto transversal</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El problema que este ecosistema resuelve</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Casi todos hemos tenido esta carpeta.</a:t>
            </a:r>
            <a:endParaRPr lang="en-US" sz="1400" dirty="0"/>
          </a:p>
        </p:txBody>
      </p:sp>
      <p:sp>
        <p:nvSpPr>
          <p:cNvPr id="4" name="Shape 2"/>
          <p:cNvSpPr/>
          <p:nvPr/>
        </p:nvSpPr>
        <p:spPr>
          <a:xfrm>
            <a:off x="548640" y="1737360"/>
            <a:ext cx="5394960" cy="2926080"/>
          </a:xfrm>
          <a:prstGeom prst="roundRect">
            <a:avLst>
              <a:gd name="adj" fmla="val 2813"/>
            </a:avLst>
          </a:prstGeom>
          <a:solidFill>
            <a:srgbClr val="F6E7E9"/>
          </a:solidFill>
          <a:ln w="12700">
            <a:solidFill>
              <a:srgbClr val="F6E7E9"/>
            </a:solidFill>
            <a:prstDash val="solid"/>
          </a:ln>
        </p:spPr>
        <p:txBody>
          <a:bodyPr/>
          <a:lstStyle/>
          <a:p>
            <a:endParaRPr lang="es-CL"/>
          </a:p>
        </p:txBody>
      </p:sp>
      <p:sp>
        <p:nvSpPr>
          <p:cNvPr id="5" name="Text 3"/>
          <p:cNvSpPr/>
          <p:nvPr/>
        </p:nvSpPr>
        <p:spPr>
          <a:xfrm>
            <a:off x="868680" y="2057400"/>
            <a:ext cx="4754880" cy="2194560"/>
          </a:xfrm>
          <a:prstGeom prst="rect">
            <a:avLst/>
          </a:prstGeom>
          <a:noFill/>
          <a:ln/>
        </p:spPr>
        <p:txBody>
          <a:bodyPr wrap="square" lIns="0" tIns="0" rIns="0" bIns="0" rtlCol="0" anchor="ctr"/>
          <a:lstStyle/>
          <a:p>
            <a:pPr marL="0" indent="0">
              <a:lnSpc>
                <a:spcPts val="1800"/>
              </a:lnSpc>
              <a:buNone/>
            </a:pPr>
            <a:r>
              <a:rPr lang="en-US" sz="1300" dirty="0">
                <a:solidFill>
                  <a:srgbClr val="06304A"/>
                </a:solidFill>
                <a:latin typeface="Courier New" pitchFamily="34" charset="0"/>
                <a:ea typeface="Courier New" pitchFamily="34" charset="-122"/>
                <a:cs typeface="Courier New" pitchFamily="34" charset="-120"/>
              </a:rPr>
              <a:t>analisis_final.ipynb</a:t>
            </a:r>
            <a:endParaRPr lang="en-US" sz="1300" dirty="0"/>
          </a:p>
          <a:p>
            <a:pPr marL="0" indent="0">
              <a:lnSpc>
                <a:spcPts val="1800"/>
              </a:lnSpc>
              <a:buNone/>
            </a:pPr>
            <a:r>
              <a:rPr lang="en-US" sz="1300" dirty="0">
                <a:solidFill>
                  <a:srgbClr val="06304A"/>
                </a:solidFill>
                <a:latin typeface="Courier New" pitchFamily="34" charset="0"/>
                <a:ea typeface="Courier New" pitchFamily="34" charset="-122"/>
                <a:cs typeface="Courier New" pitchFamily="34" charset="-120"/>
              </a:rPr>
              <a:t>analisis_final_v2.ipynb</a:t>
            </a:r>
            <a:endParaRPr lang="en-US" sz="1300" dirty="0"/>
          </a:p>
          <a:p>
            <a:pPr marL="0" indent="0">
              <a:lnSpc>
                <a:spcPts val="1800"/>
              </a:lnSpc>
              <a:buNone/>
            </a:pPr>
            <a:r>
              <a:rPr lang="en-US" sz="1300" dirty="0">
                <a:solidFill>
                  <a:srgbClr val="06304A"/>
                </a:solidFill>
                <a:latin typeface="Courier New" pitchFamily="34" charset="0"/>
                <a:ea typeface="Courier New" pitchFamily="34" charset="-122"/>
                <a:cs typeface="Courier New" pitchFamily="34" charset="-120"/>
              </a:rPr>
              <a:t>analisis_final_v2_CORREGIDO.ipynb</a:t>
            </a:r>
            <a:endParaRPr lang="en-US" sz="1300" dirty="0"/>
          </a:p>
          <a:p>
            <a:pPr marL="0" indent="0">
              <a:lnSpc>
                <a:spcPts val="1800"/>
              </a:lnSpc>
              <a:buNone/>
            </a:pPr>
            <a:r>
              <a:rPr lang="en-US" sz="1300" dirty="0">
                <a:solidFill>
                  <a:srgbClr val="06304A"/>
                </a:solidFill>
                <a:latin typeface="Courier New" pitchFamily="34" charset="0"/>
                <a:ea typeface="Courier New" pitchFamily="34" charset="-122"/>
                <a:cs typeface="Courier New" pitchFamily="34" charset="-120"/>
              </a:rPr>
              <a:t>analisis_final_ESTE_SI.ipynb</a:t>
            </a:r>
            <a:endParaRPr lang="en-US" sz="1300" dirty="0"/>
          </a:p>
          <a:p>
            <a:pPr marL="0" indent="0">
              <a:lnSpc>
                <a:spcPts val="1800"/>
              </a:lnSpc>
              <a:buNone/>
            </a:pPr>
            <a:r>
              <a:rPr lang="en-US" sz="1300" dirty="0">
                <a:solidFill>
                  <a:srgbClr val="06304A"/>
                </a:solidFill>
                <a:latin typeface="Courier New" pitchFamily="34" charset="0"/>
                <a:ea typeface="Courier New" pitchFamily="34" charset="-122"/>
                <a:cs typeface="Courier New" pitchFamily="34" charset="-120"/>
              </a:rPr>
              <a:t>analisis_ESTE_SI_camila.ipynb</a:t>
            </a:r>
            <a:endParaRPr lang="en-US" sz="1300" dirty="0"/>
          </a:p>
          <a:p>
            <a:pPr marL="0" indent="0">
              <a:lnSpc>
                <a:spcPts val="1800"/>
              </a:lnSpc>
              <a:buNone/>
            </a:pPr>
            <a:r>
              <a:rPr lang="en-US" sz="1300" dirty="0">
                <a:solidFill>
                  <a:srgbClr val="06304A"/>
                </a:solidFill>
                <a:latin typeface="Courier New" pitchFamily="34" charset="0"/>
                <a:ea typeface="Courier New" pitchFamily="34" charset="-122"/>
                <a:cs typeface="Courier New" pitchFamily="34" charset="-120"/>
              </a:rPr>
              <a:t>analisis_definitivo_ok.ipynb</a:t>
            </a:r>
            <a:endParaRPr lang="en-US" sz="1300" dirty="0"/>
          </a:p>
        </p:txBody>
      </p:sp>
      <p:sp>
        <p:nvSpPr>
          <p:cNvPr id="6" name="Shape 4"/>
          <p:cNvSpPr/>
          <p:nvPr/>
        </p:nvSpPr>
        <p:spPr>
          <a:xfrm>
            <a:off x="6217920" y="1737360"/>
            <a:ext cx="5394960" cy="2926080"/>
          </a:xfrm>
          <a:prstGeom prst="roundRect">
            <a:avLst>
              <a:gd name="adj" fmla="val 2813"/>
            </a:avLst>
          </a:prstGeom>
          <a:solidFill>
            <a:srgbClr val="F4F7FA"/>
          </a:solidFill>
          <a:ln w="12700">
            <a:solidFill>
              <a:srgbClr val="F4F7FA"/>
            </a:solidFill>
            <a:prstDash val="solid"/>
          </a:ln>
        </p:spPr>
        <p:txBody>
          <a:bodyPr/>
          <a:lstStyle/>
          <a:p>
            <a:endParaRPr lang="es-CL"/>
          </a:p>
        </p:txBody>
      </p:sp>
      <p:sp>
        <p:nvSpPr>
          <p:cNvPr id="7" name="Text 5"/>
          <p:cNvSpPr/>
          <p:nvPr/>
        </p:nvSpPr>
        <p:spPr>
          <a:xfrm>
            <a:off x="6537960" y="1965960"/>
            <a:ext cx="4754880" cy="365760"/>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Tres preguntas que esa carpeta no puede responder</a:t>
            </a:r>
            <a:endParaRPr lang="en-US" sz="1500" dirty="0"/>
          </a:p>
        </p:txBody>
      </p:sp>
      <p:sp>
        <p:nvSpPr>
          <p:cNvPr id="8" name="Shape 6"/>
          <p:cNvSpPr/>
          <p:nvPr/>
        </p:nvSpPr>
        <p:spPr>
          <a:xfrm>
            <a:off x="6537960" y="2468880"/>
            <a:ext cx="365760" cy="365760"/>
          </a:xfrm>
          <a:prstGeom prst="ellipse">
            <a:avLst/>
          </a:prstGeom>
          <a:solidFill>
            <a:srgbClr val="AC212E"/>
          </a:solidFill>
          <a:ln/>
        </p:spPr>
        <p:txBody>
          <a:bodyPr/>
          <a:lstStyle/>
          <a:p>
            <a:endParaRPr lang="es-CL"/>
          </a:p>
        </p:txBody>
      </p:sp>
      <p:sp>
        <p:nvSpPr>
          <p:cNvPr id="9" name="Text 7"/>
          <p:cNvSpPr/>
          <p:nvPr/>
        </p:nvSpPr>
        <p:spPr>
          <a:xfrm>
            <a:off x="6537960" y="246888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p:nvPr/>
        </p:nvSpPr>
        <p:spPr>
          <a:xfrm>
            <a:off x="7059168" y="2450592"/>
            <a:ext cx="4297680" cy="411480"/>
          </a:xfrm>
          <a:prstGeom prst="rect">
            <a:avLst/>
          </a:prstGeom>
          <a:noFill/>
          <a:ln/>
        </p:spPr>
        <p:txBody>
          <a:bodyPr wrap="square" lIns="0" tIns="0" rIns="0" bIns="0" rtlCol="0" anchor="ctr"/>
          <a:lstStyle/>
          <a:p>
            <a:pPr marL="0" indent="0">
              <a:buNone/>
            </a:pPr>
            <a:r>
              <a:rPr lang="en-US" sz="1350" dirty="0">
                <a:solidFill>
                  <a:srgbClr val="06304A"/>
                </a:solidFill>
                <a:latin typeface="Calibri" pitchFamily="34" charset="0"/>
                <a:ea typeface="Calibri" pitchFamily="34" charset="-122"/>
                <a:cs typeface="Calibri" pitchFamily="34" charset="-120"/>
              </a:rPr>
              <a:t>¿Qué cambió entre una versión y otra?</a:t>
            </a:r>
            <a:endParaRPr lang="en-US" sz="1350" dirty="0"/>
          </a:p>
        </p:txBody>
      </p:sp>
      <p:sp>
        <p:nvSpPr>
          <p:cNvPr id="11" name="Shape 9"/>
          <p:cNvSpPr/>
          <p:nvPr/>
        </p:nvSpPr>
        <p:spPr>
          <a:xfrm>
            <a:off x="6537960" y="3127248"/>
            <a:ext cx="365760" cy="365760"/>
          </a:xfrm>
          <a:prstGeom prst="ellipse">
            <a:avLst/>
          </a:prstGeom>
          <a:solidFill>
            <a:srgbClr val="AC212E"/>
          </a:solidFill>
          <a:ln/>
        </p:spPr>
        <p:txBody>
          <a:bodyPr/>
          <a:lstStyle/>
          <a:p>
            <a:endParaRPr lang="es-CL"/>
          </a:p>
        </p:txBody>
      </p:sp>
      <p:sp>
        <p:nvSpPr>
          <p:cNvPr id="12" name="Text 10"/>
          <p:cNvSpPr/>
          <p:nvPr/>
        </p:nvSpPr>
        <p:spPr>
          <a:xfrm>
            <a:off x="6537960" y="312724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7059168" y="3108960"/>
            <a:ext cx="4297680" cy="411480"/>
          </a:xfrm>
          <a:prstGeom prst="rect">
            <a:avLst/>
          </a:prstGeom>
          <a:noFill/>
          <a:ln/>
        </p:spPr>
        <p:txBody>
          <a:bodyPr wrap="square" lIns="0" tIns="0" rIns="0" bIns="0" rtlCol="0" anchor="ctr"/>
          <a:lstStyle/>
          <a:p>
            <a:pPr marL="0" indent="0">
              <a:buNone/>
            </a:pPr>
            <a:r>
              <a:rPr lang="en-US" sz="1350" dirty="0">
                <a:solidFill>
                  <a:srgbClr val="06304A"/>
                </a:solidFill>
                <a:latin typeface="Calibri" pitchFamily="34" charset="0"/>
                <a:ea typeface="Calibri" pitchFamily="34" charset="-122"/>
                <a:cs typeface="Calibri" pitchFamily="34" charset="-120"/>
              </a:rPr>
              <a:t>¿Por qué se hizo ese cambio?</a:t>
            </a:r>
            <a:endParaRPr lang="en-US" sz="1350" dirty="0"/>
          </a:p>
        </p:txBody>
      </p:sp>
      <p:sp>
        <p:nvSpPr>
          <p:cNvPr id="14" name="Shape 12"/>
          <p:cNvSpPr/>
          <p:nvPr/>
        </p:nvSpPr>
        <p:spPr>
          <a:xfrm>
            <a:off x="6537960" y="3785616"/>
            <a:ext cx="365760" cy="365760"/>
          </a:xfrm>
          <a:prstGeom prst="ellipse">
            <a:avLst/>
          </a:prstGeom>
          <a:solidFill>
            <a:srgbClr val="AC212E"/>
          </a:solidFill>
          <a:ln/>
        </p:spPr>
        <p:txBody>
          <a:bodyPr/>
          <a:lstStyle/>
          <a:p>
            <a:endParaRPr lang="es-CL"/>
          </a:p>
        </p:txBody>
      </p:sp>
      <p:sp>
        <p:nvSpPr>
          <p:cNvPr id="15" name="Text 13"/>
          <p:cNvSpPr/>
          <p:nvPr/>
        </p:nvSpPr>
        <p:spPr>
          <a:xfrm>
            <a:off x="6537960" y="3785616"/>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7059168" y="3767328"/>
            <a:ext cx="4297680" cy="411480"/>
          </a:xfrm>
          <a:prstGeom prst="rect">
            <a:avLst/>
          </a:prstGeom>
          <a:noFill/>
          <a:ln/>
        </p:spPr>
        <p:txBody>
          <a:bodyPr wrap="square" lIns="0" tIns="0" rIns="0" bIns="0" rtlCol="0" anchor="ctr"/>
          <a:lstStyle/>
          <a:p>
            <a:pPr marL="0" indent="0">
              <a:buNone/>
            </a:pPr>
            <a:r>
              <a:rPr lang="en-US" sz="1350" dirty="0">
                <a:solidFill>
                  <a:srgbClr val="06304A"/>
                </a:solidFill>
                <a:latin typeface="Calibri" pitchFamily="34" charset="0"/>
                <a:ea typeface="Calibri" pitchFamily="34" charset="-122"/>
                <a:cs typeface="Calibri" pitchFamily="34" charset="-120"/>
              </a:rPr>
              <a:t>¿Cuál era el estado el día en que sí funcionaba?</a:t>
            </a:r>
            <a:endParaRPr lang="en-US" sz="1350" dirty="0"/>
          </a:p>
        </p:txBody>
      </p:sp>
      <p:sp>
        <p:nvSpPr>
          <p:cNvPr id="17" name="Shape 15"/>
          <p:cNvSpPr/>
          <p:nvPr/>
        </p:nvSpPr>
        <p:spPr>
          <a:xfrm>
            <a:off x="548640" y="4937760"/>
            <a:ext cx="11064240" cy="1005840"/>
          </a:xfrm>
          <a:prstGeom prst="roundRect">
            <a:avLst>
              <a:gd name="adj" fmla="val 8182"/>
            </a:avLst>
          </a:prstGeom>
          <a:solidFill>
            <a:srgbClr val="0A1526"/>
          </a:solidFill>
          <a:ln w="12700">
            <a:solidFill>
              <a:srgbClr val="0A1526"/>
            </a:solidFill>
            <a:prstDash val="solid"/>
          </a:ln>
        </p:spPr>
        <p:txBody>
          <a:bodyPr/>
          <a:lstStyle/>
          <a:p>
            <a:endParaRPr lang="es-CL"/>
          </a:p>
        </p:txBody>
      </p:sp>
      <p:sp>
        <p:nvSpPr>
          <p:cNvPr id="18" name="Text 16"/>
          <p:cNvSpPr/>
          <p:nvPr/>
        </p:nvSpPr>
        <p:spPr>
          <a:xfrm>
            <a:off x="868680" y="5120640"/>
            <a:ext cx="10424160" cy="658368"/>
          </a:xfrm>
          <a:prstGeom prst="rect">
            <a:avLst/>
          </a:prstGeom>
          <a:noFill/>
          <a:ln/>
        </p:spPr>
        <p:txBody>
          <a:bodyPr wrap="square" lIns="0" tIns="0" rIns="0" bIns="0" rtlCol="0" anchor="ctr"/>
          <a:lstStyle/>
          <a:p>
            <a:pPr marL="0" indent="0">
              <a:lnSpc>
                <a:spcPts val="2100"/>
              </a:lnSpc>
              <a:buNone/>
            </a:pPr>
            <a:r>
              <a:rPr lang="en-US" sz="1500" dirty="0">
                <a:solidFill>
                  <a:srgbClr val="FFFFFF"/>
                </a:solidFill>
                <a:latin typeface="Calibri" pitchFamily="34" charset="0"/>
                <a:ea typeface="Calibri" pitchFamily="34" charset="-122"/>
                <a:cs typeface="Calibri" pitchFamily="34" charset="-120"/>
              </a:rPr>
              <a:t>En un trabajo grupal el problema se multiplica: además, nadie sabe qué versión tiene el resto. El ecosistema científico existe para que el proceso quede registrado, no solo el resultado.</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Cuatro piezas, cuatro funciones distintas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Ninguna reemplaza a otra. La confusión más común es tratarlas como si fueran lo mismo.</a:t>
            </a:r>
            <a:endParaRPr lang="en-US" sz="1400" dirty="0"/>
          </a:p>
        </p:txBody>
      </p:sp>
      <p:sp>
        <p:nvSpPr>
          <p:cNvPr id="4" name="Shape 2"/>
          <p:cNvSpPr/>
          <p:nvPr/>
        </p:nvSpPr>
        <p:spPr>
          <a:xfrm>
            <a:off x="548640" y="1828800"/>
            <a:ext cx="2606040" cy="2743200"/>
          </a:xfrm>
          <a:prstGeom prst="roundRect">
            <a:avLst>
              <a:gd name="adj" fmla="val 3158"/>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777240" y="2057400"/>
            <a:ext cx="457200" cy="457200"/>
          </a:xfrm>
          <a:prstGeom prst="ellipse">
            <a:avLst/>
          </a:prstGeom>
          <a:solidFill>
            <a:srgbClr val="AC212E"/>
          </a:solidFill>
          <a:ln/>
        </p:spPr>
        <p:txBody>
          <a:bodyPr/>
          <a:lstStyle/>
          <a:p>
            <a:endParaRPr lang="es-CL"/>
          </a:p>
        </p:txBody>
      </p:sp>
      <p:sp>
        <p:nvSpPr>
          <p:cNvPr id="6" name="Text 4"/>
          <p:cNvSpPr/>
          <p:nvPr/>
        </p:nvSpPr>
        <p:spPr>
          <a:xfrm>
            <a:off x="777240" y="205740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777240" y="2651760"/>
            <a:ext cx="2148840" cy="411480"/>
          </a:xfrm>
          <a:prstGeom prst="rect">
            <a:avLst/>
          </a:prstGeom>
          <a:noFill/>
          <a:ln/>
        </p:spPr>
        <p:txBody>
          <a:bodyPr wrap="square" lIns="0" tIns="0" rIns="0" bIns="0" rtlCol="0" anchor="ctr"/>
          <a:lstStyle/>
          <a:p>
            <a:pPr marL="0" indent="0">
              <a:buNone/>
            </a:pPr>
            <a:r>
              <a:rPr lang="en-US" sz="2200" b="1" dirty="0">
                <a:solidFill>
                  <a:srgbClr val="06304A"/>
                </a:solidFill>
                <a:latin typeface="Cambria" pitchFamily="34" charset="0"/>
                <a:ea typeface="Cambria" pitchFamily="34" charset="-122"/>
                <a:cs typeface="Cambria" pitchFamily="34" charset="-120"/>
              </a:rPr>
              <a:t>Python</a:t>
            </a:r>
            <a:endParaRPr lang="en-US" sz="2200" dirty="0"/>
          </a:p>
        </p:txBody>
      </p:sp>
      <p:sp>
        <p:nvSpPr>
          <p:cNvPr id="8" name="Text 6"/>
          <p:cNvSpPr/>
          <p:nvPr/>
        </p:nvSpPr>
        <p:spPr>
          <a:xfrm>
            <a:off x="777240" y="3063240"/>
            <a:ext cx="2148840" cy="320040"/>
          </a:xfrm>
          <a:prstGeom prst="rect">
            <a:avLst/>
          </a:prstGeom>
          <a:noFill/>
          <a:ln/>
        </p:spPr>
        <p:txBody>
          <a:bodyPr wrap="square" lIns="0" tIns="0" rIns="0" bIns="0" rtlCol="0" anchor="ctr"/>
          <a:lstStyle/>
          <a:p>
            <a:pPr marL="0" indent="0">
              <a:buNone/>
            </a:pPr>
            <a:r>
              <a:rPr lang="en-US" sz="1300" b="1" dirty="0">
                <a:solidFill>
                  <a:srgbClr val="AC212E"/>
                </a:solidFill>
                <a:latin typeface="Calibri" pitchFamily="34" charset="0"/>
                <a:ea typeface="Calibri" pitchFamily="34" charset="-122"/>
                <a:cs typeface="Calibri" pitchFamily="34" charset="-120"/>
              </a:rPr>
              <a:t>El lenguaje</a:t>
            </a:r>
            <a:endParaRPr lang="en-US" sz="1300" dirty="0"/>
          </a:p>
        </p:txBody>
      </p:sp>
      <p:sp>
        <p:nvSpPr>
          <p:cNvPr id="9" name="Text 7"/>
          <p:cNvSpPr/>
          <p:nvPr/>
        </p:nvSpPr>
        <p:spPr>
          <a:xfrm>
            <a:off x="777240" y="3429000"/>
            <a:ext cx="2148840" cy="96012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Ejecuta el análisis: transforma los datos y produce los resultados.</a:t>
            </a:r>
            <a:endParaRPr lang="en-US" sz="1250" dirty="0"/>
          </a:p>
        </p:txBody>
      </p:sp>
      <p:sp>
        <p:nvSpPr>
          <p:cNvPr id="10" name="Shape 8"/>
          <p:cNvSpPr/>
          <p:nvPr/>
        </p:nvSpPr>
        <p:spPr>
          <a:xfrm>
            <a:off x="3419856" y="1828800"/>
            <a:ext cx="2606040" cy="2743200"/>
          </a:xfrm>
          <a:prstGeom prst="roundRect">
            <a:avLst>
              <a:gd name="adj" fmla="val 3158"/>
            </a:avLst>
          </a:prstGeom>
          <a:solidFill>
            <a:srgbClr val="F4F7FA"/>
          </a:solidFill>
          <a:ln w="12700">
            <a:solidFill>
              <a:srgbClr val="F4F7FA"/>
            </a:solidFill>
            <a:prstDash val="solid"/>
          </a:ln>
        </p:spPr>
        <p:txBody>
          <a:bodyPr/>
          <a:lstStyle/>
          <a:p>
            <a:endParaRPr lang="es-CL"/>
          </a:p>
        </p:txBody>
      </p:sp>
      <p:sp>
        <p:nvSpPr>
          <p:cNvPr id="11" name="Shape 9"/>
          <p:cNvSpPr/>
          <p:nvPr/>
        </p:nvSpPr>
        <p:spPr>
          <a:xfrm>
            <a:off x="3648456" y="2057400"/>
            <a:ext cx="457200" cy="457200"/>
          </a:xfrm>
          <a:prstGeom prst="ellipse">
            <a:avLst/>
          </a:prstGeom>
          <a:solidFill>
            <a:srgbClr val="AC212E"/>
          </a:solidFill>
          <a:ln/>
        </p:spPr>
        <p:txBody>
          <a:bodyPr/>
          <a:lstStyle/>
          <a:p>
            <a:endParaRPr lang="es-CL"/>
          </a:p>
        </p:txBody>
      </p:sp>
      <p:sp>
        <p:nvSpPr>
          <p:cNvPr id="12" name="Text 10"/>
          <p:cNvSpPr/>
          <p:nvPr/>
        </p:nvSpPr>
        <p:spPr>
          <a:xfrm>
            <a:off x="3648456" y="205740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3648456" y="2651760"/>
            <a:ext cx="2148840" cy="411480"/>
          </a:xfrm>
          <a:prstGeom prst="rect">
            <a:avLst/>
          </a:prstGeom>
          <a:noFill/>
          <a:ln/>
        </p:spPr>
        <p:txBody>
          <a:bodyPr wrap="square" lIns="0" tIns="0" rIns="0" bIns="0" rtlCol="0" anchor="ctr"/>
          <a:lstStyle/>
          <a:p>
            <a:pPr marL="0" indent="0">
              <a:buNone/>
            </a:pPr>
            <a:r>
              <a:rPr lang="en-US" sz="2200" b="1" dirty="0">
                <a:solidFill>
                  <a:srgbClr val="06304A"/>
                </a:solidFill>
                <a:latin typeface="Cambria" pitchFamily="34" charset="0"/>
                <a:ea typeface="Cambria" pitchFamily="34" charset="-122"/>
                <a:cs typeface="Cambria" pitchFamily="34" charset="-120"/>
              </a:rPr>
              <a:t>Jupyter</a:t>
            </a:r>
            <a:endParaRPr lang="en-US" sz="2200" dirty="0"/>
          </a:p>
        </p:txBody>
      </p:sp>
      <p:sp>
        <p:nvSpPr>
          <p:cNvPr id="14" name="Text 12"/>
          <p:cNvSpPr/>
          <p:nvPr/>
        </p:nvSpPr>
        <p:spPr>
          <a:xfrm>
            <a:off x="3648456" y="3063240"/>
            <a:ext cx="2148840" cy="320040"/>
          </a:xfrm>
          <a:prstGeom prst="rect">
            <a:avLst/>
          </a:prstGeom>
          <a:noFill/>
          <a:ln/>
        </p:spPr>
        <p:txBody>
          <a:bodyPr wrap="square" lIns="0" tIns="0" rIns="0" bIns="0" rtlCol="0" anchor="ctr"/>
          <a:lstStyle/>
          <a:p>
            <a:pPr marL="0" indent="0">
              <a:buNone/>
            </a:pPr>
            <a:r>
              <a:rPr lang="en-US" sz="1300" b="1" dirty="0">
                <a:solidFill>
                  <a:srgbClr val="AC212E"/>
                </a:solidFill>
                <a:latin typeface="Calibri" pitchFamily="34" charset="0"/>
                <a:ea typeface="Calibri" pitchFamily="34" charset="-122"/>
                <a:cs typeface="Calibri" pitchFamily="34" charset="-120"/>
              </a:rPr>
              <a:t>El cuaderno</a:t>
            </a:r>
            <a:endParaRPr lang="en-US" sz="1300" dirty="0"/>
          </a:p>
        </p:txBody>
      </p:sp>
      <p:sp>
        <p:nvSpPr>
          <p:cNvPr id="15" name="Text 13"/>
          <p:cNvSpPr/>
          <p:nvPr/>
        </p:nvSpPr>
        <p:spPr>
          <a:xfrm>
            <a:off x="3648456" y="3429000"/>
            <a:ext cx="2148840" cy="96012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Reúne código, resultados y explicación en un solo documento.</a:t>
            </a:r>
            <a:endParaRPr lang="en-US" sz="1250" dirty="0"/>
          </a:p>
        </p:txBody>
      </p:sp>
      <p:sp>
        <p:nvSpPr>
          <p:cNvPr id="16" name="Shape 14"/>
          <p:cNvSpPr/>
          <p:nvPr/>
        </p:nvSpPr>
        <p:spPr>
          <a:xfrm>
            <a:off x="6291072" y="1828800"/>
            <a:ext cx="2606040" cy="2743200"/>
          </a:xfrm>
          <a:prstGeom prst="roundRect">
            <a:avLst>
              <a:gd name="adj" fmla="val 3158"/>
            </a:avLst>
          </a:prstGeom>
          <a:solidFill>
            <a:srgbClr val="F4F7FA"/>
          </a:solidFill>
          <a:ln w="12700">
            <a:solidFill>
              <a:srgbClr val="F4F7FA"/>
            </a:solidFill>
            <a:prstDash val="solid"/>
          </a:ln>
        </p:spPr>
        <p:txBody>
          <a:bodyPr/>
          <a:lstStyle/>
          <a:p>
            <a:endParaRPr lang="es-CL"/>
          </a:p>
        </p:txBody>
      </p:sp>
      <p:sp>
        <p:nvSpPr>
          <p:cNvPr id="17" name="Shape 15"/>
          <p:cNvSpPr/>
          <p:nvPr/>
        </p:nvSpPr>
        <p:spPr>
          <a:xfrm>
            <a:off x="6519672" y="2057400"/>
            <a:ext cx="457200" cy="457200"/>
          </a:xfrm>
          <a:prstGeom prst="ellipse">
            <a:avLst/>
          </a:prstGeom>
          <a:solidFill>
            <a:srgbClr val="AC212E"/>
          </a:solidFill>
          <a:ln/>
        </p:spPr>
        <p:txBody>
          <a:bodyPr/>
          <a:lstStyle/>
          <a:p>
            <a:endParaRPr lang="es-CL"/>
          </a:p>
        </p:txBody>
      </p:sp>
      <p:sp>
        <p:nvSpPr>
          <p:cNvPr id="18" name="Text 16"/>
          <p:cNvSpPr/>
          <p:nvPr/>
        </p:nvSpPr>
        <p:spPr>
          <a:xfrm>
            <a:off x="6519672" y="205740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6519672" y="2651760"/>
            <a:ext cx="2148840" cy="411480"/>
          </a:xfrm>
          <a:prstGeom prst="rect">
            <a:avLst/>
          </a:prstGeom>
          <a:noFill/>
          <a:ln/>
        </p:spPr>
        <p:txBody>
          <a:bodyPr wrap="square" lIns="0" tIns="0" rIns="0" bIns="0" rtlCol="0" anchor="ctr"/>
          <a:lstStyle/>
          <a:p>
            <a:pPr marL="0" indent="0">
              <a:buNone/>
            </a:pPr>
            <a:r>
              <a:rPr lang="en-US" sz="2200" b="1" dirty="0">
                <a:solidFill>
                  <a:srgbClr val="06304A"/>
                </a:solidFill>
                <a:latin typeface="Cambria" pitchFamily="34" charset="0"/>
                <a:ea typeface="Cambria" pitchFamily="34" charset="-122"/>
                <a:cs typeface="Cambria" pitchFamily="34" charset="-120"/>
              </a:rPr>
              <a:t>Git</a:t>
            </a:r>
            <a:endParaRPr lang="en-US" sz="2200" dirty="0"/>
          </a:p>
        </p:txBody>
      </p:sp>
      <p:sp>
        <p:nvSpPr>
          <p:cNvPr id="20" name="Text 18"/>
          <p:cNvSpPr/>
          <p:nvPr/>
        </p:nvSpPr>
        <p:spPr>
          <a:xfrm>
            <a:off x="6519672" y="3063240"/>
            <a:ext cx="2148840" cy="320040"/>
          </a:xfrm>
          <a:prstGeom prst="rect">
            <a:avLst/>
          </a:prstGeom>
          <a:noFill/>
          <a:ln/>
        </p:spPr>
        <p:txBody>
          <a:bodyPr wrap="square" lIns="0" tIns="0" rIns="0" bIns="0" rtlCol="0" anchor="ctr"/>
          <a:lstStyle/>
          <a:p>
            <a:pPr marL="0" indent="0">
              <a:buNone/>
            </a:pPr>
            <a:r>
              <a:rPr lang="en-US" sz="1300" b="1" dirty="0">
                <a:solidFill>
                  <a:srgbClr val="AC212E"/>
                </a:solidFill>
                <a:latin typeface="Calibri" pitchFamily="34" charset="0"/>
                <a:ea typeface="Calibri" pitchFamily="34" charset="-122"/>
                <a:cs typeface="Calibri" pitchFamily="34" charset="-120"/>
              </a:rPr>
              <a:t>El historial</a:t>
            </a:r>
            <a:endParaRPr lang="en-US" sz="1300" dirty="0"/>
          </a:p>
        </p:txBody>
      </p:sp>
      <p:sp>
        <p:nvSpPr>
          <p:cNvPr id="21" name="Text 19"/>
          <p:cNvSpPr/>
          <p:nvPr/>
        </p:nvSpPr>
        <p:spPr>
          <a:xfrm>
            <a:off x="6519672" y="3429000"/>
            <a:ext cx="2148840" cy="96012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Registra qué cambió, cuándo y por quién, en su computador.</a:t>
            </a:r>
            <a:endParaRPr lang="en-US" sz="1250" dirty="0"/>
          </a:p>
        </p:txBody>
      </p:sp>
      <p:sp>
        <p:nvSpPr>
          <p:cNvPr id="22" name="Shape 20"/>
          <p:cNvSpPr/>
          <p:nvPr/>
        </p:nvSpPr>
        <p:spPr>
          <a:xfrm>
            <a:off x="9162288" y="1828800"/>
            <a:ext cx="2606040" cy="2743200"/>
          </a:xfrm>
          <a:prstGeom prst="roundRect">
            <a:avLst>
              <a:gd name="adj" fmla="val 3158"/>
            </a:avLst>
          </a:prstGeom>
          <a:solidFill>
            <a:srgbClr val="F4F7FA"/>
          </a:solidFill>
          <a:ln w="12700">
            <a:solidFill>
              <a:srgbClr val="F4F7FA"/>
            </a:solidFill>
            <a:prstDash val="solid"/>
          </a:ln>
        </p:spPr>
        <p:txBody>
          <a:bodyPr/>
          <a:lstStyle/>
          <a:p>
            <a:endParaRPr lang="es-CL"/>
          </a:p>
        </p:txBody>
      </p:sp>
      <p:sp>
        <p:nvSpPr>
          <p:cNvPr id="23" name="Shape 21"/>
          <p:cNvSpPr/>
          <p:nvPr/>
        </p:nvSpPr>
        <p:spPr>
          <a:xfrm>
            <a:off x="9390888" y="2057400"/>
            <a:ext cx="457200" cy="457200"/>
          </a:xfrm>
          <a:prstGeom prst="ellipse">
            <a:avLst/>
          </a:prstGeom>
          <a:solidFill>
            <a:srgbClr val="AC212E"/>
          </a:solidFill>
          <a:ln/>
        </p:spPr>
        <p:txBody>
          <a:bodyPr/>
          <a:lstStyle/>
          <a:p>
            <a:endParaRPr lang="es-CL"/>
          </a:p>
        </p:txBody>
      </p:sp>
      <p:sp>
        <p:nvSpPr>
          <p:cNvPr id="24" name="Text 22"/>
          <p:cNvSpPr/>
          <p:nvPr/>
        </p:nvSpPr>
        <p:spPr>
          <a:xfrm>
            <a:off x="9390888" y="205740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p:nvPr/>
        </p:nvSpPr>
        <p:spPr>
          <a:xfrm>
            <a:off x="9390888" y="2651760"/>
            <a:ext cx="2148840" cy="411480"/>
          </a:xfrm>
          <a:prstGeom prst="rect">
            <a:avLst/>
          </a:prstGeom>
          <a:noFill/>
          <a:ln/>
        </p:spPr>
        <p:txBody>
          <a:bodyPr wrap="square" lIns="0" tIns="0" rIns="0" bIns="0" rtlCol="0" anchor="ctr"/>
          <a:lstStyle/>
          <a:p>
            <a:pPr marL="0" indent="0">
              <a:buNone/>
            </a:pPr>
            <a:r>
              <a:rPr lang="en-US" sz="2200" b="1" dirty="0">
                <a:solidFill>
                  <a:srgbClr val="06304A"/>
                </a:solidFill>
                <a:latin typeface="Cambria" pitchFamily="34" charset="0"/>
                <a:ea typeface="Cambria" pitchFamily="34" charset="-122"/>
                <a:cs typeface="Cambria" pitchFamily="34" charset="-120"/>
              </a:rPr>
              <a:t>GitHub</a:t>
            </a:r>
            <a:endParaRPr lang="en-US" sz="2200" dirty="0"/>
          </a:p>
        </p:txBody>
      </p:sp>
      <p:sp>
        <p:nvSpPr>
          <p:cNvPr id="26" name="Text 24"/>
          <p:cNvSpPr/>
          <p:nvPr/>
        </p:nvSpPr>
        <p:spPr>
          <a:xfrm>
            <a:off x="9390888" y="3063240"/>
            <a:ext cx="2148840" cy="320040"/>
          </a:xfrm>
          <a:prstGeom prst="rect">
            <a:avLst/>
          </a:prstGeom>
          <a:noFill/>
          <a:ln/>
        </p:spPr>
        <p:txBody>
          <a:bodyPr wrap="square" lIns="0" tIns="0" rIns="0" bIns="0" rtlCol="0" anchor="ctr"/>
          <a:lstStyle/>
          <a:p>
            <a:pPr marL="0" indent="0">
              <a:buNone/>
            </a:pPr>
            <a:r>
              <a:rPr lang="en-US" sz="1300" b="1" dirty="0">
                <a:solidFill>
                  <a:srgbClr val="AC212E"/>
                </a:solidFill>
                <a:latin typeface="Calibri" pitchFamily="34" charset="0"/>
                <a:ea typeface="Calibri" pitchFamily="34" charset="-122"/>
                <a:cs typeface="Calibri" pitchFamily="34" charset="-120"/>
              </a:rPr>
              <a:t>El punto de encuentro</a:t>
            </a:r>
            <a:endParaRPr lang="en-US" sz="1300" dirty="0"/>
          </a:p>
        </p:txBody>
      </p:sp>
      <p:sp>
        <p:nvSpPr>
          <p:cNvPr id="27" name="Text 25"/>
          <p:cNvSpPr/>
          <p:nvPr/>
        </p:nvSpPr>
        <p:spPr>
          <a:xfrm>
            <a:off x="9390888" y="3429000"/>
            <a:ext cx="2148840" cy="96012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Aloja el repositorio en la nube y permite trabajar en equipo.</a:t>
            </a:r>
            <a:endParaRPr lang="en-US" sz="1250" dirty="0"/>
          </a:p>
        </p:txBody>
      </p:sp>
      <p:sp>
        <p:nvSpPr>
          <p:cNvPr id="28" name="Shape 26"/>
          <p:cNvSpPr/>
          <p:nvPr/>
        </p:nvSpPr>
        <p:spPr>
          <a:xfrm>
            <a:off x="548640" y="4892040"/>
            <a:ext cx="11064240" cy="960120"/>
          </a:xfrm>
          <a:prstGeom prst="roundRect">
            <a:avLst>
              <a:gd name="adj" fmla="val 8571"/>
            </a:avLst>
          </a:prstGeom>
          <a:solidFill>
            <a:srgbClr val="F6E7E9"/>
          </a:solidFill>
          <a:ln w="12700">
            <a:solidFill>
              <a:srgbClr val="F6E7E9"/>
            </a:solidFill>
            <a:prstDash val="solid"/>
          </a:ln>
        </p:spPr>
        <p:txBody>
          <a:bodyPr/>
          <a:lstStyle/>
          <a:p>
            <a:endParaRPr lang="es-CL"/>
          </a:p>
        </p:txBody>
      </p:sp>
      <p:sp>
        <p:nvSpPr>
          <p:cNvPr id="29" name="Text 27"/>
          <p:cNvSpPr/>
          <p:nvPr/>
        </p:nvSpPr>
        <p:spPr>
          <a:xfrm>
            <a:off x="868680" y="5074920"/>
            <a:ext cx="1463040" cy="365760"/>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Git ≠ GitHub</a:t>
            </a:r>
            <a:endParaRPr lang="en-US" sz="1500" dirty="0"/>
          </a:p>
        </p:txBody>
      </p:sp>
      <p:sp>
        <p:nvSpPr>
          <p:cNvPr id="30" name="Text 28"/>
          <p:cNvSpPr/>
          <p:nvPr/>
        </p:nvSpPr>
        <p:spPr>
          <a:xfrm>
            <a:off x="2377440" y="5074920"/>
            <a:ext cx="8961120" cy="566928"/>
          </a:xfrm>
          <a:prstGeom prst="rect">
            <a:avLst/>
          </a:prstGeom>
          <a:noFill/>
          <a:ln/>
        </p:spPr>
        <p:txBody>
          <a:bodyPr wrap="square" lIns="0" tIns="0" rIns="0" bIns="0" rtlCol="0" anchor="ctr"/>
          <a:lstStyle/>
          <a:p>
            <a:pPr marL="0" indent="0">
              <a:buNone/>
            </a:pPr>
            <a:r>
              <a:rPr lang="en-US" sz="1400" dirty="0">
                <a:solidFill>
                  <a:srgbClr val="06304A"/>
                </a:solidFill>
                <a:latin typeface="Calibri" pitchFamily="34" charset="0"/>
                <a:ea typeface="Calibri" pitchFamily="34" charset="-122"/>
                <a:cs typeface="Calibri" pitchFamily="34" charset="-120"/>
              </a:rPr>
              <a:t>Git funciona en su computador y sin internet. GitHub es un servicio que aloja repositorios Git. Puede usar Git sin GitHub; no al revés.</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Python: el lenguaje y su entorno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El código es solo una parte. Lo que hace reproducible el análisis es el entorno donde corre.</a:t>
            </a:r>
            <a:endParaRPr lang="en-US" sz="1400" dirty="0"/>
          </a:p>
        </p:txBody>
      </p:sp>
      <p:sp>
        <p:nvSpPr>
          <p:cNvPr id="4" name="Shape 2"/>
          <p:cNvSpPr/>
          <p:nvPr/>
        </p:nvSpPr>
        <p:spPr>
          <a:xfrm>
            <a:off x="548640" y="1737360"/>
            <a:ext cx="3520440" cy="2286000"/>
          </a:xfrm>
          <a:prstGeom prst="roundRect">
            <a:avLst>
              <a:gd name="adj" fmla="val 3600"/>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68680" y="1920240"/>
            <a:ext cx="2926080" cy="365760"/>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El intérprete</a:t>
            </a:r>
            <a:endParaRPr lang="en-US" sz="1500" dirty="0"/>
          </a:p>
        </p:txBody>
      </p:sp>
      <p:sp>
        <p:nvSpPr>
          <p:cNvPr id="6" name="Text 4"/>
          <p:cNvSpPr/>
          <p:nvPr/>
        </p:nvSpPr>
        <p:spPr>
          <a:xfrm>
            <a:off x="868680" y="2331720"/>
            <a:ext cx="2926080" cy="1463040"/>
          </a:xfrm>
          <a:prstGeom prst="rect">
            <a:avLst/>
          </a:prstGeom>
          <a:noFill/>
          <a:ln/>
        </p:spPr>
        <p:txBody>
          <a:bodyPr wrap="square" lIns="0" tIns="0" rIns="0" bIns="0" rtlCol="0" anchor="ctr"/>
          <a:lstStyle/>
          <a:p>
            <a:pPr marL="0" indent="0">
              <a:lnSpc>
                <a:spcPts val="1800"/>
              </a:lnSpc>
              <a:buNone/>
            </a:pPr>
            <a:r>
              <a:rPr lang="en-US" sz="1300" dirty="0">
                <a:solidFill>
                  <a:srgbClr val="06304A"/>
                </a:solidFill>
                <a:latin typeface="Calibri" pitchFamily="34" charset="0"/>
                <a:ea typeface="Calibri" pitchFamily="34" charset="-122"/>
                <a:cs typeface="Calibri" pitchFamily="34" charset="-120"/>
              </a:rPr>
              <a:t>Ejecuta las instrucciones. En macOS y Linux se invoca como python3; en Windows, como python.</a:t>
            </a:r>
            <a:endParaRPr lang="en-US" sz="1300" dirty="0"/>
          </a:p>
        </p:txBody>
      </p:sp>
      <p:sp>
        <p:nvSpPr>
          <p:cNvPr id="7" name="Shape 5"/>
          <p:cNvSpPr/>
          <p:nvPr/>
        </p:nvSpPr>
        <p:spPr>
          <a:xfrm>
            <a:off x="4325112" y="1737360"/>
            <a:ext cx="3520440" cy="2286000"/>
          </a:xfrm>
          <a:prstGeom prst="roundRect">
            <a:avLst>
              <a:gd name="adj" fmla="val 3600"/>
            </a:avLst>
          </a:prstGeom>
          <a:solidFill>
            <a:srgbClr val="F4F7FA"/>
          </a:solidFill>
          <a:ln w="12700">
            <a:solidFill>
              <a:srgbClr val="F4F7FA"/>
            </a:solidFill>
            <a:prstDash val="solid"/>
          </a:ln>
        </p:spPr>
        <p:txBody>
          <a:bodyPr/>
          <a:lstStyle/>
          <a:p>
            <a:endParaRPr lang="es-CL"/>
          </a:p>
        </p:txBody>
      </p:sp>
      <p:sp>
        <p:nvSpPr>
          <p:cNvPr id="8" name="Text 6"/>
          <p:cNvSpPr/>
          <p:nvPr/>
        </p:nvSpPr>
        <p:spPr>
          <a:xfrm>
            <a:off x="4645152" y="1920240"/>
            <a:ext cx="2926080" cy="365760"/>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Las librerías</a:t>
            </a:r>
            <a:endParaRPr lang="en-US" sz="1500" dirty="0"/>
          </a:p>
        </p:txBody>
      </p:sp>
      <p:sp>
        <p:nvSpPr>
          <p:cNvPr id="9" name="Text 7"/>
          <p:cNvSpPr/>
          <p:nvPr/>
        </p:nvSpPr>
        <p:spPr>
          <a:xfrm>
            <a:off x="4645152" y="2331720"/>
            <a:ext cx="2926080" cy="1463040"/>
          </a:xfrm>
          <a:prstGeom prst="rect">
            <a:avLst/>
          </a:prstGeom>
          <a:noFill/>
          <a:ln/>
        </p:spPr>
        <p:txBody>
          <a:bodyPr wrap="square" lIns="0" tIns="0" rIns="0" bIns="0" rtlCol="0" anchor="ctr"/>
          <a:lstStyle/>
          <a:p>
            <a:pPr marL="0" indent="0">
              <a:lnSpc>
                <a:spcPts val="1800"/>
              </a:lnSpc>
              <a:buNone/>
            </a:pPr>
            <a:r>
              <a:rPr lang="en-US" sz="1300" dirty="0">
                <a:solidFill>
                  <a:srgbClr val="06304A"/>
                </a:solidFill>
                <a:latin typeface="Calibri" pitchFamily="34" charset="0"/>
                <a:ea typeface="Calibri" pitchFamily="34" charset="-122"/>
                <a:cs typeface="Calibri" pitchFamily="34" charset="-120"/>
              </a:rPr>
              <a:t>NumPy, pandas, Matplotlib, scikit-learn. No vienen con Python: se instalan, y cada una tiene su versión.</a:t>
            </a:r>
            <a:endParaRPr lang="en-US" sz="1300" dirty="0"/>
          </a:p>
        </p:txBody>
      </p:sp>
      <p:sp>
        <p:nvSpPr>
          <p:cNvPr id="10" name="Shape 8"/>
          <p:cNvSpPr/>
          <p:nvPr/>
        </p:nvSpPr>
        <p:spPr>
          <a:xfrm>
            <a:off x="8092440" y="1737360"/>
            <a:ext cx="3520440" cy="2286000"/>
          </a:xfrm>
          <a:prstGeom prst="roundRect">
            <a:avLst>
              <a:gd name="adj" fmla="val 3600"/>
            </a:avLst>
          </a:prstGeom>
          <a:solidFill>
            <a:srgbClr val="0A1526"/>
          </a:solidFill>
          <a:ln w="12700">
            <a:solidFill>
              <a:srgbClr val="0A1526"/>
            </a:solidFill>
            <a:prstDash val="solid"/>
          </a:ln>
        </p:spPr>
        <p:txBody>
          <a:bodyPr/>
          <a:lstStyle/>
          <a:p>
            <a:endParaRPr lang="es-CL"/>
          </a:p>
        </p:txBody>
      </p:sp>
      <p:sp>
        <p:nvSpPr>
          <p:cNvPr id="11" name="Text 9"/>
          <p:cNvSpPr/>
          <p:nvPr/>
        </p:nvSpPr>
        <p:spPr>
          <a:xfrm>
            <a:off x="8412480" y="1920240"/>
            <a:ext cx="2926080" cy="365760"/>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El entorno virtual</a:t>
            </a:r>
            <a:endParaRPr lang="en-US" sz="1500" dirty="0"/>
          </a:p>
        </p:txBody>
      </p:sp>
      <p:sp>
        <p:nvSpPr>
          <p:cNvPr id="12" name="Text 10"/>
          <p:cNvSpPr/>
          <p:nvPr/>
        </p:nvSpPr>
        <p:spPr>
          <a:xfrm>
            <a:off x="8412480" y="2331720"/>
            <a:ext cx="2926080" cy="1463040"/>
          </a:xfrm>
          <a:prstGeom prst="rect">
            <a:avLst/>
          </a:prstGeom>
          <a:noFill/>
          <a:ln/>
        </p:spPr>
        <p:txBody>
          <a:bodyPr wrap="square" lIns="0" tIns="0" rIns="0" bIns="0" rtlCol="0" anchor="ctr"/>
          <a:lstStyle/>
          <a:p>
            <a:pPr marL="0" indent="0">
              <a:lnSpc>
                <a:spcPts val="1800"/>
              </a:lnSpc>
              <a:buNone/>
            </a:pPr>
            <a:r>
              <a:rPr lang="en-US" sz="1300" dirty="0">
                <a:solidFill>
                  <a:srgbClr val="FFFFFF"/>
                </a:solidFill>
                <a:latin typeface="Calibri" pitchFamily="34" charset="0"/>
                <a:ea typeface="Calibri" pitchFamily="34" charset="-122"/>
                <a:cs typeface="Calibri" pitchFamily="34" charset="-120"/>
              </a:rPr>
              <a:t>Una instalación aislada, propia del proyecto. Evita que las versiones de un trabajo rompan las de otro.</a:t>
            </a:r>
            <a:endParaRPr lang="en-US" sz="1300" dirty="0"/>
          </a:p>
        </p:txBody>
      </p:sp>
      <p:sp>
        <p:nvSpPr>
          <p:cNvPr id="13" name="Text 11"/>
          <p:cNvSpPr/>
          <p:nvPr/>
        </p:nvSpPr>
        <p:spPr>
          <a:xfrm>
            <a:off x="548640" y="4251960"/>
            <a:ext cx="5486400" cy="365760"/>
          </a:xfrm>
          <a:prstGeom prst="rect">
            <a:avLst/>
          </a:prstGeom>
          <a:noFill/>
          <a:ln/>
        </p:spPr>
        <p:txBody>
          <a:bodyPr wrap="square" lIns="0" tIns="0" rIns="0" bIns="0" rtlCol="0" anchor="ctr"/>
          <a:lstStyle/>
          <a:p>
            <a:pPr marL="0" indent="0">
              <a:buNone/>
            </a:pPr>
            <a:r>
              <a:rPr lang="en-US" sz="1600" b="1" dirty="0">
                <a:solidFill>
                  <a:srgbClr val="06304A"/>
                </a:solidFill>
                <a:latin typeface="Calibri" pitchFamily="34" charset="0"/>
                <a:ea typeface="Calibri" pitchFamily="34" charset="-122"/>
                <a:cs typeface="Calibri" pitchFamily="34" charset="-120"/>
              </a:rPr>
              <a:t>Un entorno por proyecto</a:t>
            </a:r>
            <a:endParaRPr lang="en-US" sz="1600" dirty="0"/>
          </a:p>
        </p:txBody>
      </p:sp>
      <p:sp>
        <p:nvSpPr>
          <p:cNvPr id="14" name="Shape 12"/>
          <p:cNvSpPr/>
          <p:nvPr/>
        </p:nvSpPr>
        <p:spPr>
          <a:xfrm>
            <a:off x="548640" y="4663440"/>
            <a:ext cx="5577840" cy="1417320"/>
          </a:xfrm>
          <a:prstGeom prst="roundRect">
            <a:avLst>
              <a:gd name="adj" fmla="val 5806"/>
            </a:avLst>
          </a:prstGeom>
          <a:solidFill>
            <a:srgbClr val="F4F7FA"/>
          </a:solidFill>
          <a:ln w="12700">
            <a:solidFill>
              <a:srgbClr val="F4F7FA"/>
            </a:solidFill>
            <a:prstDash val="solid"/>
          </a:ln>
        </p:spPr>
        <p:txBody>
          <a:bodyPr/>
          <a:lstStyle/>
          <a:p>
            <a:endParaRPr lang="es-CL"/>
          </a:p>
        </p:txBody>
      </p:sp>
      <p:sp>
        <p:nvSpPr>
          <p:cNvPr id="15" name="Text 13"/>
          <p:cNvSpPr/>
          <p:nvPr/>
        </p:nvSpPr>
        <p:spPr>
          <a:xfrm>
            <a:off x="868680" y="4846320"/>
            <a:ext cx="5029200" cy="1005840"/>
          </a:xfrm>
          <a:prstGeom prst="rect">
            <a:avLst/>
          </a:prstGeom>
          <a:noFill/>
          <a:ln/>
        </p:spPr>
        <p:txBody>
          <a:bodyPr wrap="square" lIns="0" tIns="0" rIns="0" bIns="0" rtlCol="0" anchor="ctr"/>
          <a:lstStyle/>
          <a:p>
            <a:pPr marL="0" indent="0">
              <a:lnSpc>
                <a:spcPts val="1600"/>
              </a:lnSpc>
              <a:buNone/>
            </a:pPr>
            <a:r>
              <a:rPr lang="en-US" sz="1100" dirty="0">
                <a:solidFill>
                  <a:srgbClr val="06304A"/>
                </a:solidFill>
                <a:latin typeface="Courier New" pitchFamily="34" charset="0"/>
                <a:ea typeface="Courier New" pitchFamily="34" charset="-122"/>
                <a:cs typeface="Courier New" pitchFamily="34" charset="-120"/>
              </a:rPr>
              <a:t>python -m venv .venv          crea el entorno</a:t>
            </a:r>
            <a:endParaRPr lang="en-US" sz="1100" dirty="0"/>
          </a:p>
          <a:p>
            <a:pPr marL="0" indent="0">
              <a:lnSpc>
                <a:spcPts val="1600"/>
              </a:lnSpc>
              <a:buNone/>
            </a:pPr>
            <a:r>
              <a:rPr lang="en-US" sz="1100" dirty="0">
                <a:solidFill>
                  <a:srgbClr val="06304A"/>
                </a:solidFill>
                <a:latin typeface="Courier New" pitchFamily="34" charset="0"/>
                <a:ea typeface="Courier New" pitchFamily="34" charset="-122"/>
                <a:cs typeface="Courier New" pitchFamily="34" charset="-120"/>
              </a:rPr>
              <a:t>source .venv/bin/activate     lo activa (macOS)</a:t>
            </a:r>
            <a:endParaRPr lang="en-US" sz="1100" dirty="0"/>
          </a:p>
          <a:p>
            <a:pPr marL="0" indent="0">
              <a:lnSpc>
                <a:spcPts val="1600"/>
              </a:lnSpc>
              <a:buNone/>
            </a:pPr>
            <a:r>
              <a:rPr lang="en-US" sz="1100" dirty="0">
                <a:solidFill>
                  <a:srgbClr val="06304A"/>
                </a:solidFill>
                <a:latin typeface="Courier New" pitchFamily="34" charset="0"/>
                <a:ea typeface="Courier New" pitchFamily="34" charset="-122"/>
                <a:cs typeface="Courier New" pitchFamily="34" charset="-120"/>
              </a:rPr>
              <a:t>python -m pip install pandas  instala dentro de él</a:t>
            </a:r>
            <a:endParaRPr lang="en-US" sz="1100" dirty="0"/>
          </a:p>
        </p:txBody>
      </p:sp>
      <p:sp>
        <p:nvSpPr>
          <p:cNvPr id="16" name="Shape 14"/>
          <p:cNvSpPr/>
          <p:nvPr/>
        </p:nvSpPr>
        <p:spPr>
          <a:xfrm>
            <a:off x="6400800" y="4251960"/>
            <a:ext cx="5212080" cy="1828800"/>
          </a:xfrm>
          <a:prstGeom prst="roundRect">
            <a:avLst>
              <a:gd name="adj" fmla="val 4500"/>
            </a:avLst>
          </a:prstGeom>
          <a:solidFill>
            <a:srgbClr val="F6E7E9"/>
          </a:solidFill>
          <a:ln w="12700">
            <a:solidFill>
              <a:srgbClr val="F6E7E9"/>
            </a:solidFill>
            <a:prstDash val="solid"/>
          </a:ln>
        </p:spPr>
        <p:txBody>
          <a:bodyPr/>
          <a:lstStyle/>
          <a:p>
            <a:endParaRPr lang="es-CL"/>
          </a:p>
        </p:txBody>
      </p:sp>
      <p:sp>
        <p:nvSpPr>
          <p:cNvPr id="17" name="Text 15"/>
          <p:cNvSpPr/>
          <p:nvPr/>
        </p:nvSpPr>
        <p:spPr>
          <a:xfrm>
            <a:off x="6720840" y="4434840"/>
            <a:ext cx="4572000" cy="36576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Por qué importa para el curso</a:t>
            </a:r>
            <a:endParaRPr lang="en-US" sz="1400" dirty="0"/>
          </a:p>
        </p:txBody>
      </p:sp>
      <p:sp>
        <p:nvSpPr>
          <p:cNvPr id="18" name="Text 16"/>
          <p:cNvSpPr/>
          <p:nvPr/>
        </p:nvSpPr>
        <p:spPr>
          <a:xfrm>
            <a:off x="6720840" y="4828032"/>
            <a:ext cx="4572000" cy="1097280"/>
          </a:xfrm>
          <a:prstGeom prst="rect">
            <a:avLst/>
          </a:prstGeom>
          <a:noFill/>
          <a:ln/>
        </p:spPr>
        <p:txBody>
          <a:bodyPr wrap="square" lIns="0" tIns="0" rIns="0" bIns="0" rtlCol="0" anchor="ctr"/>
          <a:lstStyle/>
          <a:p>
            <a:pPr marL="0" indent="0">
              <a:lnSpc>
                <a:spcPts val="1800"/>
              </a:lnSpc>
              <a:buNone/>
            </a:pPr>
            <a:r>
              <a:rPr lang="en-US" sz="1300" dirty="0">
                <a:solidFill>
                  <a:srgbClr val="06304A"/>
                </a:solidFill>
                <a:latin typeface="Calibri" pitchFamily="34" charset="0"/>
                <a:ea typeface="Calibri" pitchFamily="34" charset="-122"/>
                <a:cs typeface="Calibri" pitchFamily="34" charset="-120"/>
              </a:rPr>
              <a:t>Si cada integrante instala versiones distintas, el mismo notebook produce resultados distintos. El entorno declarado es la condición para que el análisis sea verificable.</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requirements.txt: el entorno hecho texto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Un archivo pequeño que convierte «me funciona a mí» en «funciona en cualquier equipo».</a:t>
            </a:r>
            <a:endParaRPr lang="en-US" sz="1400" dirty="0"/>
          </a:p>
        </p:txBody>
      </p:sp>
      <p:sp>
        <p:nvSpPr>
          <p:cNvPr id="4" name="Shape 2"/>
          <p:cNvSpPr/>
          <p:nvPr/>
        </p:nvSpPr>
        <p:spPr>
          <a:xfrm>
            <a:off x="548640" y="1783080"/>
            <a:ext cx="5120640" cy="2148840"/>
          </a:xfrm>
          <a:prstGeom prst="roundRect">
            <a:avLst>
              <a:gd name="adj" fmla="val 3830"/>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68680" y="1938528"/>
            <a:ext cx="448056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Congelar lo instalado</a:t>
            </a:r>
            <a:endParaRPr lang="en-US" sz="1400" dirty="0"/>
          </a:p>
        </p:txBody>
      </p:sp>
      <p:sp>
        <p:nvSpPr>
          <p:cNvPr id="6" name="Text 4"/>
          <p:cNvSpPr/>
          <p:nvPr/>
        </p:nvSpPr>
        <p:spPr>
          <a:xfrm>
            <a:off x="868680" y="2331720"/>
            <a:ext cx="4480560" cy="320040"/>
          </a:xfrm>
          <a:prstGeom prst="rect">
            <a:avLst/>
          </a:prstGeom>
          <a:noFill/>
          <a:ln/>
        </p:spPr>
        <p:txBody>
          <a:bodyPr wrap="square" lIns="0" tIns="0" rIns="0" bIns="0" rtlCol="0" anchor="ctr"/>
          <a:lstStyle/>
          <a:p>
            <a:pPr marL="0" indent="0">
              <a:lnSpc>
                <a:spcPts val="1600"/>
              </a:lnSpc>
              <a:buNone/>
            </a:pPr>
            <a:r>
              <a:rPr lang="en-US" sz="1100" dirty="0">
                <a:solidFill>
                  <a:srgbClr val="06304A"/>
                </a:solidFill>
                <a:latin typeface="Courier New" pitchFamily="34" charset="0"/>
                <a:ea typeface="Courier New" pitchFamily="34" charset="-122"/>
                <a:cs typeface="Courier New" pitchFamily="34" charset="-120"/>
              </a:rPr>
              <a:t>python -m pip freeze &gt; requirements.txt</a:t>
            </a:r>
            <a:endParaRPr lang="en-US" sz="1100" dirty="0"/>
          </a:p>
        </p:txBody>
      </p:sp>
      <p:sp>
        <p:nvSpPr>
          <p:cNvPr id="7" name="Text 5"/>
          <p:cNvSpPr/>
          <p:nvPr/>
        </p:nvSpPr>
        <p:spPr>
          <a:xfrm>
            <a:off x="868680" y="2743200"/>
            <a:ext cx="4480560" cy="1005840"/>
          </a:xfrm>
          <a:prstGeom prst="rect">
            <a:avLst/>
          </a:prstGeom>
          <a:noFill/>
          <a:ln/>
        </p:spPr>
        <p:txBody>
          <a:bodyPr wrap="square" lIns="0" tIns="0" rIns="0" bIns="0" rtlCol="0" anchor="ctr"/>
          <a:lstStyle/>
          <a:p>
            <a:pPr marL="0" indent="0">
              <a:lnSpc>
                <a:spcPts val="1650"/>
              </a:lnSpc>
              <a:buNone/>
            </a:pPr>
            <a:r>
              <a:rPr lang="en-US" sz="1150" dirty="0">
                <a:solidFill>
                  <a:srgbClr val="06304A"/>
                </a:solidFill>
                <a:latin typeface="Courier New" pitchFamily="34" charset="0"/>
                <a:ea typeface="Courier New" pitchFamily="34" charset="-122"/>
                <a:cs typeface="Courier New" pitchFamily="34" charset="-120"/>
              </a:rPr>
              <a:t>pandas==2.2.3</a:t>
            </a:r>
            <a:endParaRPr lang="en-US" sz="1150" dirty="0"/>
          </a:p>
          <a:p>
            <a:pPr marL="0" indent="0">
              <a:lnSpc>
                <a:spcPts val="1650"/>
              </a:lnSpc>
              <a:buNone/>
            </a:pPr>
            <a:r>
              <a:rPr lang="en-US" sz="1150" dirty="0">
                <a:solidFill>
                  <a:srgbClr val="06304A"/>
                </a:solidFill>
                <a:latin typeface="Courier New" pitchFamily="34" charset="0"/>
                <a:ea typeface="Courier New" pitchFamily="34" charset="-122"/>
                <a:cs typeface="Courier New" pitchFamily="34" charset="-120"/>
              </a:rPr>
              <a:t>numpy==2.1.0</a:t>
            </a:r>
            <a:endParaRPr lang="en-US" sz="1150" dirty="0"/>
          </a:p>
          <a:p>
            <a:pPr marL="0" indent="0">
              <a:lnSpc>
                <a:spcPts val="1650"/>
              </a:lnSpc>
              <a:buNone/>
            </a:pPr>
            <a:r>
              <a:rPr lang="en-US" sz="1150" dirty="0">
                <a:solidFill>
                  <a:srgbClr val="06304A"/>
                </a:solidFill>
                <a:latin typeface="Courier New" pitchFamily="34" charset="0"/>
                <a:ea typeface="Courier New" pitchFamily="34" charset="-122"/>
                <a:cs typeface="Courier New" pitchFamily="34" charset="-120"/>
              </a:rPr>
              <a:t>matplotlib==3.9.2</a:t>
            </a:r>
            <a:endParaRPr lang="en-US" sz="1150" dirty="0"/>
          </a:p>
          <a:p>
            <a:pPr marL="0" indent="0">
              <a:lnSpc>
                <a:spcPts val="1650"/>
              </a:lnSpc>
              <a:buNone/>
            </a:pPr>
            <a:r>
              <a:rPr lang="en-US" sz="1150" dirty="0">
                <a:solidFill>
                  <a:srgbClr val="06304A"/>
                </a:solidFill>
                <a:latin typeface="Courier New" pitchFamily="34" charset="0"/>
                <a:ea typeface="Courier New" pitchFamily="34" charset="-122"/>
                <a:cs typeface="Courier New" pitchFamily="34" charset="-120"/>
              </a:rPr>
              <a:t>scikit-learn==1.5.1</a:t>
            </a:r>
            <a:endParaRPr lang="en-US" sz="1150" dirty="0"/>
          </a:p>
        </p:txBody>
      </p:sp>
      <p:sp>
        <p:nvSpPr>
          <p:cNvPr id="8" name="Text 6"/>
          <p:cNvSpPr/>
          <p:nvPr/>
        </p:nvSpPr>
        <p:spPr>
          <a:xfrm>
            <a:off x="5760720" y="2514600"/>
            <a:ext cx="731520" cy="457200"/>
          </a:xfrm>
          <a:prstGeom prst="rect">
            <a:avLst/>
          </a:prstGeom>
          <a:noFill/>
          <a:ln/>
        </p:spPr>
        <p:txBody>
          <a:bodyPr wrap="square" lIns="0" tIns="0" rIns="0" bIns="0" rtlCol="0" anchor="ctr"/>
          <a:lstStyle/>
          <a:p>
            <a:pPr marL="0" indent="0" algn="ctr">
              <a:buNone/>
            </a:pPr>
            <a:r>
              <a:rPr lang="en-US" sz="2600" dirty="0">
                <a:solidFill>
                  <a:srgbClr val="AC212E"/>
                </a:solidFill>
                <a:latin typeface="Calibri" pitchFamily="34" charset="0"/>
                <a:ea typeface="Calibri" pitchFamily="34" charset="-122"/>
                <a:cs typeface="Calibri" pitchFamily="34" charset="-120"/>
              </a:rPr>
              <a:t>→</a:t>
            </a:r>
            <a:endParaRPr lang="en-US" sz="2600" dirty="0"/>
          </a:p>
        </p:txBody>
      </p:sp>
      <p:sp>
        <p:nvSpPr>
          <p:cNvPr id="9" name="Shape 7"/>
          <p:cNvSpPr/>
          <p:nvPr/>
        </p:nvSpPr>
        <p:spPr>
          <a:xfrm>
            <a:off x="6492240" y="1783080"/>
            <a:ext cx="5120640" cy="2148840"/>
          </a:xfrm>
          <a:prstGeom prst="roundRect">
            <a:avLst>
              <a:gd name="adj" fmla="val 3830"/>
            </a:avLst>
          </a:prstGeom>
          <a:solidFill>
            <a:srgbClr val="0A1526"/>
          </a:solidFill>
          <a:ln w="12700">
            <a:solidFill>
              <a:srgbClr val="0A1526"/>
            </a:solidFill>
            <a:prstDash val="solid"/>
          </a:ln>
        </p:spPr>
        <p:txBody>
          <a:bodyPr/>
          <a:lstStyle/>
          <a:p>
            <a:endParaRPr lang="es-CL"/>
          </a:p>
        </p:txBody>
      </p:sp>
      <p:sp>
        <p:nvSpPr>
          <p:cNvPr id="10" name="Text 8"/>
          <p:cNvSpPr/>
          <p:nvPr/>
        </p:nvSpPr>
        <p:spPr>
          <a:xfrm>
            <a:off x="6812280" y="1938528"/>
            <a:ext cx="448056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Reconstruir en otro equipo</a:t>
            </a:r>
            <a:endParaRPr lang="en-US" sz="1400" dirty="0"/>
          </a:p>
        </p:txBody>
      </p:sp>
      <p:sp>
        <p:nvSpPr>
          <p:cNvPr id="11" name="Text 9"/>
          <p:cNvSpPr/>
          <p:nvPr/>
        </p:nvSpPr>
        <p:spPr>
          <a:xfrm>
            <a:off x="6812280" y="2377440"/>
            <a:ext cx="4480560" cy="1097280"/>
          </a:xfrm>
          <a:prstGeom prst="rect">
            <a:avLst/>
          </a:prstGeom>
          <a:noFill/>
          <a:ln/>
        </p:spPr>
        <p:txBody>
          <a:bodyPr wrap="square" lIns="0" tIns="0" rIns="0" bIns="0" rtlCol="0" anchor="ctr"/>
          <a:lstStyle/>
          <a:p>
            <a:pPr marL="0" indent="0">
              <a:lnSpc>
                <a:spcPts val="1700"/>
              </a:lnSpc>
              <a:buNone/>
            </a:pPr>
            <a:r>
              <a:rPr lang="en-US" sz="1150" dirty="0">
                <a:solidFill>
                  <a:srgbClr val="FFFFFF"/>
                </a:solidFill>
                <a:latin typeface="Courier New" pitchFamily="34" charset="0"/>
                <a:ea typeface="Courier New" pitchFamily="34" charset="-122"/>
                <a:cs typeface="Courier New" pitchFamily="34" charset="-120"/>
              </a:rPr>
              <a:t>python -m venv .venv</a:t>
            </a:r>
            <a:endParaRPr lang="en-US" sz="1150" dirty="0"/>
          </a:p>
          <a:p>
            <a:pPr marL="0" indent="0">
              <a:lnSpc>
                <a:spcPts val="1700"/>
              </a:lnSpc>
              <a:buNone/>
            </a:pPr>
            <a:r>
              <a:rPr lang="en-US" sz="1150" dirty="0">
                <a:solidFill>
                  <a:srgbClr val="FFFFFF"/>
                </a:solidFill>
                <a:latin typeface="Courier New" pitchFamily="34" charset="0"/>
                <a:ea typeface="Courier New" pitchFamily="34" charset="-122"/>
                <a:cs typeface="Courier New" pitchFamily="34" charset="-120"/>
              </a:rPr>
              <a:t>source .venv/bin/activate</a:t>
            </a:r>
            <a:endParaRPr lang="en-US" sz="1150" dirty="0"/>
          </a:p>
          <a:p>
            <a:pPr marL="0" indent="0">
              <a:lnSpc>
                <a:spcPts val="1700"/>
              </a:lnSpc>
              <a:buNone/>
            </a:pPr>
            <a:r>
              <a:rPr lang="en-US" sz="1150" dirty="0">
                <a:solidFill>
                  <a:srgbClr val="FFFFFF"/>
                </a:solidFill>
                <a:latin typeface="Courier New" pitchFamily="34" charset="0"/>
                <a:ea typeface="Courier New" pitchFamily="34" charset="-122"/>
                <a:cs typeface="Courier New" pitchFamily="34" charset="-120"/>
              </a:rPr>
              <a:t>python -m pip install -r requirements.txt</a:t>
            </a:r>
            <a:endParaRPr lang="en-US" sz="1150" dirty="0"/>
          </a:p>
        </p:txBody>
      </p:sp>
      <p:sp>
        <p:nvSpPr>
          <p:cNvPr id="12" name="Text 10"/>
          <p:cNvSpPr/>
          <p:nvPr/>
        </p:nvSpPr>
        <p:spPr>
          <a:xfrm>
            <a:off x="548640" y="4206240"/>
            <a:ext cx="7315200" cy="365760"/>
          </a:xfrm>
          <a:prstGeom prst="rect">
            <a:avLst/>
          </a:prstGeom>
          <a:noFill/>
          <a:ln/>
        </p:spPr>
        <p:txBody>
          <a:bodyPr wrap="square" lIns="0" tIns="0" rIns="0" bIns="0" rtlCol="0" anchor="ctr"/>
          <a:lstStyle/>
          <a:p>
            <a:pPr marL="0" indent="0">
              <a:buNone/>
            </a:pPr>
            <a:r>
              <a:rPr lang="en-US" sz="1600" b="1" dirty="0">
                <a:solidFill>
                  <a:srgbClr val="06304A"/>
                </a:solidFill>
                <a:latin typeface="Calibri" pitchFamily="34" charset="0"/>
                <a:ea typeface="Calibri" pitchFamily="34" charset="-122"/>
                <a:cs typeface="Calibri" pitchFamily="34" charset="-120"/>
              </a:rPr>
              <a:t>Tres hábitos que lo mantienen útil</a:t>
            </a:r>
            <a:endParaRPr lang="en-US" sz="1600" dirty="0"/>
          </a:p>
        </p:txBody>
      </p:sp>
      <p:sp>
        <p:nvSpPr>
          <p:cNvPr id="13" name="Shape 11"/>
          <p:cNvSpPr/>
          <p:nvPr/>
        </p:nvSpPr>
        <p:spPr>
          <a:xfrm>
            <a:off x="548640" y="4617720"/>
            <a:ext cx="3520440" cy="1325880"/>
          </a:xfrm>
          <a:prstGeom prst="roundRect">
            <a:avLst>
              <a:gd name="adj" fmla="val 6207"/>
            </a:avLst>
          </a:prstGeom>
          <a:solidFill>
            <a:srgbClr val="F4F7FA"/>
          </a:solidFill>
          <a:ln w="12700">
            <a:solidFill>
              <a:srgbClr val="F4F7FA"/>
            </a:solidFill>
            <a:prstDash val="solid"/>
          </a:ln>
        </p:spPr>
        <p:txBody>
          <a:bodyPr/>
          <a:lstStyle/>
          <a:p>
            <a:endParaRPr lang="es-CL"/>
          </a:p>
        </p:txBody>
      </p:sp>
      <p:sp>
        <p:nvSpPr>
          <p:cNvPr id="14" name="Text 12"/>
          <p:cNvSpPr/>
          <p:nvPr/>
        </p:nvSpPr>
        <p:spPr>
          <a:xfrm>
            <a:off x="777240" y="4773168"/>
            <a:ext cx="306324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Regenerarlo</a:t>
            </a:r>
            <a:endParaRPr lang="en-US" sz="1400" dirty="0"/>
          </a:p>
        </p:txBody>
      </p:sp>
      <p:sp>
        <p:nvSpPr>
          <p:cNvPr id="15" name="Text 13"/>
          <p:cNvSpPr/>
          <p:nvPr/>
        </p:nvSpPr>
        <p:spPr>
          <a:xfrm>
            <a:off x="777240" y="5120640"/>
            <a:ext cx="3063240" cy="685800"/>
          </a:xfrm>
          <a:prstGeom prst="rect">
            <a:avLst/>
          </a:prstGeom>
          <a:noFill/>
          <a:ln/>
        </p:spPr>
        <p:txBody>
          <a:bodyPr wrap="square" lIns="0" tIns="0" rIns="0" bIns="0" rtlCol="0" anchor="ctr"/>
          <a:lstStyle/>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Cada vez que instalen algo nuevo, no solo antes de entregar.</a:t>
            </a:r>
            <a:endParaRPr lang="en-US" sz="1250" dirty="0"/>
          </a:p>
        </p:txBody>
      </p:sp>
      <p:sp>
        <p:nvSpPr>
          <p:cNvPr id="16" name="Shape 14"/>
          <p:cNvSpPr/>
          <p:nvPr/>
        </p:nvSpPr>
        <p:spPr>
          <a:xfrm>
            <a:off x="4325112" y="4617720"/>
            <a:ext cx="3520440" cy="1325880"/>
          </a:xfrm>
          <a:prstGeom prst="roundRect">
            <a:avLst>
              <a:gd name="adj" fmla="val 6207"/>
            </a:avLst>
          </a:prstGeom>
          <a:solidFill>
            <a:srgbClr val="F4F7FA"/>
          </a:solidFill>
          <a:ln w="12700">
            <a:solidFill>
              <a:srgbClr val="F4F7FA"/>
            </a:solidFill>
            <a:prstDash val="solid"/>
          </a:ln>
        </p:spPr>
        <p:txBody>
          <a:bodyPr/>
          <a:lstStyle/>
          <a:p>
            <a:endParaRPr lang="es-CL"/>
          </a:p>
        </p:txBody>
      </p:sp>
      <p:sp>
        <p:nvSpPr>
          <p:cNvPr id="17" name="Text 15"/>
          <p:cNvSpPr/>
          <p:nvPr/>
        </p:nvSpPr>
        <p:spPr>
          <a:xfrm>
            <a:off x="4553712" y="4773168"/>
            <a:ext cx="306324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Versionarlo</a:t>
            </a:r>
            <a:endParaRPr lang="en-US" sz="1400" dirty="0"/>
          </a:p>
        </p:txBody>
      </p:sp>
      <p:sp>
        <p:nvSpPr>
          <p:cNvPr id="18" name="Text 16"/>
          <p:cNvSpPr/>
          <p:nvPr/>
        </p:nvSpPr>
        <p:spPr>
          <a:xfrm>
            <a:off x="4553712" y="5120640"/>
            <a:ext cx="3063240" cy="685800"/>
          </a:xfrm>
          <a:prstGeom prst="rect">
            <a:avLst/>
          </a:prstGeom>
          <a:noFill/>
          <a:ln/>
        </p:spPr>
        <p:txBody>
          <a:bodyPr wrap="square" lIns="0" tIns="0" rIns="0" bIns="0" rtlCol="0" anchor="ctr"/>
          <a:lstStyle/>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Va en el repositorio: es parte del proyecto, no un archivo temporal.</a:t>
            </a:r>
            <a:endParaRPr lang="en-US" sz="1250" dirty="0"/>
          </a:p>
        </p:txBody>
      </p:sp>
      <p:sp>
        <p:nvSpPr>
          <p:cNvPr id="19" name="Shape 17"/>
          <p:cNvSpPr/>
          <p:nvPr/>
        </p:nvSpPr>
        <p:spPr>
          <a:xfrm>
            <a:off x="8101584" y="4617720"/>
            <a:ext cx="3520440" cy="1325880"/>
          </a:xfrm>
          <a:prstGeom prst="roundRect">
            <a:avLst>
              <a:gd name="adj" fmla="val 6207"/>
            </a:avLst>
          </a:prstGeom>
          <a:solidFill>
            <a:srgbClr val="F4F7FA"/>
          </a:solidFill>
          <a:ln w="12700">
            <a:solidFill>
              <a:srgbClr val="F4F7FA"/>
            </a:solidFill>
            <a:prstDash val="solid"/>
          </a:ln>
        </p:spPr>
        <p:txBody>
          <a:bodyPr/>
          <a:lstStyle/>
          <a:p>
            <a:endParaRPr lang="es-CL"/>
          </a:p>
        </p:txBody>
      </p:sp>
      <p:sp>
        <p:nvSpPr>
          <p:cNvPr id="20" name="Text 18"/>
          <p:cNvSpPr/>
          <p:nvPr/>
        </p:nvSpPr>
        <p:spPr>
          <a:xfrm>
            <a:off x="8330184" y="4773168"/>
            <a:ext cx="306324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Rutas relativas</a:t>
            </a:r>
            <a:endParaRPr lang="en-US" sz="1400" dirty="0"/>
          </a:p>
        </p:txBody>
      </p:sp>
      <p:sp>
        <p:nvSpPr>
          <p:cNvPr id="21" name="Text 19"/>
          <p:cNvSpPr/>
          <p:nvPr/>
        </p:nvSpPr>
        <p:spPr>
          <a:xfrm>
            <a:off x="8330184" y="5120640"/>
            <a:ext cx="3063240" cy="685800"/>
          </a:xfrm>
          <a:prstGeom prst="rect">
            <a:avLst/>
          </a:prstGeom>
          <a:noFill/>
          <a:ln/>
        </p:spPr>
        <p:txBody>
          <a:bodyPr wrap="square" lIns="0" tIns="0" rIns="0" bIns="0" rtlCol="0" anchor="ctr"/>
          <a:lstStyle/>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data/raw/archivo.csv y no C:/Users/... o /Users/...</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Jupyter Notebook: código, resultado y explicación</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Es el formato natural de la comunicación científica: el razonamiento va junto al cálculo.</a:t>
            </a:r>
            <a:endParaRPr lang="en-US" sz="1400" dirty="0"/>
          </a:p>
        </p:txBody>
      </p:sp>
      <p:sp>
        <p:nvSpPr>
          <p:cNvPr id="4" name="Shape 2"/>
          <p:cNvSpPr/>
          <p:nvPr/>
        </p:nvSpPr>
        <p:spPr>
          <a:xfrm>
            <a:off x="548640" y="1737360"/>
            <a:ext cx="5852160" cy="3657600"/>
          </a:xfrm>
          <a:prstGeom prst="roundRect">
            <a:avLst>
              <a:gd name="adj" fmla="val 2250"/>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68680" y="1901952"/>
            <a:ext cx="521208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Anatomía de un notebook</a:t>
            </a:r>
            <a:endParaRPr lang="en-US" sz="1400" dirty="0"/>
          </a:p>
        </p:txBody>
      </p:sp>
      <p:sp>
        <p:nvSpPr>
          <p:cNvPr id="6" name="Shape 4"/>
          <p:cNvSpPr/>
          <p:nvPr/>
        </p:nvSpPr>
        <p:spPr>
          <a:xfrm>
            <a:off x="868680" y="2331720"/>
            <a:ext cx="5212080" cy="822960"/>
          </a:xfrm>
          <a:prstGeom prst="roundRect">
            <a:avLst>
              <a:gd name="adj" fmla="val 6667"/>
            </a:avLst>
          </a:prstGeom>
          <a:solidFill>
            <a:srgbClr val="E8EEF5"/>
          </a:solidFill>
          <a:ln w="12700">
            <a:solidFill>
              <a:srgbClr val="E8EEF5"/>
            </a:solidFill>
            <a:prstDash val="solid"/>
          </a:ln>
        </p:spPr>
        <p:txBody>
          <a:bodyPr/>
          <a:lstStyle/>
          <a:p>
            <a:endParaRPr lang="es-CL"/>
          </a:p>
        </p:txBody>
      </p:sp>
      <p:sp>
        <p:nvSpPr>
          <p:cNvPr id="7" name="Text 5"/>
          <p:cNvSpPr/>
          <p:nvPr/>
        </p:nvSpPr>
        <p:spPr>
          <a:xfrm>
            <a:off x="1005840" y="2395728"/>
            <a:ext cx="4937760" cy="256032"/>
          </a:xfrm>
          <a:prstGeom prst="rect">
            <a:avLst/>
          </a:prstGeom>
          <a:noFill/>
          <a:ln/>
        </p:spPr>
        <p:txBody>
          <a:bodyPr wrap="square" lIns="0" tIns="0" rIns="0" bIns="0" rtlCol="0" anchor="ctr"/>
          <a:lstStyle/>
          <a:p>
            <a:pPr marL="0" indent="0">
              <a:buNone/>
            </a:pPr>
            <a:r>
              <a:rPr lang="en-US" sz="1100" b="1" dirty="0">
                <a:solidFill>
                  <a:srgbClr val="AC212E"/>
                </a:solidFill>
                <a:latin typeface="Calibri" pitchFamily="34" charset="0"/>
                <a:ea typeface="Calibri" pitchFamily="34" charset="-122"/>
                <a:cs typeface="Calibri" pitchFamily="34" charset="-120"/>
              </a:rPr>
              <a:t>Celda Markdown</a:t>
            </a:r>
            <a:endParaRPr lang="en-US" sz="1100" dirty="0"/>
          </a:p>
        </p:txBody>
      </p:sp>
      <p:sp>
        <p:nvSpPr>
          <p:cNvPr id="8" name="Text 6"/>
          <p:cNvSpPr/>
          <p:nvPr/>
        </p:nvSpPr>
        <p:spPr>
          <a:xfrm>
            <a:off x="1005840" y="2642616"/>
            <a:ext cx="4937760" cy="457200"/>
          </a:xfrm>
          <a:prstGeom prst="rect">
            <a:avLst/>
          </a:prstGeom>
          <a:noFill/>
          <a:ln/>
        </p:spPr>
        <p:txBody>
          <a:bodyPr wrap="square" lIns="0" tIns="0" rIns="0" bIns="0" rtlCol="0" anchor="ctr"/>
          <a:lstStyle/>
          <a:p>
            <a:pPr marL="0" indent="0">
              <a:lnSpc>
                <a:spcPts val="1400"/>
              </a:lnSpc>
              <a:buNone/>
            </a:pPr>
            <a:r>
              <a:rPr lang="en-US" sz="1050" dirty="0">
                <a:solidFill>
                  <a:srgbClr val="06304A"/>
                </a:solidFill>
                <a:latin typeface="Courier New" pitchFamily="34" charset="0"/>
                <a:ea typeface="Courier New" pitchFamily="34" charset="-122"/>
                <a:cs typeface="Courier New" pitchFamily="34" charset="-120"/>
              </a:rPr>
              <a:t>## Limpieza de valores faltantes</a:t>
            </a:r>
            <a:endParaRPr lang="en-US" sz="1050" dirty="0"/>
          </a:p>
          <a:p>
            <a:pPr marL="0" indent="0">
              <a:lnSpc>
                <a:spcPts val="1400"/>
              </a:lnSpc>
              <a:buNone/>
            </a:pPr>
            <a:r>
              <a:rPr lang="en-US" sz="1050" dirty="0">
                <a:solidFill>
                  <a:srgbClr val="06304A"/>
                </a:solidFill>
                <a:latin typeface="Courier New" pitchFamily="34" charset="0"/>
                <a:ea typeface="Courier New" pitchFamily="34" charset="-122"/>
                <a:cs typeface="Courier New" pitchFamily="34" charset="-120"/>
              </a:rPr>
              <a:t>Se imputa la mediana porque...</a:t>
            </a:r>
            <a:endParaRPr lang="en-US" sz="1050" dirty="0"/>
          </a:p>
        </p:txBody>
      </p:sp>
      <p:sp>
        <p:nvSpPr>
          <p:cNvPr id="9" name="Shape 7"/>
          <p:cNvSpPr/>
          <p:nvPr/>
        </p:nvSpPr>
        <p:spPr>
          <a:xfrm>
            <a:off x="868680" y="3291840"/>
            <a:ext cx="5212080" cy="822960"/>
          </a:xfrm>
          <a:prstGeom prst="roundRect">
            <a:avLst>
              <a:gd name="adj" fmla="val 6667"/>
            </a:avLst>
          </a:prstGeom>
          <a:solidFill>
            <a:srgbClr val="E8EEF5"/>
          </a:solidFill>
          <a:ln w="12700">
            <a:solidFill>
              <a:srgbClr val="E8EEF5"/>
            </a:solidFill>
            <a:prstDash val="solid"/>
          </a:ln>
        </p:spPr>
        <p:txBody>
          <a:bodyPr/>
          <a:lstStyle/>
          <a:p>
            <a:endParaRPr lang="es-CL"/>
          </a:p>
        </p:txBody>
      </p:sp>
      <p:sp>
        <p:nvSpPr>
          <p:cNvPr id="10" name="Text 8"/>
          <p:cNvSpPr/>
          <p:nvPr/>
        </p:nvSpPr>
        <p:spPr>
          <a:xfrm>
            <a:off x="1005840" y="3355848"/>
            <a:ext cx="4937760" cy="256032"/>
          </a:xfrm>
          <a:prstGeom prst="rect">
            <a:avLst/>
          </a:prstGeom>
          <a:noFill/>
          <a:ln/>
        </p:spPr>
        <p:txBody>
          <a:bodyPr wrap="square" lIns="0" tIns="0" rIns="0" bIns="0" rtlCol="0" anchor="ctr"/>
          <a:lstStyle/>
          <a:p>
            <a:pPr marL="0" indent="0">
              <a:buNone/>
            </a:pPr>
            <a:r>
              <a:rPr lang="en-US" sz="1100" b="1" dirty="0">
                <a:solidFill>
                  <a:srgbClr val="AC212E"/>
                </a:solidFill>
                <a:latin typeface="Calibri" pitchFamily="34" charset="0"/>
                <a:ea typeface="Calibri" pitchFamily="34" charset="-122"/>
                <a:cs typeface="Calibri" pitchFamily="34" charset="-120"/>
              </a:rPr>
              <a:t>Celda de código</a:t>
            </a:r>
            <a:endParaRPr lang="en-US" sz="1100" dirty="0"/>
          </a:p>
        </p:txBody>
      </p:sp>
      <p:sp>
        <p:nvSpPr>
          <p:cNvPr id="11" name="Text 9"/>
          <p:cNvSpPr/>
          <p:nvPr/>
        </p:nvSpPr>
        <p:spPr>
          <a:xfrm>
            <a:off x="1005840" y="3602736"/>
            <a:ext cx="4937760" cy="457200"/>
          </a:xfrm>
          <a:prstGeom prst="rect">
            <a:avLst/>
          </a:prstGeom>
          <a:noFill/>
          <a:ln/>
        </p:spPr>
        <p:txBody>
          <a:bodyPr wrap="square" lIns="0" tIns="0" rIns="0" bIns="0" rtlCol="0" anchor="ctr"/>
          <a:lstStyle/>
          <a:p>
            <a:pPr marL="0" indent="0">
              <a:lnSpc>
                <a:spcPts val="1400"/>
              </a:lnSpc>
              <a:buNone/>
            </a:pPr>
            <a:r>
              <a:rPr lang="en-US" sz="1050" dirty="0">
                <a:solidFill>
                  <a:srgbClr val="06304A"/>
                </a:solidFill>
                <a:latin typeface="Courier New" pitchFamily="34" charset="0"/>
                <a:ea typeface="Courier New" pitchFamily="34" charset="-122"/>
                <a:cs typeface="Courier New" pitchFamily="34" charset="-120"/>
              </a:rPr>
              <a:t>df["imc"] = df["imc"].fillna(mediana)</a:t>
            </a:r>
            <a:endParaRPr lang="en-US" sz="1050" dirty="0"/>
          </a:p>
        </p:txBody>
      </p:sp>
      <p:sp>
        <p:nvSpPr>
          <p:cNvPr id="12" name="Shape 10"/>
          <p:cNvSpPr/>
          <p:nvPr/>
        </p:nvSpPr>
        <p:spPr>
          <a:xfrm>
            <a:off x="868680" y="4251960"/>
            <a:ext cx="5212080" cy="822960"/>
          </a:xfrm>
          <a:prstGeom prst="roundRect">
            <a:avLst>
              <a:gd name="adj" fmla="val 6667"/>
            </a:avLst>
          </a:prstGeom>
          <a:solidFill>
            <a:srgbClr val="DCE6F0"/>
          </a:solidFill>
          <a:ln w="12700">
            <a:solidFill>
              <a:srgbClr val="DCE6F0"/>
            </a:solidFill>
            <a:prstDash val="solid"/>
          </a:ln>
        </p:spPr>
        <p:txBody>
          <a:bodyPr/>
          <a:lstStyle/>
          <a:p>
            <a:endParaRPr lang="es-CL"/>
          </a:p>
        </p:txBody>
      </p:sp>
      <p:sp>
        <p:nvSpPr>
          <p:cNvPr id="13" name="Text 11"/>
          <p:cNvSpPr/>
          <p:nvPr/>
        </p:nvSpPr>
        <p:spPr>
          <a:xfrm>
            <a:off x="1005840" y="4315968"/>
            <a:ext cx="4937760" cy="256032"/>
          </a:xfrm>
          <a:prstGeom prst="rect">
            <a:avLst/>
          </a:prstGeom>
          <a:noFill/>
          <a:ln/>
        </p:spPr>
        <p:txBody>
          <a:bodyPr wrap="square" lIns="0" tIns="0" rIns="0" bIns="0" rtlCol="0" anchor="ctr"/>
          <a:lstStyle/>
          <a:p>
            <a:pPr marL="0" indent="0">
              <a:buNone/>
            </a:pPr>
            <a:r>
              <a:rPr lang="en-US" sz="1100" b="1" dirty="0">
                <a:solidFill>
                  <a:srgbClr val="AC212E"/>
                </a:solidFill>
                <a:latin typeface="Calibri" pitchFamily="34" charset="0"/>
                <a:ea typeface="Calibri" pitchFamily="34" charset="-122"/>
                <a:cs typeface="Calibri" pitchFamily="34" charset="-120"/>
              </a:rPr>
              <a:t>Salida</a:t>
            </a:r>
            <a:endParaRPr lang="en-US" sz="1100" dirty="0"/>
          </a:p>
        </p:txBody>
      </p:sp>
      <p:sp>
        <p:nvSpPr>
          <p:cNvPr id="14" name="Text 12"/>
          <p:cNvSpPr/>
          <p:nvPr/>
        </p:nvSpPr>
        <p:spPr>
          <a:xfrm>
            <a:off x="1005840" y="4562856"/>
            <a:ext cx="4937760" cy="457200"/>
          </a:xfrm>
          <a:prstGeom prst="rect">
            <a:avLst/>
          </a:prstGeom>
          <a:noFill/>
          <a:ln/>
        </p:spPr>
        <p:txBody>
          <a:bodyPr wrap="square" lIns="0" tIns="0" rIns="0" bIns="0" rtlCol="0" anchor="ctr"/>
          <a:lstStyle/>
          <a:p>
            <a:pPr marL="0" indent="0">
              <a:lnSpc>
                <a:spcPts val="1400"/>
              </a:lnSpc>
              <a:buNone/>
            </a:pPr>
            <a:r>
              <a:rPr lang="en-US" sz="1050" dirty="0">
                <a:solidFill>
                  <a:srgbClr val="06304A"/>
                </a:solidFill>
                <a:latin typeface="Courier New" pitchFamily="34" charset="0"/>
                <a:ea typeface="Courier New" pitchFamily="34" charset="-122"/>
                <a:cs typeface="Courier New" pitchFamily="34" charset="-120"/>
              </a:rPr>
              <a:t>228 filas procesadas · 0 nulos restantes</a:t>
            </a:r>
            <a:endParaRPr lang="en-US" sz="1050" dirty="0"/>
          </a:p>
        </p:txBody>
      </p:sp>
      <p:sp>
        <p:nvSpPr>
          <p:cNvPr id="15" name="Shape 13"/>
          <p:cNvSpPr/>
          <p:nvPr/>
        </p:nvSpPr>
        <p:spPr>
          <a:xfrm>
            <a:off x="6675120" y="1737360"/>
            <a:ext cx="4937760" cy="3657600"/>
          </a:xfrm>
          <a:prstGeom prst="roundRect">
            <a:avLst>
              <a:gd name="adj" fmla="val 2250"/>
            </a:avLst>
          </a:prstGeom>
          <a:solidFill>
            <a:srgbClr val="0A1526"/>
          </a:solidFill>
          <a:ln w="12700">
            <a:solidFill>
              <a:srgbClr val="0A1526"/>
            </a:solidFill>
            <a:prstDash val="solid"/>
          </a:ln>
        </p:spPr>
        <p:txBody>
          <a:bodyPr/>
          <a:lstStyle/>
          <a:p>
            <a:endParaRPr lang="es-CL"/>
          </a:p>
        </p:txBody>
      </p:sp>
      <p:sp>
        <p:nvSpPr>
          <p:cNvPr id="16" name="Text 14"/>
          <p:cNvSpPr/>
          <p:nvPr/>
        </p:nvSpPr>
        <p:spPr>
          <a:xfrm>
            <a:off x="6995160" y="1901952"/>
            <a:ext cx="429768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Dos cosas que conviene saber</a:t>
            </a:r>
            <a:endParaRPr lang="en-US" sz="1400" dirty="0"/>
          </a:p>
        </p:txBody>
      </p:sp>
      <p:sp>
        <p:nvSpPr>
          <p:cNvPr id="17" name="Text 15"/>
          <p:cNvSpPr/>
          <p:nvPr/>
        </p:nvSpPr>
        <p:spPr>
          <a:xfrm>
            <a:off x="6995160" y="2331720"/>
            <a:ext cx="429768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El kernel</a:t>
            </a:r>
            <a:endParaRPr lang="en-US" sz="1400" dirty="0"/>
          </a:p>
        </p:txBody>
      </p:sp>
      <p:sp>
        <p:nvSpPr>
          <p:cNvPr id="18" name="Text 16"/>
          <p:cNvSpPr/>
          <p:nvPr/>
        </p:nvSpPr>
        <p:spPr>
          <a:xfrm>
            <a:off x="6995160" y="2651760"/>
            <a:ext cx="4297680" cy="105156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Es el intérprete de Python que ejecuta el notebook. Debe ser el del entorno del proyecto, no el genérico «Python 3»: ahí se origina la mayoría de los «a mí me funciona».</a:t>
            </a:r>
            <a:endParaRPr lang="en-US" sz="1250" dirty="0"/>
          </a:p>
        </p:txBody>
      </p:sp>
      <p:sp>
        <p:nvSpPr>
          <p:cNvPr id="19" name="Text 17"/>
          <p:cNvSpPr/>
          <p:nvPr/>
        </p:nvSpPr>
        <p:spPr>
          <a:xfrm>
            <a:off x="6995160" y="3794760"/>
            <a:ext cx="429768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El orden de ejecución</a:t>
            </a:r>
            <a:endParaRPr lang="en-US" sz="1400" dirty="0"/>
          </a:p>
        </p:txBody>
      </p:sp>
      <p:sp>
        <p:nvSpPr>
          <p:cNvPr id="20" name="Text 18"/>
          <p:cNvSpPr/>
          <p:nvPr/>
        </p:nvSpPr>
        <p:spPr>
          <a:xfrm>
            <a:off x="6995160" y="4114800"/>
            <a:ext cx="4297680" cy="105156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Las celdas pueden ejecutarse en cualquier orden, y eso rompe la reproducibilidad. Antes de entregar: Kernel → Restart Kernel and Run All Cells.</a:t>
            </a:r>
            <a:endParaRPr lang="en-US" sz="1250" dirty="0"/>
          </a:p>
        </p:txBody>
      </p:sp>
      <p:sp>
        <p:nvSpPr>
          <p:cNvPr id="21" name="Text 19"/>
          <p:cNvSpPr/>
          <p:nvPr/>
        </p:nvSpPr>
        <p:spPr>
          <a:xfrm>
            <a:off x="548640" y="6327648"/>
            <a:ext cx="11064240" cy="274320"/>
          </a:xfrm>
          <a:prstGeom prst="rect">
            <a:avLst/>
          </a:prstGeom>
          <a:noFill/>
          <a:ln/>
        </p:spPr>
        <p:txBody>
          <a:bodyPr wrap="square" lIns="0" tIns="0" rIns="0" bIns="0" rtlCol="0" anchor="ctr"/>
          <a:lstStyle/>
          <a:p>
            <a:pPr marL="0" indent="0">
              <a:buNone/>
            </a:pPr>
            <a:r>
              <a:rPr lang="en-US" sz="1000" dirty="0">
                <a:solidFill>
                  <a:srgbClr val="5A6B7B"/>
                </a:solidFill>
                <a:latin typeface="Calibri" pitchFamily="34" charset="0"/>
                <a:ea typeface="Calibri" pitchFamily="34" charset="-122"/>
                <a:cs typeface="Calibri" pitchFamily="34" charset="-120"/>
              </a:rPr>
              <a:t>Los contadores In [7], In [3], In [12] delatan un notebook que solo funciona en el orden en que su autor lo fue ejecutando.</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Dónde se rozan Jupyter y Git</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El punto que las guías genéricas omiten y que en trabajo grupal aparece la primera semana.</a:t>
            </a:r>
            <a:endParaRPr lang="en-US" sz="1400" dirty="0"/>
          </a:p>
        </p:txBody>
      </p:sp>
      <p:sp>
        <p:nvSpPr>
          <p:cNvPr id="4" name="Shape 2"/>
          <p:cNvSpPr/>
          <p:nvPr/>
        </p:nvSpPr>
        <p:spPr>
          <a:xfrm>
            <a:off x="548640" y="1783080"/>
            <a:ext cx="11064240" cy="1051560"/>
          </a:xfrm>
          <a:prstGeom prst="roundRect">
            <a:avLst>
              <a:gd name="adj" fmla="val 7826"/>
            </a:avLst>
          </a:prstGeom>
          <a:solidFill>
            <a:srgbClr val="F6E7E9"/>
          </a:solidFill>
          <a:ln w="12700">
            <a:solidFill>
              <a:srgbClr val="F6E7E9"/>
            </a:solidFill>
            <a:prstDash val="solid"/>
          </a:ln>
        </p:spPr>
        <p:txBody>
          <a:bodyPr/>
          <a:lstStyle/>
          <a:p>
            <a:endParaRPr lang="es-CL"/>
          </a:p>
        </p:txBody>
      </p:sp>
      <p:sp>
        <p:nvSpPr>
          <p:cNvPr id="5" name="Text 3"/>
          <p:cNvSpPr/>
          <p:nvPr/>
        </p:nvSpPr>
        <p:spPr>
          <a:xfrm>
            <a:off x="868680" y="1965960"/>
            <a:ext cx="10424160" cy="685800"/>
          </a:xfrm>
          <a:prstGeom prst="rect">
            <a:avLst/>
          </a:prstGeom>
          <a:noFill/>
          <a:ln/>
        </p:spPr>
        <p:txBody>
          <a:bodyPr wrap="square" lIns="0" tIns="0" rIns="0" bIns="0" rtlCol="0" anchor="ctr"/>
          <a:lstStyle/>
          <a:p>
            <a:pPr marL="0" indent="0">
              <a:buNone/>
            </a:pPr>
            <a:r>
              <a:rPr lang="en-US" sz="1500" dirty="0">
                <a:solidFill>
                  <a:srgbClr val="06304A"/>
                </a:solidFill>
                <a:latin typeface="Calibri" pitchFamily="34" charset="0"/>
                <a:ea typeface="Calibri" pitchFamily="34" charset="-122"/>
                <a:cs typeface="Calibri" pitchFamily="34" charset="-120"/>
              </a:rPr>
              <a:t>Un archivo .ipynb guarda, dentro del mismo JSON, las salidas de cada celda y los contadores de ejecución.</a:t>
            </a:r>
            <a:endParaRPr lang="en-US" sz="1500" dirty="0"/>
          </a:p>
        </p:txBody>
      </p:sp>
      <p:sp>
        <p:nvSpPr>
          <p:cNvPr id="6" name="Shape 4"/>
          <p:cNvSpPr/>
          <p:nvPr/>
        </p:nvSpPr>
        <p:spPr>
          <a:xfrm>
            <a:off x="548640" y="3063240"/>
            <a:ext cx="3520440" cy="1600200"/>
          </a:xfrm>
          <a:prstGeom prst="roundRect">
            <a:avLst>
              <a:gd name="adj" fmla="val 5143"/>
            </a:avLst>
          </a:prstGeom>
          <a:solidFill>
            <a:srgbClr val="F4F7FA"/>
          </a:solidFill>
          <a:ln w="12700">
            <a:solidFill>
              <a:srgbClr val="F4F7FA"/>
            </a:solidFill>
            <a:prstDash val="solid"/>
          </a:ln>
        </p:spPr>
        <p:txBody>
          <a:bodyPr/>
          <a:lstStyle/>
          <a:p>
            <a:endParaRPr lang="es-CL"/>
          </a:p>
        </p:txBody>
      </p:sp>
      <p:sp>
        <p:nvSpPr>
          <p:cNvPr id="7" name="Text 5"/>
          <p:cNvSpPr/>
          <p:nvPr/>
        </p:nvSpPr>
        <p:spPr>
          <a:xfrm>
            <a:off x="777240" y="3246120"/>
            <a:ext cx="3063240" cy="347472"/>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Diferencias ilegibles</a:t>
            </a:r>
            <a:endParaRPr lang="en-US" sz="1400" dirty="0"/>
          </a:p>
        </p:txBody>
      </p:sp>
      <p:sp>
        <p:nvSpPr>
          <p:cNvPr id="8" name="Text 6"/>
          <p:cNvSpPr/>
          <p:nvPr/>
        </p:nvSpPr>
        <p:spPr>
          <a:xfrm>
            <a:off x="777240" y="3611880"/>
            <a:ext cx="3063240" cy="914400"/>
          </a:xfrm>
          <a:prstGeom prst="rect">
            <a:avLst/>
          </a:prstGeom>
          <a:noFill/>
          <a:ln/>
        </p:spPr>
        <p:txBody>
          <a:bodyPr wrap="square" lIns="0" tIns="0" rIns="0" bIns="0" rtlCol="0" anchor="ctr"/>
          <a:lstStyle/>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Cambiar una línea genera cientos de líneas de diferencia, porque también cambian las imágenes codificadas.</a:t>
            </a:r>
            <a:endParaRPr lang="en-US" sz="1250" dirty="0"/>
          </a:p>
        </p:txBody>
      </p:sp>
      <p:sp>
        <p:nvSpPr>
          <p:cNvPr id="9" name="Shape 7"/>
          <p:cNvSpPr/>
          <p:nvPr/>
        </p:nvSpPr>
        <p:spPr>
          <a:xfrm>
            <a:off x="4325112" y="3063240"/>
            <a:ext cx="3520440" cy="1600200"/>
          </a:xfrm>
          <a:prstGeom prst="roundRect">
            <a:avLst>
              <a:gd name="adj" fmla="val 5143"/>
            </a:avLst>
          </a:prstGeom>
          <a:solidFill>
            <a:srgbClr val="F4F7FA"/>
          </a:solidFill>
          <a:ln w="12700">
            <a:solidFill>
              <a:srgbClr val="F4F7FA"/>
            </a:solidFill>
            <a:prstDash val="solid"/>
          </a:ln>
        </p:spPr>
        <p:txBody>
          <a:bodyPr/>
          <a:lstStyle/>
          <a:p>
            <a:endParaRPr lang="es-CL"/>
          </a:p>
        </p:txBody>
      </p:sp>
      <p:sp>
        <p:nvSpPr>
          <p:cNvPr id="10" name="Text 8"/>
          <p:cNvSpPr/>
          <p:nvPr/>
        </p:nvSpPr>
        <p:spPr>
          <a:xfrm>
            <a:off x="4553712" y="3246120"/>
            <a:ext cx="3063240" cy="347472"/>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Conflictos constantes</a:t>
            </a:r>
            <a:endParaRPr lang="en-US" sz="1400" dirty="0"/>
          </a:p>
        </p:txBody>
      </p:sp>
      <p:sp>
        <p:nvSpPr>
          <p:cNvPr id="11" name="Text 9"/>
          <p:cNvSpPr/>
          <p:nvPr/>
        </p:nvSpPr>
        <p:spPr>
          <a:xfrm>
            <a:off x="4553712" y="3611880"/>
            <a:ext cx="3063240" cy="914400"/>
          </a:xfrm>
          <a:prstGeom prst="rect">
            <a:avLst/>
          </a:prstGeom>
          <a:noFill/>
          <a:ln/>
        </p:spPr>
        <p:txBody>
          <a:bodyPr wrap="square" lIns="0" tIns="0" rIns="0" bIns="0" rtlCol="0" anchor="ctr"/>
          <a:lstStyle/>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Dos personas que solo ejecutaron el notebook, sin editarlo, ya tienen versiones distintas.</a:t>
            </a:r>
            <a:endParaRPr lang="en-US" sz="1250" dirty="0"/>
          </a:p>
        </p:txBody>
      </p:sp>
      <p:sp>
        <p:nvSpPr>
          <p:cNvPr id="12" name="Shape 10"/>
          <p:cNvSpPr/>
          <p:nvPr/>
        </p:nvSpPr>
        <p:spPr>
          <a:xfrm>
            <a:off x="8101584" y="3063240"/>
            <a:ext cx="3520440" cy="1600200"/>
          </a:xfrm>
          <a:prstGeom prst="roundRect">
            <a:avLst>
              <a:gd name="adj" fmla="val 5143"/>
            </a:avLst>
          </a:prstGeom>
          <a:solidFill>
            <a:srgbClr val="F4F7FA"/>
          </a:solidFill>
          <a:ln w="12700">
            <a:solidFill>
              <a:srgbClr val="F4F7FA"/>
            </a:solidFill>
            <a:prstDash val="solid"/>
          </a:ln>
        </p:spPr>
        <p:txBody>
          <a:bodyPr/>
          <a:lstStyle/>
          <a:p>
            <a:endParaRPr lang="es-CL"/>
          </a:p>
        </p:txBody>
      </p:sp>
      <p:sp>
        <p:nvSpPr>
          <p:cNvPr id="13" name="Text 11"/>
          <p:cNvSpPr/>
          <p:nvPr/>
        </p:nvSpPr>
        <p:spPr>
          <a:xfrm>
            <a:off x="8330184" y="3246120"/>
            <a:ext cx="3063240" cy="347472"/>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Datos expuestos</a:t>
            </a:r>
            <a:endParaRPr lang="en-US" sz="1400" dirty="0"/>
          </a:p>
        </p:txBody>
      </p:sp>
      <p:sp>
        <p:nvSpPr>
          <p:cNvPr id="14" name="Text 12"/>
          <p:cNvSpPr/>
          <p:nvPr/>
        </p:nvSpPr>
        <p:spPr>
          <a:xfrm>
            <a:off x="8330184" y="3611880"/>
            <a:ext cx="3063240" cy="914400"/>
          </a:xfrm>
          <a:prstGeom prst="rect">
            <a:avLst/>
          </a:prstGeom>
          <a:noFill/>
          <a:ln/>
        </p:spPr>
        <p:txBody>
          <a:bodyPr wrap="square" lIns="0" tIns="0" rIns="0" bIns="0" rtlCol="0" anchor="ctr"/>
          <a:lstStyle/>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Una tabla o un gráfico impreso puede dejar información sensible en un repositorio público.</a:t>
            </a:r>
            <a:endParaRPr lang="en-US" sz="1250" dirty="0"/>
          </a:p>
        </p:txBody>
      </p:sp>
      <p:sp>
        <p:nvSpPr>
          <p:cNvPr id="15" name="Shape 13"/>
          <p:cNvSpPr/>
          <p:nvPr/>
        </p:nvSpPr>
        <p:spPr>
          <a:xfrm>
            <a:off x="548640" y="4892040"/>
            <a:ext cx="11064240" cy="1051560"/>
          </a:xfrm>
          <a:prstGeom prst="roundRect">
            <a:avLst>
              <a:gd name="adj" fmla="val 7826"/>
            </a:avLst>
          </a:prstGeom>
          <a:solidFill>
            <a:srgbClr val="0A1526"/>
          </a:solidFill>
          <a:ln w="12700">
            <a:solidFill>
              <a:srgbClr val="0A1526"/>
            </a:solidFill>
            <a:prstDash val="solid"/>
          </a:ln>
        </p:spPr>
        <p:txBody>
          <a:bodyPr/>
          <a:lstStyle/>
          <a:p>
            <a:endParaRPr lang="es-CL"/>
          </a:p>
        </p:txBody>
      </p:sp>
      <p:sp>
        <p:nvSpPr>
          <p:cNvPr id="16" name="Text 14"/>
          <p:cNvSpPr/>
          <p:nvPr/>
        </p:nvSpPr>
        <p:spPr>
          <a:xfrm>
            <a:off x="868680" y="5029200"/>
            <a:ext cx="201168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Cómo se resuelve</a:t>
            </a:r>
            <a:endParaRPr lang="en-US" sz="1400" dirty="0"/>
          </a:p>
        </p:txBody>
      </p:sp>
      <p:sp>
        <p:nvSpPr>
          <p:cNvPr id="17" name="Text 15"/>
          <p:cNvSpPr/>
          <p:nvPr/>
        </p:nvSpPr>
        <p:spPr>
          <a:xfrm>
            <a:off x="2926080" y="5029200"/>
            <a:ext cx="8412480" cy="731520"/>
          </a:xfrm>
          <a:prstGeom prst="rect">
            <a:avLst/>
          </a:prstGeom>
          <a:noFill/>
          <a:ln/>
        </p:spPr>
        <p:txBody>
          <a:bodyPr wrap="square" lIns="0" tIns="0" rIns="0" bIns="0" rtlCol="0" anchor="ctr"/>
          <a:lstStyle/>
          <a:p>
            <a:pPr marL="0" indent="0">
              <a:lnSpc>
                <a:spcPts val="1800"/>
              </a:lnSpc>
              <a:buNone/>
            </a:pPr>
            <a:r>
              <a:rPr lang="en-US" sz="1350" dirty="0">
                <a:solidFill>
                  <a:srgbClr val="FFFFFF"/>
                </a:solidFill>
                <a:latin typeface="Calibri" pitchFamily="34" charset="0"/>
                <a:ea typeface="Calibri" pitchFamily="34" charset="-122"/>
                <a:cs typeface="Calibri" pitchFamily="34" charset="-120"/>
              </a:rPr>
              <a:t>nbstripout limpia las salidas antes de cada commit: el notebook en pantalla no cambia, solo se limpia lo que va al historial. Para la entrega, se exporta aparte el notebook ejecutado.</a:t>
            </a:r>
            <a:endParaRPr lang="en-US" sz="13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Git: por dónde pasa un archivo antes de quedar guardado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Tres estados. Entenderlos evita la mayoría de las confusiones posteriores.</a:t>
            </a:r>
            <a:endParaRPr lang="en-US" sz="1400" dirty="0"/>
          </a:p>
        </p:txBody>
      </p:sp>
      <p:sp>
        <p:nvSpPr>
          <p:cNvPr id="4" name="Shape 2"/>
          <p:cNvSpPr/>
          <p:nvPr/>
        </p:nvSpPr>
        <p:spPr>
          <a:xfrm>
            <a:off x="548640" y="1920240"/>
            <a:ext cx="3291840" cy="1737360"/>
          </a:xfrm>
          <a:prstGeom prst="roundRect">
            <a:avLst>
              <a:gd name="adj" fmla="val 4737"/>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777240" y="2103120"/>
            <a:ext cx="402336" cy="402336"/>
          </a:xfrm>
          <a:prstGeom prst="ellipse">
            <a:avLst/>
          </a:prstGeom>
          <a:solidFill>
            <a:srgbClr val="AC212E"/>
          </a:solidFill>
          <a:ln/>
        </p:spPr>
        <p:txBody>
          <a:bodyPr/>
          <a:lstStyle/>
          <a:p>
            <a:endParaRPr lang="es-CL"/>
          </a:p>
        </p:txBody>
      </p:sp>
      <p:sp>
        <p:nvSpPr>
          <p:cNvPr id="6" name="Text 4"/>
          <p:cNvSpPr/>
          <p:nvPr/>
        </p:nvSpPr>
        <p:spPr>
          <a:xfrm>
            <a:off x="777240" y="210312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298448" y="2084832"/>
            <a:ext cx="2331720" cy="41148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Working Directory</a:t>
            </a:r>
            <a:endParaRPr lang="en-US" sz="1500" dirty="0"/>
          </a:p>
        </p:txBody>
      </p:sp>
      <p:sp>
        <p:nvSpPr>
          <p:cNvPr id="8" name="Text 6"/>
          <p:cNvSpPr/>
          <p:nvPr/>
        </p:nvSpPr>
        <p:spPr>
          <a:xfrm>
            <a:off x="777240" y="2651760"/>
            <a:ext cx="2834640" cy="86868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Usted edita y guarda archivos. Git ve el cambio pero no lo ha registrado.</a:t>
            </a:r>
            <a:endParaRPr lang="en-US" sz="1250" dirty="0"/>
          </a:p>
        </p:txBody>
      </p:sp>
      <p:sp>
        <p:nvSpPr>
          <p:cNvPr id="9" name="Shape 7"/>
          <p:cNvSpPr/>
          <p:nvPr/>
        </p:nvSpPr>
        <p:spPr>
          <a:xfrm>
            <a:off x="4617720" y="1920240"/>
            <a:ext cx="3291840" cy="1737360"/>
          </a:xfrm>
          <a:prstGeom prst="roundRect">
            <a:avLst>
              <a:gd name="adj" fmla="val 4737"/>
            </a:avLst>
          </a:prstGeom>
          <a:solidFill>
            <a:srgbClr val="F4F7FA"/>
          </a:solidFill>
          <a:ln w="12700">
            <a:solidFill>
              <a:srgbClr val="F4F7FA"/>
            </a:solidFill>
            <a:prstDash val="solid"/>
          </a:ln>
        </p:spPr>
        <p:txBody>
          <a:bodyPr/>
          <a:lstStyle/>
          <a:p>
            <a:endParaRPr lang="es-CL"/>
          </a:p>
        </p:txBody>
      </p:sp>
      <p:sp>
        <p:nvSpPr>
          <p:cNvPr id="10" name="Shape 8"/>
          <p:cNvSpPr/>
          <p:nvPr/>
        </p:nvSpPr>
        <p:spPr>
          <a:xfrm>
            <a:off x="4846320" y="2103120"/>
            <a:ext cx="402336" cy="402336"/>
          </a:xfrm>
          <a:prstGeom prst="ellipse">
            <a:avLst/>
          </a:prstGeom>
          <a:solidFill>
            <a:srgbClr val="AC212E"/>
          </a:solidFill>
          <a:ln/>
        </p:spPr>
        <p:txBody>
          <a:bodyPr/>
          <a:lstStyle/>
          <a:p>
            <a:endParaRPr lang="es-CL"/>
          </a:p>
        </p:txBody>
      </p:sp>
      <p:sp>
        <p:nvSpPr>
          <p:cNvPr id="11" name="Text 9"/>
          <p:cNvSpPr/>
          <p:nvPr/>
        </p:nvSpPr>
        <p:spPr>
          <a:xfrm>
            <a:off x="4846320" y="210312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5367528" y="2084832"/>
            <a:ext cx="2331720" cy="41148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Staging Area</a:t>
            </a:r>
            <a:endParaRPr lang="en-US" sz="1500" dirty="0"/>
          </a:p>
        </p:txBody>
      </p:sp>
      <p:sp>
        <p:nvSpPr>
          <p:cNvPr id="13" name="Text 11"/>
          <p:cNvSpPr/>
          <p:nvPr/>
        </p:nvSpPr>
        <p:spPr>
          <a:xfrm>
            <a:off x="4846320" y="2651760"/>
            <a:ext cx="2834640" cy="86868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Zona intermedia: aquí elige qué cambios entran en el próximo registro.</a:t>
            </a:r>
            <a:endParaRPr lang="en-US" sz="1250" dirty="0"/>
          </a:p>
        </p:txBody>
      </p:sp>
      <p:sp>
        <p:nvSpPr>
          <p:cNvPr id="14" name="Shape 12"/>
          <p:cNvSpPr/>
          <p:nvPr/>
        </p:nvSpPr>
        <p:spPr>
          <a:xfrm>
            <a:off x="8686800" y="1920240"/>
            <a:ext cx="3291840" cy="1737360"/>
          </a:xfrm>
          <a:prstGeom prst="roundRect">
            <a:avLst>
              <a:gd name="adj" fmla="val 4737"/>
            </a:avLst>
          </a:prstGeom>
          <a:solidFill>
            <a:srgbClr val="0A1526"/>
          </a:solidFill>
          <a:ln w="12700">
            <a:solidFill>
              <a:srgbClr val="0A1526"/>
            </a:solidFill>
            <a:prstDash val="solid"/>
          </a:ln>
        </p:spPr>
        <p:txBody>
          <a:bodyPr/>
          <a:lstStyle/>
          <a:p>
            <a:endParaRPr lang="es-CL"/>
          </a:p>
        </p:txBody>
      </p:sp>
      <p:sp>
        <p:nvSpPr>
          <p:cNvPr id="15" name="Shape 13"/>
          <p:cNvSpPr/>
          <p:nvPr/>
        </p:nvSpPr>
        <p:spPr>
          <a:xfrm>
            <a:off x="8915400" y="2103120"/>
            <a:ext cx="402336" cy="402336"/>
          </a:xfrm>
          <a:prstGeom prst="ellipse">
            <a:avLst/>
          </a:prstGeom>
          <a:solidFill>
            <a:srgbClr val="AC212E"/>
          </a:solidFill>
          <a:ln/>
        </p:spPr>
        <p:txBody>
          <a:bodyPr/>
          <a:lstStyle/>
          <a:p>
            <a:endParaRPr lang="es-CL"/>
          </a:p>
        </p:txBody>
      </p:sp>
      <p:sp>
        <p:nvSpPr>
          <p:cNvPr id="16" name="Text 14"/>
          <p:cNvSpPr/>
          <p:nvPr/>
        </p:nvSpPr>
        <p:spPr>
          <a:xfrm>
            <a:off x="8915400" y="210312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9436608" y="2084832"/>
            <a:ext cx="2331720" cy="4114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Committed</a:t>
            </a:r>
            <a:endParaRPr lang="en-US" sz="1500" dirty="0"/>
          </a:p>
        </p:txBody>
      </p:sp>
      <p:sp>
        <p:nvSpPr>
          <p:cNvPr id="18" name="Text 16"/>
          <p:cNvSpPr/>
          <p:nvPr/>
        </p:nvSpPr>
        <p:spPr>
          <a:xfrm>
            <a:off x="8915400" y="2651760"/>
            <a:ext cx="2834640" cy="86868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Git guardó esa versión en el historial, con autor, fecha y mensaje.</a:t>
            </a:r>
            <a:endParaRPr lang="en-US" sz="1250" dirty="0"/>
          </a:p>
        </p:txBody>
      </p:sp>
      <p:sp>
        <p:nvSpPr>
          <p:cNvPr id="19" name="Text 17"/>
          <p:cNvSpPr/>
          <p:nvPr/>
        </p:nvSpPr>
        <p:spPr>
          <a:xfrm>
            <a:off x="3840480" y="2331720"/>
            <a:ext cx="777240" cy="365760"/>
          </a:xfrm>
          <a:prstGeom prst="rect">
            <a:avLst/>
          </a:prstGeom>
          <a:noFill/>
          <a:ln/>
        </p:spPr>
        <p:txBody>
          <a:bodyPr wrap="square" lIns="0" tIns="0" rIns="0" bIns="0" rtlCol="0" anchor="ctr"/>
          <a:lstStyle/>
          <a:p>
            <a:pPr marL="0" indent="0" algn="ctr">
              <a:buNone/>
            </a:pPr>
            <a:r>
              <a:rPr lang="en-US" sz="2000" dirty="0">
                <a:solidFill>
                  <a:srgbClr val="AC212E"/>
                </a:solidFill>
                <a:latin typeface="Calibri" pitchFamily="34" charset="0"/>
                <a:ea typeface="Calibri" pitchFamily="34" charset="-122"/>
                <a:cs typeface="Calibri" pitchFamily="34" charset="-120"/>
              </a:rPr>
              <a:t>→</a:t>
            </a:r>
            <a:endParaRPr lang="en-US" sz="2000" dirty="0"/>
          </a:p>
        </p:txBody>
      </p:sp>
      <p:sp>
        <p:nvSpPr>
          <p:cNvPr id="20" name="Text 18"/>
          <p:cNvSpPr/>
          <p:nvPr/>
        </p:nvSpPr>
        <p:spPr>
          <a:xfrm>
            <a:off x="3840480" y="2697480"/>
            <a:ext cx="777240" cy="274320"/>
          </a:xfrm>
          <a:prstGeom prst="rect">
            <a:avLst/>
          </a:prstGeom>
          <a:noFill/>
          <a:ln/>
        </p:spPr>
        <p:txBody>
          <a:bodyPr wrap="square" lIns="0" tIns="0" rIns="0" bIns="0" rtlCol="0" anchor="ctr"/>
          <a:lstStyle/>
          <a:p>
            <a:pPr marL="0" indent="0" algn="ctr">
              <a:buNone/>
            </a:pPr>
            <a:r>
              <a:rPr lang="en-US" sz="850" dirty="0">
                <a:solidFill>
                  <a:srgbClr val="AC212E"/>
                </a:solidFill>
                <a:latin typeface="Courier New" pitchFamily="34" charset="0"/>
                <a:ea typeface="Courier New" pitchFamily="34" charset="-122"/>
                <a:cs typeface="Courier New" pitchFamily="34" charset="-120"/>
              </a:rPr>
              <a:t>git add</a:t>
            </a:r>
            <a:endParaRPr lang="en-US" sz="850" dirty="0"/>
          </a:p>
        </p:txBody>
      </p:sp>
      <p:sp>
        <p:nvSpPr>
          <p:cNvPr id="21" name="Text 19"/>
          <p:cNvSpPr/>
          <p:nvPr/>
        </p:nvSpPr>
        <p:spPr>
          <a:xfrm>
            <a:off x="7909560" y="2331720"/>
            <a:ext cx="777240" cy="365760"/>
          </a:xfrm>
          <a:prstGeom prst="rect">
            <a:avLst/>
          </a:prstGeom>
          <a:noFill/>
          <a:ln/>
        </p:spPr>
        <p:txBody>
          <a:bodyPr wrap="square" lIns="0" tIns="0" rIns="0" bIns="0" rtlCol="0" anchor="ctr"/>
          <a:lstStyle/>
          <a:p>
            <a:pPr marL="0" indent="0" algn="ctr">
              <a:buNone/>
            </a:pPr>
            <a:r>
              <a:rPr lang="en-US" sz="2000" dirty="0">
                <a:solidFill>
                  <a:srgbClr val="AC212E"/>
                </a:solidFill>
                <a:latin typeface="Calibri" pitchFamily="34" charset="0"/>
                <a:ea typeface="Calibri" pitchFamily="34" charset="-122"/>
                <a:cs typeface="Calibri" pitchFamily="34" charset="-120"/>
              </a:rPr>
              <a:t>→</a:t>
            </a:r>
            <a:endParaRPr lang="en-US" sz="2000" dirty="0"/>
          </a:p>
        </p:txBody>
      </p:sp>
      <p:sp>
        <p:nvSpPr>
          <p:cNvPr id="22" name="Text 20"/>
          <p:cNvSpPr/>
          <p:nvPr/>
        </p:nvSpPr>
        <p:spPr>
          <a:xfrm>
            <a:off x="7909560" y="2697480"/>
            <a:ext cx="777240" cy="274320"/>
          </a:xfrm>
          <a:prstGeom prst="rect">
            <a:avLst/>
          </a:prstGeom>
          <a:noFill/>
          <a:ln/>
        </p:spPr>
        <p:txBody>
          <a:bodyPr wrap="square" lIns="0" tIns="0" rIns="0" bIns="0" rtlCol="0" anchor="ctr"/>
          <a:lstStyle/>
          <a:p>
            <a:pPr marL="0" indent="0" algn="ctr">
              <a:buNone/>
            </a:pPr>
            <a:r>
              <a:rPr lang="en-US" sz="850" dirty="0">
                <a:solidFill>
                  <a:srgbClr val="AC212E"/>
                </a:solidFill>
                <a:latin typeface="Courier New" pitchFamily="34" charset="0"/>
                <a:ea typeface="Courier New" pitchFamily="34" charset="-122"/>
                <a:cs typeface="Courier New" pitchFamily="34" charset="-120"/>
              </a:rPr>
              <a:t>git commit</a:t>
            </a:r>
            <a:endParaRPr lang="en-US" sz="850" dirty="0"/>
          </a:p>
        </p:txBody>
      </p:sp>
      <p:sp>
        <p:nvSpPr>
          <p:cNvPr id="23" name="Text 21"/>
          <p:cNvSpPr/>
          <p:nvPr/>
        </p:nvSpPr>
        <p:spPr>
          <a:xfrm>
            <a:off x="548640" y="3977640"/>
            <a:ext cx="5486400" cy="365760"/>
          </a:xfrm>
          <a:prstGeom prst="rect">
            <a:avLst/>
          </a:prstGeom>
          <a:noFill/>
          <a:ln/>
        </p:spPr>
        <p:txBody>
          <a:bodyPr wrap="square" lIns="0" tIns="0" rIns="0" bIns="0" rtlCol="0" anchor="ctr"/>
          <a:lstStyle/>
          <a:p>
            <a:pPr marL="0" indent="0">
              <a:buNone/>
            </a:pPr>
            <a:r>
              <a:rPr lang="en-US" sz="1600" b="1" dirty="0">
                <a:solidFill>
                  <a:srgbClr val="06304A"/>
                </a:solidFill>
                <a:latin typeface="Calibri" pitchFamily="34" charset="0"/>
                <a:ea typeface="Calibri" pitchFamily="34" charset="-122"/>
                <a:cs typeface="Calibri" pitchFamily="34" charset="-120"/>
              </a:rPr>
              <a:t>El ciclo diario</a:t>
            </a:r>
            <a:endParaRPr lang="en-US" sz="1600" dirty="0"/>
          </a:p>
        </p:txBody>
      </p:sp>
      <p:sp>
        <p:nvSpPr>
          <p:cNvPr id="24" name="Shape 22"/>
          <p:cNvSpPr/>
          <p:nvPr/>
        </p:nvSpPr>
        <p:spPr>
          <a:xfrm>
            <a:off x="548640" y="4389120"/>
            <a:ext cx="5577840" cy="1554480"/>
          </a:xfrm>
          <a:prstGeom prst="roundRect">
            <a:avLst>
              <a:gd name="adj" fmla="val 5294"/>
            </a:avLst>
          </a:prstGeom>
          <a:solidFill>
            <a:srgbClr val="F4F7FA"/>
          </a:solidFill>
          <a:ln w="12700">
            <a:solidFill>
              <a:srgbClr val="F4F7FA"/>
            </a:solidFill>
            <a:prstDash val="solid"/>
          </a:ln>
        </p:spPr>
        <p:txBody>
          <a:bodyPr/>
          <a:lstStyle/>
          <a:p>
            <a:endParaRPr lang="es-CL"/>
          </a:p>
        </p:txBody>
      </p:sp>
      <p:sp>
        <p:nvSpPr>
          <p:cNvPr id="25" name="Text 23"/>
          <p:cNvSpPr/>
          <p:nvPr/>
        </p:nvSpPr>
        <p:spPr>
          <a:xfrm>
            <a:off x="868680" y="4572000"/>
            <a:ext cx="5029200" cy="1188720"/>
          </a:xfrm>
          <a:prstGeom prst="rect">
            <a:avLst/>
          </a:prstGeom>
          <a:noFill/>
          <a:ln/>
        </p:spPr>
        <p:txBody>
          <a:bodyPr wrap="square" lIns="0" tIns="0" rIns="0" bIns="0" rtlCol="0" anchor="ctr"/>
          <a:lstStyle/>
          <a:p>
            <a:pPr marL="0" indent="0">
              <a:lnSpc>
                <a:spcPts val="1600"/>
              </a:lnSpc>
              <a:buNone/>
            </a:pPr>
            <a:r>
              <a:rPr lang="en-US" sz="1100" dirty="0">
                <a:solidFill>
                  <a:srgbClr val="06304A"/>
                </a:solidFill>
                <a:latin typeface="Courier New" pitchFamily="34" charset="0"/>
                <a:ea typeface="Courier New" pitchFamily="34" charset="-122"/>
                <a:cs typeface="Courier New" pitchFamily="34" charset="-120"/>
              </a:rPr>
              <a:t>git status    ¿qué cambió?</a:t>
            </a:r>
            <a:endParaRPr lang="en-US" sz="1100" dirty="0"/>
          </a:p>
          <a:p>
            <a:pPr marL="0" indent="0">
              <a:lnSpc>
                <a:spcPts val="1600"/>
              </a:lnSpc>
              <a:buNone/>
            </a:pPr>
            <a:r>
              <a:rPr lang="en-US" sz="1100" dirty="0">
                <a:solidFill>
                  <a:srgbClr val="06304A"/>
                </a:solidFill>
                <a:latin typeface="Courier New" pitchFamily="34" charset="0"/>
                <a:ea typeface="Courier New" pitchFamily="34" charset="-122"/>
                <a:cs typeface="Courier New" pitchFamily="34" charset="-120"/>
              </a:rPr>
              <a:t>git add .     preparar los cambios</a:t>
            </a:r>
            <a:endParaRPr lang="en-US" sz="1100" dirty="0"/>
          </a:p>
          <a:p>
            <a:pPr marL="0" indent="0">
              <a:lnSpc>
                <a:spcPts val="1600"/>
              </a:lnSpc>
              <a:buNone/>
            </a:pPr>
            <a:r>
              <a:rPr lang="en-US" sz="1100" dirty="0">
                <a:solidFill>
                  <a:srgbClr val="06304A"/>
                </a:solidFill>
                <a:latin typeface="Courier New" pitchFamily="34" charset="0"/>
                <a:ea typeface="Courier New" pitchFamily="34" charset="-122"/>
                <a:cs typeface="Courier New" pitchFamily="34" charset="-120"/>
              </a:rPr>
              <a:t>git commit -m "Describe el avance"</a:t>
            </a:r>
            <a:endParaRPr lang="en-US" sz="1100" dirty="0"/>
          </a:p>
          <a:p>
            <a:pPr marL="0" indent="0">
              <a:lnSpc>
                <a:spcPts val="1600"/>
              </a:lnSpc>
              <a:buNone/>
            </a:pPr>
            <a:r>
              <a:rPr lang="en-US" sz="1100" dirty="0">
                <a:solidFill>
                  <a:srgbClr val="06304A"/>
                </a:solidFill>
                <a:latin typeface="Courier New" pitchFamily="34" charset="0"/>
                <a:ea typeface="Courier New" pitchFamily="34" charset="-122"/>
                <a:cs typeface="Courier New" pitchFamily="34" charset="-120"/>
              </a:rPr>
              <a:t>git log --oneline    ver el historial</a:t>
            </a:r>
            <a:endParaRPr lang="en-US" sz="1100" dirty="0"/>
          </a:p>
        </p:txBody>
      </p:sp>
      <p:sp>
        <p:nvSpPr>
          <p:cNvPr id="26" name="Shape 24"/>
          <p:cNvSpPr/>
          <p:nvPr/>
        </p:nvSpPr>
        <p:spPr>
          <a:xfrm>
            <a:off x="6400800" y="3977640"/>
            <a:ext cx="5212080" cy="1965960"/>
          </a:xfrm>
          <a:prstGeom prst="roundRect">
            <a:avLst>
              <a:gd name="adj" fmla="val 4186"/>
            </a:avLst>
          </a:prstGeom>
          <a:solidFill>
            <a:srgbClr val="F6E7E9"/>
          </a:solidFill>
          <a:ln w="12700">
            <a:solidFill>
              <a:srgbClr val="F6E7E9"/>
            </a:solidFill>
            <a:prstDash val="solid"/>
          </a:ln>
        </p:spPr>
        <p:txBody>
          <a:bodyPr/>
          <a:lstStyle/>
          <a:p>
            <a:endParaRPr lang="es-CL"/>
          </a:p>
        </p:txBody>
      </p:sp>
      <p:sp>
        <p:nvSpPr>
          <p:cNvPr id="27" name="Text 25"/>
          <p:cNvSpPr/>
          <p:nvPr/>
        </p:nvSpPr>
        <p:spPr>
          <a:xfrm>
            <a:off x="6720840" y="4160520"/>
            <a:ext cx="457200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El mensaje del commit importa</a:t>
            </a:r>
            <a:endParaRPr lang="en-US" sz="1400" dirty="0"/>
          </a:p>
        </p:txBody>
      </p:sp>
      <p:sp>
        <p:nvSpPr>
          <p:cNvPr id="28" name="Text 26"/>
          <p:cNvSpPr/>
          <p:nvPr/>
        </p:nvSpPr>
        <p:spPr>
          <a:xfrm>
            <a:off x="6720840" y="4526280"/>
            <a:ext cx="4572000" cy="1280160"/>
          </a:xfrm>
          <a:prstGeom prst="rect">
            <a:avLst/>
          </a:prstGeom>
          <a:noFill/>
          <a:ln/>
        </p:spPr>
        <p:txBody>
          <a:bodyPr wrap="square" lIns="0" tIns="0" rIns="0" bIns="0" rtlCol="0" anchor="ctr"/>
          <a:lstStyle/>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«primer commit» no dice nada.</a:t>
            </a:r>
            <a:endParaRPr lang="en-US" sz="1250" dirty="0"/>
          </a:p>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«docs: crea estructura inicial del proyecto» sí.</a:t>
            </a:r>
            <a:endParaRPr lang="en-US" sz="1250" dirty="0"/>
          </a:p>
          <a:p>
            <a:pPr marL="0" indent="0">
              <a:lnSpc>
                <a:spcPts val="1700"/>
              </a:lnSpc>
              <a:buNone/>
            </a:pPr>
            <a:endParaRPr lang="en-US" sz="1250" dirty="0"/>
          </a:p>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La prueba: si alguien lee solo su historial, ¿entiende cómo evolucionó el trabajo?</a:t>
            </a:r>
            <a:endParaRPr lang="en-US" sz="12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GitHub: donde el trabajo se vuelve colectivo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Git registra su historia local. GitHub la pone en común con el equipo.</a:t>
            </a:r>
            <a:endParaRPr lang="en-US" sz="1400" dirty="0"/>
          </a:p>
        </p:txBody>
      </p:sp>
      <p:sp>
        <p:nvSpPr>
          <p:cNvPr id="4" name="Shape 2"/>
          <p:cNvSpPr/>
          <p:nvPr/>
        </p:nvSpPr>
        <p:spPr>
          <a:xfrm>
            <a:off x="548640" y="1783080"/>
            <a:ext cx="5303520" cy="1280160"/>
          </a:xfrm>
          <a:prstGeom prst="roundRect">
            <a:avLst>
              <a:gd name="adj" fmla="val 6429"/>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804672" y="2194560"/>
            <a:ext cx="402336" cy="402336"/>
          </a:xfrm>
          <a:prstGeom prst="ellipse">
            <a:avLst/>
          </a:prstGeom>
          <a:solidFill>
            <a:srgbClr val="AC212E"/>
          </a:solidFill>
          <a:ln/>
        </p:spPr>
        <p:txBody>
          <a:bodyPr/>
          <a:lstStyle/>
          <a:p>
            <a:endParaRPr lang="es-CL"/>
          </a:p>
        </p:txBody>
      </p:sp>
      <p:sp>
        <p:nvSpPr>
          <p:cNvPr id="6" name="Text 4"/>
          <p:cNvSpPr/>
          <p:nvPr/>
        </p:nvSpPr>
        <p:spPr>
          <a:xfrm>
            <a:off x="804672" y="219456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353312" y="1920240"/>
            <a:ext cx="4297680" cy="32004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Repositorio remoto</a:t>
            </a:r>
            <a:endParaRPr lang="en-US" sz="1500" dirty="0"/>
          </a:p>
        </p:txBody>
      </p:sp>
      <p:sp>
        <p:nvSpPr>
          <p:cNvPr id="8" name="Text 6"/>
          <p:cNvSpPr/>
          <p:nvPr/>
        </p:nvSpPr>
        <p:spPr>
          <a:xfrm>
            <a:off x="1353312" y="2258568"/>
            <a:ext cx="4343400" cy="73152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Una copia del proyecto en la nube, con todo el historial. Es el respaldo y el punto de referencia común.</a:t>
            </a:r>
            <a:endParaRPr lang="en-US" sz="1250" dirty="0"/>
          </a:p>
        </p:txBody>
      </p:sp>
      <p:sp>
        <p:nvSpPr>
          <p:cNvPr id="9" name="Shape 7"/>
          <p:cNvSpPr/>
          <p:nvPr/>
        </p:nvSpPr>
        <p:spPr>
          <a:xfrm>
            <a:off x="6309360" y="1783080"/>
            <a:ext cx="5303520" cy="1280160"/>
          </a:xfrm>
          <a:prstGeom prst="roundRect">
            <a:avLst>
              <a:gd name="adj" fmla="val 6429"/>
            </a:avLst>
          </a:prstGeom>
          <a:solidFill>
            <a:srgbClr val="F4F7FA"/>
          </a:solidFill>
          <a:ln w="12700">
            <a:solidFill>
              <a:srgbClr val="F4F7FA"/>
            </a:solidFill>
            <a:prstDash val="solid"/>
          </a:ln>
        </p:spPr>
        <p:txBody>
          <a:bodyPr/>
          <a:lstStyle/>
          <a:p>
            <a:endParaRPr lang="es-CL"/>
          </a:p>
        </p:txBody>
      </p:sp>
      <p:sp>
        <p:nvSpPr>
          <p:cNvPr id="10" name="Shape 8"/>
          <p:cNvSpPr/>
          <p:nvPr/>
        </p:nvSpPr>
        <p:spPr>
          <a:xfrm>
            <a:off x="6565392" y="2194560"/>
            <a:ext cx="402336" cy="402336"/>
          </a:xfrm>
          <a:prstGeom prst="ellipse">
            <a:avLst/>
          </a:prstGeom>
          <a:solidFill>
            <a:srgbClr val="AC212E"/>
          </a:solidFill>
          <a:ln/>
        </p:spPr>
        <p:txBody>
          <a:bodyPr/>
          <a:lstStyle/>
          <a:p>
            <a:endParaRPr lang="es-CL"/>
          </a:p>
        </p:txBody>
      </p:sp>
      <p:sp>
        <p:nvSpPr>
          <p:cNvPr id="11" name="Text 9"/>
          <p:cNvSpPr/>
          <p:nvPr/>
        </p:nvSpPr>
        <p:spPr>
          <a:xfrm>
            <a:off x="6565392" y="219456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7114032" y="1920240"/>
            <a:ext cx="4297680" cy="32004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Colaboradores</a:t>
            </a:r>
            <a:endParaRPr lang="en-US" sz="1500" dirty="0"/>
          </a:p>
        </p:txBody>
      </p:sp>
      <p:sp>
        <p:nvSpPr>
          <p:cNvPr id="13" name="Text 11"/>
          <p:cNvSpPr/>
          <p:nvPr/>
        </p:nvSpPr>
        <p:spPr>
          <a:xfrm>
            <a:off x="7114032" y="2258568"/>
            <a:ext cx="4343400" cy="73152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Cada integrante recibe acceso de escritura y trabaja sobre el mismo repositorio, con sus propios commits.</a:t>
            </a:r>
            <a:endParaRPr lang="en-US" sz="1250" dirty="0"/>
          </a:p>
        </p:txBody>
      </p:sp>
      <p:sp>
        <p:nvSpPr>
          <p:cNvPr id="14" name="Shape 12"/>
          <p:cNvSpPr/>
          <p:nvPr/>
        </p:nvSpPr>
        <p:spPr>
          <a:xfrm>
            <a:off x="548640" y="3246120"/>
            <a:ext cx="5303520" cy="1280160"/>
          </a:xfrm>
          <a:prstGeom prst="roundRect">
            <a:avLst>
              <a:gd name="adj" fmla="val 6429"/>
            </a:avLst>
          </a:prstGeom>
          <a:solidFill>
            <a:srgbClr val="F4F7FA"/>
          </a:solidFill>
          <a:ln w="12700">
            <a:solidFill>
              <a:srgbClr val="F4F7FA"/>
            </a:solidFill>
            <a:prstDash val="solid"/>
          </a:ln>
        </p:spPr>
        <p:txBody>
          <a:bodyPr/>
          <a:lstStyle/>
          <a:p>
            <a:endParaRPr lang="es-CL"/>
          </a:p>
        </p:txBody>
      </p:sp>
      <p:sp>
        <p:nvSpPr>
          <p:cNvPr id="15" name="Shape 13"/>
          <p:cNvSpPr/>
          <p:nvPr/>
        </p:nvSpPr>
        <p:spPr>
          <a:xfrm>
            <a:off x="804672" y="3657600"/>
            <a:ext cx="402336" cy="402336"/>
          </a:xfrm>
          <a:prstGeom prst="ellipse">
            <a:avLst/>
          </a:prstGeom>
          <a:solidFill>
            <a:srgbClr val="AC212E"/>
          </a:solidFill>
          <a:ln/>
        </p:spPr>
        <p:txBody>
          <a:bodyPr/>
          <a:lstStyle/>
          <a:p>
            <a:endParaRPr lang="es-CL"/>
          </a:p>
        </p:txBody>
      </p:sp>
      <p:sp>
        <p:nvSpPr>
          <p:cNvPr id="16" name="Text 14"/>
          <p:cNvSpPr/>
          <p:nvPr/>
        </p:nvSpPr>
        <p:spPr>
          <a:xfrm>
            <a:off x="804672" y="365760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353312" y="3383280"/>
            <a:ext cx="4297680" cy="32004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Ramas</a:t>
            </a:r>
            <a:endParaRPr lang="en-US" sz="1500" dirty="0"/>
          </a:p>
        </p:txBody>
      </p:sp>
      <p:sp>
        <p:nvSpPr>
          <p:cNvPr id="18" name="Text 16"/>
          <p:cNvSpPr/>
          <p:nvPr/>
        </p:nvSpPr>
        <p:spPr>
          <a:xfrm>
            <a:off x="1353312" y="3721608"/>
            <a:ext cx="4343400" cy="73152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Líneas de trabajo paralelas: se experimenta sin tocar la versión estable del proyecto.</a:t>
            </a:r>
            <a:endParaRPr lang="en-US" sz="1250" dirty="0"/>
          </a:p>
        </p:txBody>
      </p:sp>
      <p:sp>
        <p:nvSpPr>
          <p:cNvPr id="19" name="Shape 17"/>
          <p:cNvSpPr/>
          <p:nvPr/>
        </p:nvSpPr>
        <p:spPr>
          <a:xfrm>
            <a:off x="6309360" y="3246120"/>
            <a:ext cx="5303520" cy="1280160"/>
          </a:xfrm>
          <a:prstGeom prst="roundRect">
            <a:avLst>
              <a:gd name="adj" fmla="val 6429"/>
            </a:avLst>
          </a:prstGeom>
          <a:solidFill>
            <a:srgbClr val="F4F7FA"/>
          </a:solidFill>
          <a:ln w="12700">
            <a:solidFill>
              <a:srgbClr val="F4F7FA"/>
            </a:solidFill>
            <a:prstDash val="solid"/>
          </a:ln>
        </p:spPr>
        <p:txBody>
          <a:bodyPr/>
          <a:lstStyle/>
          <a:p>
            <a:endParaRPr lang="es-CL"/>
          </a:p>
        </p:txBody>
      </p:sp>
      <p:sp>
        <p:nvSpPr>
          <p:cNvPr id="20" name="Shape 18"/>
          <p:cNvSpPr/>
          <p:nvPr/>
        </p:nvSpPr>
        <p:spPr>
          <a:xfrm>
            <a:off x="6565392" y="3657600"/>
            <a:ext cx="402336" cy="402336"/>
          </a:xfrm>
          <a:prstGeom prst="ellipse">
            <a:avLst/>
          </a:prstGeom>
          <a:solidFill>
            <a:srgbClr val="AC212E"/>
          </a:solidFill>
          <a:ln/>
        </p:spPr>
        <p:txBody>
          <a:bodyPr/>
          <a:lstStyle/>
          <a:p>
            <a:endParaRPr lang="es-CL"/>
          </a:p>
        </p:txBody>
      </p:sp>
      <p:sp>
        <p:nvSpPr>
          <p:cNvPr id="21" name="Text 19"/>
          <p:cNvSpPr/>
          <p:nvPr/>
        </p:nvSpPr>
        <p:spPr>
          <a:xfrm>
            <a:off x="6565392" y="365760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7114032" y="3383280"/>
            <a:ext cx="4297680" cy="32004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Pull Request</a:t>
            </a:r>
            <a:endParaRPr lang="en-US" sz="1500" dirty="0"/>
          </a:p>
        </p:txBody>
      </p:sp>
      <p:sp>
        <p:nvSpPr>
          <p:cNvPr id="23" name="Text 21"/>
          <p:cNvSpPr/>
          <p:nvPr/>
        </p:nvSpPr>
        <p:spPr>
          <a:xfrm>
            <a:off x="7114032" y="3721608"/>
            <a:ext cx="4343400" cy="73152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Propuesta de integrar una rama, abierta a revisión. Deja registro de la discusión, no solo del código.</a:t>
            </a:r>
            <a:endParaRPr lang="en-US" sz="1250" dirty="0"/>
          </a:p>
        </p:txBody>
      </p:sp>
      <p:sp>
        <p:nvSpPr>
          <p:cNvPr id="24" name="Shape 22"/>
          <p:cNvSpPr/>
          <p:nvPr/>
        </p:nvSpPr>
        <p:spPr>
          <a:xfrm>
            <a:off x="548640" y="4846320"/>
            <a:ext cx="11064240" cy="1051560"/>
          </a:xfrm>
          <a:prstGeom prst="roundRect">
            <a:avLst>
              <a:gd name="adj" fmla="val 7826"/>
            </a:avLst>
          </a:prstGeom>
          <a:solidFill>
            <a:srgbClr val="0A1526"/>
          </a:solidFill>
          <a:ln w="12700">
            <a:solidFill>
              <a:srgbClr val="0A1526"/>
            </a:solidFill>
            <a:prstDash val="solid"/>
          </a:ln>
        </p:spPr>
        <p:txBody>
          <a:bodyPr/>
          <a:lstStyle/>
          <a:p>
            <a:endParaRPr lang="es-CL"/>
          </a:p>
        </p:txBody>
      </p:sp>
      <p:sp>
        <p:nvSpPr>
          <p:cNvPr id="25" name="Text 23"/>
          <p:cNvSpPr/>
          <p:nvPr/>
        </p:nvSpPr>
        <p:spPr>
          <a:xfrm>
            <a:off x="868680" y="5029200"/>
            <a:ext cx="10424160" cy="685800"/>
          </a:xfrm>
          <a:prstGeom prst="rect">
            <a:avLst/>
          </a:prstGeom>
          <a:noFill/>
          <a:ln/>
        </p:spPr>
        <p:txBody>
          <a:bodyPr wrap="square" lIns="0" tIns="0" rIns="0" bIns="0" rtlCol="0" anchor="ctr"/>
          <a:lstStyle/>
          <a:p>
            <a:pPr marL="0" indent="0">
              <a:lnSpc>
                <a:spcPts val="2000"/>
              </a:lnSpc>
              <a:buNone/>
            </a:pPr>
            <a:r>
              <a:rPr lang="en-US" sz="1450" dirty="0">
                <a:solidFill>
                  <a:srgbClr val="FFFFFF"/>
                </a:solidFill>
                <a:latin typeface="Calibri" pitchFamily="34" charset="0"/>
                <a:ea typeface="Calibri" pitchFamily="34" charset="-122"/>
                <a:cs typeface="Calibri" pitchFamily="34" charset="-120"/>
              </a:rPr>
              <a:t>El historial muestra quién hizo qué y cuándo. En el proyecto del curso eso no es un detalle administrativo: es la evidencia de que el trabajo fue efectivamente grupal.</a:t>
            </a:r>
            <a:endParaRPr lang="en-US" sz="14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A1526"/>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Cómo se coordinan entre sí</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D7E3EE"/>
                </a:solidFill>
                <a:latin typeface="Calibri" pitchFamily="34" charset="0"/>
                <a:ea typeface="Calibri" pitchFamily="34" charset="-122"/>
                <a:cs typeface="Calibri" pitchFamily="34" charset="-120"/>
              </a:rPr>
              <a:t>Tres piezas viven en su computador. Una vive en la nube. Dos comandos las conectan.</a:t>
            </a:r>
            <a:endParaRPr lang="en-US" sz="1400" dirty="0"/>
          </a:p>
        </p:txBody>
      </p:sp>
      <p:sp>
        <p:nvSpPr>
          <p:cNvPr id="4" name="Shape 2"/>
          <p:cNvSpPr/>
          <p:nvPr/>
        </p:nvSpPr>
        <p:spPr>
          <a:xfrm>
            <a:off x="548640" y="1828800"/>
            <a:ext cx="5943600" cy="3200400"/>
          </a:xfrm>
          <a:prstGeom prst="roundRect">
            <a:avLst>
              <a:gd name="adj" fmla="val 2857"/>
            </a:avLst>
          </a:prstGeom>
          <a:solidFill>
            <a:srgbClr val="12203A"/>
          </a:solidFill>
          <a:ln w="12700">
            <a:solidFill>
              <a:srgbClr val="12203A"/>
            </a:solidFill>
            <a:prstDash val="solid"/>
          </a:ln>
        </p:spPr>
        <p:txBody>
          <a:bodyPr/>
          <a:lstStyle/>
          <a:p>
            <a:endParaRPr lang="es-CL"/>
          </a:p>
        </p:txBody>
      </p:sp>
      <p:sp>
        <p:nvSpPr>
          <p:cNvPr id="5" name="Text 3"/>
          <p:cNvSpPr/>
          <p:nvPr/>
        </p:nvSpPr>
        <p:spPr>
          <a:xfrm>
            <a:off x="868680" y="2011680"/>
            <a:ext cx="5303520" cy="320040"/>
          </a:xfrm>
          <a:prstGeom prst="rect">
            <a:avLst/>
          </a:prstGeom>
          <a:noFill/>
          <a:ln/>
        </p:spPr>
        <p:txBody>
          <a:bodyPr wrap="square" lIns="0" tIns="0" rIns="0" bIns="0" rtlCol="0" anchor="ctr"/>
          <a:lstStyle/>
          <a:p>
            <a:pPr marL="0" indent="0">
              <a:buNone/>
            </a:pPr>
            <a:r>
              <a:rPr lang="en-US" sz="1200" b="1" kern="0" spc="100" dirty="0">
                <a:solidFill>
                  <a:srgbClr val="AC212E"/>
                </a:solidFill>
                <a:latin typeface="Calibri" pitchFamily="34" charset="0"/>
                <a:ea typeface="Calibri" pitchFamily="34" charset="-122"/>
                <a:cs typeface="Calibri" pitchFamily="34" charset="-120"/>
              </a:rPr>
              <a:t>EN SU COMPUTADOR</a:t>
            </a:r>
            <a:endParaRPr lang="en-US" sz="1200" dirty="0"/>
          </a:p>
        </p:txBody>
      </p:sp>
      <p:sp>
        <p:nvSpPr>
          <p:cNvPr id="6" name="Shape 4"/>
          <p:cNvSpPr/>
          <p:nvPr/>
        </p:nvSpPr>
        <p:spPr>
          <a:xfrm>
            <a:off x="868680" y="2468880"/>
            <a:ext cx="5303520" cy="685800"/>
          </a:xfrm>
          <a:prstGeom prst="roundRect">
            <a:avLst>
              <a:gd name="adj" fmla="val 8000"/>
            </a:avLst>
          </a:prstGeom>
          <a:solidFill>
            <a:srgbClr val="1B2E4D"/>
          </a:solidFill>
          <a:ln w="12700">
            <a:solidFill>
              <a:srgbClr val="1B2E4D"/>
            </a:solidFill>
            <a:prstDash val="solid"/>
          </a:ln>
        </p:spPr>
        <p:txBody>
          <a:bodyPr/>
          <a:lstStyle/>
          <a:p>
            <a:endParaRPr lang="es-CL"/>
          </a:p>
        </p:txBody>
      </p:sp>
      <p:sp>
        <p:nvSpPr>
          <p:cNvPr id="7" name="Text 5"/>
          <p:cNvSpPr/>
          <p:nvPr/>
        </p:nvSpPr>
        <p:spPr>
          <a:xfrm>
            <a:off x="1097280" y="2542032"/>
            <a:ext cx="484632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Python + entorno virtual</a:t>
            </a:r>
            <a:endParaRPr lang="en-US" sz="1350" dirty="0"/>
          </a:p>
        </p:txBody>
      </p:sp>
      <p:sp>
        <p:nvSpPr>
          <p:cNvPr id="8" name="Text 6"/>
          <p:cNvSpPr/>
          <p:nvPr/>
        </p:nvSpPr>
        <p:spPr>
          <a:xfrm>
            <a:off x="1097280" y="2834640"/>
            <a:ext cx="4846320" cy="274320"/>
          </a:xfrm>
          <a:prstGeom prst="rect">
            <a:avLst/>
          </a:prstGeom>
          <a:noFill/>
          <a:ln/>
        </p:spPr>
        <p:txBody>
          <a:bodyPr wrap="square" lIns="0" tIns="0" rIns="0" bIns="0" rtlCol="0" anchor="ctr"/>
          <a:lstStyle/>
          <a:p>
            <a:pPr marL="0" indent="0">
              <a:buNone/>
            </a:pPr>
            <a:r>
              <a:rPr lang="en-US" sz="1150" dirty="0">
                <a:solidFill>
                  <a:srgbClr val="D7E3EE"/>
                </a:solidFill>
                <a:latin typeface="Calibri" pitchFamily="34" charset="0"/>
                <a:ea typeface="Calibri" pitchFamily="34" charset="-122"/>
                <a:cs typeface="Calibri" pitchFamily="34" charset="-120"/>
              </a:rPr>
              <a:t>ejecuta el código y aísla las versiones</a:t>
            </a:r>
            <a:endParaRPr lang="en-US" sz="1150" dirty="0"/>
          </a:p>
        </p:txBody>
      </p:sp>
      <p:sp>
        <p:nvSpPr>
          <p:cNvPr id="9" name="Shape 7"/>
          <p:cNvSpPr/>
          <p:nvPr/>
        </p:nvSpPr>
        <p:spPr>
          <a:xfrm>
            <a:off x="868680" y="3291840"/>
            <a:ext cx="5303520" cy="685800"/>
          </a:xfrm>
          <a:prstGeom prst="roundRect">
            <a:avLst>
              <a:gd name="adj" fmla="val 8000"/>
            </a:avLst>
          </a:prstGeom>
          <a:solidFill>
            <a:srgbClr val="1B2E4D"/>
          </a:solidFill>
          <a:ln w="12700">
            <a:solidFill>
              <a:srgbClr val="1B2E4D"/>
            </a:solidFill>
            <a:prstDash val="solid"/>
          </a:ln>
        </p:spPr>
        <p:txBody>
          <a:bodyPr/>
          <a:lstStyle/>
          <a:p>
            <a:endParaRPr lang="es-CL"/>
          </a:p>
        </p:txBody>
      </p:sp>
      <p:sp>
        <p:nvSpPr>
          <p:cNvPr id="10" name="Text 8"/>
          <p:cNvSpPr/>
          <p:nvPr/>
        </p:nvSpPr>
        <p:spPr>
          <a:xfrm>
            <a:off x="1097280" y="3364992"/>
            <a:ext cx="484632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Jupyter Notebook</a:t>
            </a:r>
            <a:endParaRPr lang="en-US" sz="1350" dirty="0"/>
          </a:p>
        </p:txBody>
      </p:sp>
      <p:sp>
        <p:nvSpPr>
          <p:cNvPr id="11" name="Text 9"/>
          <p:cNvSpPr/>
          <p:nvPr/>
        </p:nvSpPr>
        <p:spPr>
          <a:xfrm>
            <a:off x="1097280" y="3657600"/>
            <a:ext cx="4846320" cy="274320"/>
          </a:xfrm>
          <a:prstGeom prst="rect">
            <a:avLst/>
          </a:prstGeom>
          <a:noFill/>
          <a:ln/>
        </p:spPr>
        <p:txBody>
          <a:bodyPr wrap="square" lIns="0" tIns="0" rIns="0" bIns="0" rtlCol="0" anchor="ctr"/>
          <a:lstStyle/>
          <a:p>
            <a:pPr marL="0" indent="0">
              <a:buNone/>
            </a:pPr>
            <a:r>
              <a:rPr lang="en-US" sz="1150" dirty="0">
                <a:solidFill>
                  <a:srgbClr val="D7E3EE"/>
                </a:solidFill>
                <a:latin typeface="Calibri" pitchFamily="34" charset="0"/>
                <a:ea typeface="Calibri" pitchFamily="34" charset="-122"/>
                <a:cs typeface="Calibri" pitchFamily="34" charset="-120"/>
              </a:rPr>
              <a:t>escribe el análisis y su explicación</a:t>
            </a:r>
            <a:endParaRPr lang="en-US" sz="1150" dirty="0"/>
          </a:p>
        </p:txBody>
      </p:sp>
      <p:sp>
        <p:nvSpPr>
          <p:cNvPr id="12" name="Shape 10"/>
          <p:cNvSpPr/>
          <p:nvPr/>
        </p:nvSpPr>
        <p:spPr>
          <a:xfrm>
            <a:off x="868680" y="4114800"/>
            <a:ext cx="5303520" cy="685800"/>
          </a:xfrm>
          <a:prstGeom prst="roundRect">
            <a:avLst>
              <a:gd name="adj" fmla="val 8000"/>
            </a:avLst>
          </a:prstGeom>
          <a:solidFill>
            <a:srgbClr val="1B2E4D"/>
          </a:solidFill>
          <a:ln w="12700">
            <a:solidFill>
              <a:srgbClr val="1B2E4D"/>
            </a:solidFill>
            <a:prstDash val="solid"/>
          </a:ln>
        </p:spPr>
        <p:txBody>
          <a:bodyPr/>
          <a:lstStyle/>
          <a:p>
            <a:endParaRPr lang="es-CL"/>
          </a:p>
        </p:txBody>
      </p:sp>
      <p:sp>
        <p:nvSpPr>
          <p:cNvPr id="13" name="Text 11"/>
          <p:cNvSpPr/>
          <p:nvPr/>
        </p:nvSpPr>
        <p:spPr>
          <a:xfrm>
            <a:off x="1097280" y="4187952"/>
            <a:ext cx="484632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Git</a:t>
            </a:r>
            <a:endParaRPr lang="en-US" sz="1350" dirty="0"/>
          </a:p>
        </p:txBody>
      </p:sp>
      <p:sp>
        <p:nvSpPr>
          <p:cNvPr id="14" name="Text 12"/>
          <p:cNvSpPr/>
          <p:nvPr/>
        </p:nvSpPr>
        <p:spPr>
          <a:xfrm>
            <a:off x="1097280" y="4480560"/>
            <a:ext cx="4846320" cy="274320"/>
          </a:xfrm>
          <a:prstGeom prst="rect">
            <a:avLst/>
          </a:prstGeom>
          <a:noFill/>
          <a:ln/>
        </p:spPr>
        <p:txBody>
          <a:bodyPr wrap="square" lIns="0" tIns="0" rIns="0" bIns="0" rtlCol="0" anchor="ctr"/>
          <a:lstStyle/>
          <a:p>
            <a:pPr marL="0" indent="0">
              <a:buNone/>
            </a:pPr>
            <a:r>
              <a:rPr lang="en-US" sz="1150" dirty="0">
                <a:solidFill>
                  <a:srgbClr val="D7E3EE"/>
                </a:solidFill>
                <a:latin typeface="Calibri" pitchFamily="34" charset="0"/>
                <a:ea typeface="Calibri" pitchFamily="34" charset="-122"/>
                <a:cs typeface="Calibri" pitchFamily="34" charset="-120"/>
              </a:rPr>
              <a:t>registra cada cambio en el historial local</a:t>
            </a:r>
            <a:endParaRPr lang="en-US" sz="1150" dirty="0"/>
          </a:p>
        </p:txBody>
      </p:sp>
      <p:sp>
        <p:nvSpPr>
          <p:cNvPr id="15" name="Shape 13"/>
          <p:cNvSpPr/>
          <p:nvPr/>
        </p:nvSpPr>
        <p:spPr>
          <a:xfrm>
            <a:off x="8229600" y="1828800"/>
            <a:ext cx="3383280" cy="3200400"/>
          </a:xfrm>
          <a:prstGeom prst="roundRect">
            <a:avLst>
              <a:gd name="adj" fmla="val 2857"/>
            </a:avLst>
          </a:prstGeom>
          <a:solidFill>
            <a:srgbClr val="12203A"/>
          </a:solidFill>
          <a:ln w="12700">
            <a:solidFill>
              <a:srgbClr val="12203A"/>
            </a:solidFill>
            <a:prstDash val="solid"/>
          </a:ln>
        </p:spPr>
        <p:txBody>
          <a:bodyPr/>
          <a:lstStyle/>
          <a:p>
            <a:endParaRPr lang="es-CL"/>
          </a:p>
        </p:txBody>
      </p:sp>
      <p:sp>
        <p:nvSpPr>
          <p:cNvPr id="16" name="Text 14"/>
          <p:cNvSpPr/>
          <p:nvPr/>
        </p:nvSpPr>
        <p:spPr>
          <a:xfrm>
            <a:off x="8549640" y="2011680"/>
            <a:ext cx="2743200" cy="320040"/>
          </a:xfrm>
          <a:prstGeom prst="rect">
            <a:avLst/>
          </a:prstGeom>
          <a:noFill/>
          <a:ln/>
        </p:spPr>
        <p:txBody>
          <a:bodyPr wrap="square" lIns="0" tIns="0" rIns="0" bIns="0" rtlCol="0" anchor="ctr"/>
          <a:lstStyle/>
          <a:p>
            <a:pPr marL="0" indent="0">
              <a:buNone/>
            </a:pPr>
            <a:r>
              <a:rPr lang="en-US" sz="1200" b="1" kern="0" spc="100" dirty="0">
                <a:solidFill>
                  <a:srgbClr val="AC212E"/>
                </a:solidFill>
                <a:latin typeface="Calibri" pitchFamily="34" charset="0"/>
                <a:ea typeface="Calibri" pitchFamily="34" charset="-122"/>
                <a:cs typeface="Calibri" pitchFamily="34" charset="-120"/>
              </a:rPr>
              <a:t>EN LA NUBE</a:t>
            </a:r>
            <a:endParaRPr lang="en-US" sz="1200" dirty="0"/>
          </a:p>
        </p:txBody>
      </p:sp>
      <p:sp>
        <p:nvSpPr>
          <p:cNvPr id="17" name="Shape 15"/>
          <p:cNvSpPr/>
          <p:nvPr/>
        </p:nvSpPr>
        <p:spPr>
          <a:xfrm>
            <a:off x="8549640" y="2468880"/>
            <a:ext cx="2743200" cy="2194560"/>
          </a:xfrm>
          <a:prstGeom prst="roundRect">
            <a:avLst>
              <a:gd name="adj" fmla="val 2500"/>
            </a:avLst>
          </a:prstGeom>
          <a:solidFill>
            <a:srgbClr val="1B2E4D"/>
          </a:solidFill>
          <a:ln w="12700">
            <a:solidFill>
              <a:srgbClr val="1B2E4D"/>
            </a:solidFill>
            <a:prstDash val="solid"/>
          </a:ln>
        </p:spPr>
        <p:txBody>
          <a:bodyPr/>
          <a:lstStyle/>
          <a:p>
            <a:endParaRPr lang="es-CL"/>
          </a:p>
        </p:txBody>
      </p:sp>
      <p:sp>
        <p:nvSpPr>
          <p:cNvPr id="18" name="Text 16"/>
          <p:cNvSpPr/>
          <p:nvPr/>
        </p:nvSpPr>
        <p:spPr>
          <a:xfrm>
            <a:off x="8732520" y="2651760"/>
            <a:ext cx="2377440" cy="384048"/>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GitHub</a:t>
            </a:r>
            <a:endParaRPr lang="en-US" sz="2000" dirty="0"/>
          </a:p>
        </p:txBody>
      </p:sp>
      <p:sp>
        <p:nvSpPr>
          <p:cNvPr id="19" name="Text 17"/>
          <p:cNvSpPr/>
          <p:nvPr/>
        </p:nvSpPr>
        <p:spPr>
          <a:xfrm>
            <a:off x="8732520" y="3108960"/>
            <a:ext cx="2377440" cy="1463040"/>
          </a:xfrm>
          <a:prstGeom prst="rect">
            <a:avLst/>
          </a:prstGeom>
          <a:noFill/>
          <a:ln/>
        </p:spPr>
        <p:txBody>
          <a:bodyPr wrap="square" lIns="0" tIns="0" rIns="0" bIns="0" rtlCol="0" anchor="ctr"/>
          <a:lstStyle/>
          <a:p>
            <a:pPr marL="0" indent="0">
              <a:lnSpc>
                <a:spcPts val="1700"/>
              </a:lnSpc>
              <a:buNone/>
            </a:pPr>
            <a:r>
              <a:rPr lang="en-US" sz="1200" dirty="0">
                <a:solidFill>
                  <a:srgbClr val="D7E3EE"/>
                </a:solidFill>
                <a:latin typeface="Calibri" pitchFamily="34" charset="0"/>
                <a:ea typeface="Calibri" pitchFamily="34" charset="-122"/>
                <a:cs typeface="Calibri" pitchFamily="34" charset="-120"/>
              </a:rPr>
              <a:t>Repositorio remoto compartido por el equipo:</a:t>
            </a:r>
            <a:endParaRPr lang="en-US" sz="1200" dirty="0"/>
          </a:p>
          <a:p>
            <a:pPr marL="0" indent="0">
              <a:lnSpc>
                <a:spcPts val="1700"/>
              </a:lnSpc>
              <a:buNone/>
            </a:pPr>
            <a:endParaRPr lang="en-US" sz="1200" dirty="0"/>
          </a:p>
          <a:p>
            <a:pPr marL="0" indent="0">
              <a:lnSpc>
                <a:spcPts val="1700"/>
              </a:lnSpc>
              <a:buNone/>
            </a:pPr>
            <a:r>
              <a:rPr lang="en-US" sz="1200" dirty="0">
                <a:solidFill>
                  <a:srgbClr val="D7E3EE"/>
                </a:solidFill>
                <a:latin typeface="Calibri" pitchFamily="34" charset="0"/>
                <a:ea typeface="Calibri" pitchFamily="34" charset="-122"/>
                <a:cs typeface="Calibri" pitchFamily="34" charset="-120"/>
              </a:rPr>
              <a:t>• historial completo</a:t>
            </a:r>
            <a:endParaRPr lang="en-US" sz="1200" dirty="0"/>
          </a:p>
          <a:p>
            <a:pPr marL="0" indent="0">
              <a:lnSpc>
                <a:spcPts val="1700"/>
              </a:lnSpc>
              <a:buNone/>
            </a:pPr>
            <a:r>
              <a:rPr lang="en-US" sz="1200" dirty="0">
                <a:solidFill>
                  <a:srgbClr val="D7E3EE"/>
                </a:solidFill>
                <a:latin typeface="Calibri" pitchFamily="34" charset="0"/>
                <a:ea typeface="Calibri" pitchFamily="34" charset="-122"/>
                <a:cs typeface="Calibri" pitchFamily="34" charset="-120"/>
              </a:rPr>
              <a:t>• trabajo de los 4 integrantes</a:t>
            </a:r>
            <a:endParaRPr lang="en-US" sz="1200" dirty="0"/>
          </a:p>
          <a:p>
            <a:pPr marL="0" indent="0">
              <a:lnSpc>
                <a:spcPts val="1700"/>
              </a:lnSpc>
              <a:buNone/>
            </a:pPr>
            <a:r>
              <a:rPr lang="en-US" sz="1200" dirty="0">
                <a:solidFill>
                  <a:srgbClr val="D7E3EE"/>
                </a:solidFill>
                <a:latin typeface="Calibri" pitchFamily="34" charset="0"/>
                <a:ea typeface="Calibri" pitchFamily="34" charset="-122"/>
                <a:cs typeface="Calibri" pitchFamily="34" charset="-120"/>
              </a:rPr>
              <a:t>• respaldo del proyecto</a:t>
            </a:r>
            <a:endParaRPr lang="en-US" sz="1200" dirty="0"/>
          </a:p>
        </p:txBody>
      </p:sp>
      <p:sp>
        <p:nvSpPr>
          <p:cNvPr id="20" name="Shape 18"/>
          <p:cNvSpPr/>
          <p:nvPr/>
        </p:nvSpPr>
        <p:spPr>
          <a:xfrm>
            <a:off x="6629400" y="2788920"/>
            <a:ext cx="1463040" cy="45720"/>
          </a:xfrm>
          <a:prstGeom prst="rect">
            <a:avLst/>
          </a:prstGeom>
          <a:solidFill>
            <a:srgbClr val="AC212E"/>
          </a:solidFill>
          <a:ln w="12700">
            <a:solidFill>
              <a:srgbClr val="AC212E"/>
            </a:solidFill>
            <a:prstDash val="solid"/>
          </a:ln>
        </p:spPr>
        <p:txBody>
          <a:bodyPr/>
          <a:lstStyle/>
          <a:p>
            <a:endParaRPr lang="es-CL"/>
          </a:p>
        </p:txBody>
      </p:sp>
      <p:sp>
        <p:nvSpPr>
          <p:cNvPr id="21" name="Text 19"/>
          <p:cNvSpPr/>
          <p:nvPr/>
        </p:nvSpPr>
        <p:spPr>
          <a:xfrm>
            <a:off x="6400800" y="2423160"/>
            <a:ext cx="1920240" cy="320040"/>
          </a:xfrm>
          <a:prstGeom prst="rect">
            <a:avLst/>
          </a:prstGeom>
          <a:noFill/>
          <a:ln/>
        </p:spPr>
        <p:txBody>
          <a:bodyPr wrap="square" lIns="0" tIns="0" rIns="0" bIns="0" rtlCol="0" anchor="ctr"/>
          <a:lstStyle/>
          <a:p>
            <a:pPr marL="0" indent="0" algn="ctr">
              <a:buNone/>
            </a:pPr>
            <a:r>
              <a:rPr lang="en-US" sz="1100" dirty="0">
                <a:solidFill>
                  <a:srgbClr val="FFFFFF"/>
                </a:solidFill>
                <a:latin typeface="Courier New" pitchFamily="34" charset="0"/>
                <a:ea typeface="Courier New" pitchFamily="34" charset="-122"/>
                <a:cs typeface="Courier New" pitchFamily="34" charset="-120"/>
              </a:rPr>
              <a:t>git push  →</a:t>
            </a:r>
            <a:endParaRPr lang="en-US" sz="1100" dirty="0"/>
          </a:p>
        </p:txBody>
      </p:sp>
      <p:sp>
        <p:nvSpPr>
          <p:cNvPr id="22" name="Text 20"/>
          <p:cNvSpPr/>
          <p:nvPr/>
        </p:nvSpPr>
        <p:spPr>
          <a:xfrm>
            <a:off x="6400800" y="2852928"/>
            <a:ext cx="1920240" cy="274320"/>
          </a:xfrm>
          <a:prstGeom prst="rect">
            <a:avLst/>
          </a:prstGeom>
          <a:noFill/>
          <a:ln/>
        </p:spPr>
        <p:txBody>
          <a:bodyPr wrap="square" lIns="0" tIns="0" rIns="0" bIns="0" rtlCol="0" anchor="ctr"/>
          <a:lstStyle/>
          <a:p>
            <a:pPr marL="0" indent="0" algn="ctr">
              <a:buNone/>
            </a:pPr>
            <a:r>
              <a:rPr lang="en-US" sz="1000" dirty="0">
                <a:solidFill>
                  <a:srgbClr val="5A6B7B"/>
                </a:solidFill>
                <a:latin typeface="Calibri" pitchFamily="34" charset="0"/>
                <a:ea typeface="Calibri" pitchFamily="34" charset="-122"/>
                <a:cs typeface="Calibri" pitchFamily="34" charset="-120"/>
              </a:rPr>
              <a:t>sube sus commits</a:t>
            </a:r>
            <a:endParaRPr lang="en-US" sz="1000" dirty="0"/>
          </a:p>
        </p:txBody>
      </p:sp>
      <p:sp>
        <p:nvSpPr>
          <p:cNvPr id="23" name="Shape 21"/>
          <p:cNvSpPr/>
          <p:nvPr/>
        </p:nvSpPr>
        <p:spPr>
          <a:xfrm>
            <a:off x="6629400" y="3977640"/>
            <a:ext cx="1463040" cy="45720"/>
          </a:xfrm>
          <a:prstGeom prst="rect">
            <a:avLst/>
          </a:prstGeom>
          <a:solidFill>
            <a:srgbClr val="D7E3EE"/>
          </a:solidFill>
          <a:ln w="12700">
            <a:solidFill>
              <a:srgbClr val="D7E3EE"/>
            </a:solidFill>
            <a:prstDash val="solid"/>
          </a:ln>
        </p:spPr>
        <p:txBody>
          <a:bodyPr/>
          <a:lstStyle/>
          <a:p>
            <a:endParaRPr lang="es-CL"/>
          </a:p>
        </p:txBody>
      </p:sp>
      <p:sp>
        <p:nvSpPr>
          <p:cNvPr id="24" name="Text 22"/>
          <p:cNvSpPr/>
          <p:nvPr/>
        </p:nvSpPr>
        <p:spPr>
          <a:xfrm>
            <a:off x="6400800" y="3611880"/>
            <a:ext cx="1920240" cy="320040"/>
          </a:xfrm>
          <a:prstGeom prst="rect">
            <a:avLst/>
          </a:prstGeom>
          <a:noFill/>
          <a:ln/>
        </p:spPr>
        <p:txBody>
          <a:bodyPr wrap="square" lIns="0" tIns="0" rIns="0" bIns="0" rtlCol="0" anchor="ctr"/>
          <a:lstStyle/>
          <a:p>
            <a:pPr marL="0" indent="0" algn="ctr">
              <a:buNone/>
            </a:pPr>
            <a:r>
              <a:rPr lang="en-US" sz="1100" dirty="0">
                <a:solidFill>
                  <a:srgbClr val="FFFFFF"/>
                </a:solidFill>
                <a:latin typeface="Courier New" pitchFamily="34" charset="0"/>
                <a:ea typeface="Courier New" pitchFamily="34" charset="-122"/>
                <a:cs typeface="Courier New" pitchFamily="34" charset="-120"/>
              </a:rPr>
              <a:t>←  git pull</a:t>
            </a:r>
            <a:endParaRPr lang="en-US" sz="1100" dirty="0"/>
          </a:p>
        </p:txBody>
      </p:sp>
      <p:sp>
        <p:nvSpPr>
          <p:cNvPr id="25" name="Text 23"/>
          <p:cNvSpPr/>
          <p:nvPr/>
        </p:nvSpPr>
        <p:spPr>
          <a:xfrm>
            <a:off x="6400800" y="4041648"/>
            <a:ext cx="1920240" cy="274320"/>
          </a:xfrm>
          <a:prstGeom prst="rect">
            <a:avLst/>
          </a:prstGeom>
          <a:noFill/>
          <a:ln/>
        </p:spPr>
        <p:txBody>
          <a:bodyPr wrap="square" lIns="0" tIns="0" rIns="0" bIns="0" rtlCol="0" anchor="ctr"/>
          <a:lstStyle/>
          <a:p>
            <a:pPr marL="0" indent="0" algn="ctr">
              <a:buNone/>
            </a:pPr>
            <a:r>
              <a:rPr lang="en-US" sz="1000" dirty="0">
                <a:solidFill>
                  <a:srgbClr val="5A6B7B"/>
                </a:solidFill>
                <a:latin typeface="Calibri" pitchFamily="34" charset="0"/>
                <a:ea typeface="Calibri" pitchFamily="34" charset="-122"/>
                <a:cs typeface="Calibri" pitchFamily="34" charset="-120"/>
              </a:rPr>
              <a:t>trae lo de los demás</a:t>
            </a:r>
            <a:endParaRPr lang="en-US" sz="1000" dirty="0"/>
          </a:p>
        </p:txBody>
      </p:sp>
      <p:sp>
        <p:nvSpPr>
          <p:cNvPr id="26" name="Text 24"/>
          <p:cNvSpPr/>
          <p:nvPr/>
        </p:nvSpPr>
        <p:spPr>
          <a:xfrm>
            <a:off x="548640" y="5394960"/>
            <a:ext cx="11064240" cy="457200"/>
          </a:xfrm>
          <a:prstGeom prst="rect">
            <a:avLst/>
          </a:prstGeom>
          <a:noFill/>
          <a:ln/>
        </p:spPr>
        <p:txBody>
          <a:bodyPr wrap="square" lIns="0" tIns="0" rIns="0" bIns="0" rtlCol="0" anchor="ctr"/>
          <a:lstStyle/>
          <a:p>
            <a:pPr marL="0" indent="0">
              <a:buNone/>
            </a:pPr>
            <a:r>
              <a:rPr lang="en-US" sz="1400" i="1" dirty="0">
                <a:solidFill>
                  <a:srgbClr val="D7E3EE"/>
                </a:solidFill>
                <a:latin typeface="Calibri" pitchFamily="34" charset="0"/>
                <a:ea typeface="Calibri" pitchFamily="34" charset="-122"/>
                <a:cs typeface="Calibri" pitchFamily="34" charset="-120"/>
              </a:rPr>
              <a:t>El notebook produce el análisis · Git lo versiona · GitHub lo comparte · El entorno hace que corra igual en los cuatro computadores</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Un día de trabajo, de principio a fin</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La secuencia completa: qué herramienta interviene en cada momento.</a:t>
            </a:r>
            <a:endParaRPr lang="en-US" sz="1400" dirty="0"/>
          </a:p>
        </p:txBody>
      </p:sp>
      <p:sp>
        <p:nvSpPr>
          <p:cNvPr id="4" name="Shape 2"/>
          <p:cNvSpPr/>
          <p:nvPr/>
        </p:nvSpPr>
        <p:spPr>
          <a:xfrm>
            <a:off x="548640" y="1828800"/>
            <a:ext cx="402336" cy="402336"/>
          </a:xfrm>
          <a:prstGeom prst="ellipse">
            <a:avLst/>
          </a:prstGeom>
          <a:solidFill>
            <a:srgbClr val="AC212E"/>
          </a:solidFill>
          <a:ln/>
        </p:spPr>
        <p:txBody>
          <a:bodyPr/>
          <a:lstStyle/>
          <a:p>
            <a:endParaRPr lang="es-CL"/>
          </a:p>
        </p:txBody>
      </p:sp>
      <p:sp>
        <p:nvSpPr>
          <p:cNvPr id="5" name="Text 3"/>
          <p:cNvSpPr/>
          <p:nvPr/>
        </p:nvSpPr>
        <p:spPr>
          <a:xfrm>
            <a:off x="548640" y="182880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115568" y="1737360"/>
            <a:ext cx="1371600" cy="402336"/>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Traer</a:t>
            </a:r>
            <a:endParaRPr lang="en-US" sz="1400" dirty="0"/>
          </a:p>
        </p:txBody>
      </p:sp>
      <p:sp>
        <p:nvSpPr>
          <p:cNvPr id="7" name="Shape 5"/>
          <p:cNvSpPr/>
          <p:nvPr/>
        </p:nvSpPr>
        <p:spPr>
          <a:xfrm>
            <a:off x="2514600" y="1755648"/>
            <a:ext cx="3566160" cy="438912"/>
          </a:xfrm>
          <a:prstGeom prst="roundRect">
            <a:avLst>
              <a:gd name="adj" fmla="val 10417"/>
            </a:avLst>
          </a:prstGeom>
          <a:solidFill>
            <a:srgbClr val="F4F7FA"/>
          </a:solidFill>
          <a:ln w="12700">
            <a:solidFill>
              <a:srgbClr val="F4F7FA"/>
            </a:solidFill>
            <a:prstDash val="solid"/>
          </a:ln>
        </p:spPr>
        <p:txBody>
          <a:bodyPr/>
          <a:lstStyle/>
          <a:p>
            <a:endParaRPr lang="es-CL"/>
          </a:p>
        </p:txBody>
      </p:sp>
      <p:sp>
        <p:nvSpPr>
          <p:cNvPr id="8" name="Text 6"/>
          <p:cNvSpPr/>
          <p:nvPr/>
        </p:nvSpPr>
        <p:spPr>
          <a:xfrm>
            <a:off x="2651760" y="1755648"/>
            <a:ext cx="3291840" cy="438912"/>
          </a:xfrm>
          <a:prstGeom prst="rect">
            <a:avLst/>
          </a:prstGeom>
          <a:noFill/>
          <a:ln/>
        </p:spPr>
        <p:txBody>
          <a:bodyPr wrap="square" lIns="0" tIns="0" rIns="0" bIns="0" rtlCol="0" anchor="ctr"/>
          <a:lstStyle/>
          <a:p>
            <a:pPr marL="0" indent="0">
              <a:buNone/>
            </a:pPr>
            <a:r>
              <a:rPr lang="en-US" sz="1100" dirty="0">
                <a:solidFill>
                  <a:srgbClr val="06304A"/>
                </a:solidFill>
                <a:latin typeface="Courier New" pitchFamily="34" charset="0"/>
                <a:ea typeface="Courier New" pitchFamily="34" charset="-122"/>
                <a:cs typeface="Courier New" pitchFamily="34" charset="-120"/>
              </a:rPr>
              <a:t>git pull</a:t>
            </a:r>
            <a:endParaRPr lang="en-US" sz="1100" dirty="0"/>
          </a:p>
        </p:txBody>
      </p:sp>
      <p:sp>
        <p:nvSpPr>
          <p:cNvPr id="9" name="Text 7"/>
          <p:cNvSpPr/>
          <p:nvPr/>
        </p:nvSpPr>
        <p:spPr>
          <a:xfrm>
            <a:off x="6309360" y="1737360"/>
            <a:ext cx="5303520" cy="457200"/>
          </a:xfrm>
          <a:prstGeom prst="rect">
            <a:avLst/>
          </a:prstGeom>
          <a:noFill/>
          <a:ln/>
        </p:spPr>
        <p:txBody>
          <a:bodyPr wrap="square" lIns="0" tIns="0" rIns="0" bIns="0" rtlCol="0" anchor="ctr"/>
          <a:lstStyle/>
          <a:p>
            <a:pPr marL="0" indent="0">
              <a:buNone/>
            </a:pPr>
            <a:r>
              <a:rPr lang="en-US" sz="1250" dirty="0">
                <a:solidFill>
                  <a:srgbClr val="5A6B7B"/>
                </a:solidFill>
                <a:latin typeface="Calibri" pitchFamily="34" charset="0"/>
                <a:ea typeface="Calibri" pitchFamily="34" charset="-122"/>
                <a:cs typeface="Calibri" pitchFamily="34" charset="-120"/>
              </a:rPr>
              <a:t>Antes de escribir nada, incorporar lo que hicieron los demás.</a:t>
            </a:r>
            <a:endParaRPr lang="en-US" sz="1250" dirty="0"/>
          </a:p>
        </p:txBody>
      </p:sp>
      <p:sp>
        <p:nvSpPr>
          <p:cNvPr id="10" name="Shape 8"/>
          <p:cNvSpPr/>
          <p:nvPr/>
        </p:nvSpPr>
        <p:spPr>
          <a:xfrm>
            <a:off x="548640" y="2551176"/>
            <a:ext cx="402336" cy="402336"/>
          </a:xfrm>
          <a:prstGeom prst="ellipse">
            <a:avLst/>
          </a:prstGeom>
          <a:solidFill>
            <a:srgbClr val="AC212E"/>
          </a:solidFill>
          <a:ln/>
        </p:spPr>
        <p:txBody>
          <a:bodyPr/>
          <a:lstStyle/>
          <a:p>
            <a:endParaRPr lang="es-CL"/>
          </a:p>
        </p:txBody>
      </p:sp>
      <p:sp>
        <p:nvSpPr>
          <p:cNvPr id="11" name="Text 9"/>
          <p:cNvSpPr/>
          <p:nvPr/>
        </p:nvSpPr>
        <p:spPr>
          <a:xfrm>
            <a:off x="548640" y="255117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115568" y="2459736"/>
            <a:ext cx="1371600" cy="402336"/>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Activar</a:t>
            </a:r>
            <a:endParaRPr lang="en-US" sz="1400" dirty="0"/>
          </a:p>
        </p:txBody>
      </p:sp>
      <p:sp>
        <p:nvSpPr>
          <p:cNvPr id="13" name="Shape 11"/>
          <p:cNvSpPr/>
          <p:nvPr/>
        </p:nvSpPr>
        <p:spPr>
          <a:xfrm>
            <a:off x="2514600" y="2478024"/>
            <a:ext cx="3566160" cy="438912"/>
          </a:xfrm>
          <a:prstGeom prst="roundRect">
            <a:avLst>
              <a:gd name="adj" fmla="val 10417"/>
            </a:avLst>
          </a:prstGeom>
          <a:solidFill>
            <a:srgbClr val="F4F7FA"/>
          </a:solidFill>
          <a:ln w="12700">
            <a:solidFill>
              <a:srgbClr val="F4F7FA"/>
            </a:solidFill>
            <a:prstDash val="solid"/>
          </a:ln>
        </p:spPr>
        <p:txBody>
          <a:bodyPr/>
          <a:lstStyle/>
          <a:p>
            <a:endParaRPr lang="es-CL"/>
          </a:p>
        </p:txBody>
      </p:sp>
      <p:sp>
        <p:nvSpPr>
          <p:cNvPr id="14" name="Text 12"/>
          <p:cNvSpPr/>
          <p:nvPr/>
        </p:nvSpPr>
        <p:spPr>
          <a:xfrm>
            <a:off x="2651760" y="2478024"/>
            <a:ext cx="3291840" cy="438912"/>
          </a:xfrm>
          <a:prstGeom prst="rect">
            <a:avLst/>
          </a:prstGeom>
          <a:noFill/>
          <a:ln/>
        </p:spPr>
        <p:txBody>
          <a:bodyPr wrap="square" lIns="0" tIns="0" rIns="0" bIns="0" rtlCol="0" anchor="ctr"/>
          <a:lstStyle/>
          <a:p>
            <a:pPr marL="0" indent="0">
              <a:buNone/>
            </a:pPr>
            <a:r>
              <a:rPr lang="en-US" sz="1100" dirty="0">
                <a:solidFill>
                  <a:srgbClr val="06304A"/>
                </a:solidFill>
                <a:latin typeface="Courier New" pitchFamily="34" charset="0"/>
                <a:ea typeface="Courier New" pitchFamily="34" charset="-122"/>
                <a:cs typeface="Courier New" pitchFamily="34" charset="-120"/>
              </a:rPr>
              <a:t>source .venv/bin/activate</a:t>
            </a:r>
            <a:endParaRPr lang="en-US" sz="1100" dirty="0"/>
          </a:p>
        </p:txBody>
      </p:sp>
      <p:sp>
        <p:nvSpPr>
          <p:cNvPr id="15" name="Text 13"/>
          <p:cNvSpPr/>
          <p:nvPr/>
        </p:nvSpPr>
        <p:spPr>
          <a:xfrm>
            <a:off x="6309360" y="2459736"/>
            <a:ext cx="5303520" cy="457200"/>
          </a:xfrm>
          <a:prstGeom prst="rect">
            <a:avLst/>
          </a:prstGeom>
          <a:noFill/>
          <a:ln/>
        </p:spPr>
        <p:txBody>
          <a:bodyPr wrap="square" lIns="0" tIns="0" rIns="0" bIns="0" rtlCol="0" anchor="ctr"/>
          <a:lstStyle/>
          <a:p>
            <a:pPr marL="0" indent="0">
              <a:buNone/>
            </a:pPr>
            <a:r>
              <a:rPr lang="en-US" sz="1250" dirty="0">
                <a:solidFill>
                  <a:srgbClr val="5A6B7B"/>
                </a:solidFill>
                <a:latin typeface="Calibri" pitchFamily="34" charset="0"/>
                <a:ea typeface="Calibri" pitchFamily="34" charset="-122"/>
                <a:cs typeface="Calibri" pitchFamily="34" charset="-120"/>
              </a:rPr>
              <a:t>Entrar al entorno del proyecto.</a:t>
            </a:r>
            <a:endParaRPr lang="en-US" sz="1250" dirty="0"/>
          </a:p>
        </p:txBody>
      </p:sp>
      <p:sp>
        <p:nvSpPr>
          <p:cNvPr id="16" name="Shape 14"/>
          <p:cNvSpPr/>
          <p:nvPr/>
        </p:nvSpPr>
        <p:spPr>
          <a:xfrm>
            <a:off x="548640" y="3273552"/>
            <a:ext cx="402336" cy="402336"/>
          </a:xfrm>
          <a:prstGeom prst="ellipse">
            <a:avLst/>
          </a:prstGeom>
          <a:solidFill>
            <a:srgbClr val="AC212E"/>
          </a:solidFill>
          <a:ln/>
        </p:spPr>
        <p:txBody>
          <a:bodyPr/>
          <a:lstStyle/>
          <a:p>
            <a:endParaRPr lang="es-CL"/>
          </a:p>
        </p:txBody>
      </p:sp>
      <p:sp>
        <p:nvSpPr>
          <p:cNvPr id="17" name="Text 15"/>
          <p:cNvSpPr/>
          <p:nvPr/>
        </p:nvSpPr>
        <p:spPr>
          <a:xfrm>
            <a:off x="548640" y="327355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p:nvPr/>
        </p:nvSpPr>
        <p:spPr>
          <a:xfrm>
            <a:off x="1115568" y="3182112"/>
            <a:ext cx="1371600" cy="402336"/>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Trabajar</a:t>
            </a:r>
            <a:endParaRPr lang="en-US" sz="1400" dirty="0"/>
          </a:p>
        </p:txBody>
      </p:sp>
      <p:sp>
        <p:nvSpPr>
          <p:cNvPr id="19" name="Shape 17"/>
          <p:cNvSpPr/>
          <p:nvPr/>
        </p:nvSpPr>
        <p:spPr>
          <a:xfrm>
            <a:off x="2514600" y="3200400"/>
            <a:ext cx="3566160" cy="438912"/>
          </a:xfrm>
          <a:prstGeom prst="roundRect">
            <a:avLst>
              <a:gd name="adj" fmla="val 10417"/>
            </a:avLst>
          </a:prstGeom>
          <a:solidFill>
            <a:srgbClr val="F4F7FA"/>
          </a:solidFill>
          <a:ln w="12700">
            <a:solidFill>
              <a:srgbClr val="F4F7FA"/>
            </a:solidFill>
            <a:prstDash val="solid"/>
          </a:ln>
        </p:spPr>
        <p:txBody>
          <a:bodyPr/>
          <a:lstStyle/>
          <a:p>
            <a:endParaRPr lang="es-CL"/>
          </a:p>
        </p:txBody>
      </p:sp>
      <p:sp>
        <p:nvSpPr>
          <p:cNvPr id="20" name="Text 18"/>
          <p:cNvSpPr/>
          <p:nvPr/>
        </p:nvSpPr>
        <p:spPr>
          <a:xfrm>
            <a:off x="2651760" y="3200400"/>
            <a:ext cx="3291840" cy="438912"/>
          </a:xfrm>
          <a:prstGeom prst="rect">
            <a:avLst/>
          </a:prstGeom>
          <a:noFill/>
          <a:ln/>
        </p:spPr>
        <p:txBody>
          <a:bodyPr wrap="square" lIns="0" tIns="0" rIns="0" bIns="0" rtlCol="0" anchor="ctr"/>
          <a:lstStyle/>
          <a:p>
            <a:pPr marL="0" indent="0">
              <a:buNone/>
            </a:pPr>
            <a:r>
              <a:rPr lang="en-US" sz="1100" dirty="0">
                <a:solidFill>
                  <a:srgbClr val="06304A"/>
                </a:solidFill>
                <a:latin typeface="Courier New" pitchFamily="34" charset="0"/>
                <a:ea typeface="Courier New" pitchFamily="34" charset="-122"/>
                <a:cs typeface="Courier New" pitchFamily="34" charset="-120"/>
              </a:rPr>
              <a:t>jupyter lab</a:t>
            </a:r>
            <a:endParaRPr lang="en-US" sz="1100" dirty="0"/>
          </a:p>
        </p:txBody>
      </p:sp>
      <p:sp>
        <p:nvSpPr>
          <p:cNvPr id="21" name="Text 19"/>
          <p:cNvSpPr/>
          <p:nvPr/>
        </p:nvSpPr>
        <p:spPr>
          <a:xfrm>
            <a:off x="6309360" y="3182112"/>
            <a:ext cx="5303520" cy="457200"/>
          </a:xfrm>
          <a:prstGeom prst="rect">
            <a:avLst/>
          </a:prstGeom>
          <a:noFill/>
          <a:ln/>
        </p:spPr>
        <p:txBody>
          <a:bodyPr wrap="square" lIns="0" tIns="0" rIns="0" bIns="0" rtlCol="0" anchor="ctr"/>
          <a:lstStyle/>
          <a:p>
            <a:pPr marL="0" indent="0">
              <a:buNone/>
            </a:pPr>
            <a:r>
              <a:rPr lang="en-US" sz="1250" dirty="0">
                <a:solidFill>
                  <a:srgbClr val="5A6B7B"/>
                </a:solidFill>
                <a:latin typeface="Calibri" pitchFamily="34" charset="0"/>
                <a:ea typeface="Calibri" pitchFamily="34" charset="-122"/>
                <a:cs typeface="Calibri" pitchFamily="34" charset="-120"/>
              </a:rPr>
              <a:t>Escribir el análisis en el notebook, con el kernel del proyecto.</a:t>
            </a:r>
            <a:endParaRPr lang="en-US" sz="1250" dirty="0"/>
          </a:p>
        </p:txBody>
      </p:sp>
      <p:sp>
        <p:nvSpPr>
          <p:cNvPr id="22" name="Shape 20"/>
          <p:cNvSpPr/>
          <p:nvPr/>
        </p:nvSpPr>
        <p:spPr>
          <a:xfrm>
            <a:off x="548640" y="3995928"/>
            <a:ext cx="402336" cy="402336"/>
          </a:xfrm>
          <a:prstGeom prst="ellipse">
            <a:avLst/>
          </a:prstGeom>
          <a:solidFill>
            <a:srgbClr val="AC212E"/>
          </a:solidFill>
          <a:ln/>
        </p:spPr>
        <p:txBody>
          <a:bodyPr/>
          <a:lstStyle/>
          <a:p>
            <a:endParaRPr lang="es-CL"/>
          </a:p>
        </p:txBody>
      </p:sp>
      <p:sp>
        <p:nvSpPr>
          <p:cNvPr id="23" name="Text 21"/>
          <p:cNvSpPr/>
          <p:nvPr/>
        </p:nvSpPr>
        <p:spPr>
          <a:xfrm>
            <a:off x="548640" y="3995928"/>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4" name="Text 22"/>
          <p:cNvSpPr/>
          <p:nvPr/>
        </p:nvSpPr>
        <p:spPr>
          <a:xfrm>
            <a:off x="1115568" y="3904488"/>
            <a:ext cx="1371600" cy="402336"/>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Revisar</a:t>
            </a:r>
            <a:endParaRPr lang="en-US" sz="1400" dirty="0"/>
          </a:p>
        </p:txBody>
      </p:sp>
      <p:sp>
        <p:nvSpPr>
          <p:cNvPr id="25" name="Shape 23"/>
          <p:cNvSpPr/>
          <p:nvPr/>
        </p:nvSpPr>
        <p:spPr>
          <a:xfrm>
            <a:off x="2514600" y="3922776"/>
            <a:ext cx="3566160" cy="438912"/>
          </a:xfrm>
          <a:prstGeom prst="roundRect">
            <a:avLst>
              <a:gd name="adj" fmla="val 10417"/>
            </a:avLst>
          </a:prstGeom>
          <a:solidFill>
            <a:srgbClr val="F4F7FA"/>
          </a:solidFill>
          <a:ln w="12700">
            <a:solidFill>
              <a:srgbClr val="F4F7FA"/>
            </a:solidFill>
            <a:prstDash val="solid"/>
          </a:ln>
        </p:spPr>
        <p:txBody>
          <a:bodyPr/>
          <a:lstStyle/>
          <a:p>
            <a:endParaRPr lang="es-CL"/>
          </a:p>
        </p:txBody>
      </p:sp>
      <p:sp>
        <p:nvSpPr>
          <p:cNvPr id="26" name="Text 24"/>
          <p:cNvSpPr/>
          <p:nvPr/>
        </p:nvSpPr>
        <p:spPr>
          <a:xfrm>
            <a:off x="2651760" y="3922776"/>
            <a:ext cx="3291840" cy="438912"/>
          </a:xfrm>
          <a:prstGeom prst="rect">
            <a:avLst/>
          </a:prstGeom>
          <a:noFill/>
          <a:ln/>
        </p:spPr>
        <p:txBody>
          <a:bodyPr wrap="square" lIns="0" tIns="0" rIns="0" bIns="0" rtlCol="0" anchor="ctr"/>
          <a:lstStyle/>
          <a:p>
            <a:pPr marL="0" indent="0">
              <a:buNone/>
            </a:pPr>
            <a:r>
              <a:rPr lang="en-US" sz="1100" dirty="0">
                <a:solidFill>
                  <a:srgbClr val="06304A"/>
                </a:solidFill>
                <a:latin typeface="Courier New" pitchFamily="34" charset="0"/>
                <a:ea typeface="Courier New" pitchFamily="34" charset="-122"/>
                <a:cs typeface="Courier New" pitchFamily="34" charset="-120"/>
              </a:rPr>
              <a:t>git status</a:t>
            </a:r>
            <a:endParaRPr lang="en-US" sz="1100" dirty="0"/>
          </a:p>
        </p:txBody>
      </p:sp>
      <p:sp>
        <p:nvSpPr>
          <p:cNvPr id="27" name="Text 25"/>
          <p:cNvSpPr/>
          <p:nvPr/>
        </p:nvSpPr>
        <p:spPr>
          <a:xfrm>
            <a:off x="6309360" y="3904488"/>
            <a:ext cx="5303520" cy="457200"/>
          </a:xfrm>
          <a:prstGeom prst="rect">
            <a:avLst/>
          </a:prstGeom>
          <a:noFill/>
          <a:ln/>
        </p:spPr>
        <p:txBody>
          <a:bodyPr wrap="square" lIns="0" tIns="0" rIns="0" bIns="0" rtlCol="0" anchor="ctr"/>
          <a:lstStyle/>
          <a:p>
            <a:pPr marL="0" indent="0">
              <a:buNone/>
            </a:pPr>
            <a:r>
              <a:rPr lang="en-US" sz="1250" dirty="0">
                <a:solidFill>
                  <a:srgbClr val="5A6B7B"/>
                </a:solidFill>
                <a:latin typeface="Calibri" pitchFamily="34" charset="0"/>
                <a:ea typeface="Calibri" pitchFamily="34" charset="-122"/>
                <a:cs typeface="Calibri" pitchFamily="34" charset="-120"/>
              </a:rPr>
              <a:t>Ver qué cambió antes de registrar nada.</a:t>
            </a:r>
            <a:endParaRPr lang="en-US" sz="1250" dirty="0"/>
          </a:p>
        </p:txBody>
      </p:sp>
      <p:sp>
        <p:nvSpPr>
          <p:cNvPr id="28" name="Shape 26"/>
          <p:cNvSpPr/>
          <p:nvPr/>
        </p:nvSpPr>
        <p:spPr>
          <a:xfrm>
            <a:off x="548640" y="4718304"/>
            <a:ext cx="402336" cy="402336"/>
          </a:xfrm>
          <a:prstGeom prst="ellipse">
            <a:avLst/>
          </a:prstGeom>
          <a:solidFill>
            <a:srgbClr val="AC212E"/>
          </a:solidFill>
          <a:ln/>
        </p:spPr>
        <p:txBody>
          <a:bodyPr/>
          <a:lstStyle/>
          <a:p>
            <a:endParaRPr lang="es-CL"/>
          </a:p>
        </p:txBody>
      </p:sp>
      <p:sp>
        <p:nvSpPr>
          <p:cNvPr id="29" name="Text 27"/>
          <p:cNvSpPr/>
          <p:nvPr/>
        </p:nvSpPr>
        <p:spPr>
          <a:xfrm>
            <a:off x="548640" y="4718304"/>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0" name="Text 28"/>
          <p:cNvSpPr/>
          <p:nvPr/>
        </p:nvSpPr>
        <p:spPr>
          <a:xfrm>
            <a:off x="1115568" y="4626864"/>
            <a:ext cx="1371600" cy="402336"/>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Registrar</a:t>
            </a:r>
            <a:endParaRPr lang="en-US" sz="1400" dirty="0"/>
          </a:p>
        </p:txBody>
      </p:sp>
      <p:sp>
        <p:nvSpPr>
          <p:cNvPr id="31" name="Shape 29"/>
          <p:cNvSpPr/>
          <p:nvPr/>
        </p:nvSpPr>
        <p:spPr>
          <a:xfrm>
            <a:off x="2514600" y="4645152"/>
            <a:ext cx="3566160" cy="438912"/>
          </a:xfrm>
          <a:prstGeom prst="roundRect">
            <a:avLst>
              <a:gd name="adj" fmla="val 10417"/>
            </a:avLst>
          </a:prstGeom>
          <a:solidFill>
            <a:srgbClr val="F4F7FA"/>
          </a:solidFill>
          <a:ln w="12700">
            <a:solidFill>
              <a:srgbClr val="F4F7FA"/>
            </a:solidFill>
            <a:prstDash val="solid"/>
          </a:ln>
        </p:spPr>
        <p:txBody>
          <a:bodyPr/>
          <a:lstStyle/>
          <a:p>
            <a:endParaRPr lang="es-CL"/>
          </a:p>
        </p:txBody>
      </p:sp>
      <p:sp>
        <p:nvSpPr>
          <p:cNvPr id="32" name="Text 30"/>
          <p:cNvSpPr/>
          <p:nvPr/>
        </p:nvSpPr>
        <p:spPr>
          <a:xfrm>
            <a:off x="2651760" y="4645152"/>
            <a:ext cx="3291840" cy="438912"/>
          </a:xfrm>
          <a:prstGeom prst="rect">
            <a:avLst/>
          </a:prstGeom>
          <a:noFill/>
          <a:ln/>
        </p:spPr>
        <p:txBody>
          <a:bodyPr wrap="square" lIns="0" tIns="0" rIns="0" bIns="0" rtlCol="0" anchor="ctr"/>
          <a:lstStyle/>
          <a:p>
            <a:pPr marL="0" indent="0">
              <a:buNone/>
            </a:pPr>
            <a:r>
              <a:rPr lang="en-US" sz="1100" dirty="0">
                <a:solidFill>
                  <a:srgbClr val="06304A"/>
                </a:solidFill>
                <a:latin typeface="Courier New" pitchFamily="34" charset="0"/>
                <a:ea typeface="Courier New" pitchFamily="34" charset="-122"/>
                <a:cs typeface="Courier New" pitchFamily="34" charset="-120"/>
              </a:rPr>
              <a:t>git add . · git commit -m "..."</a:t>
            </a:r>
            <a:endParaRPr lang="en-US" sz="1100" dirty="0"/>
          </a:p>
        </p:txBody>
      </p:sp>
      <p:sp>
        <p:nvSpPr>
          <p:cNvPr id="33" name="Text 31"/>
          <p:cNvSpPr/>
          <p:nvPr/>
        </p:nvSpPr>
        <p:spPr>
          <a:xfrm>
            <a:off x="6309360" y="4626864"/>
            <a:ext cx="5303520" cy="457200"/>
          </a:xfrm>
          <a:prstGeom prst="rect">
            <a:avLst/>
          </a:prstGeom>
          <a:noFill/>
          <a:ln/>
        </p:spPr>
        <p:txBody>
          <a:bodyPr wrap="square" lIns="0" tIns="0" rIns="0" bIns="0" rtlCol="0" anchor="ctr"/>
          <a:lstStyle/>
          <a:p>
            <a:pPr marL="0" indent="0">
              <a:buNone/>
            </a:pPr>
            <a:r>
              <a:rPr lang="en-US" sz="1250" dirty="0">
                <a:solidFill>
                  <a:srgbClr val="5A6B7B"/>
                </a:solidFill>
                <a:latin typeface="Calibri" pitchFamily="34" charset="0"/>
                <a:ea typeface="Calibri" pitchFamily="34" charset="-122"/>
                <a:cs typeface="Calibri" pitchFamily="34" charset="-120"/>
              </a:rPr>
              <a:t>Guardar el avance con un mensaje que lo describa.</a:t>
            </a:r>
            <a:endParaRPr lang="en-US" sz="1250" dirty="0"/>
          </a:p>
        </p:txBody>
      </p:sp>
      <p:sp>
        <p:nvSpPr>
          <p:cNvPr id="34" name="Shape 32"/>
          <p:cNvSpPr/>
          <p:nvPr/>
        </p:nvSpPr>
        <p:spPr>
          <a:xfrm>
            <a:off x="548640" y="5440680"/>
            <a:ext cx="402336" cy="402336"/>
          </a:xfrm>
          <a:prstGeom prst="ellipse">
            <a:avLst/>
          </a:prstGeom>
          <a:solidFill>
            <a:srgbClr val="AC212E"/>
          </a:solidFill>
          <a:ln/>
        </p:spPr>
        <p:txBody>
          <a:bodyPr/>
          <a:lstStyle/>
          <a:p>
            <a:endParaRPr lang="es-CL"/>
          </a:p>
        </p:txBody>
      </p:sp>
      <p:sp>
        <p:nvSpPr>
          <p:cNvPr id="35" name="Text 33"/>
          <p:cNvSpPr/>
          <p:nvPr/>
        </p:nvSpPr>
        <p:spPr>
          <a:xfrm>
            <a:off x="548640" y="544068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6" name="Text 34"/>
          <p:cNvSpPr/>
          <p:nvPr/>
        </p:nvSpPr>
        <p:spPr>
          <a:xfrm>
            <a:off x="1115568" y="5349240"/>
            <a:ext cx="1371600" cy="402336"/>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Compartir</a:t>
            </a:r>
            <a:endParaRPr lang="en-US" sz="1400" dirty="0"/>
          </a:p>
        </p:txBody>
      </p:sp>
      <p:sp>
        <p:nvSpPr>
          <p:cNvPr id="37" name="Shape 35"/>
          <p:cNvSpPr/>
          <p:nvPr/>
        </p:nvSpPr>
        <p:spPr>
          <a:xfrm>
            <a:off x="2514600" y="5367528"/>
            <a:ext cx="3566160" cy="438912"/>
          </a:xfrm>
          <a:prstGeom prst="roundRect">
            <a:avLst>
              <a:gd name="adj" fmla="val 10417"/>
            </a:avLst>
          </a:prstGeom>
          <a:solidFill>
            <a:srgbClr val="F4F7FA"/>
          </a:solidFill>
          <a:ln w="12700">
            <a:solidFill>
              <a:srgbClr val="F4F7FA"/>
            </a:solidFill>
            <a:prstDash val="solid"/>
          </a:ln>
        </p:spPr>
        <p:txBody>
          <a:bodyPr/>
          <a:lstStyle/>
          <a:p>
            <a:endParaRPr lang="es-CL"/>
          </a:p>
        </p:txBody>
      </p:sp>
      <p:sp>
        <p:nvSpPr>
          <p:cNvPr id="38" name="Text 36"/>
          <p:cNvSpPr/>
          <p:nvPr/>
        </p:nvSpPr>
        <p:spPr>
          <a:xfrm>
            <a:off x="2651760" y="5367528"/>
            <a:ext cx="3291840" cy="438912"/>
          </a:xfrm>
          <a:prstGeom prst="rect">
            <a:avLst/>
          </a:prstGeom>
          <a:noFill/>
          <a:ln/>
        </p:spPr>
        <p:txBody>
          <a:bodyPr wrap="square" lIns="0" tIns="0" rIns="0" bIns="0" rtlCol="0" anchor="ctr"/>
          <a:lstStyle/>
          <a:p>
            <a:pPr marL="0" indent="0">
              <a:buNone/>
            </a:pPr>
            <a:r>
              <a:rPr lang="en-US" sz="1100" dirty="0">
                <a:solidFill>
                  <a:srgbClr val="06304A"/>
                </a:solidFill>
                <a:latin typeface="Courier New" pitchFamily="34" charset="0"/>
                <a:ea typeface="Courier New" pitchFamily="34" charset="-122"/>
                <a:cs typeface="Courier New" pitchFamily="34" charset="-120"/>
              </a:rPr>
              <a:t>git pull · git push</a:t>
            </a:r>
            <a:endParaRPr lang="en-US" sz="1100" dirty="0"/>
          </a:p>
        </p:txBody>
      </p:sp>
      <p:sp>
        <p:nvSpPr>
          <p:cNvPr id="39" name="Text 37"/>
          <p:cNvSpPr/>
          <p:nvPr/>
        </p:nvSpPr>
        <p:spPr>
          <a:xfrm>
            <a:off x="6309360" y="5349240"/>
            <a:ext cx="5303520" cy="457200"/>
          </a:xfrm>
          <a:prstGeom prst="rect">
            <a:avLst/>
          </a:prstGeom>
          <a:noFill/>
          <a:ln/>
        </p:spPr>
        <p:txBody>
          <a:bodyPr wrap="square" lIns="0" tIns="0" rIns="0" bIns="0" rtlCol="0" anchor="ctr"/>
          <a:lstStyle/>
          <a:p>
            <a:pPr marL="0" indent="0">
              <a:buNone/>
            </a:pPr>
            <a:r>
              <a:rPr lang="en-US" sz="1250" dirty="0">
                <a:solidFill>
                  <a:srgbClr val="5A6B7B"/>
                </a:solidFill>
                <a:latin typeface="Calibri" pitchFamily="34" charset="0"/>
                <a:ea typeface="Calibri" pitchFamily="34" charset="-122"/>
                <a:cs typeface="Calibri" pitchFamily="34" charset="-120"/>
              </a:rPr>
              <a:t>Traer de nuevo y subir. Nunca forzar el push.</a:t>
            </a:r>
            <a:endParaRPr lang="en-US" sz="1250" dirty="0"/>
          </a:p>
        </p:txBody>
      </p:sp>
      <p:sp>
        <p:nvSpPr>
          <p:cNvPr id="40" name="Text 38"/>
          <p:cNvSpPr/>
          <p:nvPr/>
        </p:nvSpPr>
        <p:spPr>
          <a:xfrm>
            <a:off x="548640" y="6327648"/>
            <a:ext cx="11064240" cy="274320"/>
          </a:xfrm>
          <a:prstGeom prst="rect">
            <a:avLst/>
          </a:prstGeom>
          <a:noFill/>
          <a:ln/>
        </p:spPr>
        <p:txBody>
          <a:bodyPr wrap="square" lIns="0" tIns="0" rIns="0" bIns="0" rtlCol="0" anchor="ctr"/>
          <a:lstStyle/>
          <a:p>
            <a:pPr marL="0" indent="0">
              <a:buNone/>
            </a:pPr>
            <a:r>
              <a:rPr lang="en-US" sz="1000" dirty="0">
                <a:solidFill>
                  <a:srgbClr val="5A6B7B"/>
                </a:solidFill>
                <a:latin typeface="Calibri" pitchFamily="34" charset="0"/>
                <a:ea typeface="Calibri" pitchFamily="34" charset="-122"/>
                <a:cs typeface="Calibri" pitchFamily="34" charset="-120"/>
              </a:rPr>
              <a:t>Los comandos de activación del entorno cambian entre macOS y Windows; el resto es idéntico en ambos sistemas.</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Cuando dos personas tocan lo mismo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Un conflicto no es un error: es Git pidiendo una decisión que solo el equipo puede tomar.</a:t>
            </a:r>
            <a:endParaRPr lang="en-US" sz="1400" dirty="0"/>
          </a:p>
        </p:txBody>
      </p:sp>
      <p:sp>
        <p:nvSpPr>
          <p:cNvPr id="4" name="Shape 2"/>
          <p:cNvSpPr/>
          <p:nvPr/>
        </p:nvSpPr>
        <p:spPr>
          <a:xfrm>
            <a:off x="548640" y="1783080"/>
            <a:ext cx="5669280" cy="2468880"/>
          </a:xfrm>
          <a:prstGeom prst="roundRect">
            <a:avLst>
              <a:gd name="adj" fmla="val 3333"/>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68680" y="1938528"/>
            <a:ext cx="502920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Así se ve un conflicto</a:t>
            </a:r>
            <a:endParaRPr lang="en-US" sz="1400" dirty="0"/>
          </a:p>
        </p:txBody>
      </p:sp>
      <p:sp>
        <p:nvSpPr>
          <p:cNvPr id="6" name="Text 4"/>
          <p:cNvSpPr/>
          <p:nvPr/>
        </p:nvSpPr>
        <p:spPr>
          <a:xfrm>
            <a:off x="868680" y="2331720"/>
            <a:ext cx="5029200" cy="1554480"/>
          </a:xfrm>
          <a:prstGeom prst="rect">
            <a:avLst/>
          </a:prstGeom>
          <a:noFill/>
          <a:ln/>
        </p:spPr>
        <p:txBody>
          <a:bodyPr wrap="square" lIns="0" tIns="0" rIns="0" bIns="0" rtlCol="0" anchor="ctr"/>
          <a:lstStyle/>
          <a:p>
            <a:pPr marL="0" indent="0">
              <a:lnSpc>
                <a:spcPts val="1600"/>
              </a:lnSpc>
              <a:buNone/>
            </a:pPr>
            <a:r>
              <a:rPr lang="en-US" sz="1100" dirty="0">
                <a:solidFill>
                  <a:srgbClr val="06304A"/>
                </a:solidFill>
                <a:latin typeface="Courier New" pitchFamily="34" charset="0"/>
                <a:ea typeface="Courier New" pitchFamily="34" charset="-122"/>
                <a:cs typeface="Courier New" pitchFamily="34" charset="-120"/>
              </a:rPr>
              <a:t>&lt;&lt;&lt;&lt;&lt;&lt;&lt; HEAD</a:t>
            </a:r>
            <a:endParaRPr lang="en-US" sz="1100" dirty="0"/>
          </a:p>
          <a:p>
            <a:pPr marL="0" indent="0">
              <a:lnSpc>
                <a:spcPts val="1600"/>
              </a:lnSpc>
              <a:buNone/>
            </a:pPr>
            <a:r>
              <a:rPr lang="en-US" sz="1100" dirty="0">
                <a:solidFill>
                  <a:srgbClr val="06304A"/>
                </a:solidFill>
                <a:latin typeface="Courier New" pitchFamily="34" charset="0"/>
                <a:ea typeface="Courier New" pitchFamily="34" charset="-122"/>
                <a:cs typeface="Courier New" pitchFamily="34" charset="-120"/>
              </a:rPr>
              <a:t>df = df.dropna(subset=["edad"])</a:t>
            </a:r>
            <a:endParaRPr lang="en-US" sz="1100" dirty="0"/>
          </a:p>
          <a:p>
            <a:pPr marL="0" indent="0">
              <a:lnSpc>
                <a:spcPts val="1600"/>
              </a:lnSpc>
              <a:buNone/>
            </a:pPr>
            <a:r>
              <a:rPr lang="en-US" sz="1100" dirty="0">
                <a:solidFill>
                  <a:srgbClr val="06304A"/>
                </a:solidFill>
                <a:latin typeface="Courier New" pitchFamily="34" charset="0"/>
                <a:ea typeface="Courier New" pitchFamily="34" charset="-122"/>
                <a:cs typeface="Courier New" pitchFamily="34" charset="-120"/>
              </a:rPr>
              <a:t>=======</a:t>
            </a:r>
            <a:endParaRPr lang="en-US" sz="1100" dirty="0"/>
          </a:p>
          <a:p>
            <a:pPr marL="0" indent="0">
              <a:lnSpc>
                <a:spcPts val="1600"/>
              </a:lnSpc>
              <a:buNone/>
            </a:pPr>
            <a:r>
              <a:rPr lang="en-US" sz="1100" dirty="0">
                <a:solidFill>
                  <a:srgbClr val="06304A"/>
                </a:solidFill>
                <a:latin typeface="Courier New" pitchFamily="34" charset="0"/>
                <a:ea typeface="Courier New" pitchFamily="34" charset="-122"/>
                <a:cs typeface="Courier New" pitchFamily="34" charset="-120"/>
              </a:rPr>
              <a:t>df["edad"] = df["edad"].fillna(mediana)</a:t>
            </a:r>
            <a:endParaRPr lang="en-US" sz="1100" dirty="0"/>
          </a:p>
          <a:p>
            <a:pPr marL="0" indent="0">
              <a:lnSpc>
                <a:spcPts val="1600"/>
              </a:lnSpc>
              <a:buNone/>
            </a:pPr>
            <a:r>
              <a:rPr lang="en-US" sz="1100" dirty="0">
                <a:solidFill>
                  <a:srgbClr val="06304A"/>
                </a:solidFill>
                <a:latin typeface="Courier New" pitchFamily="34" charset="0"/>
                <a:ea typeface="Courier New" pitchFamily="34" charset="-122"/>
                <a:cs typeface="Courier New" pitchFamily="34" charset="-120"/>
              </a:rPr>
              <a:t>&gt;&gt;&gt;&gt;&gt;&gt;&gt; f2-limpieza-datos</a:t>
            </a:r>
            <a:endParaRPr lang="en-US" sz="1100" dirty="0"/>
          </a:p>
        </p:txBody>
      </p:sp>
      <p:sp>
        <p:nvSpPr>
          <p:cNvPr id="7" name="Text 5"/>
          <p:cNvSpPr/>
          <p:nvPr/>
        </p:nvSpPr>
        <p:spPr>
          <a:xfrm>
            <a:off x="868680" y="3840480"/>
            <a:ext cx="5029200" cy="274320"/>
          </a:xfrm>
          <a:prstGeom prst="rect">
            <a:avLst/>
          </a:prstGeom>
          <a:noFill/>
          <a:ln/>
        </p:spPr>
        <p:txBody>
          <a:bodyPr wrap="square" lIns="0" tIns="0" rIns="0" bIns="0" rtlCol="0" anchor="ctr"/>
          <a:lstStyle/>
          <a:p>
            <a:pPr marL="0" indent="0">
              <a:buNone/>
            </a:pPr>
            <a:r>
              <a:rPr lang="en-US" sz="1200" i="1" dirty="0">
                <a:solidFill>
                  <a:srgbClr val="5A6B7B"/>
                </a:solidFill>
                <a:latin typeface="Calibri" pitchFamily="34" charset="0"/>
                <a:ea typeface="Calibri" pitchFamily="34" charset="-122"/>
                <a:cs typeface="Calibri" pitchFamily="34" charset="-120"/>
              </a:rPr>
              <a:t>Arriba su versión, abajo la del compañero.</a:t>
            </a:r>
            <a:endParaRPr lang="en-US" sz="1200" dirty="0"/>
          </a:p>
        </p:txBody>
      </p:sp>
      <p:sp>
        <p:nvSpPr>
          <p:cNvPr id="8" name="Shape 6"/>
          <p:cNvSpPr/>
          <p:nvPr/>
        </p:nvSpPr>
        <p:spPr>
          <a:xfrm>
            <a:off x="6492240" y="1783080"/>
            <a:ext cx="5120640" cy="2468880"/>
          </a:xfrm>
          <a:prstGeom prst="roundRect">
            <a:avLst>
              <a:gd name="adj" fmla="val 3333"/>
            </a:avLst>
          </a:prstGeom>
          <a:solidFill>
            <a:srgbClr val="0A1526"/>
          </a:solidFill>
          <a:ln w="12700">
            <a:solidFill>
              <a:srgbClr val="0A1526"/>
            </a:solidFill>
            <a:prstDash val="solid"/>
          </a:ln>
        </p:spPr>
        <p:txBody>
          <a:bodyPr/>
          <a:lstStyle/>
          <a:p>
            <a:endParaRPr lang="es-CL"/>
          </a:p>
        </p:txBody>
      </p:sp>
      <p:sp>
        <p:nvSpPr>
          <p:cNvPr id="9" name="Text 7"/>
          <p:cNvSpPr/>
          <p:nvPr/>
        </p:nvSpPr>
        <p:spPr>
          <a:xfrm>
            <a:off x="6812280" y="1938528"/>
            <a:ext cx="448056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Qué hacer</a:t>
            </a:r>
            <a:endParaRPr lang="en-US" sz="1400" dirty="0"/>
          </a:p>
        </p:txBody>
      </p:sp>
      <p:sp>
        <p:nvSpPr>
          <p:cNvPr id="10" name="Shape 8"/>
          <p:cNvSpPr/>
          <p:nvPr/>
        </p:nvSpPr>
        <p:spPr>
          <a:xfrm>
            <a:off x="6812280" y="2432304"/>
            <a:ext cx="219456" cy="219456"/>
          </a:xfrm>
          <a:prstGeom prst="ellipse">
            <a:avLst/>
          </a:prstGeom>
          <a:solidFill>
            <a:srgbClr val="AC212E"/>
          </a:solidFill>
          <a:ln/>
        </p:spPr>
        <p:txBody>
          <a:bodyPr/>
          <a:lstStyle/>
          <a:p>
            <a:endParaRPr lang="es-CL"/>
          </a:p>
        </p:txBody>
      </p:sp>
      <p:sp>
        <p:nvSpPr>
          <p:cNvPr id="11" name="Text 9"/>
          <p:cNvSpPr/>
          <p:nvPr/>
        </p:nvSpPr>
        <p:spPr>
          <a:xfrm>
            <a:off x="7178040" y="2331720"/>
            <a:ext cx="4114800" cy="548640"/>
          </a:xfrm>
          <a:prstGeom prst="rect">
            <a:avLst/>
          </a:prstGeom>
          <a:noFill/>
          <a:ln/>
        </p:spPr>
        <p:txBody>
          <a:bodyPr wrap="square" lIns="0" tIns="0" rIns="0" bIns="0" rtlCol="0" anchor="ctr"/>
          <a:lstStyle/>
          <a:p>
            <a:pPr marL="0" indent="0">
              <a:lnSpc>
                <a:spcPts val="1500"/>
              </a:lnSpc>
              <a:buNone/>
            </a:pPr>
            <a:r>
              <a:rPr lang="en-US" sz="1200" dirty="0">
                <a:solidFill>
                  <a:srgbClr val="D7E3EE"/>
                </a:solidFill>
                <a:latin typeface="Calibri" pitchFamily="34" charset="0"/>
                <a:ea typeface="Calibri" pitchFamily="34" charset="-122"/>
                <a:cs typeface="Calibri" pitchFamily="34" charset="-120"/>
              </a:rPr>
              <a:t>Conversar: en el ejemplo, eliminar filas o imputar la mediana no son equivalentes.</a:t>
            </a:r>
            <a:endParaRPr lang="en-US" sz="1200" dirty="0"/>
          </a:p>
        </p:txBody>
      </p:sp>
      <p:sp>
        <p:nvSpPr>
          <p:cNvPr id="12" name="Shape 10"/>
          <p:cNvSpPr/>
          <p:nvPr/>
        </p:nvSpPr>
        <p:spPr>
          <a:xfrm>
            <a:off x="6812280" y="3026664"/>
            <a:ext cx="219456" cy="219456"/>
          </a:xfrm>
          <a:prstGeom prst="ellipse">
            <a:avLst/>
          </a:prstGeom>
          <a:solidFill>
            <a:srgbClr val="AC212E"/>
          </a:solidFill>
          <a:ln/>
        </p:spPr>
        <p:txBody>
          <a:bodyPr/>
          <a:lstStyle/>
          <a:p>
            <a:endParaRPr lang="es-CL"/>
          </a:p>
        </p:txBody>
      </p:sp>
      <p:sp>
        <p:nvSpPr>
          <p:cNvPr id="13" name="Text 11"/>
          <p:cNvSpPr/>
          <p:nvPr/>
        </p:nvSpPr>
        <p:spPr>
          <a:xfrm>
            <a:off x="7178040" y="2926080"/>
            <a:ext cx="4114800" cy="548640"/>
          </a:xfrm>
          <a:prstGeom prst="rect">
            <a:avLst/>
          </a:prstGeom>
          <a:noFill/>
          <a:ln/>
        </p:spPr>
        <p:txBody>
          <a:bodyPr wrap="square" lIns="0" tIns="0" rIns="0" bIns="0" rtlCol="0" anchor="ctr"/>
          <a:lstStyle/>
          <a:p>
            <a:pPr marL="0" indent="0">
              <a:lnSpc>
                <a:spcPts val="1500"/>
              </a:lnSpc>
              <a:buNone/>
            </a:pPr>
            <a:r>
              <a:rPr lang="en-US" sz="1200" dirty="0">
                <a:solidFill>
                  <a:srgbClr val="D7E3EE"/>
                </a:solidFill>
                <a:latin typeface="Calibri" pitchFamily="34" charset="0"/>
                <a:ea typeface="Calibri" pitchFamily="34" charset="-122"/>
                <a:cs typeface="Calibri" pitchFamily="34" charset="-120"/>
              </a:rPr>
              <a:t>Editar el archivo dejando la versión correcta y borrar las líneas de marcas.</a:t>
            </a:r>
            <a:endParaRPr lang="en-US" sz="1200" dirty="0"/>
          </a:p>
        </p:txBody>
      </p:sp>
      <p:sp>
        <p:nvSpPr>
          <p:cNvPr id="14" name="Shape 12"/>
          <p:cNvSpPr/>
          <p:nvPr/>
        </p:nvSpPr>
        <p:spPr>
          <a:xfrm>
            <a:off x="6812280" y="3621024"/>
            <a:ext cx="219456" cy="219456"/>
          </a:xfrm>
          <a:prstGeom prst="ellipse">
            <a:avLst/>
          </a:prstGeom>
          <a:solidFill>
            <a:srgbClr val="AC212E"/>
          </a:solidFill>
          <a:ln/>
        </p:spPr>
        <p:txBody>
          <a:bodyPr/>
          <a:lstStyle/>
          <a:p>
            <a:endParaRPr lang="es-CL"/>
          </a:p>
        </p:txBody>
      </p:sp>
      <p:sp>
        <p:nvSpPr>
          <p:cNvPr id="15" name="Text 13"/>
          <p:cNvSpPr/>
          <p:nvPr/>
        </p:nvSpPr>
        <p:spPr>
          <a:xfrm>
            <a:off x="7178040" y="3520440"/>
            <a:ext cx="4114800" cy="548640"/>
          </a:xfrm>
          <a:prstGeom prst="rect">
            <a:avLst/>
          </a:prstGeom>
          <a:noFill/>
          <a:ln/>
        </p:spPr>
        <p:txBody>
          <a:bodyPr wrap="square" lIns="0" tIns="0" rIns="0" bIns="0" rtlCol="0" anchor="ctr"/>
          <a:lstStyle/>
          <a:p>
            <a:pPr marL="0" indent="0">
              <a:lnSpc>
                <a:spcPts val="1500"/>
              </a:lnSpc>
              <a:buNone/>
            </a:pPr>
            <a:r>
              <a:rPr lang="en-US" sz="1200" dirty="0">
                <a:solidFill>
                  <a:srgbClr val="D7E3EE"/>
                </a:solidFill>
                <a:latin typeface="Calibri" pitchFamily="34" charset="0"/>
                <a:ea typeface="Calibri" pitchFamily="34" charset="-122"/>
                <a:cs typeface="Calibri" pitchFamily="34" charset="-120"/>
              </a:rPr>
              <a:t>Confirmar con git add y git commit.</a:t>
            </a:r>
            <a:endParaRPr lang="en-US" sz="1200" dirty="0"/>
          </a:p>
        </p:txBody>
      </p:sp>
      <p:sp>
        <p:nvSpPr>
          <p:cNvPr id="16" name="Shape 14"/>
          <p:cNvSpPr/>
          <p:nvPr/>
        </p:nvSpPr>
        <p:spPr>
          <a:xfrm>
            <a:off x="548640" y="4526280"/>
            <a:ext cx="3520440" cy="1417320"/>
          </a:xfrm>
          <a:prstGeom prst="roundRect">
            <a:avLst>
              <a:gd name="adj" fmla="val 5806"/>
            </a:avLst>
          </a:prstGeom>
          <a:solidFill>
            <a:srgbClr val="F6E7E9"/>
          </a:solidFill>
          <a:ln w="12700">
            <a:solidFill>
              <a:srgbClr val="F6E7E9"/>
            </a:solidFill>
            <a:prstDash val="solid"/>
          </a:ln>
        </p:spPr>
        <p:txBody>
          <a:bodyPr/>
          <a:lstStyle/>
          <a:p>
            <a:endParaRPr lang="es-CL"/>
          </a:p>
        </p:txBody>
      </p:sp>
      <p:sp>
        <p:nvSpPr>
          <p:cNvPr id="17" name="Text 15"/>
          <p:cNvSpPr/>
          <p:nvPr/>
        </p:nvSpPr>
        <p:spPr>
          <a:xfrm>
            <a:off x="777240" y="4681728"/>
            <a:ext cx="306324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Prevenir</a:t>
            </a:r>
            <a:endParaRPr lang="en-US" sz="1400" dirty="0"/>
          </a:p>
        </p:txBody>
      </p:sp>
      <p:sp>
        <p:nvSpPr>
          <p:cNvPr id="18" name="Text 16"/>
          <p:cNvSpPr/>
          <p:nvPr/>
        </p:nvSpPr>
        <p:spPr>
          <a:xfrm>
            <a:off x="777240" y="5029200"/>
            <a:ext cx="3063240" cy="777240"/>
          </a:xfrm>
          <a:prstGeom prst="rect">
            <a:avLst/>
          </a:prstGeom>
          <a:noFill/>
          <a:ln/>
        </p:spPr>
        <p:txBody>
          <a:bodyPr wrap="square" lIns="0" tIns="0" rIns="0" bIns="0" rtlCol="0" anchor="ctr"/>
          <a:lstStyle/>
          <a:p>
            <a:pPr marL="0" indent="0">
              <a:lnSpc>
                <a:spcPts val="1600"/>
              </a:lnSpc>
              <a:buNone/>
            </a:pPr>
            <a:r>
              <a:rPr lang="en-US" sz="1200" dirty="0">
                <a:solidFill>
                  <a:srgbClr val="06304A"/>
                </a:solidFill>
                <a:latin typeface="Calibri" pitchFamily="34" charset="0"/>
                <a:ea typeface="Calibri" pitchFamily="34" charset="-122"/>
                <a:cs typeface="Calibri" pitchFamily="34" charset="-120"/>
              </a:rPr>
              <a:t>nbstripout activo en los cuatro equipos reduce drásticamente los conflictos en notebooks.</a:t>
            </a:r>
            <a:endParaRPr lang="en-US" sz="1200" dirty="0"/>
          </a:p>
        </p:txBody>
      </p:sp>
      <p:sp>
        <p:nvSpPr>
          <p:cNvPr id="19" name="Shape 17"/>
          <p:cNvSpPr/>
          <p:nvPr/>
        </p:nvSpPr>
        <p:spPr>
          <a:xfrm>
            <a:off x="4325112" y="4526280"/>
            <a:ext cx="3520440" cy="1417320"/>
          </a:xfrm>
          <a:prstGeom prst="roundRect">
            <a:avLst>
              <a:gd name="adj" fmla="val 5806"/>
            </a:avLst>
          </a:prstGeom>
          <a:solidFill>
            <a:srgbClr val="F6E7E9"/>
          </a:solidFill>
          <a:ln w="12700">
            <a:solidFill>
              <a:srgbClr val="F6E7E9"/>
            </a:solidFill>
            <a:prstDash val="solid"/>
          </a:ln>
        </p:spPr>
        <p:txBody>
          <a:bodyPr/>
          <a:lstStyle/>
          <a:p>
            <a:endParaRPr lang="es-CL"/>
          </a:p>
        </p:txBody>
      </p:sp>
      <p:sp>
        <p:nvSpPr>
          <p:cNvPr id="20" name="Text 18"/>
          <p:cNvSpPr/>
          <p:nvPr/>
        </p:nvSpPr>
        <p:spPr>
          <a:xfrm>
            <a:off x="4553712" y="4681728"/>
            <a:ext cx="306324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Repartir</a:t>
            </a:r>
            <a:endParaRPr lang="en-US" sz="1400" dirty="0"/>
          </a:p>
        </p:txBody>
      </p:sp>
      <p:sp>
        <p:nvSpPr>
          <p:cNvPr id="21" name="Text 19"/>
          <p:cNvSpPr/>
          <p:nvPr/>
        </p:nvSpPr>
        <p:spPr>
          <a:xfrm>
            <a:off x="4553712" y="5029200"/>
            <a:ext cx="3063240" cy="777240"/>
          </a:xfrm>
          <a:prstGeom prst="rect">
            <a:avLst/>
          </a:prstGeom>
          <a:noFill/>
          <a:ln/>
        </p:spPr>
        <p:txBody>
          <a:bodyPr wrap="square" lIns="0" tIns="0" rIns="0" bIns="0" rtlCol="0" anchor="ctr"/>
          <a:lstStyle/>
          <a:p>
            <a:pPr marL="0" indent="0">
              <a:lnSpc>
                <a:spcPts val="1600"/>
              </a:lnSpc>
              <a:buNone/>
            </a:pPr>
            <a:r>
              <a:rPr lang="en-US" sz="1200" dirty="0">
                <a:solidFill>
                  <a:srgbClr val="06304A"/>
                </a:solidFill>
                <a:latin typeface="Calibri" pitchFamily="34" charset="0"/>
                <a:ea typeface="Calibri" pitchFamily="34" charset="-122"/>
                <a:cs typeface="Calibri" pitchFamily="34" charset="-120"/>
              </a:rPr>
              <a:t>Trabajar por archivo, no por línea: dos personas en el mismo notebook a la misma hora chocan siempre.</a:t>
            </a:r>
            <a:endParaRPr lang="en-US" sz="1200" dirty="0"/>
          </a:p>
        </p:txBody>
      </p:sp>
      <p:sp>
        <p:nvSpPr>
          <p:cNvPr id="22" name="Shape 20"/>
          <p:cNvSpPr/>
          <p:nvPr/>
        </p:nvSpPr>
        <p:spPr>
          <a:xfrm>
            <a:off x="8101584" y="4526280"/>
            <a:ext cx="3520440" cy="1417320"/>
          </a:xfrm>
          <a:prstGeom prst="roundRect">
            <a:avLst>
              <a:gd name="adj" fmla="val 5806"/>
            </a:avLst>
          </a:prstGeom>
          <a:solidFill>
            <a:srgbClr val="F6E7E9"/>
          </a:solidFill>
          <a:ln w="12700">
            <a:solidFill>
              <a:srgbClr val="F6E7E9"/>
            </a:solidFill>
            <a:prstDash val="solid"/>
          </a:ln>
        </p:spPr>
        <p:txBody>
          <a:bodyPr/>
          <a:lstStyle/>
          <a:p>
            <a:endParaRPr lang="es-CL"/>
          </a:p>
        </p:txBody>
      </p:sp>
      <p:sp>
        <p:nvSpPr>
          <p:cNvPr id="23" name="Text 21"/>
          <p:cNvSpPr/>
          <p:nvPr/>
        </p:nvSpPr>
        <p:spPr>
          <a:xfrm>
            <a:off x="8330184" y="4681728"/>
            <a:ext cx="306324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Practicar</a:t>
            </a:r>
            <a:endParaRPr lang="en-US" sz="1400" dirty="0"/>
          </a:p>
        </p:txBody>
      </p:sp>
      <p:sp>
        <p:nvSpPr>
          <p:cNvPr id="24" name="Text 22"/>
          <p:cNvSpPr/>
          <p:nvPr/>
        </p:nvSpPr>
        <p:spPr>
          <a:xfrm>
            <a:off x="8330184" y="5029200"/>
            <a:ext cx="3063240" cy="777240"/>
          </a:xfrm>
          <a:prstGeom prst="rect">
            <a:avLst/>
          </a:prstGeom>
          <a:noFill/>
          <a:ln/>
        </p:spPr>
        <p:txBody>
          <a:bodyPr wrap="square" lIns="0" tIns="0" rIns="0" bIns="0" rtlCol="0" anchor="ctr"/>
          <a:lstStyle/>
          <a:p>
            <a:pPr marL="0" indent="0">
              <a:lnSpc>
                <a:spcPts val="1600"/>
              </a:lnSpc>
              <a:buNone/>
            </a:pPr>
            <a:r>
              <a:rPr lang="en-US" sz="1200" dirty="0">
                <a:solidFill>
                  <a:srgbClr val="06304A"/>
                </a:solidFill>
                <a:latin typeface="Calibri" pitchFamily="34" charset="0"/>
                <a:ea typeface="Calibri" pitchFamily="34" charset="-122"/>
                <a:cs typeface="Calibri" pitchFamily="34" charset="-120"/>
              </a:rPr>
              <a:t>Provoquen un conflicto a propósito en la semana 1, no la noche antes de entregar.</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Dónde falla el acoplamiento entre las piezas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Casi ningún problema viene de una herramienta sola: viene de cómo se conectan.</a:t>
            </a:r>
            <a:endParaRPr lang="en-US" sz="1400" dirty="0"/>
          </a:p>
        </p:txBody>
      </p:sp>
      <p:graphicFrame>
        <p:nvGraphicFramePr>
          <p:cNvPr id="14" name="Table 0"/>
          <p:cNvGraphicFramePr>
            <a:graphicFrameLocks noGrp="1"/>
          </p:cNvGraphicFramePr>
          <p:nvPr/>
        </p:nvGraphicFramePr>
        <p:xfrm>
          <a:off x="548640" y="1783080"/>
          <a:ext cx="11064240" cy="3520440"/>
        </p:xfrm>
        <a:graphic>
          <a:graphicData uri="http://schemas.openxmlformats.org/drawingml/2006/table">
            <a:tbl>
              <a:tblPr/>
              <a:tblGrid>
                <a:gridCol w="356616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50292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Síntoma</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Dónde está la falla</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Corrección</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extLst>
                  <a:ext uri="{0D108BD9-81ED-4DB2-BD59-A6C34878D82A}">
                    <a16:rowId xmlns:a16="http://schemas.microsoft.com/office/drawing/2014/main" val="10000"/>
                  </a:ext>
                </a:extLst>
              </a:tr>
              <a:tr h="50292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«A mí me funciona y a ti no»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Kernel genérico en vez del kernel del proyecto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Seleccionar el kernel del entorno virtual</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ModuleNotFoundError con un paquete instalado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Entorno virtual no activado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Activar el entorno y verificar que aparezca (.venv)</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El notebook no corre en otro equipo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Rutas absolutas en el código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Usar rutas relativas desde la raíz del proyecto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El repositorio pesa cientos de MB</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Se versionó la carpeta del entorno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Declararla en .gitignore antes del primer commit</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Conflictos permanentes en el .ipynb</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Las salidas del notebook van al historial</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Activar nbstripout en cada equipo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push rechazado (non-fast-forward)</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El remoto tiene commits que usted no tiene</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Hacer git pull y resolver. Nunca --force</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A152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55000"/>
          </a:blip>
          <a:stretch>
            <a:fillRect/>
          </a:stretch>
        </p:blipFill>
        <p:spPr>
          <a:xfrm>
            <a:off x="6675120" y="0"/>
            <a:ext cx="5513832" cy="3227832"/>
          </a:xfrm>
          <a:prstGeom prst="rect">
            <a:avLst/>
          </a:prstGeom>
        </p:spPr>
      </p:pic>
      <p:sp>
        <p:nvSpPr>
          <p:cNvPr id="3" name="Shape 0"/>
          <p:cNvSpPr/>
          <p:nvPr/>
        </p:nvSpPr>
        <p:spPr>
          <a:xfrm>
            <a:off x="6675120" y="0"/>
            <a:ext cx="5513832" cy="3227832"/>
          </a:xfrm>
          <a:prstGeom prst="rect">
            <a:avLst/>
          </a:prstGeom>
          <a:solidFill>
            <a:srgbClr val="0A1526">
              <a:alpha val="45000"/>
            </a:srgbClr>
          </a:solidFill>
          <a:ln w="12700">
            <a:solidFill>
              <a:srgbClr val="0A1526">
                <a:alpha val="0"/>
              </a:srgbClr>
            </a:solidFill>
            <a:prstDash val="solid"/>
          </a:ln>
        </p:spPr>
        <p:txBody>
          <a:bodyPr/>
          <a:lstStyle/>
          <a:p>
            <a:endParaRPr lang="es-CL"/>
          </a:p>
        </p:txBody>
      </p:sp>
      <p:pic>
        <p:nvPicPr>
          <p:cNvPr id="4" name="Image 1" descr="preencoded.png"/>
          <p:cNvPicPr>
            <a:picLocks noChangeAspect="1"/>
          </p:cNvPicPr>
          <p:nvPr/>
        </p:nvPicPr>
        <p:blipFill>
          <a:blip r:embed="rId4"/>
          <a:stretch>
            <a:fillRect/>
          </a:stretch>
        </p:blipFill>
        <p:spPr>
          <a:xfrm>
            <a:off x="548640" y="457200"/>
            <a:ext cx="4754880" cy="886968"/>
          </a:xfrm>
          <a:prstGeom prst="rect">
            <a:avLst/>
          </a:prstGeom>
        </p:spPr>
      </p:pic>
      <p:sp>
        <p:nvSpPr>
          <p:cNvPr id="5" name="Text 1"/>
          <p:cNvSpPr/>
          <p:nvPr/>
        </p:nvSpPr>
        <p:spPr>
          <a:xfrm>
            <a:off x="548640" y="1920240"/>
            <a:ext cx="7680960" cy="594360"/>
          </a:xfrm>
          <a:prstGeom prst="rect">
            <a:avLst/>
          </a:prstGeom>
          <a:noFill/>
          <a:ln/>
        </p:spPr>
        <p:txBody>
          <a:bodyPr wrap="square" lIns="0" tIns="0" rIns="0" bIns="0" rtlCol="0" anchor="ctr"/>
          <a:lstStyle/>
          <a:p>
            <a:pPr marL="0" indent="0">
              <a:buNone/>
            </a:pPr>
            <a:r>
              <a:rPr lang="en-US" sz="3600" b="1" kern="0" spc="200" dirty="0">
                <a:solidFill>
                  <a:srgbClr val="FFFFFF"/>
                </a:solidFill>
                <a:latin typeface="Cambria" pitchFamily="34" charset="0"/>
                <a:ea typeface="Cambria" pitchFamily="34" charset="-122"/>
                <a:cs typeface="Cambria" pitchFamily="34" charset="-120"/>
              </a:rPr>
              <a:t>EL CONJUNTO DE DATOS</a:t>
            </a:r>
            <a:endParaRPr lang="en-US" sz="3600" dirty="0"/>
          </a:p>
        </p:txBody>
      </p:sp>
      <p:sp>
        <p:nvSpPr>
          <p:cNvPr id="6" name="Text 2"/>
          <p:cNvSpPr/>
          <p:nvPr/>
        </p:nvSpPr>
        <p:spPr>
          <a:xfrm>
            <a:off x="548640" y="2651760"/>
            <a:ext cx="7680960" cy="502920"/>
          </a:xfrm>
          <a:prstGeom prst="rect">
            <a:avLst/>
          </a:prstGeom>
          <a:noFill/>
          <a:ln/>
        </p:spPr>
        <p:txBody>
          <a:bodyPr wrap="square" lIns="0" tIns="0" rIns="0" bIns="0" rtlCol="0" anchor="ctr"/>
          <a:lstStyle/>
          <a:p>
            <a:pPr marL="0" indent="0">
              <a:buNone/>
            </a:pPr>
            <a:r>
              <a:rPr lang="en-US" sz="2400" dirty="0">
                <a:solidFill>
                  <a:srgbClr val="D7E3EE"/>
                </a:solidFill>
                <a:latin typeface="Cambria" pitchFamily="34" charset="0"/>
                <a:ea typeface="Cambria" pitchFamily="34" charset="-122"/>
                <a:cs typeface="Cambria" pitchFamily="34" charset="-120"/>
              </a:rPr>
              <a:t>Cómo elegirlo y cómo verificar que sirve</a:t>
            </a:r>
            <a:endParaRPr lang="en-US" sz="2400" dirty="0"/>
          </a:p>
        </p:txBody>
      </p:sp>
      <p:sp>
        <p:nvSpPr>
          <p:cNvPr id="7" name="Shape 3"/>
          <p:cNvSpPr/>
          <p:nvPr/>
        </p:nvSpPr>
        <p:spPr>
          <a:xfrm>
            <a:off x="548640" y="3383280"/>
            <a:ext cx="1280160" cy="45720"/>
          </a:xfrm>
          <a:prstGeom prst="rect">
            <a:avLst/>
          </a:prstGeom>
          <a:solidFill>
            <a:srgbClr val="AC212E"/>
          </a:solidFill>
          <a:ln w="12700">
            <a:solidFill>
              <a:srgbClr val="AC212E"/>
            </a:solidFill>
            <a:prstDash val="solid"/>
          </a:ln>
        </p:spPr>
        <p:txBody>
          <a:bodyPr/>
          <a:lstStyle/>
          <a:p>
            <a:endParaRPr lang="es-CL"/>
          </a:p>
        </p:txBody>
      </p:sp>
      <p:sp>
        <p:nvSpPr>
          <p:cNvPr id="8" name="Text 4"/>
          <p:cNvSpPr/>
          <p:nvPr/>
        </p:nvSpPr>
        <p:spPr>
          <a:xfrm>
            <a:off x="548640" y="3657600"/>
            <a:ext cx="7863840" cy="457200"/>
          </a:xfrm>
          <a:prstGeom prst="rect">
            <a:avLst/>
          </a:prstGeom>
          <a:noFill/>
          <a:ln/>
        </p:spPr>
        <p:txBody>
          <a:bodyPr wrap="square" lIns="0" tIns="0" rIns="0" bIns="0" rtlCol="0" anchor="ctr"/>
          <a:lstStyle/>
          <a:p>
            <a:pPr marL="0" indent="0">
              <a:buNone/>
            </a:pPr>
            <a:r>
              <a:rPr lang="en-US" sz="1700" dirty="0">
                <a:solidFill>
                  <a:srgbClr val="D7E3EE"/>
                </a:solidFill>
                <a:latin typeface="Calibri" pitchFamily="34" charset="0"/>
                <a:ea typeface="Calibri" pitchFamily="34" charset="-122"/>
                <a:cs typeface="Calibri" pitchFamily="34" charset="-120"/>
              </a:rPr>
              <a:t>La primera decisión técnica del proyecto transversal</a:t>
            </a:r>
            <a:endParaRPr lang="en-US" sz="1700" dirty="0"/>
          </a:p>
        </p:txBody>
      </p:sp>
      <p:sp>
        <p:nvSpPr>
          <p:cNvPr id="9" name="Text 5"/>
          <p:cNvSpPr/>
          <p:nvPr/>
        </p:nvSpPr>
        <p:spPr>
          <a:xfrm>
            <a:off x="548640" y="5943600"/>
            <a:ext cx="11064240" cy="365760"/>
          </a:xfrm>
          <a:prstGeom prst="rect">
            <a:avLst/>
          </a:prstGeom>
          <a:noFill/>
          <a:ln/>
        </p:spPr>
        <p:txBody>
          <a:bodyPr wrap="square" lIns="0" tIns="0" rIns="0" bIns="0" rtlCol="0" anchor="ctr"/>
          <a:lstStyle/>
          <a:p>
            <a:pPr marL="0" indent="0">
              <a:buNone/>
            </a:pPr>
            <a:r>
              <a:rPr lang="en-US" sz="1200" dirty="0">
                <a:solidFill>
                  <a:srgbClr val="5A6B7B"/>
                </a:solidFill>
                <a:latin typeface="Calibri" pitchFamily="34" charset="0"/>
                <a:ea typeface="Calibri" pitchFamily="34" charset="-122"/>
                <a:cs typeface="Calibri" pitchFamily="34" charset="-120"/>
              </a:rPr>
              <a:t>MCDI500 · Programación para la Ciencia de Datos   |   Fase 1: definición y orientación de la situación</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La elección del dataset condiciona todo el proyecto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Es la única decisión de la Fase 1 que no se puede revertir sin rehacer el trabajo.</a:t>
            </a:r>
            <a:endParaRPr lang="en-US" sz="1400" dirty="0"/>
          </a:p>
        </p:txBody>
      </p:sp>
      <p:sp>
        <p:nvSpPr>
          <p:cNvPr id="4" name="Shape 2"/>
          <p:cNvSpPr/>
          <p:nvPr/>
        </p:nvSpPr>
        <p:spPr>
          <a:xfrm>
            <a:off x="548640" y="1828800"/>
            <a:ext cx="3520440" cy="1920240"/>
          </a:xfrm>
          <a:prstGeom prst="roundRect">
            <a:avLst>
              <a:gd name="adj" fmla="val 4286"/>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804672" y="2057400"/>
            <a:ext cx="457200" cy="457200"/>
          </a:xfrm>
          <a:prstGeom prst="ellipse">
            <a:avLst/>
          </a:prstGeom>
          <a:solidFill>
            <a:srgbClr val="AC212E"/>
          </a:solidFill>
          <a:ln/>
        </p:spPr>
        <p:txBody>
          <a:bodyPr/>
          <a:lstStyle/>
          <a:p>
            <a:endParaRPr lang="es-CL"/>
          </a:p>
        </p:txBody>
      </p:sp>
      <p:sp>
        <p:nvSpPr>
          <p:cNvPr id="6" name="Text 4"/>
          <p:cNvSpPr/>
          <p:nvPr/>
        </p:nvSpPr>
        <p:spPr>
          <a:xfrm>
            <a:off x="804672" y="20574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804672" y="2651760"/>
            <a:ext cx="3017520" cy="384048"/>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Determina la pregunta</a:t>
            </a:r>
            <a:endParaRPr lang="en-US" sz="1500" dirty="0"/>
          </a:p>
        </p:txBody>
      </p:sp>
      <p:sp>
        <p:nvSpPr>
          <p:cNvPr id="8" name="Text 6"/>
          <p:cNvSpPr/>
          <p:nvPr/>
        </p:nvSpPr>
        <p:spPr>
          <a:xfrm>
            <a:off x="804672" y="3035808"/>
            <a:ext cx="3017520" cy="64008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Solo se puede preguntar lo que los datos permiten responder.</a:t>
            </a:r>
            <a:endParaRPr lang="en-US" sz="1250" dirty="0"/>
          </a:p>
        </p:txBody>
      </p:sp>
      <p:sp>
        <p:nvSpPr>
          <p:cNvPr id="9" name="Shape 7"/>
          <p:cNvSpPr/>
          <p:nvPr/>
        </p:nvSpPr>
        <p:spPr>
          <a:xfrm>
            <a:off x="4325112" y="1828800"/>
            <a:ext cx="3520440" cy="1920240"/>
          </a:xfrm>
          <a:prstGeom prst="roundRect">
            <a:avLst>
              <a:gd name="adj" fmla="val 4286"/>
            </a:avLst>
          </a:prstGeom>
          <a:solidFill>
            <a:srgbClr val="F4F7FA"/>
          </a:solidFill>
          <a:ln w="12700">
            <a:solidFill>
              <a:srgbClr val="F4F7FA"/>
            </a:solidFill>
            <a:prstDash val="solid"/>
          </a:ln>
        </p:spPr>
        <p:txBody>
          <a:bodyPr/>
          <a:lstStyle/>
          <a:p>
            <a:endParaRPr lang="es-CL"/>
          </a:p>
        </p:txBody>
      </p:sp>
      <p:sp>
        <p:nvSpPr>
          <p:cNvPr id="10" name="Shape 8"/>
          <p:cNvSpPr/>
          <p:nvPr/>
        </p:nvSpPr>
        <p:spPr>
          <a:xfrm>
            <a:off x="4581144" y="2057400"/>
            <a:ext cx="457200" cy="457200"/>
          </a:xfrm>
          <a:prstGeom prst="ellipse">
            <a:avLst/>
          </a:prstGeom>
          <a:solidFill>
            <a:srgbClr val="AC212E"/>
          </a:solidFill>
          <a:ln/>
        </p:spPr>
        <p:txBody>
          <a:bodyPr/>
          <a:lstStyle/>
          <a:p>
            <a:endParaRPr lang="es-CL"/>
          </a:p>
        </p:txBody>
      </p:sp>
      <p:sp>
        <p:nvSpPr>
          <p:cNvPr id="11" name="Text 9"/>
          <p:cNvSpPr/>
          <p:nvPr/>
        </p:nvSpPr>
        <p:spPr>
          <a:xfrm>
            <a:off x="4581144" y="20574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4581144" y="2651760"/>
            <a:ext cx="3017520" cy="384048"/>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Determina el trabajo técnico</a:t>
            </a:r>
            <a:endParaRPr lang="en-US" sz="1500" dirty="0"/>
          </a:p>
        </p:txBody>
      </p:sp>
      <p:sp>
        <p:nvSpPr>
          <p:cNvPr id="13" name="Text 11"/>
          <p:cNvSpPr/>
          <p:nvPr/>
        </p:nvSpPr>
        <p:spPr>
          <a:xfrm>
            <a:off x="4581144" y="3035808"/>
            <a:ext cx="3017520" cy="64008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Si no hay nada que limpiar, no hay preprocesamiento que justificar.</a:t>
            </a:r>
            <a:endParaRPr lang="en-US" sz="1250" dirty="0"/>
          </a:p>
        </p:txBody>
      </p:sp>
      <p:sp>
        <p:nvSpPr>
          <p:cNvPr id="14" name="Shape 12"/>
          <p:cNvSpPr/>
          <p:nvPr/>
        </p:nvSpPr>
        <p:spPr>
          <a:xfrm>
            <a:off x="8101584" y="1828800"/>
            <a:ext cx="3520440" cy="1920240"/>
          </a:xfrm>
          <a:prstGeom prst="roundRect">
            <a:avLst>
              <a:gd name="adj" fmla="val 4286"/>
            </a:avLst>
          </a:prstGeom>
          <a:solidFill>
            <a:srgbClr val="F4F7FA"/>
          </a:solidFill>
          <a:ln w="12700">
            <a:solidFill>
              <a:srgbClr val="F4F7FA"/>
            </a:solidFill>
            <a:prstDash val="solid"/>
          </a:ln>
        </p:spPr>
        <p:txBody>
          <a:bodyPr/>
          <a:lstStyle/>
          <a:p>
            <a:endParaRPr lang="es-CL"/>
          </a:p>
        </p:txBody>
      </p:sp>
      <p:sp>
        <p:nvSpPr>
          <p:cNvPr id="15" name="Shape 13"/>
          <p:cNvSpPr/>
          <p:nvPr/>
        </p:nvSpPr>
        <p:spPr>
          <a:xfrm>
            <a:off x="8357616" y="2057400"/>
            <a:ext cx="457200" cy="457200"/>
          </a:xfrm>
          <a:prstGeom prst="ellipse">
            <a:avLst/>
          </a:prstGeom>
          <a:solidFill>
            <a:srgbClr val="AC212E"/>
          </a:solidFill>
          <a:ln/>
        </p:spPr>
        <p:txBody>
          <a:bodyPr/>
          <a:lstStyle/>
          <a:p>
            <a:endParaRPr lang="es-CL"/>
          </a:p>
        </p:txBody>
      </p:sp>
      <p:sp>
        <p:nvSpPr>
          <p:cNvPr id="16" name="Text 14"/>
          <p:cNvSpPr/>
          <p:nvPr/>
        </p:nvSpPr>
        <p:spPr>
          <a:xfrm>
            <a:off x="8357616" y="20574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8357616" y="2651760"/>
            <a:ext cx="3017520" cy="384048"/>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Determina el interés</a:t>
            </a:r>
            <a:endParaRPr lang="en-US" sz="1500" dirty="0"/>
          </a:p>
        </p:txBody>
      </p:sp>
      <p:sp>
        <p:nvSpPr>
          <p:cNvPr id="18" name="Text 16"/>
          <p:cNvSpPr/>
          <p:nvPr/>
        </p:nvSpPr>
        <p:spPr>
          <a:xfrm>
            <a:off x="8357616" y="3035808"/>
            <a:ext cx="3017520" cy="64008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Un problema contingente sostiene la motivación de tres semanas.</a:t>
            </a:r>
            <a:endParaRPr lang="en-US" sz="1250" dirty="0"/>
          </a:p>
        </p:txBody>
      </p:sp>
      <p:sp>
        <p:nvSpPr>
          <p:cNvPr id="19" name="Shape 17"/>
          <p:cNvSpPr/>
          <p:nvPr/>
        </p:nvSpPr>
        <p:spPr>
          <a:xfrm>
            <a:off x="548640" y="4114800"/>
            <a:ext cx="11064240" cy="1051560"/>
          </a:xfrm>
          <a:prstGeom prst="roundRect">
            <a:avLst>
              <a:gd name="adj" fmla="val 7826"/>
            </a:avLst>
          </a:prstGeom>
          <a:solidFill>
            <a:srgbClr val="0A1526"/>
          </a:solidFill>
          <a:ln w="12700">
            <a:solidFill>
              <a:srgbClr val="0A1526"/>
            </a:solidFill>
            <a:prstDash val="solid"/>
          </a:ln>
        </p:spPr>
        <p:txBody>
          <a:bodyPr/>
          <a:lstStyle/>
          <a:p>
            <a:endParaRPr lang="es-CL"/>
          </a:p>
        </p:txBody>
      </p:sp>
      <p:sp>
        <p:nvSpPr>
          <p:cNvPr id="20" name="Text 18"/>
          <p:cNvSpPr/>
          <p:nvPr/>
        </p:nvSpPr>
        <p:spPr>
          <a:xfrm>
            <a:off x="868680" y="4279392"/>
            <a:ext cx="10424160" cy="731520"/>
          </a:xfrm>
          <a:prstGeom prst="rect">
            <a:avLst/>
          </a:prstGeom>
          <a:noFill/>
          <a:ln/>
        </p:spPr>
        <p:txBody>
          <a:bodyPr wrap="square" lIns="0" tIns="0" rIns="0" bIns="0" rtlCol="0" anchor="ctr"/>
          <a:lstStyle/>
          <a:p>
            <a:pPr marL="0" indent="0">
              <a:lnSpc>
                <a:spcPts val="2000"/>
              </a:lnSpc>
              <a:buNone/>
            </a:pPr>
            <a:r>
              <a:rPr lang="en-US" sz="1450" dirty="0">
                <a:solidFill>
                  <a:srgbClr val="FFFFFF"/>
                </a:solidFill>
                <a:latin typeface="Calibri" pitchFamily="34" charset="0"/>
                <a:ea typeface="Calibri" pitchFamily="34" charset="-122"/>
                <a:cs typeface="Calibri" pitchFamily="34" charset="-120"/>
              </a:rPr>
              <a:t>En la Fase 2 se limpia y transforma. En la Fase 3 se construye el núcleo algorítmico. En la Fase 4 se comunica. Las tres trabajan sobre el conjunto de datos que ustedes eligen esta semana.</a:t>
            </a:r>
            <a:endParaRPr lang="en-US" sz="1450" dirty="0"/>
          </a:p>
        </p:txBody>
      </p:sp>
      <p:sp>
        <p:nvSpPr>
          <p:cNvPr id="21" name="Shape 19"/>
          <p:cNvSpPr/>
          <p:nvPr/>
        </p:nvSpPr>
        <p:spPr>
          <a:xfrm>
            <a:off x="548640" y="5349240"/>
            <a:ext cx="11064240" cy="777240"/>
          </a:xfrm>
          <a:prstGeom prst="roundRect">
            <a:avLst>
              <a:gd name="adj" fmla="val 10588"/>
            </a:avLst>
          </a:prstGeom>
          <a:solidFill>
            <a:srgbClr val="F6E7E9"/>
          </a:solidFill>
          <a:ln w="12700">
            <a:solidFill>
              <a:srgbClr val="F6E7E9"/>
            </a:solidFill>
            <a:prstDash val="solid"/>
          </a:ln>
        </p:spPr>
        <p:txBody>
          <a:bodyPr/>
          <a:lstStyle/>
          <a:p>
            <a:endParaRPr lang="es-CL"/>
          </a:p>
        </p:txBody>
      </p:sp>
      <p:sp>
        <p:nvSpPr>
          <p:cNvPr id="22" name="Text 20"/>
          <p:cNvSpPr/>
          <p:nvPr/>
        </p:nvSpPr>
        <p:spPr>
          <a:xfrm>
            <a:off x="868680" y="5349240"/>
            <a:ext cx="10424160" cy="777240"/>
          </a:xfrm>
          <a:prstGeom prst="rect">
            <a:avLst/>
          </a:prstGeom>
          <a:noFill/>
          <a:ln/>
        </p:spPr>
        <p:txBody>
          <a:bodyPr wrap="square" lIns="0" tIns="0" rIns="0" bIns="0" rtlCol="0" anchor="ctr"/>
          <a:lstStyle/>
          <a:p>
            <a:pPr marL="0" indent="0">
              <a:buNone/>
            </a:pPr>
            <a:r>
              <a:rPr lang="en-US" sz="1400" dirty="0">
                <a:solidFill>
                  <a:srgbClr val="AC212E"/>
                </a:solidFill>
                <a:latin typeface="Calibri" pitchFamily="34" charset="0"/>
                <a:ea typeface="Calibri" pitchFamily="34" charset="-122"/>
                <a:cs typeface="Calibri" pitchFamily="34" charset="-120"/>
              </a:rPr>
              <a:t>Dedíquenle tiempo real: buscar y validar un buen dataset puede tomar más que dibujar el mapa conceptual, y vale más.</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El dtype no dice qué es una variable</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Tres columnas `int64` pueden ser tres cosas distintas y exigir tres tratamientos distintos.</a:t>
            </a:r>
            <a:endParaRPr lang="en-US" sz="1400" dirty="0"/>
          </a:p>
        </p:txBody>
      </p:sp>
      <p:sp>
        <p:nvSpPr>
          <p:cNvPr id="4" name="Shape 2"/>
          <p:cNvSpPr/>
          <p:nvPr/>
        </p:nvSpPr>
        <p:spPr>
          <a:xfrm>
            <a:off x="548640" y="1828800"/>
            <a:ext cx="3520440" cy="2377440"/>
          </a:xfrm>
          <a:prstGeom prst="roundRect">
            <a:avLst>
              <a:gd name="adj" fmla="val 3462"/>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04672" y="2011680"/>
            <a:ext cx="3017520" cy="347472"/>
          </a:xfrm>
          <a:prstGeom prst="rect">
            <a:avLst/>
          </a:prstGeom>
          <a:noFill/>
          <a:ln/>
        </p:spPr>
        <p:txBody>
          <a:bodyPr wrap="square" lIns="0" tIns="0" rIns="0" bIns="0" rtlCol="0" anchor="ctr"/>
          <a:lstStyle/>
          <a:p>
            <a:pPr marL="0" indent="0">
              <a:buNone/>
            </a:pPr>
            <a:r>
              <a:rPr lang="en-US" sz="1500" b="1" dirty="0">
                <a:solidFill>
                  <a:srgbClr val="06304A"/>
                </a:solidFill>
                <a:latin typeface="Courier New" pitchFamily="34" charset="0"/>
                <a:ea typeface="Courier New" pitchFamily="34" charset="-122"/>
                <a:cs typeface="Courier New" pitchFamily="34" charset="-120"/>
              </a:rPr>
              <a:t>folio</a:t>
            </a:r>
            <a:endParaRPr lang="en-US" sz="1500" dirty="0"/>
          </a:p>
        </p:txBody>
      </p:sp>
      <p:sp>
        <p:nvSpPr>
          <p:cNvPr id="6" name="Text 4"/>
          <p:cNvSpPr/>
          <p:nvPr/>
        </p:nvSpPr>
        <p:spPr>
          <a:xfrm>
            <a:off x="804672" y="2377440"/>
            <a:ext cx="3017520" cy="274320"/>
          </a:xfrm>
          <a:prstGeom prst="rect">
            <a:avLst/>
          </a:prstGeom>
          <a:noFill/>
          <a:ln/>
        </p:spPr>
        <p:txBody>
          <a:bodyPr wrap="square" lIns="0" tIns="0" rIns="0" bIns="0" rtlCol="0" anchor="ctr"/>
          <a:lstStyle/>
          <a:p>
            <a:pPr marL="0" indent="0">
              <a:buNone/>
            </a:pPr>
            <a:r>
              <a:rPr lang="en-US" sz="1200" dirty="0">
                <a:solidFill>
                  <a:srgbClr val="5A6B7B"/>
                </a:solidFill>
                <a:latin typeface="Courier New" pitchFamily="34" charset="0"/>
                <a:ea typeface="Courier New" pitchFamily="34" charset="-122"/>
                <a:cs typeface="Courier New" pitchFamily="34" charset="-120"/>
              </a:rPr>
              <a:t>int64</a:t>
            </a:r>
            <a:endParaRPr lang="en-US" sz="1200" dirty="0"/>
          </a:p>
        </p:txBody>
      </p:sp>
      <p:sp>
        <p:nvSpPr>
          <p:cNvPr id="7" name="Text 5"/>
          <p:cNvSpPr/>
          <p:nvPr/>
        </p:nvSpPr>
        <p:spPr>
          <a:xfrm>
            <a:off x="804672" y="2743200"/>
            <a:ext cx="3017520" cy="347472"/>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Identificador</a:t>
            </a:r>
            <a:endParaRPr lang="en-US" sz="1500" dirty="0"/>
          </a:p>
        </p:txBody>
      </p:sp>
      <p:sp>
        <p:nvSpPr>
          <p:cNvPr id="8" name="Text 6"/>
          <p:cNvSpPr/>
          <p:nvPr/>
        </p:nvSpPr>
        <p:spPr>
          <a:xfrm>
            <a:off x="804672" y="3127248"/>
            <a:ext cx="3017520" cy="868680"/>
          </a:xfrm>
          <a:prstGeom prst="rect">
            <a:avLst/>
          </a:prstGeom>
          <a:noFill/>
          <a:ln/>
        </p:spPr>
        <p:txBody>
          <a:bodyPr wrap="square" lIns="0" tIns="0" rIns="0" bIns="0" rtlCol="0" anchor="ctr"/>
          <a:lstStyle/>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Se excluye del análisis: no aporta información.</a:t>
            </a:r>
            <a:endParaRPr lang="en-US" sz="1250" dirty="0"/>
          </a:p>
        </p:txBody>
      </p:sp>
      <p:sp>
        <p:nvSpPr>
          <p:cNvPr id="9" name="Shape 7"/>
          <p:cNvSpPr/>
          <p:nvPr/>
        </p:nvSpPr>
        <p:spPr>
          <a:xfrm>
            <a:off x="4325112" y="1828800"/>
            <a:ext cx="3520440" cy="2377440"/>
          </a:xfrm>
          <a:prstGeom prst="roundRect">
            <a:avLst>
              <a:gd name="adj" fmla="val 3462"/>
            </a:avLst>
          </a:prstGeom>
          <a:solidFill>
            <a:srgbClr val="F4F7FA"/>
          </a:solidFill>
          <a:ln w="12700">
            <a:solidFill>
              <a:srgbClr val="F4F7FA"/>
            </a:solidFill>
            <a:prstDash val="solid"/>
          </a:ln>
        </p:spPr>
        <p:txBody>
          <a:bodyPr/>
          <a:lstStyle/>
          <a:p>
            <a:endParaRPr lang="es-CL"/>
          </a:p>
        </p:txBody>
      </p:sp>
      <p:sp>
        <p:nvSpPr>
          <p:cNvPr id="10" name="Text 8"/>
          <p:cNvSpPr/>
          <p:nvPr/>
        </p:nvSpPr>
        <p:spPr>
          <a:xfrm>
            <a:off x="4581144" y="2011680"/>
            <a:ext cx="3017520" cy="347472"/>
          </a:xfrm>
          <a:prstGeom prst="rect">
            <a:avLst/>
          </a:prstGeom>
          <a:noFill/>
          <a:ln/>
        </p:spPr>
        <p:txBody>
          <a:bodyPr wrap="square" lIns="0" tIns="0" rIns="0" bIns="0" rtlCol="0" anchor="ctr"/>
          <a:lstStyle/>
          <a:p>
            <a:pPr marL="0" indent="0">
              <a:buNone/>
            </a:pPr>
            <a:r>
              <a:rPr lang="en-US" sz="1500" b="1" dirty="0">
                <a:solidFill>
                  <a:srgbClr val="06304A"/>
                </a:solidFill>
                <a:latin typeface="Courier New" pitchFamily="34" charset="0"/>
                <a:ea typeface="Courier New" pitchFamily="34" charset="-122"/>
                <a:cs typeface="Courier New" pitchFamily="34" charset="-120"/>
              </a:rPr>
              <a:t>n_hijos</a:t>
            </a:r>
            <a:endParaRPr lang="en-US" sz="1500" dirty="0"/>
          </a:p>
        </p:txBody>
      </p:sp>
      <p:sp>
        <p:nvSpPr>
          <p:cNvPr id="11" name="Text 9"/>
          <p:cNvSpPr/>
          <p:nvPr/>
        </p:nvSpPr>
        <p:spPr>
          <a:xfrm>
            <a:off x="4581144" y="2377440"/>
            <a:ext cx="3017520" cy="274320"/>
          </a:xfrm>
          <a:prstGeom prst="rect">
            <a:avLst/>
          </a:prstGeom>
          <a:noFill/>
          <a:ln/>
        </p:spPr>
        <p:txBody>
          <a:bodyPr wrap="square" lIns="0" tIns="0" rIns="0" bIns="0" rtlCol="0" anchor="ctr"/>
          <a:lstStyle/>
          <a:p>
            <a:pPr marL="0" indent="0">
              <a:buNone/>
            </a:pPr>
            <a:r>
              <a:rPr lang="en-US" sz="1200" dirty="0">
                <a:solidFill>
                  <a:srgbClr val="5A6B7B"/>
                </a:solidFill>
                <a:latin typeface="Courier New" pitchFamily="34" charset="0"/>
                <a:ea typeface="Courier New" pitchFamily="34" charset="-122"/>
                <a:cs typeface="Courier New" pitchFamily="34" charset="-120"/>
              </a:rPr>
              <a:t>int64</a:t>
            </a:r>
            <a:endParaRPr lang="en-US" sz="1200" dirty="0"/>
          </a:p>
        </p:txBody>
      </p:sp>
      <p:sp>
        <p:nvSpPr>
          <p:cNvPr id="12" name="Text 10"/>
          <p:cNvSpPr/>
          <p:nvPr/>
        </p:nvSpPr>
        <p:spPr>
          <a:xfrm>
            <a:off x="4581144" y="2743200"/>
            <a:ext cx="3017520" cy="347472"/>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Discreta</a:t>
            </a:r>
            <a:endParaRPr lang="en-US" sz="1500" dirty="0"/>
          </a:p>
        </p:txBody>
      </p:sp>
      <p:sp>
        <p:nvSpPr>
          <p:cNvPr id="13" name="Text 11"/>
          <p:cNvSpPr/>
          <p:nvPr/>
        </p:nvSpPr>
        <p:spPr>
          <a:xfrm>
            <a:off x="4581144" y="3127248"/>
            <a:ext cx="3017520" cy="868680"/>
          </a:xfrm>
          <a:prstGeom prst="rect">
            <a:avLst/>
          </a:prstGeom>
          <a:noFill/>
          <a:ln/>
        </p:spPr>
        <p:txBody>
          <a:bodyPr wrap="square" lIns="0" tIns="0" rIns="0" bIns="0" rtlCol="0" anchor="ctr"/>
          <a:lstStyle/>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Se decide si se trata como número o como categoría.</a:t>
            </a:r>
            <a:endParaRPr lang="en-US" sz="1250" dirty="0"/>
          </a:p>
        </p:txBody>
      </p:sp>
      <p:sp>
        <p:nvSpPr>
          <p:cNvPr id="14" name="Shape 12"/>
          <p:cNvSpPr/>
          <p:nvPr/>
        </p:nvSpPr>
        <p:spPr>
          <a:xfrm>
            <a:off x="8101584" y="1828800"/>
            <a:ext cx="3520440" cy="2377440"/>
          </a:xfrm>
          <a:prstGeom prst="roundRect">
            <a:avLst>
              <a:gd name="adj" fmla="val 3462"/>
            </a:avLst>
          </a:prstGeom>
          <a:solidFill>
            <a:srgbClr val="F4F7FA"/>
          </a:solidFill>
          <a:ln w="12700">
            <a:solidFill>
              <a:srgbClr val="F4F7FA"/>
            </a:solidFill>
            <a:prstDash val="solid"/>
          </a:ln>
        </p:spPr>
        <p:txBody>
          <a:bodyPr/>
          <a:lstStyle/>
          <a:p>
            <a:endParaRPr lang="es-CL"/>
          </a:p>
        </p:txBody>
      </p:sp>
      <p:sp>
        <p:nvSpPr>
          <p:cNvPr id="15" name="Text 13"/>
          <p:cNvSpPr/>
          <p:nvPr/>
        </p:nvSpPr>
        <p:spPr>
          <a:xfrm>
            <a:off x="8357616" y="2011680"/>
            <a:ext cx="3017520" cy="347472"/>
          </a:xfrm>
          <a:prstGeom prst="rect">
            <a:avLst/>
          </a:prstGeom>
          <a:noFill/>
          <a:ln/>
        </p:spPr>
        <p:txBody>
          <a:bodyPr wrap="square" lIns="0" tIns="0" rIns="0" bIns="0" rtlCol="0" anchor="ctr"/>
          <a:lstStyle/>
          <a:p>
            <a:pPr marL="0" indent="0">
              <a:buNone/>
            </a:pPr>
            <a:r>
              <a:rPr lang="en-US" sz="1500" b="1" dirty="0">
                <a:solidFill>
                  <a:srgbClr val="06304A"/>
                </a:solidFill>
                <a:latin typeface="Courier New" pitchFamily="34" charset="0"/>
                <a:ea typeface="Courier New" pitchFamily="34" charset="-122"/>
                <a:cs typeface="Courier New" pitchFamily="34" charset="-120"/>
              </a:rPr>
              <a:t>aprobado</a:t>
            </a:r>
            <a:endParaRPr lang="en-US" sz="1500" dirty="0"/>
          </a:p>
        </p:txBody>
      </p:sp>
      <p:sp>
        <p:nvSpPr>
          <p:cNvPr id="16" name="Text 14"/>
          <p:cNvSpPr/>
          <p:nvPr/>
        </p:nvSpPr>
        <p:spPr>
          <a:xfrm>
            <a:off x="8357616" y="2377440"/>
            <a:ext cx="3017520" cy="274320"/>
          </a:xfrm>
          <a:prstGeom prst="rect">
            <a:avLst/>
          </a:prstGeom>
          <a:noFill/>
          <a:ln/>
        </p:spPr>
        <p:txBody>
          <a:bodyPr wrap="square" lIns="0" tIns="0" rIns="0" bIns="0" rtlCol="0" anchor="ctr"/>
          <a:lstStyle/>
          <a:p>
            <a:pPr marL="0" indent="0">
              <a:buNone/>
            </a:pPr>
            <a:r>
              <a:rPr lang="en-US" sz="1200" dirty="0">
                <a:solidFill>
                  <a:srgbClr val="5A6B7B"/>
                </a:solidFill>
                <a:latin typeface="Courier New" pitchFamily="34" charset="0"/>
                <a:ea typeface="Courier New" pitchFamily="34" charset="-122"/>
                <a:cs typeface="Courier New" pitchFamily="34" charset="-120"/>
              </a:rPr>
              <a:t>int64</a:t>
            </a:r>
            <a:endParaRPr lang="en-US" sz="1200" dirty="0"/>
          </a:p>
        </p:txBody>
      </p:sp>
      <p:sp>
        <p:nvSpPr>
          <p:cNvPr id="17" name="Text 15"/>
          <p:cNvSpPr/>
          <p:nvPr/>
        </p:nvSpPr>
        <p:spPr>
          <a:xfrm>
            <a:off x="8357616" y="2743200"/>
            <a:ext cx="3017520" cy="347472"/>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Binaria</a:t>
            </a:r>
            <a:endParaRPr lang="en-US" sz="1500" dirty="0"/>
          </a:p>
        </p:txBody>
      </p:sp>
      <p:sp>
        <p:nvSpPr>
          <p:cNvPr id="18" name="Text 16"/>
          <p:cNvSpPr/>
          <p:nvPr/>
        </p:nvSpPr>
        <p:spPr>
          <a:xfrm>
            <a:off x="8357616" y="3127248"/>
            <a:ext cx="3017520" cy="868680"/>
          </a:xfrm>
          <a:prstGeom prst="rect">
            <a:avLst/>
          </a:prstGeom>
          <a:noFill/>
          <a:ln/>
        </p:spPr>
        <p:txBody>
          <a:bodyPr wrap="square" lIns="0" tIns="0" rIns="0" bIns="0" rtlCol="0" anchor="ctr"/>
          <a:lstStyle/>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Se codifica 0/1 y se revisa el desbalance.</a:t>
            </a:r>
            <a:endParaRPr lang="en-US" sz="1250" dirty="0"/>
          </a:p>
        </p:txBody>
      </p:sp>
      <p:sp>
        <p:nvSpPr>
          <p:cNvPr id="19" name="Shape 17"/>
          <p:cNvSpPr/>
          <p:nvPr/>
        </p:nvSpPr>
        <p:spPr>
          <a:xfrm>
            <a:off x="548640" y="4526280"/>
            <a:ext cx="11064240" cy="1463040"/>
          </a:xfrm>
          <a:prstGeom prst="roundRect">
            <a:avLst>
              <a:gd name="adj" fmla="val 5625"/>
            </a:avLst>
          </a:prstGeom>
          <a:solidFill>
            <a:srgbClr val="0A1526"/>
          </a:solidFill>
          <a:ln w="12700">
            <a:solidFill>
              <a:srgbClr val="0A1526"/>
            </a:solidFill>
            <a:prstDash val="solid"/>
          </a:ln>
        </p:spPr>
        <p:txBody>
          <a:bodyPr/>
          <a:lstStyle/>
          <a:p>
            <a:endParaRPr lang="es-CL"/>
          </a:p>
        </p:txBody>
      </p:sp>
      <p:sp>
        <p:nvSpPr>
          <p:cNvPr id="20" name="Text 18"/>
          <p:cNvSpPr/>
          <p:nvPr/>
        </p:nvSpPr>
        <p:spPr>
          <a:xfrm>
            <a:off x="868680" y="4681728"/>
            <a:ext cx="7315200" cy="347472"/>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Lo que importa no es el tipo de dato, sino el rol analítico</a:t>
            </a:r>
            <a:endParaRPr lang="en-US" sz="1500" dirty="0"/>
          </a:p>
        </p:txBody>
      </p:sp>
      <p:sp>
        <p:nvSpPr>
          <p:cNvPr id="21" name="Text 19"/>
          <p:cNvSpPr/>
          <p:nvPr/>
        </p:nvSpPr>
        <p:spPr>
          <a:xfrm>
            <a:off x="868680" y="5074920"/>
            <a:ext cx="10424160" cy="777240"/>
          </a:xfrm>
          <a:prstGeom prst="rect">
            <a:avLst/>
          </a:prstGeom>
          <a:noFill/>
          <a:ln/>
        </p:spPr>
        <p:txBody>
          <a:bodyPr wrap="square" lIns="0" tIns="0" rIns="0" bIns="0" rtlCol="0" anchor="ctr"/>
          <a:lstStyle/>
          <a:p>
            <a:pPr marL="0" indent="0">
              <a:lnSpc>
                <a:spcPts val="1900"/>
              </a:lnSpc>
              <a:buNone/>
            </a:pPr>
            <a:r>
              <a:rPr lang="en-US" sz="1350" dirty="0">
                <a:solidFill>
                  <a:srgbClr val="D7E3EE"/>
                </a:solidFill>
                <a:latin typeface="Calibri" pitchFamily="34" charset="0"/>
                <a:ea typeface="Calibri" pitchFamily="34" charset="-122"/>
                <a:cs typeface="Calibri" pitchFamily="34" charset="-120"/>
              </a:rPr>
              <a:t>En Python no existe el tipo «char». pandas entrega int64, float64, bool, datetime64 y un tipo propio para texto. Ninguno de esos nombres les dice qué preprocesamiento aplicar: eso lo define el rol de la variable dentro del problema.</a:t>
            </a:r>
            <a:endParaRPr lang="en-US" sz="13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Ocho roles, ocho tratamientos distintos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Su dataset debe permitirles practicar todos. Esa es la exigencia real.</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806659688"/>
              </p:ext>
            </p:extLst>
          </p:nvPr>
        </p:nvGraphicFramePr>
        <p:xfrm>
          <a:off x="548640" y="1737360"/>
          <a:ext cx="11064240" cy="4114800"/>
        </p:xfrm>
        <a:graphic>
          <a:graphicData uri="http://schemas.openxmlformats.org/drawingml/2006/table">
            <a:tbl>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457200">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Rol analítico</a:t>
                      </a:r>
                      <a:endParaRPr lang="en-US" sz="13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Qué preprocesamiento exige</a:t>
                      </a:r>
                      <a:endParaRPr lang="en-US" sz="13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Ejemplo</a:t>
                      </a:r>
                      <a:endParaRPr lang="en-US" sz="13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extLst>
                  <a:ext uri="{0D108BD9-81ED-4DB2-BD59-A6C34878D82A}">
                    <a16:rowId xmlns:a16="http://schemas.microsoft.com/office/drawing/2014/main" val="10000"/>
                  </a:ext>
                </a:extLst>
              </a:tr>
              <a:tr h="45720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Numérica continua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Outliers, escalamiento, imputación por media o mediana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Monto, temperatura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Numérica discreta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Decidir si se trata como número o como categoría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N.º de eventos</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Binaria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Codificación 0/1 y revisión de desbalance</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Aprobado / rechazado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Categórica nominal</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One-hot encoder. </a:t>
                      </a:r>
                      <a:r>
                        <a:rPr lang="en-US" sz="1200" dirty="0" err="1">
                          <a:solidFill>
                            <a:srgbClr val="06304A"/>
                          </a:solidFill>
                          <a:latin typeface="Calibri" pitchFamily="34" charset="0"/>
                          <a:ea typeface="Calibri" pitchFamily="34" charset="-122"/>
                          <a:cs typeface="Calibri" pitchFamily="34" charset="-120"/>
                        </a:rPr>
                        <a:t>Grupar</a:t>
                      </a:r>
                      <a:r>
                        <a:rPr lang="en-US" sz="1200" dirty="0">
                          <a:solidFill>
                            <a:srgbClr val="06304A"/>
                          </a:solidFill>
                          <a:latin typeface="Calibri" pitchFamily="34" charset="0"/>
                          <a:ea typeface="Calibri" pitchFamily="34" charset="-122"/>
                          <a:cs typeface="Calibri" pitchFamily="34" charset="-120"/>
                        </a:rPr>
                        <a:t> categorías poco frecuentes</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Región, sector</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Categórica ordinal</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err="1">
                          <a:solidFill>
                            <a:srgbClr val="06304A"/>
                          </a:solidFill>
                          <a:latin typeface="Calibri" pitchFamily="34" charset="0"/>
                          <a:ea typeface="Calibri" pitchFamily="34" charset="-122"/>
                          <a:cs typeface="Calibri" pitchFamily="34" charset="-120"/>
                        </a:rPr>
                        <a:t>LabelEncoder</a:t>
                      </a:r>
                      <a:r>
                        <a:rPr lang="en-US" sz="1200" dirty="0">
                          <a:solidFill>
                            <a:srgbClr val="06304A"/>
                          </a:solidFill>
                          <a:latin typeface="Calibri" pitchFamily="34" charset="0"/>
                          <a:ea typeface="Calibri" pitchFamily="34" charset="-122"/>
                          <a:cs typeface="Calibri" pitchFamily="34" charset="-120"/>
                        </a:rPr>
                        <a:t>. </a:t>
                      </a:r>
                      <a:r>
                        <a:rPr lang="en-US" sz="1200" dirty="0" err="1">
                          <a:solidFill>
                            <a:srgbClr val="06304A"/>
                          </a:solidFill>
                          <a:latin typeface="Calibri" pitchFamily="34" charset="0"/>
                          <a:ea typeface="Calibri" pitchFamily="34" charset="-122"/>
                          <a:cs typeface="Calibri" pitchFamily="34" charset="-120"/>
                        </a:rPr>
                        <a:t>Codificación</a:t>
                      </a:r>
                      <a:r>
                        <a:rPr lang="en-US" sz="1200" dirty="0">
                          <a:solidFill>
                            <a:srgbClr val="06304A"/>
                          </a:solidFill>
                          <a:latin typeface="Calibri" pitchFamily="34" charset="0"/>
                          <a:ea typeface="Calibri" pitchFamily="34" charset="-122"/>
                          <a:cs typeface="Calibri" pitchFamily="34" charset="-120"/>
                        </a:rPr>
                        <a:t> que preserve el orden declarado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Riesgo: bajo, medio, alto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Fecha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Parseo y derivación de año, mes, antigüedad</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Fecha de ingreso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Alta cardinalidad</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Agrupación o codificación por frecuencia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Comuna, rubro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5720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Identificador</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Verificar unicidad y excluir del análisis</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Folio, RUT anonimizado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4" name="Text 2"/>
          <p:cNvSpPr/>
          <p:nvPr/>
        </p:nvSpPr>
        <p:spPr>
          <a:xfrm>
            <a:off x="548640" y="6327648"/>
            <a:ext cx="11064240" cy="274320"/>
          </a:xfrm>
          <a:prstGeom prst="rect">
            <a:avLst/>
          </a:prstGeom>
          <a:noFill/>
          <a:ln/>
        </p:spPr>
        <p:txBody>
          <a:bodyPr wrap="square" lIns="0" tIns="0" rIns="0" bIns="0" rtlCol="0" anchor="ctr"/>
          <a:lstStyle/>
          <a:p>
            <a:pPr marL="0" indent="0">
              <a:buNone/>
            </a:pPr>
            <a:r>
              <a:rPr lang="en-US" sz="1000" dirty="0">
                <a:solidFill>
                  <a:srgbClr val="5A6B7B"/>
                </a:solidFill>
                <a:latin typeface="Calibri" pitchFamily="34" charset="0"/>
                <a:ea typeface="Calibri" pitchFamily="34" charset="-122"/>
                <a:cs typeface="Calibri" pitchFamily="34" charset="-120"/>
              </a:rPr>
              <a:t>La categórica ordinal es la que más se omite: exige declarar el orden explícitamente, no dejar que la librería lo invente alfabéticamente.</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A1526"/>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Requisitos mínimos del dataset</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D7E3EE"/>
                </a:solidFill>
                <a:latin typeface="Calibri" pitchFamily="34" charset="0"/>
                <a:ea typeface="Calibri" pitchFamily="34" charset="-122"/>
                <a:cs typeface="Calibri" pitchFamily="34" charset="-120"/>
              </a:rPr>
              <a:t>Si su conjunto de datos no los cumple, todavía no es el dataset del proyecto.</a:t>
            </a:r>
            <a:endParaRPr lang="en-US" sz="1400" dirty="0"/>
          </a:p>
        </p:txBody>
      </p:sp>
      <p:sp>
        <p:nvSpPr>
          <p:cNvPr id="4" name="Shape 2"/>
          <p:cNvSpPr/>
          <p:nvPr/>
        </p:nvSpPr>
        <p:spPr>
          <a:xfrm>
            <a:off x="548640" y="1828800"/>
            <a:ext cx="2651760" cy="1097280"/>
          </a:xfrm>
          <a:prstGeom prst="roundRect">
            <a:avLst>
              <a:gd name="adj" fmla="val 7500"/>
            </a:avLst>
          </a:prstGeom>
          <a:solidFill>
            <a:srgbClr val="12203A"/>
          </a:solidFill>
          <a:ln w="12700">
            <a:solidFill>
              <a:srgbClr val="12203A"/>
            </a:solidFill>
            <a:prstDash val="solid"/>
          </a:ln>
        </p:spPr>
        <p:txBody>
          <a:bodyPr/>
          <a:lstStyle/>
          <a:p>
            <a:endParaRPr lang="es-CL"/>
          </a:p>
        </p:txBody>
      </p:sp>
      <p:sp>
        <p:nvSpPr>
          <p:cNvPr id="5" name="Text 3"/>
          <p:cNvSpPr/>
          <p:nvPr/>
        </p:nvSpPr>
        <p:spPr>
          <a:xfrm>
            <a:off x="777240" y="1938528"/>
            <a:ext cx="2194560" cy="457200"/>
          </a:xfrm>
          <a:prstGeom prst="rect">
            <a:avLst/>
          </a:prstGeom>
          <a:noFill/>
          <a:ln/>
        </p:spPr>
        <p:txBody>
          <a:bodyPr wrap="square" lIns="0" tIns="0" rIns="0" bIns="0" rtlCol="0" anchor="ctr"/>
          <a:lstStyle/>
          <a:p>
            <a:pPr marL="0" indent="0">
              <a:buNone/>
            </a:pPr>
            <a:r>
              <a:rPr lang="en-US" sz="2600" b="1" dirty="0">
                <a:solidFill>
                  <a:srgbClr val="AC212E"/>
                </a:solidFill>
                <a:latin typeface="Cambria" pitchFamily="34" charset="0"/>
                <a:ea typeface="Cambria" pitchFamily="34" charset="-122"/>
                <a:cs typeface="Cambria" pitchFamily="34" charset="-120"/>
              </a:rPr>
              <a:t>2.000</a:t>
            </a:r>
            <a:endParaRPr lang="en-US" sz="2600" dirty="0"/>
          </a:p>
        </p:txBody>
      </p:sp>
      <p:sp>
        <p:nvSpPr>
          <p:cNvPr id="6" name="Text 4"/>
          <p:cNvSpPr/>
          <p:nvPr/>
        </p:nvSpPr>
        <p:spPr>
          <a:xfrm>
            <a:off x="777240" y="2423160"/>
            <a:ext cx="2240280" cy="411480"/>
          </a:xfrm>
          <a:prstGeom prst="rect">
            <a:avLst/>
          </a:prstGeom>
          <a:noFill/>
          <a:ln/>
        </p:spPr>
        <p:txBody>
          <a:bodyPr wrap="square" lIns="0" tIns="0" rIns="0" bIns="0" rtlCol="0" anchor="ctr"/>
          <a:lstStyle/>
          <a:p>
            <a:pPr marL="0" indent="0">
              <a:lnSpc>
                <a:spcPts val="1500"/>
              </a:lnSpc>
              <a:buNone/>
            </a:pPr>
            <a:r>
              <a:rPr lang="en-US" sz="1200" dirty="0">
                <a:solidFill>
                  <a:srgbClr val="D7E3EE"/>
                </a:solidFill>
                <a:latin typeface="Calibri" pitchFamily="34" charset="0"/>
                <a:ea typeface="Calibri" pitchFamily="34" charset="-122"/>
                <a:cs typeface="Calibri" pitchFamily="34" charset="-120"/>
              </a:rPr>
              <a:t>filas como mínimo</a:t>
            </a:r>
            <a:endParaRPr lang="en-US" sz="1200" dirty="0"/>
          </a:p>
        </p:txBody>
      </p:sp>
      <p:sp>
        <p:nvSpPr>
          <p:cNvPr id="7" name="Shape 5"/>
          <p:cNvSpPr/>
          <p:nvPr/>
        </p:nvSpPr>
        <p:spPr>
          <a:xfrm>
            <a:off x="3410712" y="1828800"/>
            <a:ext cx="2651760" cy="1097280"/>
          </a:xfrm>
          <a:prstGeom prst="roundRect">
            <a:avLst>
              <a:gd name="adj" fmla="val 7500"/>
            </a:avLst>
          </a:prstGeom>
          <a:solidFill>
            <a:srgbClr val="12203A"/>
          </a:solidFill>
          <a:ln w="12700">
            <a:solidFill>
              <a:srgbClr val="12203A"/>
            </a:solidFill>
            <a:prstDash val="solid"/>
          </a:ln>
        </p:spPr>
        <p:txBody>
          <a:bodyPr/>
          <a:lstStyle/>
          <a:p>
            <a:endParaRPr lang="es-CL"/>
          </a:p>
        </p:txBody>
      </p:sp>
      <p:sp>
        <p:nvSpPr>
          <p:cNvPr id="8" name="Text 6"/>
          <p:cNvSpPr/>
          <p:nvPr/>
        </p:nvSpPr>
        <p:spPr>
          <a:xfrm>
            <a:off x="3639312" y="1938528"/>
            <a:ext cx="2194560" cy="457200"/>
          </a:xfrm>
          <a:prstGeom prst="rect">
            <a:avLst/>
          </a:prstGeom>
          <a:noFill/>
          <a:ln/>
        </p:spPr>
        <p:txBody>
          <a:bodyPr wrap="square" lIns="0" tIns="0" rIns="0" bIns="0" rtlCol="0" anchor="ctr"/>
          <a:lstStyle/>
          <a:p>
            <a:pPr marL="0" indent="0">
              <a:buNone/>
            </a:pPr>
            <a:r>
              <a:rPr lang="en-US" sz="2600" b="1" dirty="0">
                <a:solidFill>
                  <a:srgbClr val="AC212E"/>
                </a:solidFill>
                <a:latin typeface="Cambria" pitchFamily="34" charset="0"/>
                <a:ea typeface="Cambria" pitchFamily="34" charset="-122"/>
                <a:cs typeface="Cambria" pitchFamily="34" charset="-120"/>
              </a:rPr>
              <a:t>12</a:t>
            </a:r>
            <a:endParaRPr lang="en-US" sz="2600" dirty="0"/>
          </a:p>
        </p:txBody>
      </p:sp>
      <p:sp>
        <p:nvSpPr>
          <p:cNvPr id="9" name="Text 7"/>
          <p:cNvSpPr/>
          <p:nvPr/>
        </p:nvSpPr>
        <p:spPr>
          <a:xfrm>
            <a:off x="3639312" y="2423160"/>
            <a:ext cx="2240280" cy="411480"/>
          </a:xfrm>
          <a:prstGeom prst="rect">
            <a:avLst/>
          </a:prstGeom>
          <a:noFill/>
          <a:ln/>
        </p:spPr>
        <p:txBody>
          <a:bodyPr wrap="square" lIns="0" tIns="0" rIns="0" bIns="0" rtlCol="0" anchor="ctr"/>
          <a:lstStyle/>
          <a:p>
            <a:pPr marL="0" indent="0">
              <a:lnSpc>
                <a:spcPts val="1500"/>
              </a:lnSpc>
              <a:buNone/>
            </a:pPr>
            <a:r>
              <a:rPr lang="en-US" sz="1200" dirty="0">
                <a:solidFill>
                  <a:srgbClr val="D7E3EE"/>
                </a:solidFill>
                <a:latin typeface="Calibri" pitchFamily="34" charset="0"/>
                <a:ea typeface="Calibri" pitchFamily="34" charset="-122"/>
                <a:cs typeface="Calibri" pitchFamily="34" charset="-120"/>
              </a:rPr>
              <a:t>columnas como mínimo</a:t>
            </a:r>
            <a:endParaRPr lang="en-US" sz="1200" dirty="0"/>
          </a:p>
        </p:txBody>
      </p:sp>
      <p:sp>
        <p:nvSpPr>
          <p:cNvPr id="10" name="Shape 8"/>
          <p:cNvSpPr/>
          <p:nvPr/>
        </p:nvSpPr>
        <p:spPr>
          <a:xfrm>
            <a:off x="6272784" y="1828800"/>
            <a:ext cx="2651760" cy="1097280"/>
          </a:xfrm>
          <a:prstGeom prst="roundRect">
            <a:avLst>
              <a:gd name="adj" fmla="val 7500"/>
            </a:avLst>
          </a:prstGeom>
          <a:solidFill>
            <a:srgbClr val="12203A"/>
          </a:solidFill>
          <a:ln w="12700">
            <a:solidFill>
              <a:srgbClr val="12203A"/>
            </a:solidFill>
            <a:prstDash val="solid"/>
          </a:ln>
        </p:spPr>
        <p:txBody>
          <a:bodyPr/>
          <a:lstStyle/>
          <a:p>
            <a:endParaRPr lang="es-CL"/>
          </a:p>
        </p:txBody>
      </p:sp>
      <p:sp>
        <p:nvSpPr>
          <p:cNvPr id="11" name="Text 9"/>
          <p:cNvSpPr/>
          <p:nvPr/>
        </p:nvSpPr>
        <p:spPr>
          <a:xfrm>
            <a:off x="6501384" y="1938528"/>
            <a:ext cx="2194560" cy="457200"/>
          </a:xfrm>
          <a:prstGeom prst="rect">
            <a:avLst/>
          </a:prstGeom>
          <a:noFill/>
          <a:ln/>
        </p:spPr>
        <p:txBody>
          <a:bodyPr wrap="square" lIns="0" tIns="0" rIns="0" bIns="0" rtlCol="0" anchor="ctr"/>
          <a:lstStyle/>
          <a:p>
            <a:pPr marL="0" indent="0">
              <a:buNone/>
            </a:pPr>
            <a:r>
              <a:rPr lang="en-US" sz="2600" b="1" dirty="0">
                <a:solidFill>
                  <a:srgbClr val="AC212E"/>
                </a:solidFill>
                <a:latin typeface="Cambria" pitchFamily="34" charset="0"/>
                <a:ea typeface="Cambria" pitchFamily="34" charset="-122"/>
                <a:cs typeface="Cambria" pitchFamily="34" charset="-120"/>
              </a:rPr>
              <a:t>2</a:t>
            </a:r>
            <a:endParaRPr lang="en-US" sz="2600" dirty="0"/>
          </a:p>
        </p:txBody>
      </p:sp>
      <p:sp>
        <p:nvSpPr>
          <p:cNvPr id="12" name="Text 10"/>
          <p:cNvSpPr/>
          <p:nvPr/>
        </p:nvSpPr>
        <p:spPr>
          <a:xfrm>
            <a:off x="6501384" y="2423160"/>
            <a:ext cx="2240280" cy="411480"/>
          </a:xfrm>
          <a:prstGeom prst="rect">
            <a:avLst/>
          </a:prstGeom>
          <a:noFill/>
          <a:ln/>
        </p:spPr>
        <p:txBody>
          <a:bodyPr wrap="square" lIns="0" tIns="0" rIns="0" bIns="0" rtlCol="0" anchor="ctr"/>
          <a:lstStyle/>
          <a:p>
            <a:pPr marL="0" indent="0">
              <a:lnSpc>
                <a:spcPts val="1500"/>
              </a:lnSpc>
              <a:buNone/>
            </a:pPr>
            <a:r>
              <a:rPr lang="en-US" sz="1200" dirty="0">
                <a:solidFill>
                  <a:srgbClr val="D7E3EE"/>
                </a:solidFill>
                <a:latin typeface="Calibri" pitchFamily="34" charset="0"/>
                <a:ea typeface="Calibri" pitchFamily="34" charset="-122"/>
                <a:cs typeface="Calibri" pitchFamily="34" charset="-120"/>
              </a:rPr>
              <a:t>numéricas continuas</a:t>
            </a:r>
            <a:endParaRPr lang="en-US" sz="1200" dirty="0"/>
          </a:p>
        </p:txBody>
      </p:sp>
      <p:sp>
        <p:nvSpPr>
          <p:cNvPr id="13" name="Shape 11"/>
          <p:cNvSpPr/>
          <p:nvPr/>
        </p:nvSpPr>
        <p:spPr>
          <a:xfrm>
            <a:off x="9134856" y="1828800"/>
            <a:ext cx="2651760" cy="1097280"/>
          </a:xfrm>
          <a:prstGeom prst="roundRect">
            <a:avLst>
              <a:gd name="adj" fmla="val 7500"/>
            </a:avLst>
          </a:prstGeom>
          <a:solidFill>
            <a:srgbClr val="12203A"/>
          </a:solidFill>
          <a:ln w="12700">
            <a:solidFill>
              <a:srgbClr val="12203A"/>
            </a:solidFill>
            <a:prstDash val="solid"/>
          </a:ln>
        </p:spPr>
        <p:txBody>
          <a:bodyPr/>
          <a:lstStyle/>
          <a:p>
            <a:endParaRPr lang="es-CL"/>
          </a:p>
        </p:txBody>
      </p:sp>
      <p:sp>
        <p:nvSpPr>
          <p:cNvPr id="14" name="Text 12"/>
          <p:cNvSpPr/>
          <p:nvPr/>
        </p:nvSpPr>
        <p:spPr>
          <a:xfrm>
            <a:off x="9363456" y="1938528"/>
            <a:ext cx="2194560" cy="457200"/>
          </a:xfrm>
          <a:prstGeom prst="rect">
            <a:avLst/>
          </a:prstGeom>
          <a:noFill/>
          <a:ln/>
        </p:spPr>
        <p:txBody>
          <a:bodyPr wrap="square" lIns="0" tIns="0" rIns="0" bIns="0" rtlCol="0" anchor="ctr"/>
          <a:lstStyle/>
          <a:p>
            <a:pPr marL="0" indent="0">
              <a:buNone/>
            </a:pPr>
            <a:r>
              <a:rPr lang="en-US" sz="2600" b="1" dirty="0">
                <a:solidFill>
                  <a:srgbClr val="AC212E"/>
                </a:solidFill>
                <a:latin typeface="Cambria" pitchFamily="34" charset="0"/>
                <a:ea typeface="Cambria" pitchFamily="34" charset="-122"/>
                <a:cs typeface="Cambria" pitchFamily="34" charset="-120"/>
              </a:rPr>
              <a:t>1</a:t>
            </a:r>
            <a:endParaRPr lang="en-US" sz="2600" dirty="0"/>
          </a:p>
        </p:txBody>
      </p:sp>
      <p:sp>
        <p:nvSpPr>
          <p:cNvPr id="15" name="Text 13"/>
          <p:cNvSpPr/>
          <p:nvPr/>
        </p:nvSpPr>
        <p:spPr>
          <a:xfrm>
            <a:off x="9363456" y="2423160"/>
            <a:ext cx="2240280" cy="411480"/>
          </a:xfrm>
          <a:prstGeom prst="rect">
            <a:avLst/>
          </a:prstGeom>
          <a:noFill/>
          <a:ln/>
        </p:spPr>
        <p:txBody>
          <a:bodyPr wrap="square" lIns="0" tIns="0" rIns="0" bIns="0" rtlCol="0" anchor="ctr"/>
          <a:lstStyle/>
          <a:p>
            <a:pPr marL="0" indent="0">
              <a:lnSpc>
                <a:spcPts val="1500"/>
              </a:lnSpc>
              <a:buNone/>
            </a:pPr>
            <a:r>
              <a:rPr lang="en-US" sz="1200" dirty="0">
                <a:solidFill>
                  <a:srgbClr val="D7E3EE"/>
                </a:solidFill>
                <a:latin typeface="Calibri" pitchFamily="34" charset="0"/>
                <a:ea typeface="Calibri" pitchFamily="34" charset="-122"/>
                <a:cs typeface="Calibri" pitchFamily="34" charset="-120"/>
              </a:rPr>
              <a:t>numérica discreta</a:t>
            </a:r>
            <a:endParaRPr lang="en-US" sz="1200" dirty="0"/>
          </a:p>
        </p:txBody>
      </p:sp>
      <p:sp>
        <p:nvSpPr>
          <p:cNvPr id="16" name="Shape 14"/>
          <p:cNvSpPr/>
          <p:nvPr/>
        </p:nvSpPr>
        <p:spPr>
          <a:xfrm>
            <a:off x="548640" y="3154680"/>
            <a:ext cx="2651760" cy="1097280"/>
          </a:xfrm>
          <a:prstGeom prst="roundRect">
            <a:avLst>
              <a:gd name="adj" fmla="val 7500"/>
            </a:avLst>
          </a:prstGeom>
          <a:solidFill>
            <a:srgbClr val="12203A"/>
          </a:solidFill>
          <a:ln w="12700">
            <a:solidFill>
              <a:srgbClr val="12203A"/>
            </a:solidFill>
            <a:prstDash val="solid"/>
          </a:ln>
        </p:spPr>
        <p:txBody>
          <a:bodyPr/>
          <a:lstStyle/>
          <a:p>
            <a:endParaRPr lang="es-CL"/>
          </a:p>
        </p:txBody>
      </p:sp>
      <p:sp>
        <p:nvSpPr>
          <p:cNvPr id="17" name="Text 15"/>
          <p:cNvSpPr/>
          <p:nvPr/>
        </p:nvSpPr>
        <p:spPr>
          <a:xfrm>
            <a:off x="777240" y="3264408"/>
            <a:ext cx="2194560" cy="457200"/>
          </a:xfrm>
          <a:prstGeom prst="rect">
            <a:avLst/>
          </a:prstGeom>
          <a:noFill/>
          <a:ln/>
        </p:spPr>
        <p:txBody>
          <a:bodyPr wrap="square" lIns="0" tIns="0" rIns="0" bIns="0" rtlCol="0" anchor="ctr"/>
          <a:lstStyle/>
          <a:p>
            <a:pPr marL="0" indent="0">
              <a:buNone/>
            </a:pPr>
            <a:r>
              <a:rPr lang="en-US" sz="2600" b="1" dirty="0">
                <a:solidFill>
                  <a:srgbClr val="AC212E"/>
                </a:solidFill>
                <a:latin typeface="Cambria" pitchFamily="34" charset="0"/>
                <a:ea typeface="Cambria" pitchFamily="34" charset="-122"/>
                <a:cs typeface="Cambria" pitchFamily="34" charset="-120"/>
              </a:rPr>
              <a:t>2</a:t>
            </a:r>
            <a:endParaRPr lang="en-US" sz="2600" dirty="0"/>
          </a:p>
        </p:txBody>
      </p:sp>
      <p:sp>
        <p:nvSpPr>
          <p:cNvPr id="18" name="Text 16"/>
          <p:cNvSpPr/>
          <p:nvPr/>
        </p:nvSpPr>
        <p:spPr>
          <a:xfrm>
            <a:off x="777240" y="3749040"/>
            <a:ext cx="2240280" cy="411480"/>
          </a:xfrm>
          <a:prstGeom prst="rect">
            <a:avLst/>
          </a:prstGeom>
          <a:noFill/>
          <a:ln/>
        </p:spPr>
        <p:txBody>
          <a:bodyPr wrap="square" lIns="0" tIns="0" rIns="0" bIns="0" rtlCol="0" anchor="ctr"/>
          <a:lstStyle/>
          <a:p>
            <a:pPr marL="0" indent="0">
              <a:lnSpc>
                <a:spcPts val="1500"/>
              </a:lnSpc>
              <a:buNone/>
            </a:pPr>
            <a:r>
              <a:rPr lang="en-US" sz="1200" dirty="0">
                <a:solidFill>
                  <a:srgbClr val="D7E3EE"/>
                </a:solidFill>
                <a:latin typeface="Calibri" pitchFamily="34" charset="0"/>
                <a:ea typeface="Calibri" pitchFamily="34" charset="-122"/>
                <a:cs typeface="Calibri" pitchFamily="34" charset="-120"/>
              </a:rPr>
              <a:t>categóricas nominales</a:t>
            </a:r>
            <a:endParaRPr lang="en-US" sz="1200" dirty="0"/>
          </a:p>
        </p:txBody>
      </p:sp>
      <p:sp>
        <p:nvSpPr>
          <p:cNvPr id="19" name="Shape 17"/>
          <p:cNvSpPr/>
          <p:nvPr/>
        </p:nvSpPr>
        <p:spPr>
          <a:xfrm>
            <a:off x="3410712" y="3154680"/>
            <a:ext cx="2651760" cy="1097280"/>
          </a:xfrm>
          <a:prstGeom prst="roundRect">
            <a:avLst>
              <a:gd name="adj" fmla="val 7500"/>
            </a:avLst>
          </a:prstGeom>
          <a:solidFill>
            <a:srgbClr val="12203A"/>
          </a:solidFill>
          <a:ln w="12700">
            <a:solidFill>
              <a:srgbClr val="12203A"/>
            </a:solidFill>
            <a:prstDash val="solid"/>
          </a:ln>
        </p:spPr>
        <p:txBody>
          <a:bodyPr/>
          <a:lstStyle/>
          <a:p>
            <a:endParaRPr lang="es-CL"/>
          </a:p>
        </p:txBody>
      </p:sp>
      <p:sp>
        <p:nvSpPr>
          <p:cNvPr id="20" name="Text 18"/>
          <p:cNvSpPr/>
          <p:nvPr/>
        </p:nvSpPr>
        <p:spPr>
          <a:xfrm>
            <a:off x="3639312" y="3264408"/>
            <a:ext cx="2194560" cy="457200"/>
          </a:xfrm>
          <a:prstGeom prst="rect">
            <a:avLst/>
          </a:prstGeom>
          <a:noFill/>
          <a:ln/>
        </p:spPr>
        <p:txBody>
          <a:bodyPr wrap="square" lIns="0" tIns="0" rIns="0" bIns="0" rtlCol="0" anchor="ctr"/>
          <a:lstStyle/>
          <a:p>
            <a:pPr marL="0" indent="0">
              <a:buNone/>
            </a:pPr>
            <a:r>
              <a:rPr lang="en-US" sz="2600" b="1" dirty="0">
                <a:solidFill>
                  <a:srgbClr val="AC212E"/>
                </a:solidFill>
                <a:latin typeface="Cambria" pitchFamily="34" charset="0"/>
                <a:ea typeface="Cambria" pitchFamily="34" charset="-122"/>
                <a:cs typeface="Cambria" pitchFamily="34" charset="-120"/>
              </a:rPr>
              <a:t>1</a:t>
            </a:r>
            <a:endParaRPr lang="en-US" sz="2600" dirty="0"/>
          </a:p>
        </p:txBody>
      </p:sp>
      <p:sp>
        <p:nvSpPr>
          <p:cNvPr id="21" name="Text 19"/>
          <p:cNvSpPr/>
          <p:nvPr/>
        </p:nvSpPr>
        <p:spPr>
          <a:xfrm>
            <a:off x="3639312" y="3749040"/>
            <a:ext cx="2240280" cy="411480"/>
          </a:xfrm>
          <a:prstGeom prst="rect">
            <a:avLst/>
          </a:prstGeom>
          <a:noFill/>
          <a:ln/>
        </p:spPr>
        <p:txBody>
          <a:bodyPr wrap="square" lIns="0" tIns="0" rIns="0" bIns="0" rtlCol="0" anchor="ctr"/>
          <a:lstStyle/>
          <a:p>
            <a:pPr marL="0" indent="0">
              <a:lnSpc>
                <a:spcPts val="1500"/>
              </a:lnSpc>
              <a:buNone/>
            </a:pPr>
            <a:r>
              <a:rPr lang="en-US" sz="1200" dirty="0">
                <a:solidFill>
                  <a:srgbClr val="D7E3EE"/>
                </a:solidFill>
                <a:latin typeface="Calibri" pitchFamily="34" charset="0"/>
                <a:ea typeface="Calibri" pitchFamily="34" charset="-122"/>
                <a:cs typeface="Calibri" pitchFamily="34" charset="-120"/>
              </a:rPr>
              <a:t>binaria u ordinal</a:t>
            </a:r>
            <a:endParaRPr lang="en-US" sz="1200" dirty="0"/>
          </a:p>
        </p:txBody>
      </p:sp>
      <p:sp>
        <p:nvSpPr>
          <p:cNvPr id="22" name="Shape 20"/>
          <p:cNvSpPr/>
          <p:nvPr/>
        </p:nvSpPr>
        <p:spPr>
          <a:xfrm>
            <a:off x="6272784" y="3154680"/>
            <a:ext cx="2651760" cy="1097280"/>
          </a:xfrm>
          <a:prstGeom prst="roundRect">
            <a:avLst>
              <a:gd name="adj" fmla="val 7500"/>
            </a:avLst>
          </a:prstGeom>
          <a:solidFill>
            <a:srgbClr val="12203A"/>
          </a:solidFill>
          <a:ln w="12700">
            <a:solidFill>
              <a:srgbClr val="12203A"/>
            </a:solidFill>
            <a:prstDash val="solid"/>
          </a:ln>
        </p:spPr>
        <p:txBody>
          <a:bodyPr/>
          <a:lstStyle/>
          <a:p>
            <a:endParaRPr lang="es-CL"/>
          </a:p>
        </p:txBody>
      </p:sp>
      <p:sp>
        <p:nvSpPr>
          <p:cNvPr id="23" name="Text 21"/>
          <p:cNvSpPr/>
          <p:nvPr/>
        </p:nvSpPr>
        <p:spPr>
          <a:xfrm>
            <a:off x="6501384" y="3264408"/>
            <a:ext cx="2194560" cy="457200"/>
          </a:xfrm>
          <a:prstGeom prst="rect">
            <a:avLst/>
          </a:prstGeom>
          <a:noFill/>
          <a:ln/>
        </p:spPr>
        <p:txBody>
          <a:bodyPr wrap="square" lIns="0" tIns="0" rIns="0" bIns="0" rtlCol="0" anchor="ctr"/>
          <a:lstStyle/>
          <a:p>
            <a:pPr marL="0" indent="0">
              <a:buNone/>
            </a:pPr>
            <a:r>
              <a:rPr lang="en-US" sz="2600" b="1" dirty="0">
                <a:solidFill>
                  <a:srgbClr val="AC212E"/>
                </a:solidFill>
                <a:latin typeface="Cambria" pitchFamily="34" charset="0"/>
                <a:ea typeface="Cambria" pitchFamily="34" charset="-122"/>
                <a:cs typeface="Cambria" pitchFamily="34" charset="-120"/>
              </a:rPr>
              <a:t>1</a:t>
            </a:r>
            <a:endParaRPr lang="en-US" sz="2600" dirty="0"/>
          </a:p>
        </p:txBody>
      </p:sp>
      <p:sp>
        <p:nvSpPr>
          <p:cNvPr id="24" name="Text 22"/>
          <p:cNvSpPr/>
          <p:nvPr/>
        </p:nvSpPr>
        <p:spPr>
          <a:xfrm>
            <a:off x="6501384" y="3749040"/>
            <a:ext cx="2240280" cy="411480"/>
          </a:xfrm>
          <a:prstGeom prst="rect">
            <a:avLst/>
          </a:prstGeom>
          <a:noFill/>
          <a:ln/>
        </p:spPr>
        <p:txBody>
          <a:bodyPr wrap="square" lIns="0" tIns="0" rIns="0" bIns="0" rtlCol="0" anchor="ctr"/>
          <a:lstStyle/>
          <a:p>
            <a:pPr marL="0" indent="0">
              <a:lnSpc>
                <a:spcPts val="1500"/>
              </a:lnSpc>
              <a:buNone/>
            </a:pPr>
            <a:r>
              <a:rPr lang="en-US" sz="1200" dirty="0">
                <a:solidFill>
                  <a:srgbClr val="D7E3EE"/>
                </a:solidFill>
                <a:latin typeface="Calibri" pitchFamily="34" charset="0"/>
                <a:ea typeface="Calibri" pitchFamily="34" charset="-122"/>
                <a:cs typeface="Calibri" pitchFamily="34" charset="-120"/>
              </a:rPr>
              <a:t>variable de fecha</a:t>
            </a:r>
            <a:endParaRPr lang="en-US" sz="1200" dirty="0"/>
          </a:p>
        </p:txBody>
      </p:sp>
      <p:sp>
        <p:nvSpPr>
          <p:cNvPr id="25" name="Shape 23"/>
          <p:cNvSpPr/>
          <p:nvPr/>
        </p:nvSpPr>
        <p:spPr>
          <a:xfrm>
            <a:off x="9134856" y="3154680"/>
            <a:ext cx="2651760" cy="1097280"/>
          </a:xfrm>
          <a:prstGeom prst="roundRect">
            <a:avLst>
              <a:gd name="adj" fmla="val 7500"/>
            </a:avLst>
          </a:prstGeom>
          <a:solidFill>
            <a:srgbClr val="12203A"/>
          </a:solidFill>
          <a:ln w="12700">
            <a:solidFill>
              <a:srgbClr val="12203A"/>
            </a:solidFill>
            <a:prstDash val="solid"/>
          </a:ln>
        </p:spPr>
        <p:txBody>
          <a:bodyPr/>
          <a:lstStyle/>
          <a:p>
            <a:endParaRPr lang="es-CL"/>
          </a:p>
        </p:txBody>
      </p:sp>
      <p:sp>
        <p:nvSpPr>
          <p:cNvPr id="26" name="Text 24"/>
          <p:cNvSpPr/>
          <p:nvPr/>
        </p:nvSpPr>
        <p:spPr>
          <a:xfrm>
            <a:off x="9363456" y="3264408"/>
            <a:ext cx="2194560" cy="457200"/>
          </a:xfrm>
          <a:prstGeom prst="rect">
            <a:avLst/>
          </a:prstGeom>
          <a:noFill/>
          <a:ln/>
        </p:spPr>
        <p:txBody>
          <a:bodyPr wrap="square" lIns="0" tIns="0" rIns="0" bIns="0" rtlCol="0" anchor="ctr"/>
          <a:lstStyle/>
          <a:p>
            <a:pPr marL="0" indent="0">
              <a:buNone/>
            </a:pPr>
            <a:r>
              <a:rPr lang="en-US" sz="2600" b="1" dirty="0">
                <a:solidFill>
                  <a:srgbClr val="AC212E"/>
                </a:solidFill>
                <a:latin typeface="Cambria" pitchFamily="34" charset="0"/>
                <a:ea typeface="Cambria" pitchFamily="34" charset="-122"/>
                <a:cs typeface="Cambria" pitchFamily="34" charset="-120"/>
              </a:rPr>
              <a:t>1</a:t>
            </a:r>
            <a:endParaRPr lang="en-US" sz="2600" dirty="0"/>
          </a:p>
        </p:txBody>
      </p:sp>
      <p:sp>
        <p:nvSpPr>
          <p:cNvPr id="27" name="Text 25"/>
          <p:cNvSpPr/>
          <p:nvPr/>
        </p:nvSpPr>
        <p:spPr>
          <a:xfrm>
            <a:off x="9363456" y="3749040"/>
            <a:ext cx="2240280" cy="411480"/>
          </a:xfrm>
          <a:prstGeom prst="rect">
            <a:avLst/>
          </a:prstGeom>
          <a:noFill/>
          <a:ln/>
        </p:spPr>
        <p:txBody>
          <a:bodyPr wrap="square" lIns="0" tIns="0" rIns="0" bIns="0" rtlCol="0" anchor="ctr"/>
          <a:lstStyle/>
          <a:p>
            <a:pPr marL="0" indent="0">
              <a:lnSpc>
                <a:spcPts val="1500"/>
              </a:lnSpc>
              <a:buNone/>
            </a:pPr>
            <a:r>
              <a:rPr lang="en-US" sz="1200" dirty="0">
                <a:solidFill>
                  <a:srgbClr val="D7E3EE"/>
                </a:solidFill>
                <a:latin typeface="Calibri" pitchFamily="34" charset="0"/>
                <a:ea typeface="Calibri" pitchFamily="34" charset="-122"/>
                <a:cs typeface="Calibri" pitchFamily="34" charset="-120"/>
              </a:rPr>
              <a:t>texto o alta cardinalidad</a:t>
            </a:r>
            <a:endParaRPr lang="en-US" sz="1200" dirty="0"/>
          </a:p>
        </p:txBody>
      </p:sp>
      <p:sp>
        <p:nvSpPr>
          <p:cNvPr id="28" name="Shape 26"/>
          <p:cNvSpPr/>
          <p:nvPr/>
        </p:nvSpPr>
        <p:spPr>
          <a:xfrm>
            <a:off x="548640" y="4663440"/>
            <a:ext cx="201168" cy="201168"/>
          </a:xfrm>
          <a:prstGeom prst="ellipse">
            <a:avLst/>
          </a:prstGeom>
          <a:solidFill>
            <a:srgbClr val="AC212E"/>
          </a:solidFill>
          <a:ln/>
        </p:spPr>
        <p:txBody>
          <a:bodyPr/>
          <a:lstStyle/>
          <a:p>
            <a:endParaRPr lang="es-CL"/>
          </a:p>
        </p:txBody>
      </p:sp>
      <p:sp>
        <p:nvSpPr>
          <p:cNvPr id="29" name="Text 27"/>
          <p:cNvSpPr/>
          <p:nvPr/>
        </p:nvSpPr>
        <p:spPr>
          <a:xfrm>
            <a:off x="932688" y="4572000"/>
            <a:ext cx="5212080" cy="384048"/>
          </a:xfrm>
          <a:prstGeom prst="rect">
            <a:avLst/>
          </a:prstGeom>
          <a:noFill/>
          <a:ln/>
        </p:spPr>
        <p:txBody>
          <a:bodyPr wrap="square" lIns="0" tIns="0" rIns="0" bIns="0" rtlCol="0" anchor="ctr"/>
          <a:lstStyle/>
          <a:p>
            <a:pPr marL="0" indent="0">
              <a:buNone/>
            </a:pPr>
            <a:r>
              <a:rPr lang="en-US" sz="1300" dirty="0">
                <a:solidFill>
                  <a:srgbClr val="D7E3EE"/>
                </a:solidFill>
                <a:latin typeface="Calibri" pitchFamily="34" charset="0"/>
                <a:ea typeface="Calibri" pitchFamily="34" charset="-122"/>
                <a:cs typeface="Calibri" pitchFamily="34" charset="-120"/>
              </a:rPr>
              <a:t>Ninguna variable sobre 60% de valores faltantes</a:t>
            </a:r>
            <a:endParaRPr lang="en-US" sz="1300" dirty="0"/>
          </a:p>
        </p:txBody>
      </p:sp>
      <p:sp>
        <p:nvSpPr>
          <p:cNvPr id="30" name="Shape 28"/>
          <p:cNvSpPr/>
          <p:nvPr/>
        </p:nvSpPr>
        <p:spPr>
          <a:xfrm>
            <a:off x="6309360" y="4663440"/>
            <a:ext cx="201168" cy="201168"/>
          </a:xfrm>
          <a:prstGeom prst="ellipse">
            <a:avLst/>
          </a:prstGeom>
          <a:solidFill>
            <a:srgbClr val="AC212E"/>
          </a:solidFill>
          <a:ln/>
        </p:spPr>
        <p:txBody>
          <a:bodyPr/>
          <a:lstStyle/>
          <a:p>
            <a:endParaRPr lang="es-CL"/>
          </a:p>
        </p:txBody>
      </p:sp>
      <p:sp>
        <p:nvSpPr>
          <p:cNvPr id="31" name="Text 29"/>
          <p:cNvSpPr/>
          <p:nvPr/>
        </p:nvSpPr>
        <p:spPr>
          <a:xfrm>
            <a:off x="6693408" y="4572000"/>
            <a:ext cx="5212080" cy="384048"/>
          </a:xfrm>
          <a:prstGeom prst="rect">
            <a:avLst/>
          </a:prstGeom>
          <a:noFill/>
          <a:ln/>
        </p:spPr>
        <p:txBody>
          <a:bodyPr wrap="square" lIns="0" tIns="0" rIns="0" bIns="0" rtlCol="0" anchor="ctr"/>
          <a:lstStyle/>
          <a:p>
            <a:pPr marL="0" indent="0">
              <a:buNone/>
            </a:pPr>
            <a:r>
              <a:rPr lang="en-US" sz="1300" dirty="0">
                <a:solidFill>
                  <a:srgbClr val="D7E3EE"/>
                </a:solidFill>
                <a:latin typeface="Calibri" pitchFamily="34" charset="0"/>
                <a:ea typeface="Calibri" pitchFamily="34" charset="-122"/>
                <a:cs typeface="Calibri" pitchFamily="34" charset="-120"/>
              </a:rPr>
              <a:t>Archivo bajo 100 MB (límite de GitHub)</a:t>
            </a:r>
            <a:endParaRPr lang="en-US" sz="1300" dirty="0"/>
          </a:p>
        </p:txBody>
      </p:sp>
      <p:sp>
        <p:nvSpPr>
          <p:cNvPr id="32" name="Shape 30"/>
          <p:cNvSpPr/>
          <p:nvPr/>
        </p:nvSpPr>
        <p:spPr>
          <a:xfrm>
            <a:off x="548640" y="5166360"/>
            <a:ext cx="201168" cy="201168"/>
          </a:xfrm>
          <a:prstGeom prst="ellipse">
            <a:avLst/>
          </a:prstGeom>
          <a:solidFill>
            <a:srgbClr val="AC212E"/>
          </a:solidFill>
          <a:ln/>
        </p:spPr>
        <p:txBody>
          <a:bodyPr/>
          <a:lstStyle/>
          <a:p>
            <a:endParaRPr lang="es-CL"/>
          </a:p>
        </p:txBody>
      </p:sp>
      <p:sp>
        <p:nvSpPr>
          <p:cNvPr id="33" name="Text 31"/>
          <p:cNvSpPr/>
          <p:nvPr/>
        </p:nvSpPr>
        <p:spPr>
          <a:xfrm>
            <a:off x="932688" y="5074920"/>
            <a:ext cx="5212080" cy="384048"/>
          </a:xfrm>
          <a:prstGeom prst="rect">
            <a:avLst/>
          </a:prstGeom>
          <a:noFill/>
          <a:ln/>
        </p:spPr>
        <p:txBody>
          <a:bodyPr wrap="square" lIns="0" tIns="0" rIns="0" bIns="0" rtlCol="0" anchor="ctr"/>
          <a:lstStyle/>
          <a:p>
            <a:pPr marL="0" indent="0">
              <a:buNone/>
            </a:pPr>
            <a:r>
              <a:rPr lang="en-US" sz="1300" dirty="0">
                <a:solidFill>
                  <a:srgbClr val="D7E3EE"/>
                </a:solidFill>
                <a:latin typeface="Calibri" pitchFamily="34" charset="0"/>
                <a:ea typeface="Calibri" pitchFamily="34" charset="-122"/>
                <a:cs typeface="Calibri" pitchFamily="34" charset="-120"/>
              </a:rPr>
              <a:t>Licencia abierta y fuente verificable</a:t>
            </a:r>
            <a:endParaRPr lang="en-US" sz="1300" dirty="0"/>
          </a:p>
        </p:txBody>
      </p:sp>
      <p:sp>
        <p:nvSpPr>
          <p:cNvPr id="34" name="Shape 32"/>
          <p:cNvSpPr/>
          <p:nvPr/>
        </p:nvSpPr>
        <p:spPr>
          <a:xfrm>
            <a:off x="6309360" y="5166360"/>
            <a:ext cx="201168" cy="201168"/>
          </a:xfrm>
          <a:prstGeom prst="ellipse">
            <a:avLst/>
          </a:prstGeom>
          <a:solidFill>
            <a:srgbClr val="AC212E"/>
          </a:solidFill>
          <a:ln/>
        </p:spPr>
        <p:txBody>
          <a:bodyPr/>
          <a:lstStyle/>
          <a:p>
            <a:endParaRPr lang="es-CL"/>
          </a:p>
        </p:txBody>
      </p:sp>
      <p:sp>
        <p:nvSpPr>
          <p:cNvPr id="35" name="Text 33"/>
          <p:cNvSpPr/>
          <p:nvPr/>
        </p:nvSpPr>
        <p:spPr>
          <a:xfrm>
            <a:off x="6693408" y="5074920"/>
            <a:ext cx="5212080" cy="384048"/>
          </a:xfrm>
          <a:prstGeom prst="rect">
            <a:avLst/>
          </a:prstGeom>
          <a:noFill/>
          <a:ln/>
        </p:spPr>
        <p:txBody>
          <a:bodyPr wrap="square" lIns="0" tIns="0" rIns="0" bIns="0" rtlCol="0" anchor="ctr"/>
          <a:lstStyle/>
          <a:p>
            <a:pPr marL="0" indent="0">
              <a:buNone/>
            </a:pPr>
            <a:r>
              <a:rPr lang="en-US" sz="1300" dirty="0">
                <a:solidFill>
                  <a:srgbClr val="D7E3EE"/>
                </a:solidFill>
                <a:latin typeface="Calibri" pitchFamily="34" charset="0"/>
                <a:ea typeface="Calibri" pitchFamily="34" charset="-122"/>
                <a:cs typeface="Calibri" pitchFamily="34" charset="-120"/>
              </a:rPr>
              <a:t>Datos de los últimos cinco años</a:t>
            </a:r>
            <a:endParaRPr lang="en-US" sz="1300" dirty="0"/>
          </a:p>
        </p:txBody>
      </p:sp>
      <p:sp>
        <p:nvSpPr>
          <p:cNvPr id="36" name="Text 34"/>
          <p:cNvSpPr/>
          <p:nvPr/>
        </p:nvSpPr>
        <p:spPr>
          <a:xfrm>
            <a:off x="548640" y="5760720"/>
            <a:ext cx="11064240" cy="365760"/>
          </a:xfrm>
          <a:prstGeom prst="rect">
            <a:avLst/>
          </a:prstGeom>
          <a:noFill/>
          <a:ln/>
        </p:spPr>
        <p:txBody>
          <a:bodyPr wrap="square" lIns="0" tIns="0" rIns="0" bIns="0" rtlCol="0" anchor="ctr"/>
          <a:lstStyle/>
          <a:p>
            <a:pPr marL="0" indent="0">
              <a:buNone/>
            </a:pPr>
            <a:r>
              <a:rPr lang="en-US" sz="1350" i="1" dirty="0">
                <a:solidFill>
                  <a:srgbClr val="5A6B7B"/>
                </a:solidFill>
                <a:latin typeface="Calibri" pitchFamily="34" charset="0"/>
                <a:ea typeface="Calibri" pitchFamily="34" charset="-122"/>
                <a:cs typeface="Calibri" pitchFamily="34" charset="-120"/>
              </a:rPr>
              <a:t>Un noveno requisito, el menos evidente, va en la lámina siguiente.</a:t>
            </a:r>
            <a:endParaRPr lang="en-US" sz="13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El dataset debe tener datos faltantes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Suena raro. Es el requisito que más protege su nota.</a:t>
            </a:r>
            <a:endParaRPr lang="en-US" sz="1400" dirty="0"/>
          </a:p>
        </p:txBody>
      </p:sp>
      <p:sp>
        <p:nvSpPr>
          <p:cNvPr id="4" name="Shape 2"/>
          <p:cNvSpPr/>
          <p:nvPr/>
        </p:nvSpPr>
        <p:spPr>
          <a:xfrm>
            <a:off x="548640" y="1783080"/>
            <a:ext cx="5394960" cy="2286000"/>
          </a:xfrm>
          <a:prstGeom prst="roundRect">
            <a:avLst>
              <a:gd name="adj" fmla="val 3600"/>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68680" y="1965960"/>
            <a:ext cx="4754880" cy="365760"/>
          </a:xfrm>
          <a:prstGeom prst="rect">
            <a:avLst/>
          </a:prstGeom>
          <a:noFill/>
          <a:ln/>
        </p:spPr>
        <p:txBody>
          <a:bodyPr wrap="square" lIns="0" tIns="0" rIns="0" bIns="0" rtlCol="0" anchor="ctr"/>
          <a:lstStyle/>
          <a:p>
            <a:pPr marL="0" indent="0">
              <a:buNone/>
            </a:pPr>
            <a:r>
              <a:rPr lang="en-US" sz="1600" b="1" dirty="0">
                <a:solidFill>
                  <a:srgbClr val="5A6B7B"/>
                </a:solidFill>
                <a:latin typeface="Calibri" pitchFamily="34" charset="0"/>
                <a:ea typeface="Calibri" pitchFamily="34" charset="-122"/>
                <a:cs typeface="Calibri" pitchFamily="34" charset="-120"/>
              </a:rPr>
              <a:t>Dataset «perfecto»</a:t>
            </a:r>
            <a:endParaRPr lang="en-US" sz="1600" dirty="0"/>
          </a:p>
        </p:txBody>
      </p:sp>
      <p:sp>
        <p:nvSpPr>
          <p:cNvPr id="6" name="Text 4"/>
          <p:cNvSpPr/>
          <p:nvPr/>
        </p:nvSpPr>
        <p:spPr>
          <a:xfrm>
            <a:off x="868680" y="2377440"/>
            <a:ext cx="4754880" cy="1554480"/>
          </a:xfrm>
          <a:prstGeom prst="rect">
            <a:avLst/>
          </a:prstGeom>
          <a:noFill/>
          <a:ln/>
        </p:spPr>
        <p:txBody>
          <a:bodyPr wrap="square" lIns="0" tIns="0" rIns="0" bIns="0" rtlCol="0" anchor="ctr"/>
          <a:lstStyle/>
          <a:p>
            <a:pPr marL="0" indent="0">
              <a:lnSpc>
                <a:spcPts val="1800"/>
              </a:lnSpc>
              <a:buNone/>
            </a:pPr>
            <a:r>
              <a:rPr lang="en-US" sz="1300" dirty="0">
                <a:solidFill>
                  <a:srgbClr val="06304A"/>
                </a:solidFill>
                <a:latin typeface="Calibri" pitchFamily="34" charset="0"/>
                <a:ea typeface="Calibri" pitchFamily="34" charset="-122"/>
                <a:cs typeface="Calibri" pitchFamily="34" charset="-120"/>
              </a:rPr>
              <a:t>Sin nulos, sin duplicados, sin anomalías.</a:t>
            </a:r>
            <a:endParaRPr lang="en-US" sz="1300" dirty="0"/>
          </a:p>
          <a:p>
            <a:pPr marL="0" indent="0">
              <a:lnSpc>
                <a:spcPts val="1800"/>
              </a:lnSpc>
              <a:buNone/>
            </a:pPr>
            <a:endParaRPr lang="en-US" sz="1300" dirty="0"/>
          </a:p>
          <a:p>
            <a:pPr marL="0" indent="0">
              <a:lnSpc>
                <a:spcPts val="1800"/>
              </a:lnSpc>
              <a:buNone/>
            </a:pPr>
            <a:r>
              <a:rPr lang="en-US" sz="1300" dirty="0">
                <a:solidFill>
                  <a:srgbClr val="06304A"/>
                </a:solidFill>
                <a:latin typeface="Calibri" pitchFamily="34" charset="0"/>
                <a:ea typeface="Calibri" pitchFamily="34" charset="-122"/>
                <a:cs typeface="Calibri" pitchFamily="34" charset="-120"/>
              </a:rPr>
              <a:t>La sección de preprocesamiento se reduce a cargar el archivo. No hay decisiones que tomar, y por lo tanto no hay nada que justificar.</a:t>
            </a:r>
            <a:endParaRPr lang="en-US" sz="1300" dirty="0"/>
          </a:p>
          <a:p>
            <a:pPr marL="0" indent="0">
              <a:lnSpc>
                <a:spcPts val="1800"/>
              </a:lnSpc>
              <a:buNone/>
            </a:pPr>
            <a:endParaRPr lang="en-US" sz="1300" dirty="0"/>
          </a:p>
          <a:p>
            <a:pPr marL="0" indent="0">
              <a:lnSpc>
                <a:spcPts val="1800"/>
              </a:lnSpc>
              <a:buNone/>
            </a:pPr>
            <a:r>
              <a:rPr lang="en-US" sz="1300" dirty="0">
                <a:solidFill>
                  <a:srgbClr val="06304A"/>
                </a:solidFill>
                <a:latin typeface="Calibri" pitchFamily="34" charset="0"/>
                <a:ea typeface="Calibri" pitchFamily="34" charset="-122"/>
                <a:cs typeface="Calibri" pitchFamily="34" charset="-120"/>
              </a:rPr>
              <a:t>El criterio de mayor peso de la Sumativa 1 queda sin evidencia.</a:t>
            </a:r>
            <a:endParaRPr lang="en-US" sz="1300" dirty="0"/>
          </a:p>
        </p:txBody>
      </p:sp>
      <p:sp>
        <p:nvSpPr>
          <p:cNvPr id="7" name="Shape 5"/>
          <p:cNvSpPr/>
          <p:nvPr/>
        </p:nvSpPr>
        <p:spPr>
          <a:xfrm>
            <a:off x="6217920" y="1783080"/>
            <a:ext cx="5394960" cy="2286000"/>
          </a:xfrm>
          <a:prstGeom prst="roundRect">
            <a:avLst>
              <a:gd name="adj" fmla="val 3600"/>
            </a:avLst>
          </a:prstGeom>
          <a:solidFill>
            <a:srgbClr val="0A1526"/>
          </a:solidFill>
          <a:ln w="12700">
            <a:solidFill>
              <a:srgbClr val="0A1526"/>
            </a:solidFill>
            <a:prstDash val="solid"/>
          </a:ln>
        </p:spPr>
        <p:txBody>
          <a:bodyPr/>
          <a:lstStyle/>
          <a:p>
            <a:endParaRPr lang="es-CL"/>
          </a:p>
        </p:txBody>
      </p:sp>
      <p:sp>
        <p:nvSpPr>
          <p:cNvPr id="8" name="Text 6"/>
          <p:cNvSpPr/>
          <p:nvPr/>
        </p:nvSpPr>
        <p:spPr>
          <a:xfrm>
            <a:off x="6537960" y="1965960"/>
            <a:ext cx="4754880" cy="365760"/>
          </a:xfrm>
          <a:prstGeom prst="rect">
            <a:avLst/>
          </a:prstGeom>
          <a:noFill/>
          <a:ln/>
        </p:spPr>
        <p:txBody>
          <a:bodyPr wrap="square" lIns="0" tIns="0" rIns="0" bIns="0" rtlCol="0" anchor="ctr"/>
          <a:lstStyle/>
          <a:p>
            <a:pPr marL="0" indent="0">
              <a:buNone/>
            </a:pPr>
            <a:r>
              <a:rPr lang="en-US" sz="1600" b="1" dirty="0">
                <a:solidFill>
                  <a:srgbClr val="AC212E"/>
                </a:solidFill>
                <a:latin typeface="Calibri" pitchFamily="34" charset="0"/>
                <a:ea typeface="Calibri" pitchFamily="34" charset="-122"/>
                <a:cs typeface="Calibri" pitchFamily="34" charset="-120"/>
              </a:rPr>
              <a:t>Dataset real</a:t>
            </a:r>
            <a:endParaRPr lang="en-US" sz="1600" dirty="0"/>
          </a:p>
        </p:txBody>
      </p:sp>
      <p:sp>
        <p:nvSpPr>
          <p:cNvPr id="9" name="Text 7"/>
          <p:cNvSpPr/>
          <p:nvPr/>
        </p:nvSpPr>
        <p:spPr>
          <a:xfrm>
            <a:off x="6537960" y="2377440"/>
            <a:ext cx="4754880" cy="1554480"/>
          </a:xfrm>
          <a:prstGeom prst="rect">
            <a:avLst/>
          </a:prstGeom>
          <a:noFill/>
          <a:ln/>
        </p:spPr>
        <p:txBody>
          <a:bodyPr wrap="square" lIns="0" tIns="0" rIns="0" bIns="0" rtlCol="0" anchor="ctr"/>
          <a:lstStyle/>
          <a:p>
            <a:pPr marL="0" indent="0">
              <a:lnSpc>
                <a:spcPts val="1800"/>
              </a:lnSpc>
              <a:buNone/>
            </a:pPr>
            <a:r>
              <a:rPr lang="en-US" sz="1300" dirty="0">
                <a:solidFill>
                  <a:srgbClr val="D7E3EE"/>
                </a:solidFill>
                <a:latin typeface="Calibri" pitchFamily="34" charset="0"/>
                <a:ea typeface="Calibri" pitchFamily="34" charset="-122"/>
                <a:cs typeface="Calibri" pitchFamily="34" charset="-120"/>
              </a:rPr>
              <a:t>Con campos vacíos, formatos inconsistentes y categorías escritas de tres maneras.</a:t>
            </a:r>
            <a:endParaRPr lang="en-US" sz="1300" dirty="0"/>
          </a:p>
          <a:p>
            <a:pPr marL="0" indent="0">
              <a:lnSpc>
                <a:spcPts val="1800"/>
              </a:lnSpc>
              <a:buNone/>
            </a:pPr>
            <a:endParaRPr lang="en-US" sz="1300" dirty="0"/>
          </a:p>
          <a:p>
            <a:pPr marL="0" indent="0">
              <a:lnSpc>
                <a:spcPts val="1800"/>
              </a:lnSpc>
              <a:buNone/>
            </a:pPr>
            <a:r>
              <a:rPr lang="en-US" sz="1300" dirty="0">
                <a:solidFill>
                  <a:srgbClr val="D7E3EE"/>
                </a:solidFill>
                <a:latin typeface="Calibri" pitchFamily="34" charset="0"/>
                <a:ea typeface="Calibri" pitchFamily="34" charset="-122"/>
                <a:cs typeface="Calibri" pitchFamily="34" charset="-120"/>
              </a:rPr>
              <a:t>Cada uno obliga a decidir: eliminar, imputar, corregir. Y cada decisión se justifica en el informe.</a:t>
            </a:r>
            <a:endParaRPr lang="en-US" sz="1300" dirty="0"/>
          </a:p>
          <a:p>
            <a:pPr marL="0" indent="0">
              <a:lnSpc>
                <a:spcPts val="1800"/>
              </a:lnSpc>
              <a:buNone/>
            </a:pPr>
            <a:endParaRPr lang="en-US" sz="1300" dirty="0"/>
          </a:p>
          <a:p>
            <a:pPr marL="0" indent="0">
              <a:lnSpc>
                <a:spcPts val="1800"/>
              </a:lnSpc>
              <a:buNone/>
            </a:pPr>
            <a:r>
              <a:rPr lang="en-US" sz="1300" dirty="0">
                <a:solidFill>
                  <a:srgbClr val="D7E3EE"/>
                </a:solidFill>
                <a:latin typeface="Calibri" pitchFamily="34" charset="0"/>
                <a:ea typeface="Calibri" pitchFamily="34" charset="-122"/>
                <a:cs typeface="Calibri" pitchFamily="34" charset="-120"/>
              </a:rPr>
              <a:t>Eso es exactamente lo que la rúbrica evalúa.</a:t>
            </a:r>
            <a:endParaRPr lang="en-US" sz="1300" dirty="0"/>
          </a:p>
        </p:txBody>
      </p:sp>
      <p:sp>
        <p:nvSpPr>
          <p:cNvPr id="10" name="Text 8"/>
          <p:cNvSpPr/>
          <p:nvPr/>
        </p:nvSpPr>
        <p:spPr>
          <a:xfrm>
            <a:off x="548640" y="4343400"/>
            <a:ext cx="7315200" cy="365760"/>
          </a:xfrm>
          <a:prstGeom prst="rect">
            <a:avLst/>
          </a:prstGeom>
          <a:noFill/>
          <a:ln/>
        </p:spPr>
        <p:txBody>
          <a:bodyPr wrap="square" lIns="0" tIns="0" rIns="0" bIns="0" rtlCol="0" anchor="ctr"/>
          <a:lstStyle/>
          <a:p>
            <a:pPr marL="0" indent="0">
              <a:buNone/>
            </a:pPr>
            <a:r>
              <a:rPr lang="en-US" sz="1600" b="1" dirty="0">
                <a:solidFill>
                  <a:srgbClr val="06304A"/>
                </a:solidFill>
                <a:latin typeface="Calibri" pitchFamily="34" charset="0"/>
                <a:ea typeface="Calibri" pitchFamily="34" charset="-122"/>
                <a:cs typeface="Calibri" pitchFamily="34" charset="-120"/>
              </a:rPr>
              <a:t>La proporción también importa</a:t>
            </a:r>
            <a:endParaRPr lang="en-US" sz="1600" dirty="0"/>
          </a:p>
        </p:txBody>
      </p:sp>
      <p:sp>
        <p:nvSpPr>
          <p:cNvPr id="11" name="Shape 9"/>
          <p:cNvSpPr/>
          <p:nvPr/>
        </p:nvSpPr>
        <p:spPr>
          <a:xfrm>
            <a:off x="548640" y="4754880"/>
            <a:ext cx="3520440" cy="1188720"/>
          </a:xfrm>
          <a:prstGeom prst="roundRect">
            <a:avLst>
              <a:gd name="adj" fmla="val 6923"/>
            </a:avLst>
          </a:prstGeom>
          <a:solidFill>
            <a:srgbClr val="F4F7FA"/>
          </a:solidFill>
          <a:ln w="12700">
            <a:solidFill>
              <a:srgbClr val="F4F7FA"/>
            </a:solidFill>
            <a:prstDash val="solid"/>
          </a:ln>
        </p:spPr>
        <p:txBody>
          <a:bodyPr/>
          <a:lstStyle/>
          <a:p>
            <a:endParaRPr lang="es-CL"/>
          </a:p>
        </p:txBody>
      </p:sp>
      <p:sp>
        <p:nvSpPr>
          <p:cNvPr id="12" name="Text 10"/>
          <p:cNvSpPr/>
          <p:nvPr/>
        </p:nvSpPr>
        <p:spPr>
          <a:xfrm>
            <a:off x="777240" y="4892040"/>
            <a:ext cx="3063240" cy="292608"/>
          </a:xfrm>
          <a:prstGeom prst="rect">
            <a:avLst/>
          </a:prstGeom>
          <a:noFill/>
          <a:ln/>
        </p:spPr>
        <p:txBody>
          <a:bodyPr wrap="square" lIns="0" tIns="0" rIns="0" bIns="0" rtlCol="0" anchor="ctr"/>
          <a:lstStyle/>
          <a:p>
            <a:pPr marL="0" indent="0">
              <a:buNone/>
            </a:pPr>
            <a:r>
              <a:rPr lang="en-US" sz="1400" b="1" dirty="0">
                <a:solidFill>
                  <a:srgbClr val="5A6B7B"/>
                </a:solidFill>
                <a:latin typeface="Calibri" pitchFamily="34" charset="0"/>
                <a:ea typeface="Calibri" pitchFamily="34" charset="-122"/>
                <a:cs typeface="Calibri" pitchFamily="34" charset="-120"/>
              </a:rPr>
              <a:t>Menos de 1%</a:t>
            </a:r>
            <a:endParaRPr lang="en-US" sz="1400" dirty="0"/>
          </a:p>
        </p:txBody>
      </p:sp>
      <p:sp>
        <p:nvSpPr>
          <p:cNvPr id="13" name="Text 11"/>
          <p:cNvSpPr/>
          <p:nvPr/>
        </p:nvSpPr>
        <p:spPr>
          <a:xfrm>
            <a:off x="777240" y="5212080"/>
            <a:ext cx="3063240" cy="640080"/>
          </a:xfrm>
          <a:prstGeom prst="rect">
            <a:avLst/>
          </a:prstGeom>
          <a:noFill/>
          <a:ln/>
        </p:spPr>
        <p:txBody>
          <a:bodyPr wrap="square" lIns="0" tIns="0" rIns="0" bIns="0" rtlCol="0" anchor="ctr"/>
          <a:lstStyle/>
          <a:p>
            <a:pPr marL="0" indent="0">
              <a:lnSpc>
                <a:spcPts val="1600"/>
              </a:lnSpc>
              <a:buNone/>
            </a:pPr>
            <a:r>
              <a:rPr lang="en-US" sz="1250" dirty="0">
                <a:solidFill>
                  <a:srgbClr val="06304A"/>
                </a:solidFill>
                <a:latin typeface="Calibri" pitchFamily="34" charset="0"/>
                <a:ea typeface="Calibri" pitchFamily="34" charset="-122"/>
                <a:cs typeface="Calibri" pitchFamily="34" charset="-120"/>
              </a:rPr>
              <a:t>Casi no hay decisión que tomar.</a:t>
            </a:r>
            <a:endParaRPr lang="en-US" sz="1250" dirty="0"/>
          </a:p>
        </p:txBody>
      </p:sp>
      <p:sp>
        <p:nvSpPr>
          <p:cNvPr id="14" name="Shape 12"/>
          <p:cNvSpPr/>
          <p:nvPr/>
        </p:nvSpPr>
        <p:spPr>
          <a:xfrm>
            <a:off x="4325112" y="4754880"/>
            <a:ext cx="3520440" cy="1188720"/>
          </a:xfrm>
          <a:prstGeom prst="roundRect">
            <a:avLst>
              <a:gd name="adj" fmla="val 6923"/>
            </a:avLst>
          </a:prstGeom>
          <a:solidFill>
            <a:srgbClr val="F6E7E9"/>
          </a:solidFill>
          <a:ln w="12700">
            <a:solidFill>
              <a:srgbClr val="F6E7E9"/>
            </a:solidFill>
            <a:prstDash val="solid"/>
          </a:ln>
        </p:spPr>
        <p:txBody>
          <a:bodyPr/>
          <a:lstStyle/>
          <a:p>
            <a:endParaRPr lang="es-CL"/>
          </a:p>
        </p:txBody>
      </p:sp>
      <p:sp>
        <p:nvSpPr>
          <p:cNvPr id="15" name="Text 13"/>
          <p:cNvSpPr/>
          <p:nvPr/>
        </p:nvSpPr>
        <p:spPr>
          <a:xfrm>
            <a:off x="4553712" y="4892040"/>
            <a:ext cx="3063240" cy="292608"/>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Entre 1% y 30%</a:t>
            </a:r>
            <a:endParaRPr lang="en-US" sz="1400" dirty="0"/>
          </a:p>
        </p:txBody>
      </p:sp>
      <p:sp>
        <p:nvSpPr>
          <p:cNvPr id="16" name="Text 14"/>
          <p:cNvSpPr/>
          <p:nvPr/>
        </p:nvSpPr>
        <p:spPr>
          <a:xfrm>
            <a:off x="4553712" y="5212080"/>
            <a:ext cx="3063240" cy="640080"/>
          </a:xfrm>
          <a:prstGeom prst="rect">
            <a:avLst/>
          </a:prstGeom>
          <a:noFill/>
          <a:ln/>
        </p:spPr>
        <p:txBody>
          <a:bodyPr wrap="square" lIns="0" tIns="0" rIns="0" bIns="0" rtlCol="0" anchor="ctr"/>
          <a:lstStyle/>
          <a:p>
            <a:pPr marL="0" indent="0">
              <a:lnSpc>
                <a:spcPts val="1600"/>
              </a:lnSpc>
              <a:buNone/>
            </a:pPr>
            <a:r>
              <a:rPr lang="en-US" sz="1250" dirty="0">
                <a:solidFill>
                  <a:srgbClr val="06304A"/>
                </a:solidFill>
                <a:latin typeface="Calibri" pitchFamily="34" charset="0"/>
                <a:ea typeface="Calibri" pitchFamily="34" charset="-122"/>
                <a:cs typeface="Calibri" pitchFamily="34" charset="-120"/>
              </a:rPr>
              <a:t>Rango útil: obliga a elegir entre eliminar e imputar, y a justificarlo.</a:t>
            </a:r>
            <a:endParaRPr lang="en-US" sz="1250" dirty="0"/>
          </a:p>
        </p:txBody>
      </p:sp>
      <p:sp>
        <p:nvSpPr>
          <p:cNvPr id="17" name="Shape 15"/>
          <p:cNvSpPr/>
          <p:nvPr/>
        </p:nvSpPr>
        <p:spPr>
          <a:xfrm>
            <a:off x="8101584" y="4754880"/>
            <a:ext cx="3520440" cy="1188720"/>
          </a:xfrm>
          <a:prstGeom prst="roundRect">
            <a:avLst>
              <a:gd name="adj" fmla="val 6923"/>
            </a:avLst>
          </a:prstGeom>
          <a:solidFill>
            <a:srgbClr val="F4F7FA"/>
          </a:solidFill>
          <a:ln w="12700">
            <a:solidFill>
              <a:srgbClr val="F4F7FA"/>
            </a:solidFill>
            <a:prstDash val="solid"/>
          </a:ln>
        </p:spPr>
        <p:txBody>
          <a:bodyPr/>
          <a:lstStyle/>
          <a:p>
            <a:endParaRPr lang="es-CL"/>
          </a:p>
        </p:txBody>
      </p:sp>
      <p:sp>
        <p:nvSpPr>
          <p:cNvPr id="18" name="Text 16"/>
          <p:cNvSpPr/>
          <p:nvPr/>
        </p:nvSpPr>
        <p:spPr>
          <a:xfrm>
            <a:off x="8330184" y="4892040"/>
            <a:ext cx="3063240" cy="292608"/>
          </a:xfrm>
          <a:prstGeom prst="rect">
            <a:avLst/>
          </a:prstGeom>
          <a:noFill/>
          <a:ln/>
        </p:spPr>
        <p:txBody>
          <a:bodyPr wrap="square" lIns="0" tIns="0" rIns="0" bIns="0" rtlCol="0" anchor="ctr"/>
          <a:lstStyle/>
          <a:p>
            <a:pPr marL="0" indent="0">
              <a:buNone/>
            </a:pPr>
            <a:r>
              <a:rPr lang="en-US" sz="1400" b="1" dirty="0">
                <a:solidFill>
                  <a:srgbClr val="5A6B7B"/>
                </a:solidFill>
                <a:latin typeface="Calibri" pitchFamily="34" charset="0"/>
                <a:ea typeface="Calibri" pitchFamily="34" charset="-122"/>
                <a:cs typeface="Calibri" pitchFamily="34" charset="-120"/>
              </a:rPr>
              <a:t>Más de 60%</a:t>
            </a:r>
            <a:endParaRPr lang="en-US" sz="1400" dirty="0"/>
          </a:p>
        </p:txBody>
      </p:sp>
      <p:sp>
        <p:nvSpPr>
          <p:cNvPr id="19" name="Text 17"/>
          <p:cNvSpPr/>
          <p:nvPr/>
        </p:nvSpPr>
        <p:spPr>
          <a:xfrm>
            <a:off x="8330184" y="5212080"/>
            <a:ext cx="3063240" cy="640080"/>
          </a:xfrm>
          <a:prstGeom prst="rect">
            <a:avLst/>
          </a:prstGeom>
          <a:noFill/>
          <a:ln/>
        </p:spPr>
        <p:txBody>
          <a:bodyPr wrap="square" lIns="0" tIns="0" rIns="0" bIns="0" rtlCol="0" anchor="ctr"/>
          <a:lstStyle/>
          <a:p>
            <a:pPr marL="0" indent="0">
              <a:lnSpc>
                <a:spcPts val="1600"/>
              </a:lnSpc>
              <a:buNone/>
            </a:pPr>
            <a:r>
              <a:rPr lang="en-US" sz="1250" dirty="0">
                <a:solidFill>
                  <a:srgbClr val="06304A"/>
                </a:solidFill>
                <a:latin typeface="Calibri" pitchFamily="34" charset="0"/>
                <a:ea typeface="Calibri" pitchFamily="34" charset="-122"/>
                <a:cs typeface="Calibri" pitchFamily="34" charset="-120"/>
              </a:rPr>
              <a:t>La variable no es recuperable: se descarta.</a:t>
            </a:r>
            <a:endParaRPr lang="en-US" sz="12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Qué no se acepta</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Cinco casos que descartan un dataset de inmediato.</a:t>
            </a:r>
            <a:endParaRPr lang="en-US" sz="1400" dirty="0"/>
          </a:p>
        </p:txBody>
      </p:sp>
      <p:sp>
        <p:nvSpPr>
          <p:cNvPr id="4" name="Shape 2"/>
          <p:cNvSpPr/>
          <p:nvPr/>
        </p:nvSpPr>
        <p:spPr>
          <a:xfrm>
            <a:off x="548640" y="1783080"/>
            <a:ext cx="11064240" cy="768096"/>
          </a:xfrm>
          <a:prstGeom prst="roundRect">
            <a:avLst>
              <a:gd name="adj" fmla="val 10714"/>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804672" y="2011680"/>
            <a:ext cx="329184" cy="329184"/>
          </a:xfrm>
          <a:prstGeom prst="ellipse">
            <a:avLst/>
          </a:prstGeom>
          <a:solidFill>
            <a:srgbClr val="AC212E"/>
          </a:solidFill>
          <a:ln/>
        </p:spPr>
        <p:txBody>
          <a:bodyPr/>
          <a:lstStyle/>
          <a:p>
            <a:endParaRPr lang="es-CL"/>
          </a:p>
        </p:txBody>
      </p:sp>
      <p:sp>
        <p:nvSpPr>
          <p:cNvPr id="6" name="Text 4"/>
          <p:cNvSpPr/>
          <p:nvPr/>
        </p:nvSpPr>
        <p:spPr>
          <a:xfrm>
            <a:off x="804672" y="2011680"/>
            <a:ext cx="329184" cy="32918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1325880" y="1783080"/>
            <a:ext cx="4023360" cy="768096"/>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Datasets didácticos de circulación masiva</a:t>
            </a:r>
            <a:endParaRPr lang="en-US" sz="1350" dirty="0"/>
          </a:p>
        </p:txBody>
      </p:sp>
      <p:sp>
        <p:nvSpPr>
          <p:cNvPr id="8" name="Text 6"/>
          <p:cNvSpPr/>
          <p:nvPr/>
        </p:nvSpPr>
        <p:spPr>
          <a:xfrm>
            <a:off x="5486400" y="1783080"/>
            <a:ext cx="5852160" cy="768096"/>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Titanic, Iris, Wine, Boston Housing, los incluidos en scikit-learn. Están pre-limpiados y tienen miles de soluciones publicadas.</a:t>
            </a:r>
            <a:endParaRPr lang="en-US" sz="1200" dirty="0"/>
          </a:p>
        </p:txBody>
      </p:sp>
      <p:sp>
        <p:nvSpPr>
          <p:cNvPr id="9" name="Shape 7"/>
          <p:cNvSpPr/>
          <p:nvPr/>
        </p:nvSpPr>
        <p:spPr>
          <a:xfrm>
            <a:off x="548640" y="2679192"/>
            <a:ext cx="11064240" cy="768096"/>
          </a:xfrm>
          <a:prstGeom prst="roundRect">
            <a:avLst>
              <a:gd name="adj" fmla="val 10714"/>
            </a:avLst>
          </a:prstGeom>
          <a:solidFill>
            <a:srgbClr val="F4F7FA"/>
          </a:solidFill>
          <a:ln w="12700">
            <a:solidFill>
              <a:srgbClr val="F4F7FA"/>
            </a:solidFill>
            <a:prstDash val="solid"/>
          </a:ln>
        </p:spPr>
        <p:txBody>
          <a:bodyPr/>
          <a:lstStyle/>
          <a:p>
            <a:endParaRPr lang="es-CL"/>
          </a:p>
        </p:txBody>
      </p:sp>
      <p:sp>
        <p:nvSpPr>
          <p:cNvPr id="10" name="Shape 8"/>
          <p:cNvSpPr/>
          <p:nvPr/>
        </p:nvSpPr>
        <p:spPr>
          <a:xfrm>
            <a:off x="804672" y="2907792"/>
            <a:ext cx="329184" cy="329184"/>
          </a:xfrm>
          <a:prstGeom prst="ellipse">
            <a:avLst/>
          </a:prstGeom>
          <a:solidFill>
            <a:srgbClr val="AC212E"/>
          </a:solidFill>
          <a:ln/>
        </p:spPr>
        <p:txBody>
          <a:bodyPr/>
          <a:lstStyle/>
          <a:p>
            <a:endParaRPr lang="es-CL"/>
          </a:p>
        </p:txBody>
      </p:sp>
      <p:sp>
        <p:nvSpPr>
          <p:cNvPr id="11" name="Text 9"/>
          <p:cNvSpPr/>
          <p:nvPr/>
        </p:nvSpPr>
        <p:spPr>
          <a:xfrm>
            <a:off x="804672" y="2907792"/>
            <a:ext cx="329184" cy="32918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1325880" y="2679192"/>
            <a:ext cx="4023360" cy="768096"/>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El conjunto trabajado en clase</a:t>
            </a:r>
            <a:endParaRPr lang="en-US" sz="1350" dirty="0"/>
          </a:p>
        </p:txBody>
      </p:sp>
      <p:sp>
        <p:nvSpPr>
          <p:cNvPr id="13" name="Text 11"/>
          <p:cNvSpPr/>
          <p:nvPr/>
        </p:nvSpPr>
        <p:spPr>
          <a:xfrm>
            <a:off x="5486400" y="2679192"/>
            <a:ext cx="5852160" cy="768096"/>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Si se usó en la parte práctica, queda excluido del proyecto.</a:t>
            </a:r>
            <a:endParaRPr lang="en-US" sz="1200" dirty="0"/>
          </a:p>
        </p:txBody>
      </p:sp>
      <p:sp>
        <p:nvSpPr>
          <p:cNvPr id="14" name="Shape 12"/>
          <p:cNvSpPr/>
          <p:nvPr/>
        </p:nvSpPr>
        <p:spPr>
          <a:xfrm>
            <a:off x="548640" y="3575304"/>
            <a:ext cx="11064240" cy="768096"/>
          </a:xfrm>
          <a:prstGeom prst="roundRect">
            <a:avLst>
              <a:gd name="adj" fmla="val 10714"/>
            </a:avLst>
          </a:prstGeom>
          <a:solidFill>
            <a:srgbClr val="F4F7FA"/>
          </a:solidFill>
          <a:ln w="12700">
            <a:solidFill>
              <a:srgbClr val="F4F7FA"/>
            </a:solidFill>
            <a:prstDash val="solid"/>
          </a:ln>
        </p:spPr>
        <p:txBody>
          <a:bodyPr/>
          <a:lstStyle/>
          <a:p>
            <a:endParaRPr lang="es-CL"/>
          </a:p>
        </p:txBody>
      </p:sp>
      <p:sp>
        <p:nvSpPr>
          <p:cNvPr id="15" name="Shape 13"/>
          <p:cNvSpPr/>
          <p:nvPr/>
        </p:nvSpPr>
        <p:spPr>
          <a:xfrm>
            <a:off x="804672" y="3803904"/>
            <a:ext cx="329184" cy="329184"/>
          </a:xfrm>
          <a:prstGeom prst="ellipse">
            <a:avLst/>
          </a:prstGeom>
          <a:solidFill>
            <a:srgbClr val="AC212E"/>
          </a:solidFill>
          <a:ln/>
        </p:spPr>
        <p:txBody>
          <a:bodyPr/>
          <a:lstStyle/>
          <a:p>
            <a:endParaRPr lang="es-CL"/>
          </a:p>
        </p:txBody>
      </p:sp>
      <p:sp>
        <p:nvSpPr>
          <p:cNvPr id="16" name="Text 14"/>
          <p:cNvSpPr/>
          <p:nvPr/>
        </p:nvSpPr>
        <p:spPr>
          <a:xfrm>
            <a:off x="804672" y="3803904"/>
            <a:ext cx="329184" cy="32918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1325880" y="3575304"/>
            <a:ext cx="4023360" cy="768096"/>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Datos personales identificables</a:t>
            </a:r>
            <a:endParaRPr lang="en-US" sz="1350" dirty="0"/>
          </a:p>
        </p:txBody>
      </p:sp>
      <p:sp>
        <p:nvSpPr>
          <p:cNvPr id="18" name="Text 16"/>
          <p:cNvSpPr/>
          <p:nvPr/>
        </p:nvSpPr>
        <p:spPr>
          <a:xfrm>
            <a:off x="5486400" y="3575304"/>
            <a:ext cx="5852160" cy="768096"/>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RUT sin anonimizar, nombres, direcciones, fichas clínicas nominadas.</a:t>
            </a:r>
            <a:endParaRPr lang="en-US" sz="1200" dirty="0"/>
          </a:p>
        </p:txBody>
      </p:sp>
      <p:sp>
        <p:nvSpPr>
          <p:cNvPr id="19" name="Shape 17"/>
          <p:cNvSpPr/>
          <p:nvPr/>
        </p:nvSpPr>
        <p:spPr>
          <a:xfrm>
            <a:off x="548640" y="4471416"/>
            <a:ext cx="11064240" cy="768096"/>
          </a:xfrm>
          <a:prstGeom prst="roundRect">
            <a:avLst>
              <a:gd name="adj" fmla="val 10714"/>
            </a:avLst>
          </a:prstGeom>
          <a:solidFill>
            <a:srgbClr val="F4F7FA"/>
          </a:solidFill>
          <a:ln w="12700">
            <a:solidFill>
              <a:srgbClr val="F4F7FA"/>
            </a:solidFill>
            <a:prstDash val="solid"/>
          </a:ln>
        </p:spPr>
        <p:txBody>
          <a:bodyPr/>
          <a:lstStyle/>
          <a:p>
            <a:endParaRPr lang="es-CL"/>
          </a:p>
        </p:txBody>
      </p:sp>
      <p:sp>
        <p:nvSpPr>
          <p:cNvPr id="20" name="Shape 18"/>
          <p:cNvSpPr/>
          <p:nvPr/>
        </p:nvSpPr>
        <p:spPr>
          <a:xfrm>
            <a:off x="804672" y="4700016"/>
            <a:ext cx="329184" cy="329184"/>
          </a:xfrm>
          <a:prstGeom prst="ellipse">
            <a:avLst/>
          </a:prstGeom>
          <a:solidFill>
            <a:srgbClr val="AC212E"/>
          </a:solidFill>
          <a:ln/>
        </p:spPr>
        <p:txBody>
          <a:bodyPr/>
          <a:lstStyle/>
          <a:p>
            <a:endParaRPr lang="es-CL"/>
          </a:p>
        </p:txBody>
      </p:sp>
      <p:sp>
        <p:nvSpPr>
          <p:cNvPr id="21" name="Text 19"/>
          <p:cNvSpPr/>
          <p:nvPr/>
        </p:nvSpPr>
        <p:spPr>
          <a:xfrm>
            <a:off x="804672" y="4700016"/>
            <a:ext cx="329184" cy="32918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1325880" y="4471416"/>
            <a:ext cx="4023360" cy="768096"/>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Origen no verificable</a:t>
            </a:r>
            <a:endParaRPr lang="en-US" sz="1350" dirty="0"/>
          </a:p>
        </p:txBody>
      </p:sp>
      <p:sp>
        <p:nvSpPr>
          <p:cNvPr id="23" name="Text 21"/>
          <p:cNvSpPr/>
          <p:nvPr/>
        </p:nvSpPr>
        <p:spPr>
          <a:xfrm>
            <a:off x="5486400" y="4471416"/>
            <a:ext cx="5852160" cy="768096"/>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Scraping sin autorización, archivos sin licencia ni fuente declarada.</a:t>
            </a:r>
            <a:endParaRPr lang="en-US" sz="1200" dirty="0"/>
          </a:p>
        </p:txBody>
      </p:sp>
      <p:sp>
        <p:nvSpPr>
          <p:cNvPr id="24" name="Shape 22"/>
          <p:cNvSpPr/>
          <p:nvPr/>
        </p:nvSpPr>
        <p:spPr>
          <a:xfrm>
            <a:off x="548640" y="5367528"/>
            <a:ext cx="11064240" cy="768096"/>
          </a:xfrm>
          <a:prstGeom prst="roundRect">
            <a:avLst>
              <a:gd name="adj" fmla="val 10714"/>
            </a:avLst>
          </a:prstGeom>
          <a:solidFill>
            <a:srgbClr val="F4F7FA"/>
          </a:solidFill>
          <a:ln w="12700">
            <a:solidFill>
              <a:srgbClr val="F4F7FA"/>
            </a:solidFill>
            <a:prstDash val="solid"/>
          </a:ln>
        </p:spPr>
        <p:txBody>
          <a:bodyPr/>
          <a:lstStyle/>
          <a:p>
            <a:endParaRPr lang="es-CL"/>
          </a:p>
        </p:txBody>
      </p:sp>
      <p:sp>
        <p:nvSpPr>
          <p:cNvPr id="25" name="Shape 23"/>
          <p:cNvSpPr/>
          <p:nvPr/>
        </p:nvSpPr>
        <p:spPr>
          <a:xfrm>
            <a:off x="804672" y="5596128"/>
            <a:ext cx="329184" cy="329184"/>
          </a:xfrm>
          <a:prstGeom prst="ellipse">
            <a:avLst/>
          </a:prstGeom>
          <a:solidFill>
            <a:srgbClr val="AC212E"/>
          </a:solidFill>
          <a:ln/>
        </p:spPr>
        <p:txBody>
          <a:bodyPr/>
          <a:lstStyle/>
          <a:p>
            <a:endParaRPr lang="es-CL"/>
          </a:p>
        </p:txBody>
      </p:sp>
      <p:sp>
        <p:nvSpPr>
          <p:cNvPr id="26" name="Text 24"/>
          <p:cNvSpPr/>
          <p:nvPr/>
        </p:nvSpPr>
        <p:spPr>
          <a:xfrm>
            <a:off x="804672" y="5596128"/>
            <a:ext cx="329184" cy="32918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7" name="Text 25"/>
          <p:cNvSpPr/>
          <p:nvPr/>
        </p:nvSpPr>
        <p:spPr>
          <a:xfrm>
            <a:off x="1325880" y="5367528"/>
            <a:ext cx="4023360" cy="768096"/>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Repetición entre grupos</a:t>
            </a:r>
            <a:endParaRPr lang="en-US" sz="1350" dirty="0"/>
          </a:p>
        </p:txBody>
      </p:sp>
      <p:sp>
        <p:nvSpPr>
          <p:cNvPr id="28" name="Text 26"/>
          <p:cNvSpPr/>
          <p:nvPr/>
        </p:nvSpPr>
        <p:spPr>
          <a:xfrm>
            <a:off x="5486400" y="5367528"/>
            <a:ext cx="5852160" cy="768096"/>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Un dataset por grupo, en orden de inscripción.</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Un problema contingente, no un ejercicio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Los datos deben permitir decir algo sobre una situación que está ocurriendo.</a:t>
            </a:r>
            <a:endParaRPr lang="en-US" sz="1400" dirty="0"/>
          </a:p>
        </p:txBody>
      </p:sp>
      <p:sp>
        <p:nvSpPr>
          <p:cNvPr id="4" name="Shape 2"/>
          <p:cNvSpPr/>
          <p:nvPr/>
        </p:nvSpPr>
        <p:spPr>
          <a:xfrm>
            <a:off x="548640" y="1737360"/>
            <a:ext cx="11064240" cy="868680"/>
          </a:xfrm>
          <a:prstGeom prst="roundRect">
            <a:avLst>
              <a:gd name="adj" fmla="val 9474"/>
            </a:avLst>
          </a:prstGeom>
          <a:solidFill>
            <a:srgbClr val="F6E7E9"/>
          </a:solidFill>
          <a:ln w="12700">
            <a:solidFill>
              <a:srgbClr val="F6E7E9"/>
            </a:solidFill>
            <a:prstDash val="solid"/>
          </a:ln>
        </p:spPr>
        <p:txBody>
          <a:bodyPr/>
          <a:lstStyle/>
          <a:p>
            <a:endParaRPr lang="es-CL"/>
          </a:p>
        </p:txBody>
      </p:sp>
      <p:sp>
        <p:nvSpPr>
          <p:cNvPr id="5" name="Text 3"/>
          <p:cNvSpPr/>
          <p:nvPr/>
        </p:nvSpPr>
        <p:spPr>
          <a:xfrm>
            <a:off x="868680" y="1737360"/>
            <a:ext cx="10424160" cy="868680"/>
          </a:xfrm>
          <a:prstGeom prst="rect">
            <a:avLst/>
          </a:prstGeom>
          <a:noFill/>
          <a:ln/>
        </p:spPr>
        <p:txBody>
          <a:bodyPr wrap="square" lIns="0" tIns="0" rIns="0" bIns="0" rtlCol="0" anchor="ctr"/>
          <a:lstStyle/>
          <a:p>
            <a:pPr marL="0" indent="0">
              <a:buNone/>
            </a:pPr>
            <a:r>
              <a:rPr lang="en-US" sz="1500" dirty="0">
                <a:solidFill>
                  <a:srgbClr val="AC212E"/>
                </a:solidFill>
                <a:latin typeface="Calibri" pitchFamily="34" charset="0"/>
                <a:ea typeface="Calibri" pitchFamily="34" charset="-122"/>
                <a:cs typeface="Calibri" pitchFamily="34" charset="-120"/>
              </a:rPr>
              <a:t>Contingente = tiene consecuencias hoy para alguien. Si el análisis no le interesaría a ningún tomador de decisiones, probablemente el problema está mal elegido.</a:t>
            </a:r>
            <a:endParaRPr lang="en-US" sz="1500" dirty="0"/>
          </a:p>
        </p:txBody>
      </p:sp>
      <p:sp>
        <p:nvSpPr>
          <p:cNvPr id="6" name="Shape 4"/>
          <p:cNvSpPr/>
          <p:nvPr/>
        </p:nvSpPr>
        <p:spPr>
          <a:xfrm>
            <a:off x="548640" y="2834640"/>
            <a:ext cx="5303520" cy="932688"/>
          </a:xfrm>
          <a:prstGeom prst="roundRect">
            <a:avLst>
              <a:gd name="adj" fmla="val 8824"/>
            </a:avLst>
          </a:prstGeom>
          <a:solidFill>
            <a:srgbClr val="F4F7FA"/>
          </a:solidFill>
          <a:ln w="12700">
            <a:solidFill>
              <a:srgbClr val="F4F7FA"/>
            </a:solidFill>
            <a:prstDash val="solid"/>
          </a:ln>
        </p:spPr>
        <p:txBody>
          <a:bodyPr/>
          <a:lstStyle/>
          <a:p>
            <a:endParaRPr lang="es-CL"/>
          </a:p>
        </p:txBody>
      </p:sp>
      <p:sp>
        <p:nvSpPr>
          <p:cNvPr id="7" name="Shape 5"/>
          <p:cNvSpPr/>
          <p:nvPr/>
        </p:nvSpPr>
        <p:spPr>
          <a:xfrm>
            <a:off x="777240" y="3108960"/>
            <a:ext cx="384048" cy="384048"/>
          </a:xfrm>
          <a:prstGeom prst="ellipse">
            <a:avLst/>
          </a:prstGeom>
          <a:solidFill>
            <a:srgbClr val="AC212E"/>
          </a:solidFill>
          <a:ln/>
        </p:spPr>
        <p:txBody>
          <a:bodyPr/>
          <a:lstStyle/>
          <a:p>
            <a:endParaRPr lang="es-CL"/>
          </a:p>
        </p:txBody>
      </p:sp>
      <p:sp>
        <p:nvSpPr>
          <p:cNvPr id="8" name="Text 6"/>
          <p:cNvSpPr/>
          <p:nvPr/>
        </p:nvSpPr>
        <p:spPr>
          <a:xfrm>
            <a:off x="777240" y="31089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1298448" y="2926080"/>
            <a:ext cx="4343400" cy="320040"/>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Salud pública y acceso</a:t>
            </a:r>
            <a:endParaRPr lang="en-US" sz="1350" dirty="0"/>
          </a:p>
        </p:txBody>
      </p:sp>
      <p:sp>
        <p:nvSpPr>
          <p:cNvPr id="10" name="Text 8"/>
          <p:cNvSpPr/>
          <p:nvPr/>
        </p:nvSpPr>
        <p:spPr>
          <a:xfrm>
            <a:off x="1298448" y="3246120"/>
            <a:ext cx="4389120" cy="457200"/>
          </a:xfrm>
          <a:prstGeom prst="rect">
            <a:avLst/>
          </a:prstGeom>
          <a:noFill/>
          <a:ln/>
        </p:spPr>
        <p:txBody>
          <a:bodyPr wrap="square" lIns="0" tIns="0" rIns="0" bIns="0" rtlCol="0" anchor="ctr"/>
          <a:lstStyle/>
          <a:p>
            <a:pPr marL="0" indent="0">
              <a:lnSpc>
                <a:spcPts val="1500"/>
              </a:lnSpc>
              <a:buNone/>
            </a:pPr>
            <a:r>
              <a:rPr lang="en-US" sz="1150" dirty="0">
                <a:solidFill>
                  <a:srgbClr val="5A6B7B"/>
                </a:solidFill>
                <a:latin typeface="Calibri" pitchFamily="34" charset="0"/>
                <a:ea typeface="Calibri" pitchFamily="34" charset="-122"/>
                <a:cs typeface="Calibri" pitchFamily="34" charset="-120"/>
              </a:rPr>
              <a:t>Variación territorial en atención de urgencia o listas de espera</a:t>
            </a:r>
            <a:endParaRPr lang="en-US" sz="1150" dirty="0"/>
          </a:p>
        </p:txBody>
      </p:sp>
      <p:sp>
        <p:nvSpPr>
          <p:cNvPr id="11" name="Shape 9"/>
          <p:cNvSpPr/>
          <p:nvPr/>
        </p:nvSpPr>
        <p:spPr>
          <a:xfrm>
            <a:off x="6309360" y="2834640"/>
            <a:ext cx="5303520" cy="932688"/>
          </a:xfrm>
          <a:prstGeom prst="roundRect">
            <a:avLst>
              <a:gd name="adj" fmla="val 8824"/>
            </a:avLst>
          </a:prstGeom>
          <a:solidFill>
            <a:srgbClr val="F4F7FA"/>
          </a:solidFill>
          <a:ln w="12700">
            <a:solidFill>
              <a:srgbClr val="F4F7FA"/>
            </a:solidFill>
            <a:prstDash val="solid"/>
          </a:ln>
        </p:spPr>
        <p:txBody>
          <a:bodyPr/>
          <a:lstStyle/>
          <a:p>
            <a:endParaRPr lang="es-CL"/>
          </a:p>
        </p:txBody>
      </p:sp>
      <p:sp>
        <p:nvSpPr>
          <p:cNvPr id="12" name="Shape 10"/>
          <p:cNvSpPr/>
          <p:nvPr/>
        </p:nvSpPr>
        <p:spPr>
          <a:xfrm>
            <a:off x="6537960" y="3108960"/>
            <a:ext cx="384048" cy="384048"/>
          </a:xfrm>
          <a:prstGeom prst="ellipse">
            <a:avLst/>
          </a:prstGeom>
          <a:solidFill>
            <a:srgbClr val="AC212E"/>
          </a:solidFill>
          <a:ln/>
        </p:spPr>
        <p:txBody>
          <a:bodyPr/>
          <a:lstStyle/>
          <a:p>
            <a:endParaRPr lang="es-CL"/>
          </a:p>
        </p:txBody>
      </p:sp>
      <p:sp>
        <p:nvSpPr>
          <p:cNvPr id="13" name="Text 11"/>
          <p:cNvSpPr/>
          <p:nvPr/>
        </p:nvSpPr>
        <p:spPr>
          <a:xfrm>
            <a:off x="6537960" y="31089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7059168" y="2926080"/>
            <a:ext cx="4343400" cy="320040"/>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Transparencia y compra pública</a:t>
            </a:r>
            <a:endParaRPr lang="en-US" sz="1350" dirty="0"/>
          </a:p>
        </p:txBody>
      </p:sp>
      <p:sp>
        <p:nvSpPr>
          <p:cNvPr id="15" name="Text 13"/>
          <p:cNvSpPr/>
          <p:nvPr/>
        </p:nvSpPr>
        <p:spPr>
          <a:xfrm>
            <a:off x="7059168" y="3246120"/>
            <a:ext cx="4389120" cy="457200"/>
          </a:xfrm>
          <a:prstGeom prst="rect">
            <a:avLst/>
          </a:prstGeom>
          <a:noFill/>
          <a:ln/>
        </p:spPr>
        <p:txBody>
          <a:bodyPr wrap="square" lIns="0" tIns="0" rIns="0" bIns="0" rtlCol="0" anchor="ctr"/>
          <a:lstStyle/>
          <a:p>
            <a:pPr marL="0" indent="0">
              <a:lnSpc>
                <a:spcPts val="1500"/>
              </a:lnSpc>
              <a:buNone/>
            </a:pPr>
            <a:r>
              <a:rPr lang="en-US" sz="1150" dirty="0">
                <a:solidFill>
                  <a:srgbClr val="5A6B7B"/>
                </a:solidFill>
                <a:latin typeface="Calibri" pitchFamily="34" charset="0"/>
                <a:ea typeface="Calibri" pitchFamily="34" charset="-122"/>
                <a:cs typeface="Calibri" pitchFamily="34" charset="-120"/>
              </a:rPr>
              <a:t>Patrones en licitaciones con un solo oferente</a:t>
            </a:r>
            <a:endParaRPr lang="en-US" sz="1150" dirty="0"/>
          </a:p>
        </p:txBody>
      </p:sp>
      <p:sp>
        <p:nvSpPr>
          <p:cNvPr id="16" name="Shape 14"/>
          <p:cNvSpPr/>
          <p:nvPr/>
        </p:nvSpPr>
        <p:spPr>
          <a:xfrm>
            <a:off x="548640" y="3931920"/>
            <a:ext cx="5303520" cy="932688"/>
          </a:xfrm>
          <a:prstGeom prst="roundRect">
            <a:avLst>
              <a:gd name="adj" fmla="val 8824"/>
            </a:avLst>
          </a:prstGeom>
          <a:solidFill>
            <a:srgbClr val="F4F7FA"/>
          </a:solidFill>
          <a:ln w="12700">
            <a:solidFill>
              <a:srgbClr val="F4F7FA"/>
            </a:solidFill>
            <a:prstDash val="solid"/>
          </a:ln>
        </p:spPr>
        <p:txBody>
          <a:bodyPr/>
          <a:lstStyle/>
          <a:p>
            <a:endParaRPr lang="es-CL"/>
          </a:p>
        </p:txBody>
      </p:sp>
      <p:sp>
        <p:nvSpPr>
          <p:cNvPr id="17" name="Shape 15"/>
          <p:cNvSpPr/>
          <p:nvPr/>
        </p:nvSpPr>
        <p:spPr>
          <a:xfrm>
            <a:off x="777240" y="4206240"/>
            <a:ext cx="384048" cy="384048"/>
          </a:xfrm>
          <a:prstGeom prst="ellipse">
            <a:avLst/>
          </a:prstGeom>
          <a:solidFill>
            <a:srgbClr val="AC212E"/>
          </a:solidFill>
          <a:ln/>
        </p:spPr>
        <p:txBody>
          <a:bodyPr/>
          <a:lstStyle/>
          <a:p>
            <a:endParaRPr lang="es-CL"/>
          </a:p>
        </p:txBody>
      </p:sp>
      <p:sp>
        <p:nvSpPr>
          <p:cNvPr id="18" name="Text 16"/>
          <p:cNvSpPr/>
          <p:nvPr/>
        </p:nvSpPr>
        <p:spPr>
          <a:xfrm>
            <a:off x="777240" y="42062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1298448" y="4023360"/>
            <a:ext cx="4343400" cy="320040"/>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Trayectorias educativas</a:t>
            </a:r>
            <a:endParaRPr lang="en-US" sz="1350" dirty="0"/>
          </a:p>
        </p:txBody>
      </p:sp>
      <p:sp>
        <p:nvSpPr>
          <p:cNvPr id="20" name="Text 18"/>
          <p:cNvSpPr/>
          <p:nvPr/>
        </p:nvSpPr>
        <p:spPr>
          <a:xfrm>
            <a:off x="1298448" y="4343400"/>
            <a:ext cx="4389120" cy="457200"/>
          </a:xfrm>
          <a:prstGeom prst="rect">
            <a:avLst/>
          </a:prstGeom>
          <a:noFill/>
          <a:ln/>
        </p:spPr>
        <p:txBody>
          <a:bodyPr wrap="square" lIns="0" tIns="0" rIns="0" bIns="0" rtlCol="0" anchor="ctr"/>
          <a:lstStyle/>
          <a:p>
            <a:pPr marL="0" indent="0">
              <a:lnSpc>
                <a:spcPts val="1500"/>
              </a:lnSpc>
              <a:buNone/>
            </a:pPr>
            <a:r>
              <a:rPr lang="en-US" sz="1150" dirty="0">
                <a:solidFill>
                  <a:srgbClr val="5A6B7B"/>
                </a:solidFill>
                <a:latin typeface="Calibri" pitchFamily="34" charset="0"/>
                <a:ea typeface="Calibri" pitchFamily="34" charset="-122"/>
                <a:cs typeface="Calibri" pitchFamily="34" charset="-120"/>
              </a:rPr>
              <a:t>Factores que acompañan la deserción o el cambio de establecimiento</a:t>
            </a:r>
            <a:endParaRPr lang="en-US" sz="1150" dirty="0"/>
          </a:p>
        </p:txBody>
      </p:sp>
      <p:sp>
        <p:nvSpPr>
          <p:cNvPr id="21" name="Shape 19"/>
          <p:cNvSpPr/>
          <p:nvPr/>
        </p:nvSpPr>
        <p:spPr>
          <a:xfrm>
            <a:off x="6309360" y="3931920"/>
            <a:ext cx="5303520" cy="932688"/>
          </a:xfrm>
          <a:prstGeom prst="roundRect">
            <a:avLst>
              <a:gd name="adj" fmla="val 8824"/>
            </a:avLst>
          </a:prstGeom>
          <a:solidFill>
            <a:srgbClr val="F4F7FA"/>
          </a:solidFill>
          <a:ln w="12700">
            <a:solidFill>
              <a:srgbClr val="F4F7FA"/>
            </a:solidFill>
            <a:prstDash val="solid"/>
          </a:ln>
        </p:spPr>
        <p:txBody>
          <a:bodyPr/>
          <a:lstStyle/>
          <a:p>
            <a:endParaRPr lang="es-CL"/>
          </a:p>
        </p:txBody>
      </p:sp>
      <p:sp>
        <p:nvSpPr>
          <p:cNvPr id="22" name="Shape 20"/>
          <p:cNvSpPr/>
          <p:nvPr/>
        </p:nvSpPr>
        <p:spPr>
          <a:xfrm>
            <a:off x="6537960" y="4206240"/>
            <a:ext cx="384048" cy="384048"/>
          </a:xfrm>
          <a:prstGeom prst="ellipse">
            <a:avLst/>
          </a:prstGeom>
          <a:solidFill>
            <a:srgbClr val="AC212E"/>
          </a:solidFill>
          <a:ln/>
        </p:spPr>
        <p:txBody>
          <a:bodyPr/>
          <a:lstStyle/>
          <a:p>
            <a:endParaRPr lang="es-CL"/>
          </a:p>
        </p:txBody>
      </p:sp>
      <p:sp>
        <p:nvSpPr>
          <p:cNvPr id="23" name="Text 21"/>
          <p:cNvSpPr/>
          <p:nvPr/>
        </p:nvSpPr>
        <p:spPr>
          <a:xfrm>
            <a:off x="6537960" y="42062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p:nvPr/>
        </p:nvSpPr>
        <p:spPr>
          <a:xfrm>
            <a:off x="7059168" y="4023360"/>
            <a:ext cx="4343400" cy="320040"/>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Fiscalización ambiental</a:t>
            </a:r>
            <a:endParaRPr lang="en-US" sz="1350" dirty="0"/>
          </a:p>
        </p:txBody>
      </p:sp>
      <p:sp>
        <p:nvSpPr>
          <p:cNvPr id="25" name="Text 23"/>
          <p:cNvSpPr/>
          <p:nvPr/>
        </p:nvSpPr>
        <p:spPr>
          <a:xfrm>
            <a:off x="7059168" y="4343400"/>
            <a:ext cx="4389120" cy="457200"/>
          </a:xfrm>
          <a:prstGeom prst="rect">
            <a:avLst/>
          </a:prstGeom>
          <a:noFill/>
          <a:ln/>
        </p:spPr>
        <p:txBody>
          <a:bodyPr wrap="square" lIns="0" tIns="0" rIns="0" bIns="0" rtlCol="0" anchor="ctr"/>
          <a:lstStyle/>
          <a:p>
            <a:pPr marL="0" indent="0">
              <a:lnSpc>
                <a:spcPts val="1500"/>
              </a:lnSpc>
              <a:buNone/>
            </a:pPr>
            <a:r>
              <a:rPr lang="en-US" sz="1150" dirty="0">
                <a:solidFill>
                  <a:srgbClr val="5A6B7B"/>
                </a:solidFill>
                <a:latin typeface="Calibri" pitchFamily="34" charset="0"/>
                <a:ea typeface="Calibri" pitchFamily="34" charset="-122"/>
                <a:cs typeface="Calibri" pitchFamily="34" charset="-120"/>
              </a:rPr>
              <a:t>Unidades con procesos sancionatorios recurrentes</a:t>
            </a:r>
            <a:endParaRPr lang="en-US" sz="1150" dirty="0"/>
          </a:p>
        </p:txBody>
      </p:sp>
      <p:sp>
        <p:nvSpPr>
          <p:cNvPr id="26" name="Shape 24"/>
          <p:cNvSpPr/>
          <p:nvPr/>
        </p:nvSpPr>
        <p:spPr>
          <a:xfrm>
            <a:off x="548640" y="5029200"/>
            <a:ext cx="5303520" cy="932688"/>
          </a:xfrm>
          <a:prstGeom prst="roundRect">
            <a:avLst>
              <a:gd name="adj" fmla="val 8824"/>
            </a:avLst>
          </a:prstGeom>
          <a:solidFill>
            <a:srgbClr val="F4F7FA"/>
          </a:solidFill>
          <a:ln w="12700">
            <a:solidFill>
              <a:srgbClr val="F4F7FA"/>
            </a:solidFill>
            <a:prstDash val="solid"/>
          </a:ln>
        </p:spPr>
        <p:txBody>
          <a:bodyPr/>
          <a:lstStyle/>
          <a:p>
            <a:endParaRPr lang="es-CL"/>
          </a:p>
        </p:txBody>
      </p:sp>
      <p:sp>
        <p:nvSpPr>
          <p:cNvPr id="27" name="Shape 25"/>
          <p:cNvSpPr/>
          <p:nvPr/>
        </p:nvSpPr>
        <p:spPr>
          <a:xfrm>
            <a:off x="777240" y="5303520"/>
            <a:ext cx="384048" cy="384048"/>
          </a:xfrm>
          <a:prstGeom prst="ellipse">
            <a:avLst/>
          </a:prstGeom>
          <a:solidFill>
            <a:srgbClr val="AC212E"/>
          </a:solidFill>
          <a:ln/>
        </p:spPr>
        <p:txBody>
          <a:bodyPr/>
          <a:lstStyle/>
          <a:p>
            <a:endParaRPr lang="es-CL"/>
          </a:p>
        </p:txBody>
      </p:sp>
      <p:sp>
        <p:nvSpPr>
          <p:cNvPr id="28" name="Text 26"/>
          <p:cNvSpPr/>
          <p:nvPr/>
        </p:nvSpPr>
        <p:spPr>
          <a:xfrm>
            <a:off x="777240" y="530352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7"/>
          <p:cNvSpPr/>
          <p:nvPr/>
        </p:nvSpPr>
        <p:spPr>
          <a:xfrm>
            <a:off x="1298448" y="5120640"/>
            <a:ext cx="4343400" cy="320040"/>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Transición energética</a:t>
            </a:r>
            <a:endParaRPr lang="en-US" sz="1350" dirty="0"/>
          </a:p>
        </p:txBody>
      </p:sp>
      <p:sp>
        <p:nvSpPr>
          <p:cNvPr id="30" name="Text 28"/>
          <p:cNvSpPr/>
          <p:nvPr/>
        </p:nvSpPr>
        <p:spPr>
          <a:xfrm>
            <a:off x="1298448" y="5440680"/>
            <a:ext cx="4389120" cy="457200"/>
          </a:xfrm>
          <a:prstGeom prst="rect">
            <a:avLst/>
          </a:prstGeom>
          <a:noFill/>
          <a:ln/>
        </p:spPr>
        <p:txBody>
          <a:bodyPr wrap="square" lIns="0" tIns="0" rIns="0" bIns="0" rtlCol="0" anchor="ctr"/>
          <a:lstStyle/>
          <a:p>
            <a:pPr marL="0" indent="0">
              <a:lnSpc>
                <a:spcPts val="1500"/>
              </a:lnSpc>
              <a:buNone/>
            </a:pPr>
            <a:r>
              <a:rPr lang="en-US" sz="1150" dirty="0">
                <a:solidFill>
                  <a:srgbClr val="5A6B7B"/>
                </a:solidFill>
                <a:latin typeface="Calibri" pitchFamily="34" charset="0"/>
                <a:ea typeface="Calibri" pitchFamily="34" charset="-122"/>
                <a:cs typeface="Calibri" pitchFamily="34" charset="-120"/>
              </a:rPr>
              <a:t>Distribución de la generación renovable y sus condicionantes</a:t>
            </a:r>
            <a:endParaRPr lang="en-US" sz="1150" dirty="0"/>
          </a:p>
        </p:txBody>
      </p:sp>
      <p:sp>
        <p:nvSpPr>
          <p:cNvPr id="31" name="Shape 29"/>
          <p:cNvSpPr/>
          <p:nvPr/>
        </p:nvSpPr>
        <p:spPr>
          <a:xfrm>
            <a:off x="6309360" y="5029200"/>
            <a:ext cx="5303520" cy="932688"/>
          </a:xfrm>
          <a:prstGeom prst="roundRect">
            <a:avLst>
              <a:gd name="adj" fmla="val 8824"/>
            </a:avLst>
          </a:prstGeom>
          <a:solidFill>
            <a:srgbClr val="F4F7FA"/>
          </a:solidFill>
          <a:ln w="12700">
            <a:solidFill>
              <a:srgbClr val="F4F7FA"/>
            </a:solidFill>
            <a:prstDash val="solid"/>
          </a:ln>
        </p:spPr>
        <p:txBody>
          <a:bodyPr/>
          <a:lstStyle/>
          <a:p>
            <a:endParaRPr lang="es-CL"/>
          </a:p>
        </p:txBody>
      </p:sp>
      <p:sp>
        <p:nvSpPr>
          <p:cNvPr id="32" name="Shape 30"/>
          <p:cNvSpPr/>
          <p:nvPr/>
        </p:nvSpPr>
        <p:spPr>
          <a:xfrm>
            <a:off x="6537960" y="5303520"/>
            <a:ext cx="384048" cy="384048"/>
          </a:xfrm>
          <a:prstGeom prst="ellipse">
            <a:avLst/>
          </a:prstGeom>
          <a:solidFill>
            <a:srgbClr val="AC212E"/>
          </a:solidFill>
          <a:ln/>
        </p:spPr>
        <p:txBody>
          <a:bodyPr/>
          <a:lstStyle/>
          <a:p>
            <a:endParaRPr lang="es-CL"/>
          </a:p>
        </p:txBody>
      </p:sp>
      <p:sp>
        <p:nvSpPr>
          <p:cNvPr id="33" name="Text 31"/>
          <p:cNvSpPr/>
          <p:nvPr/>
        </p:nvSpPr>
        <p:spPr>
          <a:xfrm>
            <a:off x="6537960" y="530352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4" name="Text 32"/>
          <p:cNvSpPr/>
          <p:nvPr/>
        </p:nvSpPr>
        <p:spPr>
          <a:xfrm>
            <a:off x="7059168" y="5120640"/>
            <a:ext cx="4343400" cy="320040"/>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Movilidad y logística urbana</a:t>
            </a:r>
            <a:endParaRPr lang="en-US" sz="1350" dirty="0"/>
          </a:p>
        </p:txBody>
      </p:sp>
      <p:sp>
        <p:nvSpPr>
          <p:cNvPr id="35" name="Text 33"/>
          <p:cNvSpPr/>
          <p:nvPr/>
        </p:nvSpPr>
        <p:spPr>
          <a:xfrm>
            <a:off x="7059168" y="5440680"/>
            <a:ext cx="4389120" cy="457200"/>
          </a:xfrm>
          <a:prstGeom prst="rect">
            <a:avLst/>
          </a:prstGeom>
          <a:noFill/>
          <a:ln/>
        </p:spPr>
        <p:txBody>
          <a:bodyPr wrap="square" lIns="0" tIns="0" rIns="0" bIns="0" rtlCol="0" anchor="ctr"/>
          <a:lstStyle/>
          <a:p>
            <a:pPr marL="0" indent="0">
              <a:lnSpc>
                <a:spcPts val="1500"/>
              </a:lnSpc>
              <a:buNone/>
            </a:pPr>
            <a:r>
              <a:rPr lang="en-US" sz="1150" dirty="0">
                <a:solidFill>
                  <a:srgbClr val="5A6B7B"/>
                </a:solidFill>
                <a:latin typeface="Calibri" pitchFamily="34" charset="0"/>
                <a:ea typeface="Calibri" pitchFamily="34" charset="-122"/>
                <a:cs typeface="Calibri" pitchFamily="34" charset="-120"/>
              </a:rPr>
              <a:t>Diferencias de desempeño entre nodos logísticos</a:t>
            </a:r>
            <a:endParaRPr lang="en-US" sz="1150" dirty="0"/>
          </a:p>
        </p:txBody>
      </p:sp>
      <p:sp>
        <p:nvSpPr>
          <p:cNvPr id="36" name="Text 34"/>
          <p:cNvSpPr/>
          <p:nvPr/>
        </p:nvSpPr>
        <p:spPr>
          <a:xfrm>
            <a:off x="548640" y="6327648"/>
            <a:ext cx="11064240" cy="274320"/>
          </a:xfrm>
          <a:prstGeom prst="rect">
            <a:avLst/>
          </a:prstGeom>
          <a:noFill/>
          <a:ln/>
        </p:spPr>
        <p:txBody>
          <a:bodyPr wrap="square" lIns="0" tIns="0" rIns="0" bIns="0" rtlCol="0" anchor="ctr"/>
          <a:lstStyle/>
          <a:p>
            <a:pPr marL="0" indent="0">
              <a:buNone/>
            </a:pPr>
            <a:r>
              <a:rPr lang="en-US" sz="1000" dirty="0">
                <a:solidFill>
                  <a:srgbClr val="5A6B7B"/>
                </a:solidFill>
                <a:latin typeface="Calibri" pitchFamily="34" charset="0"/>
                <a:ea typeface="Calibri" pitchFamily="34" charset="-122"/>
                <a:cs typeface="Calibri" pitchFamily="34" charset="-120"/>
              </a:rPr>
              <a:t>Son líneas de búsqueda, no temas cerrados. Pueden proponer otra, siempre que tenga datos abiertos disponibles.</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Dónde buscar: fuentes chilenas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Datos abiertos, licencia clara y contingencia local garantizada.</a:t>
            </a:r>
            <a:endParaRPr lang="en-US" sz="1400" dirty="0"/>
          </a:p>
        </p:txBody>
      </p:sp>
      <p:graphicFrame>
        <p:nvGraphicFramePr>
          <p:cNvPr id="10" name="Table 0"/>
          <p:cNvGraphicFramePr>
            <a:graphicFrameLocks noGrp="1"/>
          </p:cNvGraphicFramePr>
          <p:nvPr/>
        </p:nvGraphicFramePr>
        <p:xfrm>
          <a:off x="548640" y="1737360"/>
          <a:ext cx="11064240" cy="4279392"/>
        </p:xfrm>
        <a:graphic>
          <a:graphicData uri="http://schemas.openxmlformats.org/drawingml/2006/table">
            <a:tbl>
              <a:tblPr/>
              <a:tblGrid>
                <a:gridCol w="292608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47548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Fuente</a:t>
                      </a:r>
                      <a:endParaRPr lang="en-US" sz="13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Qué contiene</a:t>
                      </a:r>
                      <a:endParaRPr lang="en-US" sz="13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Sitio</a:t>
                      </a:r>
                      <a:endParaRPr lang="en-US" sz="13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extLst>
                  <a:ext uri="{0D108BD9-81ED-4DB2-BD59-A6C34878D82A}">
                    <a16:rowId xmlns:a16="http://schemas.microsoft.com/office/drawing/2014/main" val="10000"/>
                  </a:ext>
                </a:extLst>
              </a:tr>
              <a:tr h="475488">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Portal de Datos Abiertos</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Repositorio central del Estado, 255+ organismos</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datos.gob.cl</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DEIS · MINSAL</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Mortalidad, vacunación, egresos, urgencias</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deis.minsal.cl</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ChileCompra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Compras públicas: montos, rubros, organismos</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datosabiertos.chilecompra.cl</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Datos Abiertos MINEDUC</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Estudiantes, docentes, establecimientos</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datosabiertos.mineduc.cl</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SNIFA · SMA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Fiscalizaciones, sanciones, emisiones</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snifa.sma.gob.cl</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Energía Abierta · CNE</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Electricidad, renovables, eficiencia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energiaabierta.cl</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Observatorio Logístico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Transporte carretero, marítimo y aéreo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observatoriologistico.cl</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75488">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INE / SERVEL</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Censo, empleo, precios / resultados electorales</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ine.cl · servel.cl</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5" name="Shape 2"/>
          <p:cNvSpPr/>
          <p:nvPr/>
        </p:nvSpPr>
        <p:spPr>
          <a:xfrm>
            <a:off x="548640" y="5623560"/>
            <a:ext cx="11064240" cy="548640"/>
          </a:xfrm>
          <a:prstGeom prst="roundRect">
            <a:avLst>
              <a:gd name="adj" fmla="val 15000"/>
            </a:avLst>
          </a:prstGeom>
          <a:solidFill>
            <a:srgbClr val="F6E7E9"/>
          </a:solidFill>
          <a:ln w="12700">
            <a:solidFill>
              <a:srgbClr val="F6E7E9"/>
            </a:solidFill>
            <a:prstDash val="solid"/>
          </a:ln>
        </p:spPr>
        <p:txBody>
          <a:bodyPr/>
          <a:lstStyle/>
          <a:p>
            <a:endParaRPr lang="es-CL"/>
          </a:p>
        </p:txBody>
      </p:sp>
      <p:sp>
        <p:nvSpPr>
          <p:cNvPr id="6" name="Text 3"/>
          <p:cNvSpPr/>
          <p:nvPr/>
        </p:nvSpPr>
        <p:spPr>
          <a:xfrm>
            <a:off x="868680" y="5623560"/>
            <a:ext cx="10424160" cy="548640"/>
          </a:xfrm>
          <a:prstGeom prst="rect">
            <a:avLst/>
          </a:prstGeom>
          <a:noFill/>
          <a:ln/>
        </p:spPr>
        <p:txBody>
          <a:bodyPr wrap="square" lIns="0" tIns="0" rIns="0" bIns="0" rtlCol="0" anchor="ctr"/>
          <a:lstStyle/>
          <a:p>
            <a:pPr marL="0" indent="0">
              <a:buNone/>
            </a:pPr>
            <a:r>
              <a:rPr lang="en-US" sz="1350" dirty="0">
                <a:solidFill>
                  <a:srgbClr val="AC212E"/>
                </a:solidFill>
                <a:latin typeface="Calibri" pitchFamily="34" charset="0"/>
                <a:ea typeface="Calibri" pitchFamily="34" charset="-122"/>
                <a:cs typeface="Calibri" pitchFamily="34" charset="-120"/>
              </a:rPr>
              <a:t>Lista curada y mantenida de fuentes chilenas:   github.com/imfd/awesome-data-chile</a:t>
            </a:r>
            <a:endParaRPr lang="en-US" sz="13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Cuatro conjuntos de datos concretos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Enlace, unidad de observación y qué roles de variable esperan encontrar.</a:t>
            </a:r>
            <a:endParaRPr lang="en-US" sz="1400" dirty="0"/>
          </a:p>
        </p:txBody>
      </p:sp>
      <p:sp>
        <p:nvSpPr>
          <p:cNvPr id="4" name="Shape 2"/>
          <p:cNvSpPr/>
          <p:nvPr/>
        </p:nvSpPr>
        <p:spPr>
          <a:xfrm>
            <a:off x="548640" y="1691640"/>
            <a:ext cx="5303520" cy="2057400"/>
          </a:xfrm>
          <a:prstGeom prst="roundRect">
            <a:avLst>
              <a:gd name="adj" fmla="val 4000"/>
            </a:avLst>
          </a:prstGeom>
          <a:solidFill>
            <a:srgbClr val="F6E7E9"/>
          </a:solidFill>
          <a:ln w="12700">
            <a:solidFill>
              <a:srgbClr val="F6E7E9"/>
            </a:solidFill>
            <a:prstDash val="solid"/>
          </a:ln>
        </p:spPr>
        <p:txBody>
          <a:bodyPr/>
          <a:lstStyle/>
          <a:p>
            <a:endParaRPr lang="es-CL"/>
          </a:p>
        </p:txBody>
      </p:sp>
      <p:sp>
        <p:nvSpPr>
          <p:cNvPr id="5" name="Text 3"/>
          <p:cNvSpPr/>
          <p:nvPr/>
        </p:nvSpPr>
        <p:spPr>
          <a:xfrm>
            <a:off x="804672" y="1801368"/>
            <a:ext cx="4800600" cy="320040"/>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Inside Airbnb — Santiago</a:t>
            </a:r>
            <a:endParaRPr lang="en-US" sz="1400" dirty="0"/>
          </a:p>
        </p:txBody>
      </p:sp>
      <p:sp>
        <p:nvSpPr>
          <p:cNvPr id="6" name="Text 4"/>
          <p:cNvSpPr/>
          <p:nvPr/>
        </p:nvSpPr>
        <p:spPr>
          <a:xfrm>
            <a:off x="804672" y="2103120"/>
            <a:ext cx="4800600" cy="256032"/>
          </a:xfrm>
          <a:prstGeom prst="rect">
            <a:avLst/>
          </a:prstGeom>
          <a:noFill/>
          <a:ln/>
        </p:spPr>
        <p:txBody>
          <a:bodyPr wrap="square" lIns="0" tIns="0" rIns="0" bIns="0" rtlCol="0" anchor="ctr"/>
          <a:lstStyle/>
          <a:p>
            <a:pPr marL="0" indent="0">
              <a:buNone/>
            </a:pPr>
            <a:r>
              <a:rPr lang="en-US" sz="1050" dirty="0">
                <a:solidFill>
                  <a:srgbClr val="AC212E"/>
                </a:solidFill>
                <a:latin typeface="Courier New" pitchFamily="34" charset="0"/>
                <a:ea typeface="Courier New" pitchFamily="34" charset="-122"/>
                <a:cs typeface="Courier New" pitchFamily="34" charset="-120"/>
              </a:rPr>
              <a:t>insideairbnb.com/get-the-data</a:t>
            </a:r>
            <a:endParaRPr lang="en-US" sz="1050" dirty="0"/>
          </a:p>
        </p:txBody>
      </p:sp>
      <p:sp>
        <p:nvSpPr>
          <p:cNvPr id="7" name="Text 5"/>
          <p:cNvSpPr/>
          <p:nvPr/>
        </p:nvSpPr>
        <p:spPr>
          <a:xfrm>
            <a:off x="804672" y="2377440"/>
            <a:ext cx="4800600" cy="256032"/>
          </a:xfrm>
          <a:prstGeom prst="rect">
            <a:avLst/>
          </a:prstGeom>
          <a:noFill/>
          <a:ln/>
        </p:spPr>
        <p:txBody>
          <a:bodyPr wrap="square" lIns="0" tIns="0" rIns="0" bIns="0" rtlCol="0" anchor="ctr"/>
          <a:lstStyle/>
          <a:p>
            <a:pPr marL="0" indent="0">
              <a:buNone/>
            </a:pPr>
            <a:r>
              <a:rPr lang="en-US" sz="1100" i="1" dirty="0">
                <a:solidFill>
                  <a:srgbClr val="5A6B7B"/>
                </a:solidFill>
                <a:latin typeface="Calibri" pitchFamily="34" charset="0"/>
                <a:ea typeface="Calibri" pitchFamily="34" charset="-122"/>
                <a:cs typeface="Calibri" pitchFamily="34" charset="-120"/>
              </a:rPr>
              <a:t>Unidad: Un aviso de alojamiento publicado en Santiago</a:t>
            </a:r>
            <a:endParaRPr lang="en-US" sz="1100" dirty="0"/>
          </a:p>
        </p:txBody>
      </p:sp>
      <p:sp>
        <p:nvSpPr>
          <p:cNvPr id="8" name="Text 6"/>
          <p:cNvSpPr/>
          <p:nvPr/>
        </p:nvSpPr>
        <p:spPr>
          <a:xfrm>
            <a:off x="804672" y="2633472"/>
            <a:ext cx="4800600" cy="658368"/>
          </a:xfrm>
          <a:prstGeom prst="rect">
            <a:avLst/>
          </a:prstGeom>
          <a:noFill/>
          <a:ln/>
        </p:spPr>
        <p:txBody>
          <a:bodyPr wrap="square" lIns="0" tIns="0" rIns="0" bIns="0" rtlCol="0" anchor="ctr"/>
          <a:lstStyle/>
          <a:p>
            <a:pPr marL="0" indent="0">
              <a:lnSpc>
                <a:spcPts val="1350"/>
              </a:lnSpc>
              <a:buNone/>
            </a:pPr>
            <a:r>
              <a:rPr lang="en-US" sz="1050" dirty="0">
                <a:solidFill>
                  <a:srgbClr val="06304A"/>
                </a:solidFill>
                <a:latin typeface="Calibri" pitchFamily="34" charset="0"/>
                <a:ea typeface="Calibri" pitchFamily="34" charset="-122"/>
                <a:cs typeface="Calibri" pitchFamily="34" charset="-120"/>
              </a:rPr>
              <a:t>Precio y latitud (continuas) · dormitorios y noches mínimas (discretas) · superanfitrión (binaria) · tipo de habitación (nominal) · fecha de última reseña · barrio (alta cardinalidad) · título del aviso (texto)</a:t>
            </a:r>
            <a:endParaRPr lang="en-US" sz="1050" dirty="0"/>
          </a:p>
        </p:txBody>
      </p:sp>
      <p:sp>
        <p:nvSpPr>
          <p:cNvPr id="9" name="Text 7"/>
          <p:cNvSpPr/>
          <p:nvPr/>
        </p:nvSpPr>
        <p:spPr>
          <a:xfrm>
            <a:off x="804672" y="3300984"/>
            <a:ext cx="4800600" cy="384048"/>
          </a:xfrm>
          <a:prstGeom prst="rect">
            <a:avLst/>
          </a:prstGeom>
          <a:noFill/>
          <a:ln/>
        </p:spPr>
        <p:txBody>
          <a:bodyPr wrap="square" lIns="0" tIns="0" rIns="0" bIns="0" rtlCol="0" anchor="ctr"/>
          <a:lstStyle/>
          <a:p>
            <a:pPr marL="0" indent="0">
              <a:lnSpc>
                <a:spcPts val="1300"/>
              </a:lnSpc>
              <a:buNone/>
            </a:pPr>
            <a:r>
              <a:rPr lang="en-US" sz="1000" dirty="0">
                <a:solidFill>
                  <a:srgbClr val="AC212E"/>
                </a:solidFill>
                <a:latin typeface="Calibri" pitchFamily="34" charset="0"/>
                <a:ea typeface="Calibri" pitchFamily="34" charset="-122"/>
                <a:cs typeface="Calibri" pitchFamily="34" charset="-120"/>
              </a:rPr>
              <a:t>El archivo detallado listings.csv.gz trae unas 75 columnas y abundantes nulos en las puntuaciones de reseñas. Licencia CC0.</a:t>
            </a:r>
            <a:endParaRPr lang="en-US" sz="1000" dirty="0"/>
          </a:p>
        </p:txBody>
      </p:sp>
      <p:sp>
        <p:nvSpPr>
          <p:cNvPr id="10" name="Shape 8"/>
          <p:cNvSpPr/>
          <p:nvPr/>
        </p:nvSpPr>
        <p:spPr>
          <a:xfrm>
            <a:off x="6309360" y="1691640"/>
            <a:ext cx="5303520" cy="2057400"/>
          </a:xfrm>
          <a:prstGeom prst="roundRect">
            <a:avLst>
              <a:gd name="adj" fmla="val 4000"/>
            </a:avLst>
          </a:prstGeom>
          <a:solidFill>
            <a:srgbClr val="F4F7FA"/>
          </a:solidFill>
          <a:ln w="12700">
            <a:solidFill>
              <a:srgbClr val="F4F7FA"/>
            </a:solidFill>
            <a:prstDash val="solid"/>
          </a:ln>
        </p:spPr>
        <p:txBody>
          <a:bodyPr/>
          <a:lstStyle/>
          <a:p>
            <a:endParaRPr lang="es-CL"/>
          </a:p>
        </p:txBody>
      </p:sp>
      <p:sp>
        <p:nvSpPr>
          <p:cNvPr id="11" name="Text 9"/>
          <p:cNvSpPr/>
          <p:nvPr/>
        </p:nvSpPr>
        <p:spPr>
          <a:xfrm>
            <a:off x="6565392" y="1801368"/>
            <a:ext cx="4800600" cy="320040"/>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ChileCompra — órdenes de compra</a:t>
            </a:r>
            <a:endParaRPr lang="en-US" sz="1400" dirty="0"/>
          </a:p>
        </p:txBody>
      </p:sp>
      <p:sp>
        <p:nvSpPr>
          <p:cNvPr id="12" name="Text 10"/>
          <p:cNvSpPr/>
          <p:nvPr/>
        </p:nvSpPr>
        <p:spPr>
          <a:xfrm>
            <a:off x="6565392" y="2103120"/>
            <a:ext cx="4800600" cy="256032"/>
          </a:xfrm>
          <a:prstGeom prst="rect">
            <a:avLst/>
          </a:prstGeom>
          <a:noFill/>
          <a:ln/>
        </p:spPr>
        <p:txBody>
          <a:bodyPr wrap="square" lIns="0" tIns="0" rIns="0" bIns="0" rtlCol="0" anchor="ctr"/>
          <a:lstStyle/>
          <a:p>
            <a:pPr marL="0" indent="0">
              <a:buNone/>
            </a:pPr>
            <a:r>
              <a:rPr lang="en-US" sz="1050" dirty="0">
                <a:solidFill>
                  <a:srgbClr val="AC212E"/>
                </a:solidFill>
                <a:latin typeface="Courier New" pitchFamily="34" charset="0"/>
                <a:ea typeface="Courier New" pitchFamily="34" charset="-122"/>
                <a:cs typeface="Courier New" pitchFamily="34" charset="-120"/>
              </a:rPr>
              <a:t>datosabiertos.chilecompra.cl</a:t>
            </a:r>
            <a:endParaRPr lang="en-US" sz="1050" dirty="0"/>
          </a:p>
        </p:txBody>
      </p:sp>
      <p:sp>
        <p:nvSpPr>
          <p:cNvPr id="13" name="Text 11"/>
          <p:cNvSpPr/>
          <p:nvPr/>
        </p:nvSpPr>
        <p:spPr>
          <a:xfrm>
            <a:off x="6565392" y="2377440"/>
            <a:ext cx="4800600" cy="256032"/>
          </a:xfrm>
          <a:prstGeom prst="rect">
            <a:avLst/>
          </a:prstGeom>
          <a:noFill/>
          <a:ln/>
        </p:spPr>
        <p:txBody>
          <a:bodyPr wrap="square" lIns="0" tIns="0" rIns="0" bIns="0" rtlCol="0" anchor="ctr"/>
          <a:lstStyle/>
          <a:p>
            <a:pPr marL="0" indent="0">
              <a:buNone/>
            </a:pPr>
            <a:r>
              <a:rPr lang="en-US" sz="1100" i="1" dirty="0">
                <a:solidFill>
                  <a:srgbClr val="5A6B7B"/>
                </a:solidFill>
                <a:latin typeface="Calibri" pitchFamily="34" charset="0"/>
                <a:ea typeface="Calibri" pitchFamily="34" charset="-122"/>
                <a:cs typeface="Calibri" pitchFamily="34" charset="-120"/>
              </a:rPr>
              <a:t>Unidad: Una orden de compra del Mercado Público</a:t>
            </a:r>
            <a:endParaRPr lang="en-US" sz="1100" dirty="0"/>
          </a:p>
        </p:txBody>
      </p:sp>
      <p:sp>
        <p:nvSpPr>
          <p:cNvPr id="14" name="Text 12"/>
          <p:cNvSpPr/>
          <p:nvPr/>
        </p:nvSpPr>
        <p:spPr>
          <a:xfrm>
            <a:off x="6565392" y="2633472"/>
            <a:ext cx="4800600" cy="658368"/>
          </a:xfrm>
          <a:prstGeom prst="rect">
            <a:avLst/>
          </a:prstGeom>
          <a:noFill/>
          <a:ln/>
        </p:spPr>
        <p:txBody>
          <a:bodyPr wrap="square" lIns="0" tIns="0" rIns="0" bIns="0" rtlCol="0" anchor="ctr"/>
          <a:lstStyle/>
          <a:p>
            <a:pPr marL="0" indent="0">
              <a:lnSpc>
                <a:spcPts val="1350"/>
              </a:lnSpc>
              <a:buNone/>
            </a:pPr>
            <a:r>
              <a:rPr lang="en-US" sz="1050" dirty="0">
                <a:solidFill>
                  <a:srgbClr val="06304A"/>
                </a:solidFill>
                <a:latin typeface="Calibri" pitchFamily="34" charset="0"/>
                <a:ea typeface="Calibri" pitchFamily="34" charset="-122"/>
                <a:cs typeface="Calibri" pitchFamily="34" charset="-120"/>
              </a:rPr>
              <a:t>Monto (continua) · cantidad de ítems (discreta) · estado (nominal) · fecha de emisión · organismo y proveedor (alta cardinalidad) · glosa del producto (texto) · identificador de orden</a:t>
            </a:r>
            <a:endParaRPr lang="en-US" sz="1050" dirty="0"/>
          </a:p>
        </p:txBody>
      </p:sp>
      <p:sp>
        <p:nvSpPr>
          <p:cNvPr id="15" name="Text 13"/>
          <p:cNvSpPr/>
          <p:nvPr/>
        </p:nvSpPr>
        <p:spPr>
          <a:xfrm>
            <a:off x="6565392" y="3300984"/>
            <a:ext cx="4800600" cy="384048"/>
          </a:xfrm>
          <a:prstGeom prst="rect">
            <a:avLst/>
          </a:prstGeom>
          <a:noFill/>
          <a:ln/>
        </p:spPr>
        <p:txBody>
          <a:bodyPr wrap="square" lIns="0" tIns="0" rIns="0" bIns="0" rtlCol="0" anchor="ctr"/>
          <a:lstStyle/>
          <a:p>
            <a:pPr marL="0" indent="0">
              <a:lnSpc>
                <a:spcPts val="1300"/>
              </a:lnSpc>
              <a:buNone/>
            </a:pPr>
            <a:r>
              <a:rPr lang="en-US" sz="1000" dirty="0">
                <a:solidFill>
                  <a:srgbClr val="AC212E"/>
                </a:solidFill>
                <a:latin typeface="Calibri" pitchFamily="34" charset="0"/>
                <a:ea typeface="Calibri" pitchFamily="34" charset="-122"/>
                <a:cs typeface="Calibri" pitchFamily="34" charset="-120"/>
              </a:rPr>
              <a:t>Archivos mensuales. Conviene acotar a un año y un sector para no superar los 100 MB.</a:t>
            </a:r>
            <a:endParaRPr lang="en-US" sz="1000" dirty="0"/>
          </a:p>
        </p:txBody>
      </p:sp>
      <p:sp>
        <p:nvSpPr>
          <p:cNvPr id="16" name="Shape 14"/>
          <p:cNvSpPr/>
          <p:nvPr/>
        </p:nvSpPr>
        <p:spPr>
          <a:xfrm>
            <a:off x="548640" y="3931920"/>
            <a:ext cx="5303520" cy="2057400"/>
          </a:xfrm>
          <a:prstGeom prst="roundRect">
            <a:avLst>
              <a:gd name="adj" fmla="val 4000"/>
            </a:avLst>
          </a:prstGeom>
          <a:solidFill>
            <a:srgbClr val="F4F7FA"/>
          </a:solidFill>
          <a:ln w="12700">
            <a:solidFill>
              <a:srgbClr val="F4F7FA"/>
            </a:solidFill>
            <a:prstDash val="solid"/>
          </a:ln>
        </p:spPr>
        <p:txBody>
          <a:bodyPr/>
          <a:lstStyle/>
          <a:p>
            <a:endParaRPr lang="es-CL"/>
          </a:p>
        </p:txBody>
      </p:sp>
      <p:sp>
        <p:nvSpPr>
          <p:cNvPr id="17" name="Text 15"/>
          <p:cNvSpPr/>
          <p:nvPr/>
        </p:nvSpPr>
        <p:spPr>
          <a:xfrm>
            <a:off x="804672" y="4041648"/>
            <a:ext cx="4800600" cy="320040"/>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MINEDUC — rendimiento por estudiante</a:t>
            </a:r>
            <a:endParaRPr lang="en-US" sz="1400" dirty="0"/>
          </a:p>
        </p:txBody>
      </p:sp>
      <p:sp>
        <p:nvSpPr>
          <p:cNvPr id="18" name="Text 16"/>
          <p:cNvSpPr/>
          <p:nvPr/>
        </p:nvSpPr>
        <p:spPr>
          <a:xfrm>
            <a:off x="804672" y="4343400"/>
            <a:ext cx="4800600" cy="256032"/>
          </a:xfrm>
          <a:prstGeom prst="rect">
            <a:avLst/>
          </a:prstGeom>
          <a:noFill/>
          <a:ln/>
        </p:spPr>
        <p:txBody>
          <a:bodyPr wrap="square" lIns="0" tIns="0" rIns="0" bIns="0" rtlCol="0" anchor="ctr"/>
          <a:lstStyle/>
          <a:p>
            <a:pPr marL="0" indent="0">
              <a:buNone/>
            </a:pPr>
            <a:r>
              <a:rPr lang="en-US" sz="1050" dirty="0">
                <a:solidFill>
                  <a:srgbClr val="AC212E"/>
                </a:solidFill>
                <a:latin typeface="Courier New" pitchFamily="34" charset="0"/>
                <a:ea typeface="Courier New" pitchFamily="34" charset="-122"/>
                <a:cs typeface="Courier New" pitchFamily="34" charset="-120"/>
              </a:rPr>
              <a:t>datosabiertos.mineduc.cl</a:t>
            </a:r>
            <a:endParaRPr lang="en-US" sz="1050" dirty="0"/>
          </a:p>
        </p:txBody>
      </p:sp>
      <p:sp>
        <p:nvSpPr>
          <p:cNvPr id="19" name="Text 17"/>
          <p:cNvSpPr/>
          <p:nvPr/>
        </p:nvSpPr>
        <p:spPr>
          <a:xfrm>
            <a:off x="804672" y="4617720"/>
            <a:ext cx="4800600" cy="256032"/>
          </a:xfrm>
          <a:prstGeom prst="rect">
            <a:avLst/>
          </a:prstGeom>
          <a:noFill/>
          <a:ln/>
        </p:spPr>
        <p:txBody>
          <a:bodyPr wrap="square" lIns="0" tIns="0" rIns="0" bIns="0" rtlCol="0" anchor="ctr"/>
          <a:lstStyle/>
          <a:p>
            <a:pPr marL="0" indent="0">
              <a:buNone/>
            </a:pPr>
            <a:r>
              <a:rPr lang="en-US" sz="1100" i="1" dirty="0">
                <a:solidFill>
                  <a:srgbClr val="5A6B7B"/>
                </a:solidFill>
                <a:latin typeface="Calibri" pitchFamily="34" charset="0"/>
                <a:ea typeface="Calibri" pitchFamily="34" charset="-122"/>
                <a:cs typeface="Calibri" pitchFamily="34" charset="-120"/>
              </a:rPr>
              <a:t>Unidad: Un estudiante en un año escolar</a:t>
            </a:r>
            <a:endParaRPr lang="en-US" sz="1100" dirty="0"/>
          </a:p>
        </p:txBody>
      </p:sp>
      <p:sp>
        <p:nvSpPr>
          <p:cNvPr id="20" name="Text 18"/>
          <p:cNvSpPr/>
          <p:nvPr/>
        </p:nvSpPr>
        <p:spPr>
          <a:xfrm>
            <a:off x="804672" y="4873752"/>
            <a:ext cx="4800600" cy="658368"/>
          </a:xfrm>
          <a:prstGeom prst="rect">
            <a:avLst/>
          </a:prstGeom>
          <a:noFill/>
          <a:ln/>
        </p:spPr>
        <p:txBody>
          <a:bodyPr wrap="square" lIns="0" tIns="0" rIns="0" bIns="0" rtlCol="0" anchor="ctr"/>
          <a:lstStyle/>
          <a:p>
            <a:pPr marL="0" indent="0">
              <a:lnSpc>
                <a:spcPts val="1350"/>
              </a:lnSpc>
              <a:buNone/>
            </a:pPr>
            <a:r>
              <a:rPr lang="en-US" sz="1050" dirty="0">
                <a:solidFill>
                  <a:srgbClr val="06304A"/>
                </a:solidFill>
                <a:latin typeface="Calibri" pitchFamily="34" charset="0"/>
                <a:ea typeface="Calibri" pitchFamily="34" charset="-122"/>
                <a:cs typeface="Calibri" pitchFamily="34" charset="-120"/>
              </a:rPr>
              <a:t>Promedio de notas y asistencia (continuas) · edad (discreta) · situación final (binaria) · dependencia y género (nominales) · nivel del curso (ordinal) · establecimiento y comuna (alta cardinalidad)</a:t>
            </a:r>
            <a:endParaRPr lang="en-US" sz="1050" dirty="0"/>
          </a:p>
        </p:txBody>
      </p:sp>
      <p:sp>
        <p:nvSpPr>
          <p:cNvPr id="21" name="Text 19"/>
          <p:cNvSpPr/>
          <p:nvPr/>
        </p:nvSpPr>
        <p:spPr>
          <a:xfrm>
            <a:off x="804672" y="5541264"/>
            <a:ext cx="4800600" cy="384048"/>
          </a:xfrm>
          <a:prstGeom prst="rect">
            <a:avLst/>
          </a:prstGeom>
          <a:noFill/>
          <a:ln/>
        </p:spPr>
        <p:txBody>
          <a:bodyPr wrap="square" lIns="0" tIns="0" rIns="0" bIns="0" rtlCol="0" anchor="ctr"/>
          <a:lstStyle/>
          <a:p>
            <a:pPr marL="0" indent="0">
              <a:lnSpc>
                <a:spcPts val="1300"/>
              </a:lnSpc>
              <a:buNone/>
            </a:pPr>
            <a:r>
              <a:rPr lang="en-US" sz="1000" dirty="0">
                <a:solidFill>
                  <a:srgbClr val="AC212E"/>
                </a:solidFill>
                <a:latin typeface="Calibri" pitchFamily="34" charset="0"/>
                <a:ea typeface="Calibri" pitchFamily="34" charset="-122"/>
                <a:cs typeface="Calibri" pitchFamily="34" charset="-120"/>
              </a:rPr>
              <a:t>Las bases nacionales superan los 3 millones de filas: filtren por región o por nivel. Separador « ; » y codificación latin-1.</a:t>
            </a:r>
            <a:endParaRPr lang="en-US" sz="1000" dirty="0"/>
          </a:p>
        </p:txBody>
      </p:sp>
      <p:sp>
        <p:nvSpPr>
          <p:cNvPr id="22" name="Shape 20"/>
          <p:cNvSpPr/>
          <p:nvPr/>
        </p:nvSpPr>
        <p:spPr>
          <a:xfrm>
            <a:off x="6309360" y="3931920"/>
            <a:ext cx="5303520" cy="2057400"/>
          </a:xfrm>
          <a:prstGeom prst="roundRect">
            <a:avLst>
              <a:gd name="adj" fmla="val 4000"/>
            </a:avLst>
          </a:prstGeom>
          <a:solidFill>
            <a:srgbClr val="F6E7E9"/>
          </a:solidFill>
          <a:ln w="12700">
            <a:solidFill>
              <a:srgbClr val="F6E7E9"/>
            </a:solidFill>
            <a:prstDash val="solid"/>
          </a:ln>
        </p:spPr>
        <p:txBody>
          <a:bodyPr/>
          <a:lstStyle/>
          <a:p>
            <a:endParaRPr lang="es-CL"/>
          </a:p>
        </p:txBody>
      </p:sp>
      <p:sp>
        <p:nvSpPr>
          <p:cNvPr id="23" name="Text 21"/>
          <p:cNvSpPr/>
          <p:nvPr/>
        </p:nvSpPr>
        <p:spPr>
          <a:xfrm>
            <a:off x="6565392" y="4041648"/>
            <a:ext cx="4800600" cy="320040"/>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SNIFA — procesos sancionatorios</a:t>
            </a:r>
            <a:endParaRPr lang="en-US" sz="1400" dirty="0"/>
          </a:p>
        </p:txBody>
      </p:sp>
      <p:sp>
        <p:nvSpPr>
          <p:cNvPr id="24" name="Text 22"/>
          <p:cNvSpPr/>
          <p:nvPr/>
        </p:nvSpPr>
        <p:spPr>
          <a:xfrm>
            <a:off x="6565392" y="4343400"/>
            <a:ext cx="4800600" cy="256032"/>
          </a:xfrm>
          <a:prstGeom prst="rect">
            <a:avLst/>
          </a:prstGeom>
          <a:noFill/>
          <a:ln/>
        </p:spPr>
        <p:txBody>
          <a:bodyPr wrap="square" lIns="0" tIns="0" rIns="0" bIns="0" rtlCol="0" anchor="ctr"/>
          <a:lstStyle/>
          <a:p>
            <a:pPr marL="0" indent="0">
              <a:buNone/>
            </a:pPr>
            <a:r>
              <a:rPr lang="en-US" sz="1050" dirty="0">
                <a:solidFill>
                  <a:srgbClr val="AC212E"/>
                </a:solidFill>
                <a:latin typeface="Courier New" pitchFamily="34" charset="0"/>
                <a:ea typeface="Courier New" pitchFamily="34" charset="-122"/>
                <a:cs typeface="Courier New" pitchFamily="34" charset="-120"/>
              </a:rPr>
              <a:t>snifa.sma.gob.cl/DatosAbiertos</a:t>
            </a:r>
            <a:endParaRPr lang="en-US" sz="1050" dirty="0"/>
          </a:p>
        </p:txBody>
      </p:sp>
      <p:sp>
        <p:nvSpPr>
          <p:cNvPr id="25" name="Text 23"/>
          <p:cNvSpPr/>
          <p:nvPr/>
        </p:nvSpPr>
        <p:spPr>
          <a:xfrm>
            <a:off x="6565392" y="4617720"/>
            <a:ext cx="4800600" cy="256032"/>
          </a:xfrm>
          <a:prstGeom prst="rect">
            <a:avLst/>
          </a:prstGeom>
          <a:noFill/>
          <a:ln/>
        </p:spPr>
        <p:txBody>
          <a:bodyPr wrap="square" lIns="0" tIns="0" rIns="0" bIns="0" rtlCol="0" anchor="ctr"/>
          <a:lstStyle/>
          <a:p>
            <a:pPr marL="0" indent="0">
              <a:buNone/>
            </a:pPr>
            <a:r>
              <a:rPr lang="en-US" sz="1100" i="1" dirty="0">
                <a:solidFill>
                  <a:srgbClr val="5A6B7B"/>
                </a:solidFill>
                <a:latin typeface="Calibri" pitchFamily="34" charset="0"/>
                <a:ea typeface="Calibri" pitchFamily="34" charset="-122"/>
                <a:cs typeface="Calibri" pitchFamily="34" charset="-120"/>
              </a:rPr>
              <a:t>Unidad: Un proceso sancionatorio ambiental</a:t>
            </a:r>
            <a:endParaRPr lang="en-US" sz="1100" dirty="0"/>
          </a:p>
        </p:txBody>
      </p:sp>
      <p:sp>
        <p:nvSpPr>
          <p:cNvPr id="26" name="Text 24"/>
          <p:cNvSpPr/>
          <p:nvPr/>
        </p:nvSpPr>
        <p:spPr>
          <a:xfrm>
            <a:off x="6565392" y="4873752"/>
            <a:ext cx="4800600" cy="658368"/>
          </a:xfrm>
          <a:prstGeom prst="rect">
            <a:avLst/>
          </a:prstGeom>
          <a:noFill/>
          <a:ln/>
        </p:spPr>
        <p:txBody>
          <a:bodyPr wrap="square" lIns="0" tIns="0" rIns="0" bIns="0" rtlCol="0" anchor="ctr"/>
          <a:lstStyle/>
          <a:p>
            <a:pPr marL="0" indent="0">
              <a:lnSpc>
                <a:spcPts val="1350"/>
              </a:lnSpc>
              <a:buNone/>
            </a:pPr>
            <a:r>
              <a:rPr lang="en-US" sz="1050" dirty="0">
                <a:solidFill>
                  <a:srgbClr val="06304A"/>
                </a:solidFill>
                <a:latin typeface="Calibri" pitchFamily="34" charset="0"/>
                <a:ea typeface="Calibri" pitchFamily="34" charset="-122"/>
                <a:cs typeface="Calibri" pitchFamily="34" charset="-120"/>
              </a:rPr>
              <a:t>Multa en UTA (continua) · número de cargos (discreta) · estado final (nominal) · categoría de la infracción (ordinal) · fechas de inicio y término · unidad fiscalizable y región</a:t>
            </a:r>
            <a:endParaRPr lang="en-US" sz="1050" dirty="0"/>
          </a:p>
        </p:txBody>
      </p:sp>
      <p:sp>
        <p:nvSpPr>
          <p:cNvPr id="27" name="Text 25"/>
          <p:cNvSpPr/>
          <p:nvPr/>
        </p:nvSpPr>
        <p:spPr>
          <a:xfrm>
            <a:off x="6565392" y="5541264"/>
            <a:ext cx="4800600" cy="384048"/>
          </a:xfrm>
          <a:prstGeom prst="rect">
            <a:avLst/>
          </a:prstGeom>
          <a:noFill/>
          <a:ln/>
        </p:spPr>
        <p:txBody>
          <a:bodyPr wrap="square" lIns="0" tIns="0" rIns="0" bIns="0" rtlCol="0" anchor="ctr"/>
          <a:lstStyle/>
          <a:p>
            <a:pPr marL="0" indent="0">
              <a:lnSpc>
                <a:spcPts val="1300"/>
              </a:lnSpc>
              <a:buNone/>
            </a:pPr>
            <a:r>
              <a:rPr lang="en-US" sz="1000" dirty="0">
                <a:solidFill>
                  <a:srgbClr val="AC212E"/>
                </a:solidFill>
                <a:latin typeface="Calibri" pitchFamily="34" charset="0"/>
                <a:ea typeface="Calibri" pitchFamily="34" charset="-122"/>
                <a:cs typeface="Calibri" pitchFamily="34" charset="-120"/>
              </a:rPr>
              <a:t>Serie 2013 en adelante. Muchos procesos abiertos dejan la fecha de término vacía: material ideal para justificar imputación.</a:t>
            </a:r>
            <a:endParaRPr lang="en-US" sz="1000" dirty="0"/>
          </a:p>
        </p:txBody>
      </p:sp>
      <p:sp>
        <p:nvSpPr>
          <p:cNvPr id="28" name="Text 26"/>
          <p:cNvSpPr/>
          <p:nvPr/>
        </p:nvSpPr>
        <p:spPr>
          <a:xfrm>
            <a:off x="548640" y="6327648"/>
            <a:ext cx="11064240" cy="274320"/>
          </a:xfrm>
          <a:prstGeom prst="rect">
            <a:avLst/>
          </a:prstGeom>
          <a:noFill/>
          <a:ln/>
        </p:spPr>
        <p:txBody>
          <a:bodyPr wrap="square" lIns="0" tIns="0" rIns="0" bIns="0" rtlCol="0" anchor="ctr"/>
          <a:lstStyle/>
          <a:p>
            <a:pPr marL="0" indent="0">
              <a:buNone/>
            </a:pPr>
            <a:r>
              <a:rPr lang="en-US" sz="1000" dirty="0">
                <a:solidFill>
                  <a:srgbClr val="5A6B7B"/>
                </a:solidFill>
                <a:latin typeface="Calibri" pitchFamily="34" charset="0"/>
                <a:ea typeface="Calibri" pitchFamily="34" charset="-122"/>
                <a:cs typeface="Calibri" pitchFamily="34" charset="-120"/>
              </a:rPr>
              <a:t>Las características descritas corresponden a la estructura habitual de cada fuente: confirmen la versión que descarguen con el validador.</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Cuatro conjuntos más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Distintos dominios, misma lógica de lectura.</a:t>
            </a:r>
            <a:endParaRPr lang="en-US" sz="1400" dirty="0"/>
          </a:p>
        </p:txBody>
      </p:sp>
      <p:sp>
        <p:nvSpPr>
          <p:cNvPr id="4" name="Shape 2"/>
          <p:cNvSpPr/>
          <p:nvPr/>
        </p:nvSpPr>
        <p:spPr>
          <a:xfrm>
            <a:off x="548640" y="1691640"/>
            <a:ext cx="5303520" cy="2057400"/>
          </a:xfrm>
          <a:prstGeom prst="roundRect">
            <a:avLst>
              <a:gd name="adj" fmla="val 4000"/>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04672" y="1801368"/>
            <a:ext cx="4800600" cy="320040"/>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DEIS · MINSAL</a:t>
            </a:r>
            <a:endParaRPr lang="en-US" sz="1400" dirty="0"/>
          </a:p>
        </p:txBody>
      </p:sp>
      <p:sp>
        <p:nvSpPr>
          <p:cNvPr id="6" name="Text 4"/>
          <p:cNvSpPr/>
          <p:nvPr/>
        </p:nvSpPr>
        <p:spPr>
          <a:xfrm>
            <a:off x="804672" y="2103120"/>
            <a:ext cx="4800600" cy="256032"/>
          </a:xfrm>
          <a:prstGeom prst="rect">
            <a:avLst/>
          </a:prstGeom>
          <a:noFill/>
          <a:ln/>
        </p:spPr>
        <p:txBody>
          <a:bodyPr wrap="square" lIns="0" tIns="0" rIns="0" bIns="0" rtlCol="0" anchor="ctr"/>
          <a:lstStyle/>
          <a:p>
            <a:pPr marL="0" indent="0">
              <a:buNone/>
            </a:pPr>
            <a:r>
              <a:rPr lang="en-US" sz="1050" dirty="0">
                <a:solidFill>
                  <a:srgbClr val="AC212E"/>
                </a:solidFill>
                <a:latin typeface="Courier New" pitchFamily="34" charset="0"/>
                <a:ea typeface="Courier New" pitchFamily="34" charset="-122"/>
                <a:cs typeface="Courier New" pitchFamily="34" charset="-120"/>
              </a:rPr>
              <a:t>deis.minsal.cl</a:t>
            </a:r>
            <a:endParaRPr lang="en-US" sz="1050" dirty="0"/>
          </a:p>
        </p:txBody>
      </p:sp>
      <p:sp>
        <p:nvSpPr>
          <p:cNvPr id="7" name="Text 5"/>
          <p:cNvSpPr/>
          <p:nvPr/>
        </p:nvSpPr>
        <p:spPr>
          <a:xfrm>
            <a:off x="804672" y="2377440"/>
            <a:ext cx="4800600" cy="274320"/>
          </a:xfrm>
          <a:prstGeom prst="rect">
            <a:avLst/>
          </a:prstGeom>
          <a:noFill/>
          <a:ln/>
        </p:spPr>
        <p:txBody>
          <a:bodyPr wrap="square" lIns="0" tIns="0" rIns="0" bIns="0" rtlCol="0" anchor="ctr"/>
          <a:lstStyle/>
          <a:p>
            <a:pPr marL="0" indent="0">
              <a:lnSpc>
                <a:spcPts val="1300"/>
              </a:lnSpc>
              <a:buNone/>
            </a:pPr>
            <a:r>
              <a:rPr lang="en-US" sz="1100" i="1" dirty="0">
                <a:solidFill>
                  <a:srgbClr val="5A6B7B"/>
                </a:solidFill>
                <a:latin typeface="Calibri" pitchFamily="34" charset="0"/>
                <a:ea typeface="Calibri" pitchFamily="34" charset="-122"/>
                <a:cs typeface="Calibri" pitchFamily="34" charset="-120"/>
              </a:rPr>
              <a:t>Unidad: Un egreso hospitalario, una defunción o una atención de urgencia según la base</a:t>
            </a:r>
            <a:endParaRPr lang="en-US" sz="1100" dirty="0"/>
          </a:p>
        </p:txBody>
      </p:sp>
      <p:sp>
        <p:nvSpPr>
          <p:cNvPr id="8" name="Text 6"/>
          <p:cNvSpPr/>
          <p:nvPr/>
        </p:nvSpPr>
        <p:spPr>
          <a:xfrm>
            <a:off x="804672" y="2679192"/>
            <a:ext cx="4800600" cy="640080"/>
          </a:xfrm>
          <a:prstGeom prst="rect">
            <a:avLst/>
          </a:prstGeom>
          <a:noFill/>
          <a:ln/>
        </p:spPr>
        <p:txBody>
          <a:bodyPr wrap="square" lIns="0" tIns="0" rIns="0" bIns="0" rtlCol="0" anchor="ctr"/>
          <a:lstStyle/>
          <a:p>
            <a:pPr marL="0" indent="0">
              <a:lnSpc>
                <a:spcPts val="1350"/>
              </a:lnSpc>
              <a:buNone/>
            </a:pPr>
            <a:r>
              <a:rPr lang="en-US" sz="1050" dirty="0">
                <a:solidFill>
                  <a:srgbClr val="06304A"/>
                </a:solidFill>
                <a:latin typeface="Calibri" pitchFamily="34" charset="0"/>
                <a:ea typeface="Calibri" pitchFamily="34" charset="-122"/>
                <a:cs typeface="Calibri" pitchFamily="34" charset="-120"/>
              </a:rPr>
              <a:t>Edad y días de estada (continuas o discretas) · sexo (binaria) · previsión y tipo de establecimiento (nominales) · fecha del evento · diagnóstico CIE-10 (alta cardinalidad) · comuna de residencia</a:t>
            </a:r>
            <a:endParaRPr lang="en-US" sz="1050" dirty="0"/>
          </a:p>
        </p:txBody>
      </p:sp>
      <p:sp>
        <p:nvSpPr>
          <p:cNvPr id="9" name="Text 7"/>
          <p:cNvSpPr/>
          <p:nvPr/>
        </p:nvSpPr>
        <p:spPr>
          <a:xfrm>
            <a:off x="804672" y="3319272"/>
            <a:ext cx="4800600" cy="365760"/>
          </a:xfrm>
          <a:prstGeom prst="rect">
            <a:avLst/>
          </a:prstGeom>
          <a:noFill/>
          <a:ln/>
        </p:spPr>
        <p:txBody>
          <a:bodyPr wrap="square" lIns="0" tIns="0" rIns="0" bIns="0" rtlCol="0" anchor="ctr"/>
          <a:lstStyle/>
          <a:p>
            <a:pPr marL="0" indent="0">
              <a:lnSpc>
                <a:spcPts val="1300"/>
              </a:lnSpc>
              <a:buNone/>
            </a:pPr>
            <a:r>
              <a:rPr lang="en-US" sz="1000" dirty="0">
                <a:solidFill>
                  <a:srgbClr val="AC212E"/>
                </a:solidFill>
                <a:latin typeface="Calibri" pitchFamily="34" charset="0"/>
                <a:ea typeface="Calibri" pitchFamily="34" charset="-122"/>
                <a:cs typeface="Calibri" pitchFamily="34" charset="-120"/>
              </a:rPr>
              <a:t>Series largas por año. Descarguen un año y verifiquen el diccionario de variables antes de decidir.</a:t>
            </a:r>
            <a:endParaRPr lang="en-US" sz="1000" dirty="0"/>
          </a:p>
        </p:txBody>
      </p:sp>
      <p:sp>
        <p:nvSpPr>
          <p:cNvPr id="10" name="Shape 8"/>
          <p:cNvSpPr/>
          <p:nvPr/>
        </p:nvSpPr>
        <p:spPr>
          <a:xfrm>
            <a:off x="6309360" y="1691640"/>
            <a:ext cx="5303520" cy="2057400"/>
          </a:xfrm>
          <a:prstGeom prst="roundRect">
            <a:avLst>
              <a:gd name="adj" fmla="val 4000"/>
            </a:avLst>
          </a:prstGeom>
          <a:solidFill>
            <a:srgbClr val="F4F7FA"/>
          </a:solidFill>
          <a:ln w="12700">
            <a:solidFill>
              <a:srgbClr val="F4F7FA"/>
            </a:solidFill>
            <a:prstDash val="solid"/>
          </a:ln>
        </p:spPr>
        <p:txBody>
          <a:bodyPr/>
          <a:lstStyle/>
          <a:p>
            <a:endParaRPr lang="es-CL"/>
          </a:p>
        </p:txBody>
      </p:sp>
      <p:sp>
        <p:nvSpPr>
          <p:cNvPr id="11" name="Text 9"/>
          <p:cNvSpPr/>
          <p:nvPr/>
        </p:nvSpPr>
        <p:spPr>
          <a:xfrm>
            <a:off x="6565392" y="1801368"/>
            <a:ext cx="4800600" cy="320040"/>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Energía Abierta · CNE</a:t>
            </a:r>
            <a:endParaRPr lang="en-US" sz="1400" dirty="0"/>
          </a:p>
        </p:txBody>
      </p:sp>
      <p:sp>
        <p:nvSpPr>
          <p:cNvPr id="12" name="Text 10"/>
          <p:cNvSpPr/>
          <p:nvPr/>
        </p:nvSpPr>
        <p:spPr>
          <a:xfrm>
            <a:off x="6565392" y="2103120"/>
            <a:ext cx="4800600" cy="256032"/>
          </a:xfrm>
          <a:prstGeom prst="rect">
            <a:avLst/>
          </a:prstGeom>
          <a:noFill/>
          <a:ln/>
        </p:spPr>
        <p:txBody>
          <a:bodyPr wrap="square" lIns="0" tIns="0" rIns="0" bIns="0" rtlCol="0" anchor="ctr"/>
          <a:lstStyle/>
          <a:p>
            <a:pPr marL="0" indent="0">
              <a:buNone/>
            </a:pPr>
            <a:r>
              <a:rPr lang="en-US" sz="1050" dirty="0">
                <a:solidFill>
                  <a:srgbClr val="AC212E"/>
                </a:solidFill>
                <a:latin typeface="Courier New" pitchFamily="34" charset="0"/>
                <a:ea typeface="Courier New" pitchFamily="34" charset="-122"/>
                <a:cs typeface="Courier New" pitchFamily="34" charset="-120"/>
              </a:rPr>
              <a:t>energiaabierta.cl</a:t>
            </a:r>
            <a:endParaRPr lang="en-US" sz="1050" dirty="0"/>
          </a:p>
        </p:txBody>
      </p:sp>
      <p:sp>
        <p:nvSpPr>
          <p:cNvPr id="13" name="Text 11"/>
          <p:cNvSpPr/>
          <p:nvPr/>
        </p:nvSpPr>
        <p:spPr>
          <a:xfrm>
            <a:off x="6565392" y="2377440"/>
            <a:ext cx="4800600" cy="274320"/>
          </a:xfrm>
          <a:prstGeom prst="rect">
            <a:avLst/>
          </a:prstGeom>
          <a:noFill/>
          <a:ln/>
        </p:spPr>
        <p:txBody>
          <a:bodyPr wrap="square" lIns="0" tIns="0" rIns="0" bIns="0" rtlCol="0" anchor="ctr"/>
          <a:lstStyle/>
          <a:p>
            <a:pPr marL="0" indent="0">
              <a:lnSpc>
                <a:spcPts val="1300"/>
              </a:lnSpc>
              <a:buNone/>
            </a:pPr>
            <a:r>
              <a:rPr lang="en-US" sz="1100" i="1" dirty="0">
                <a:solidFill>
                  <a:srgbClr val="5A6B7B"/>
                </a:solidFill>
                <a:latin typeface="Calibri" pitchFamily="34" charset="0"/>
                <a:ea typeface="Calibri" pitchFamily="34" charset="-122"/>
                <a:cs typeface="Calibri" pitchFamily="34" charset="-120"/>
              </a:rPr>
              <a:t>Unidad: Una central, un proyecto o un registro mensual de generación</a:t>
            </a:r>
            <a:endParaRPr lang="en-US" sz="1100" dirty="0"/>
          </a:p>
        </p:txBody>
      </p:sp>
      <p:sp>
        <p:nvSpPr>
          <p:cNvPr id="14" name="Text 12"/>
          <p:cNvSpPr/>
          <p:nvPr/>
        </p:nvSpPr>
        <p:spPr>
          <a:xfrm>
            <a:off x="6565392" y="2679192"/>
            <a:ext cx="4800600" cy="640080"/>
          </a:xfrm>
          <a:prstGeom prst="rect">
            <a:avLst/>
          </a:prstGeom>
          <a:noFill/>
          <a:ln/>
        </p:spPr>
        <p:txBody>
          <a:bodyPr wrap="square" lIns="0" tIns="0" rIns="0" bIns="0" rtlCol="0" anchor="ctr"/>
          <a:lstStyle/>
          <a:p>
            <a:pPr marL="0" indent="0">
              <a:lnSpc>
                <a:spcPts val="1350"/>
              </a:lnSpc>
              <a:buNone/>
            </a:pPr>
            <a:r>
              <a:rPr lang="en-US" sz="1050" dirty="0">
                <a:solidFill>
                  <a:srgbClr val="06304A"/>
                </a:solidFill>
                <a:latin typeface="Calibri" pitchFamily="34" charset="0"/>
                <a:ea typeface="Calibri" pitchFamily="34" charset="-122"/>
                <a:cs typeface="Calibri" pitchFamily="34" charset="-120"/>
              </a:rPr>
              <a:t>Potencia y generación (continuas) · número de unidades (discreta) · estado operativo (binaria) · tecnología y tipo de energía (nominales) · fecha de puesta en servicio · región y propietario</a:t>
            </a:r>
            <a:endParaRPr lang="en-US" sz="1050" dirty="0"/>
          </a:p>
        </p:txBody>
      </p:sp>
      <p:sp>
        <p:nvSpPr>
          <p:cNvPr id="15" name="Text 13"/>
          <p:cNvSpPr/>
          <p:nvPr/>
        </p:nvSpPr>
        <p:spPr>
          <a:xfrm>
            <a:off x="6565392" y="3319272"/>
            <a:ext cx="4800600" cy="365760"/>
          </a:xfrm>
          <a:prstGeom prst="rect">
            <a:avLst/>
          </a:prstGeom>
          <a:noFill/>
          <a:ln/>
        </p:spPr>
        <p:txBody>
          <a:bodyPr wrap="square" lIns="0" tIns="0" rIns="0" bIns="0" rtlCol="0" anchor="ctr"/>
          <a:lstStyle/>
          <a:p>
            <a:pPr marL="0" indent="0">
              <a:lnSpc>
                <a:spcPts val="1300"/>
              </a:lnSpc>
              <a:buNone/>
            </a:pPr>
            <a:r>
              <a:rPr lang="en-US" sz="1000" dirty="0">
                <a:solidFill>
                  <a:srgbClr val="AC212E"/>
                </a:solidFill>
                <a:latin typeface="Calibri" pitchFamily="34" charset="0"/>
                <a:ea typeface="Calibri" pitchFamily="34" charset="-122"/>
                <a:cs typeface="Calibri" pitchFamily="34" charset="-120"/>
              </a:rPr>
              <a:t>Buena opción si el grupo quiere una pregunta con dimensión territorial y temporal.</a:t>
            </a:r>
            <a:endParaRPr lang="en-US" sz="1000" dirty="0"/>
          </a:p>
        </p:txBody>
      </p:sp>
      <p:sp>
        <p:nvSpPr>
          <p:cNvPr id="16" name="Shape 14"/>
          <p:cNvSpPr/>
          <p:nvPr/>
        </p:nvSpPr>
        <p:spPr>
          <a:xfrm>
            <a:off x="548640" y="3931920"/>
            <a:ext cx="5303520" cy="2057400"/>
          </a:xfrm>
          <a:prstGeom prst="roundRect">
            <a:avLst>
              <a:gd name="adj" fmla="val 4000"/>
            </a:avLst>
          </a:prstGeom>
          <a:solidFill>
            <a:srgbClr val="F4F7FA"/>
          </a:solidFill>
          <a:ln w="12700">
            <a:solidFill>
              <a:srgbClr val="F4F7FA"/>
            </a:solidFill>
            <a:prstDash val="solid"/>
          </a:ln>
        </p:spPr>
        <p:txBody>
          <a:bodyPr/>
          <a:lstStyle/>
          <a:p>
            <a:endParaRPr lang="es-CL"/>
          </a:p>
        </p:txBody>
      </p:sp>
      <p:sp>
        <p:nvSpPr>
          <p:cNvPr id="17" name="Text 15"/>
          <p:cNvSpPr/>
          <p:nvPr/>
        </p:nvSpPr>
        <p:spPr>
          <a:xfrm>
            <a:off x="804672" y="4041648"/>
            <a:ext cx="4800600" cy="320040"/>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Observatorio Logístico · MTT</a:t>
            </a:r>
            <a:endParaRPr lang="en-US" sz="1400" dirty="0"/>
          </a:p>
        </p:txBody>
      </p:sp>
      <p:sp>
        <p:nvSpPr>
          <p:cNvPr id="18" name="Text 16"/>
          <p:cNvSpPr/>
          <p:nvPr/>
        </p:nvSpPr>
        <p:spPr>
          <a:xfrm>
            <a:off x="804672" y="4343400"/>
            <a:ext cx="4800600" cy="256032"/>
          </a:xfrm>
          <a:prstGeom prst="rect">
            <a:avLst/>
          </a:prstGeom>
          <a:noFill/>
          <a:ln/>
        </p:spPr>
        <p:txBody>
          <a:bodyPr wrap="square" lIns="0" tIns="0" rIns="0" bIns="0" rtlCol="0" anchor="ctr"/>
          <a:lstStyle/>
          <a:p>
            <a:pPr marL="0" indent="0">
              <a:buNone/>
            </a:pPr>
            <a:r>
              <a:rPr lang="en-US" sz="1050" dirty="0">
                <a:solidFill>
                  <a:srgbClr val="AC212E"/>
                </a:solidFill>
                <a:latin typeface="Courier New" pitchFamily="34" charset="0"/>
                <a:ea typeface="Courier New" pitchFamily="34" charset="-122"/>
                <a:cs typeface="Courier New" pitchFamily="34" charset="-120"/>
              </a:rPr>
              <a:t>observatoriologistico.cl</a:t>
            </a:r>
            <a:endParaRPr lang="en-US" sz="1050" dirty="0"/>
          </a:p>
        </p:txBody>
      </p:sp>
      <p:sp>
        <p:nvSpPr>
          <p:cNvPr id="19" name="Text 17"/>
          <p:cNvSpPr/>
          <p:nvPr/>
        </p:nvSpPr>
        <p:spPr>
          <a:xfrm>
            <a:off x="804672" y="4617720"/>
            <a:ext cx="4800600" cy="274320"/>
          </a:xfrm>
          <a:prstGeom prst="rect">
            <a:avLst/>
          </a:prstGeom>
          <a:noFill/>
          <a:ln/>
        </p:spPr>
        <p:txBody>
          <a:bodyPr wrap="square" lIns="0" tIns="0" rIns="0" bIns="0" rtlCol="0" anchor="ctr"/>
          <a:lstStyle/>
          <a:p>
            <a:pPr marL="0" indent="0">
              <a:lnSpc>
                <a:spcPts val="1300"/>
              </a:lnSpc>
              <a:buNone/>
            </a:pPr>
            <a:r>
              <a:rPr lang="en-US" sz="1100" i="1" dirty="0">
                <a:solidFill>
                  <a:srgbClr val="5A6B7B"/>
                </a:solidFill>
                <a:latin typeface="Calibri" pitchFamily="34" charset="0"/>
                <a:ea typeface="Calibri" pitchFamily="34" charset="-122"/>
                <a:cs typeface="Calibri" pitchFamily="34" charset="-120"/>
              </a:rPr>
              <a:t>Unidad: Un movimiento de carga, un puerto o un indicador mensual</a:t>
            </a:r>
            <a:endParaRPr lang="en-US" sz="1100" dirty="0"/>
          </a:p>
        </p:txBody>
      </p:sp>
      <p:sp>
        <p:nvSpPr>
          <p:cNvPr id="20" name="Text 18"/>
          <p:cNvSpPr/>
          <p:nvPr/>
        </p:nvSpPr>
        <p:spPr>
          <a:xfrm>
            <a:off x="804672" y="4919472"/>
            <a:ext cx="4800600" cy="640080"/>
          </a:xfrm>
          <a:prstGeom prst="rect">
            <a:avLst/>
          </a:prstGeom>
          <a:noFill/>
          <a:ln/>
        </p:spPr>
        <p:txBody>
          <a:bodyPr wrap="square" lIns="0" tIns="0" rIns="0" bIns="0" rtlCol="0" anchor="ctr"/>
          <a:lstStyle/>
          <a:p>
            <a:pPr marL="0" indent="0">
              <a:lnSpc>
                <a:spcPts val="1350"/>
              </a:lnSpc>
              <a:buNone/>
            </a:pPr>
            <a:r>
              <a:rPr lang="en-US" sz="1050" dirty="0">
                <a:solidFill>
                  <a:srgbClr val="06304A"/>
                </a:solidFill>
                <a:latin typeface="Calibri" pitchFamily="34" charset="0"/>
                <a:ea typeface="Calibri" pitchFamily="34" charset="-122"/>
                <a:cs typeface="Calibri" pitchFamily="34" charset="-120"/>
              </a:rPr>
              <a:t>Toneladas y tiempos (continuas) · número de recaladas (discreta) · modo de transporte y tipo de carga (nominales) · período · puerto o nodo (alta cardinalidad)</a:t>
            </a:r>
            <a:endParaRPr lang="en-US" sz="1050" dirty="0"/>
          </a:p>
        </p:txBody>
      </p:sp>
      <p:sp>
        <p:nvSpPr>
          <p:cNvPr id="21" name="Text 19"/>
          <p:cNvSpPr/>
          <p:nvPr/>
        </p:nvSpPr>
        <p:spPr>
          <a:xfrm>
            <a:off x="804672" y="5559552"/>
            <a:ext cx="4800600" cy="365760"/>
          </a:xfrm>
          <a:prstGeom prst="rect">
            <a:avLst/>
          </a:prstGeom>
          <a:noFill/>
          <a:ln/>
        </p:spPr>
        <p:txBody>
          <a:bodyPr wrap="square" lIns="0" tIns="0" rIns="0" bIns="0" rtlCol="0" anchor="ctr"/>
          <a:lstStyle/>
          <a:p>
            <a:pPr marL="0" indent="0">
              <a:lnSpc>
                <a:spcPts val="1300"/>
              </a:lnSpc>
              <a:buNone/>
            </a:pPr>
            <a:r>
              <a:rPr lang="en-US" sz="1000" dirty="0">
                <a:solidFill>
                  <a:srgbClr val="AC212E"/>
                </a:solidFill>
                <a:latin typeface="Calibri" pitchFamily="34" charset="0"/>
                <a:ea typeface="Calibri" pitchFamily="34" charset="-122"/>
                <a:cs typeface="Calibri" pitchFamily="34" charset="-120"/>
              </a:rPr>
              <a:t>Varias bases distintas: revisen cuál tiene el detalle suficiente antes de comprometerse.</a:t>
            </a:r>
            <a:endParaRPr lang="en-US" sz="1000" dirty="0"/>
          </a:p>
        </p:txBody>
      </p:sp>
      <p:sp>
        <p:nvSpPr>
          <p:cNvPr id="22" name="Shape 20"/>
          <p:cNvSpPr/>
          <p:nvPr/>
        </p:nvSpPr>
        <p:spPr>
          <a:xfrm>
            <a:off x="6309360" y="3931920"/>
            <a:ext cx="5303520" cy="2057400"/>
          </a:xfrm>
          <a:prstGeom prst="roundRect">
            <a:avLst>
              <a:gd name="adj" fmla="val 4000"/>
            </a:avLst>
          </a:prstGeom>
          <a:solidFill>
            <a:srgbClr val="F6E7E9"/>
          </a:solidFill>
          <a:ln w="12700">
            <a:solidFill>
              <a:srgbClr val="F6E7E9"/>
            </a:solidFill>
            <a:prstDash val="solid"/>
          </a:ln>
        </p:spPr>
        <p:txBody>
          <a:bodyPr/>
          <a:lstStyle/>
          <a:p>
            <a:endParaRPr lang="es-CL"/>
          </a:p>
        </p:txBody>
      </p:sp>
      <p:sp>
        <p:nvSpPr>
          <p:cNvPr id="23" name="Text 21"/>
          <p:cNvSpPr/>
          <p:nvPr/>
        </p:nvSpPr>
        <p:spPr>
          <a:xfrm>
            <a:off x="6565392" y="4041648"/>
            <a:ext cx="4800600" cy="320040"/>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Portal de Datos Abiertos del Estado</a:t>
            </a:r>
            <a:endParaRPr lang="en-US" sz="1400" dirty="0"/>
          </a:p>
        </p:txBody>
      </p:sp>
      <p:sp>
        <p:nvSpPr>
          <p:cNvPr id="24" name="Text 22"/>
          <p:cNvSpPr/>
          <p:nvPr/>
        </p:nvSpPr>
        <p:spPr>
          <a:xfrm>
            <a:off x="6565392" y="4343400"/>
            <a:ext cx="4800600" cy="256032"/>
          </a:xfrm>
          <a:prstGeom prst="rect">
            <a:avLst/>
          </a:prstGeom>
          <a:noFill/>
          <a:ln/>
        </p:spPr>
        <p:txBody>
          <a:bodyPr wrap="square" lIns="0" tIns="0" rIns="0" bIns="0" rtlCol="0" anchor="ctr"/>
          <a:lstStyle/>
          <a:p>
            <a:pPr marL="0" indent="0">
              <a:buNone/>
            </a:pPr>
            <a:r>
              <a:rPr lang="en-US" sz="1050" dirty="0">
                <a:solidFill>
                  <a:srgbClr val="AC212E"/>
                </a:solidFill>
                <a:latin typeface="Courier New" pitchFamily="34" charset="0"/>
                <a:ea typeface="Courier New" pitchFamily="34" charset="-122"/>
                <a:cs typeface="Courier New" pitchFamily="34" charset="-120"/>
              </a:rPr>
              <a:t>datos.gob.cl</a:t>
            </a:r>
            <a:endParaRPr lang="en-US" sz="1050" dirty="0"/>
          </a:p>
        </p:txBody>
      </p:sp>
      <p:sp>
        <p:nvSpPr>
          <p:cNvPr id="25" name="Text 23"/>
          <p:cNvSpPr/>
          <p:nvPr/>
        </p:nvSpPr>
        <p:spPr>
          <a:xfrm>
            <a:off x="6565392" y="4617720"/>
            <a:ext cx="4800600" cy="274320"/>
          </a:xfrm>
          <a:prstGeom prst="rect">
            <a:avLst/>
          </a:prstGeom>
          <a:noFill/>
          <a:ln/>
        </p:spPr>
        <p:txBody>
          <a:bodyPr wrap="square" lIns="0" tIns="0" rIns="0" bIns="0" rtlCol="0" anchor="ctr"/>
          <a:lstStyle/>
          <a:p>
            <a:pPr marL="0" indent="0">
              <a:lnSpc>
                <a:spcPts val="1300"/>
              </a:lnSpc>
              <a:buNone/>
            </a:pPr>
            <a:r>
              <a:rPr lang="en-US" sz="1100" i="1" dirty="0">
                <a:solidFill>
                  <a:srgbClr val="5A6B7B"/>
                </a:solidFill>
                <a:latin typeface="Calibri" pitchFamily="34" charset="0"/>
                <a:ea typeface="Calibri" pitchFamily="34" charset="-122"/>
                <a:cs typeface="Calibri" pitchFamily="34" charset="-120"/>
              </a:rPr>
              <a:t>Unidad: Depende del conjunto: es el catálogo central</a:t>
            </a:r>
            <a:endParaRPr lang="en-US" sz="1100" dirty="0"/>
          </a:p>
        </p:txBody>
      </p:sp>
      <p:sp>
        <p:nvSpPr>
          <p:cNvPr id="26" name="Text 24"/>
          <p:cNvSpPr/>
          <p:nvPr/>
        </p:nvSpPr>
        <p:spPr>
          <a:xfrm>
            <a:off x="6565392" y="4919472"/>
            <a:ext cx="4800600" cy="640080"/>
          </a:xfrm>
          <a:prstGeom prst="rect">
            <a:avLst/>
          </a:prstGeom>
          <a:noFill/>
          <a:ln/>
        </p:spPr>
        <p:txBody>
          <a:bodyPr wrap="square" lIns="0" tIns="0" rIns="0" bIns="0" rtlCol="0" anchor="ctr"/>
          <a:lstStyle/>
          <a:p>
            <a:pPr marL="0" indent="0">
              <a:lnSpc>
                <a:spcPts val="1350"/>
              </a:lnSpc>
              <a:buNone/>
            </a:pPr>
            <a:r>
              <a:rPr lang="en-US" sz="1050" dirty="0">
                <a:solidFill>
                  <a:srgbClr val="06304A"/>
                </a:solidFill>
                <a:latin typeface="Calibri" pitchFamily="34" charset="0"/>
                <a:ea typeface="Calibri" pitchFamily="34" charset="-122"/>
                <a:cs typeface="Calibri" pitchFamily="34" charset="-120"/>
              </a:rPr>
              <a:t>Más de 255 organismos publican aquí. Filtren por categoría —salud, educación, transporte, medio ambiente— y por formato CSV</a:t>
            </a:r>
            <a:endParaRPr lang="en-US" sz="1050" dirty="0"/>
          </a:p>
        </p:txBody>
      </p:sp>
      <p:sp>
        <p:nvSpPr>
          <p:cNvPr id="27" name="Text 25"/>
          <p:cNvSpPr/>
          <p:nvPr/>
        </p:nvSpPr>
        <p:spPr>
          <a:xfrm>
            <a:off x="6565392" y="5559552"/>
            <a:ext cx="4800600" cy="365760"/>
          </a:xfrm>
          <a:prstGeom prst="rect">
            <a:avLst/>
          </a:prstGeom>
          <a:noFill/>
          <a:ln/>
        </p:spPr>
        <p:txBody>
          <a:bodyPr wrap="square" lIns="0" tIns="0" rIns="0" bIns="0" rtlCol="0" anchor="ctr"/>
          <a:lstStyle/>
          <a:p>
            <a:pPr marL="0" indent="0">
              <a:lnSpc>
                <a:spcPts val="1300"/>
              </a:lnSpc>
              <a:buNone/>
            </a:pPr>
            <a:r>
              <a:rPr lang="en-US" sz="1000" dirty="0">
                <a:solidFill>
                  <a:srgbClr val="AC212E"/>
                </a:solidFill>
                <a:latin typeface="Calibri" pitchFamily="34" charset="0"/>
                <a:ea typeface="Calibri" pitchFamily="34" charset="-122"/>
                <a:cs typeface="Calibri" pitchFamily="34" charset="-120"/>
              </a:rPr>
              <a:t>Punto de partida si ninguna de las fuentes anteriores calza con el interés del grupo.</a:t>
            </a:r>
            <a:endParaRPr lang="en-US" sz="1000" dirty="0"/>
          </a:p>
        </p:txBody>
      </p:sp>
      <p:sp>
        <p:nvSpPr>
          <p:cNvPr id="28" name="Text 26"/>
          <p:cNvSpPr/>
          <p:nvPr/>
        </p:nvSpPr>
        <p:spPr>
          <a:xfrm>
            <a:off x="548640" y="6327648"/>
            <a:ext cx="11064240" cy="274320"/>
          </a:xfrm>
          <a:prstGeom prst="rect">
            <a:avLst/>
          </a:prstGeom>
          <a:noFill/>
          <a:ln/>
        </p:spPr>
        <p:txBody>
          <a:bodyPr wrap="square" lIns="0" tIns="0" rIns="0" bIns="0" rtlCol="0" anchor="ctr"/>
          <a:lstStyle/>
          <a:p>
            <a:pPr marL="0" indent="0">
              <a:buNone/>
            </a:pPr>
            <a:r>
              <a:rPr lang="en-US" sz="1000" dirty="0">
                <a:solidFill>
                  <a:srgbClr val="5A6B7B"/>
                </a:solidFill>
                <a:latin typeface="Calibri" pitchFamily="34" charset="0"/>
                <a:ea typeface="Calibri" pitchFamily="34" charset="-122"/>
                <a:cs typeface="Calibri" pitchFamily="34" charset="-120"/>
              </a:rPr>
              <a:t>Ninguna de estas fuentes viene lista para analizar: ese es exactamente el punto.</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Lo que van a encontrar al descargar</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Cuatro fricciones habituales en datos públicos chilenos, y cómo se resuelven.</a:t>
            </a:r>
            <a:endParaRPr lang="en-US" sz="1400" dirty="0"/>
          </a:p>
        </p:txBody>
      </p:sp>
      <p:graphicFrame>
        <p:nvGraphicFramePr>
          <p:cNvPr id="13" name="Table 0"/>
          <p:cNvGraphicFramePr>
            <a:graphicFrameLocks noGrp="1"/>
          </p:cNvGraphicFramePr>
          <p:nvPr/>
        </p:nvGraphicFramePr>
        <p:xfrm>
          <a:off x="548640" y="1737360"/>
          <a:ext cx="11064240" cy="2514600"/>
        </p:xfrm>
        <a:graphic>
          <a:graphicData uri="http://schemas.openxmlformats.org/drawingml/2006/table">
            <a:tbl>
              <a:tblPr/>
              <a:tblGrid>
                <a:gridCol w="38404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502920">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Síntoma</a:t>
                      </a:r>
                      <a:endParaRPr lang="en-US" sz="13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Causa</a:t>
                      </a:r>
                      <a:endParaRPr lang="en-US" sz="13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Solución</a:t>
                      </a:r>
                      <a:endParaRPr lang="en-US" sz="13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extLst>
                  <a:ext uri="{0D108BD9-81ED-4DB2-BD59-A6C34878D82A}">
                    <a16:rowId xmlns:a16="http://schemas.microsoft.com/office/drawing/2014/main" val="10000"/>
                  </a:ext>
                </a:extLst>
              </a:tr>
              <a:tr h="50292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Todo el archivo cae en una sola columna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El separador es « ; » y no coma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pd.read_csv(ruta, sep=";")</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Las tildes salen como Ã± o Ã©</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Codificación latin-1, no UTF-8</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pd.read_csv(ruta, encoding="latin-1")</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Los decimales se leen como texto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Coma decimal en vez de punto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decimal="," en read_csv</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El archivo supera los 100 MB</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Base nacional completa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Filtrar por región o año y versionar el subconjunto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2"/>
          <p:cNvSpPr/>
          <p:nvPr/>
        </p:nvSpPr>
        <p:spPr>
          <a:xfrm>
            <a:off x="548640" y="4480560"/>
            <a:ext cx="11064240" cy="1463040"/>
          </a:xfrm>
          <a:prstGeom prst="roundRect">
            <a:avLst>
              <a:gd name="adj" fmla="val 5625"/>
            </a:avLst>
          </a:prstGeom>
          <a:solidFill>
            <a:srgbClr val="0A1526"/>
          </a:solidFill>
          <a:ln w="12700">
            <a:solidFill>
              <a:srgbClr val="0A1526"/>
            </a:solidFill>
            <a:prstDash val="solid"/>
          </a:ln>
        </p:spPr>
        <p:txBody>
          <a:bodyPr/>
          <a:lstStyle/>
          <a:p>
            <a:endParaRPr lang="es-CL"/>
          </a:p>
        </p:txBody>
      </p:sp>
      <p:sp>
        <p:nvSpPr>
          <p:cNvPr id="6" name="Text 3"/>
          <p:cNvSpPr/>
          <p:nvPr/>
        </p:nvSpPr>
        <p:spPr>
          <a:xfrm>
            <a:off x="868680" y="4626864"/>
            <a:ext cx="457200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Documenten el subconjunto</a:t>
            </a:r>
            <a:endParaRPr lang="en-US" sz="1400" dirty="0"/>
          </a:p>
        </p:txBody>
      </p:sp>
      <p:sp>
        <p:nvSpPr>
          <p:cNvPr id="7" name="Text 4"/>
          <p:cNvSpPr/>
          <p:nvPr/>
        </p:nvSpPr>
        <p:spPr>
          <a:xfrm>
            <a:off x="868680" y="4983480"/>
            <a:ext cx="10424160" cy="822960"/>
          </a:xfrm>
          <a:prstGeom prst="rect">
            <a:avLst/>
          </a:prstGeom>
          <a:noFill/>
          <a:ln/>
        </p:spPr>
        <p:txBody>
          <a:bodyPr wrap="square" lIns="0" tIns="0" rIns="0" bIns="0" rtlCol="0" anchor="ctr"/>
          <a:lstStyle/>
          <a:p>
            <a:pPr marL="0" indent="0">
              <a:lnSpc>
                <a:spcPts val="1800"/>
              </a:lnSpc>
              <a:buNone/>
            </a:pPr>
            <a:r>
              <a:rPr lang="en-US" sz="1300" dirty="0">
                <a:solidFill>
                  <a:srgbClr val="D7E3EE"/>
                </a:solidFill>
                <a:latin typeface="Calibri" pitchFamily="34" charset="0"/>
                <a:ea typeface="Calibri" pitchFamily="34" charset="-122"/>
                <a:cs typeface="Calibri" pitchFamily="34" charset="-120"/>
              </a:rPr>
              <a:t>Si filtran la base original para que quepa en el repositorio, ese filtro es una decisión técnica y debe quedar registrada: qué criterio usaron, cuántas filas quedaron y por qué ese recorte no sesga la pregunta. Es evidencia del criterio de preprocesamiento, no un detalle administrativo.</a:t>
            </a:r>
            <a:endParaRPr lang="en-US" sz="13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Fuentes internacionales y cómo evaluarlas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Sirven, pero exigen más cuidado con la licencia y la vigencia.</a:t>
            </a:r>
            <a:endParaRPr lang="en-US" sz="1400" dirty="0"/>
          </a:p>
        </p:txBody>
      </p:sp>
      <p:sp>
        <p:nvSpPr>
          <p:cNvPr id="4" name="Shape 2"/>
          <p:cNvSpPr/>
          <p:nvPr/>
        </p:nvSpPr>
        <p:spPr>
          <a:xfrm>
            <a:off x="548640" y="1783080"/>
            <a:ext cx="5394960" cy="2103120"/>
          </a:xfrm>
          <a:prstGeom prst="roundRect">
            <a:avLst>
              <a:gd name="adj" fmla="val 3913"/>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68680" y="1938528"/>
            <a:ext cx="475488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Repositorios</a:t>
            </a:r>
            <a:endParaRPr lang="en-US" sz="1400" dirty="0"/>
          </a:p>
        </p:txBody>
      </p:sp>
      <p:sp>
        <p:nvSpPr>
          <p:cNvPr id="6" name="Text 4"/>
          <p:cNvSpPr/>
          <p:nvPr/>
        </p:nvSpPr>
        <p:spPr>
          <a:xfrm>
            <a:off x="868680" y="2304288"/>
            <a:ext cx="4754880" cy="1463040"/>
          </a:xfrm>
          <a:prstGeom prst="rect">
            <a:avLst/>
          </a:prstGeom>
          <a:noFill/>
          <a:ln/>
        </p:spPr>
        <p:txBody>
          <a:bodyPr wrap="square" lIns="0" tIns="0" rIns="0" bIns="0" rtlCol="0" anchor="ctr"/>
          <a:lstStyle/>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Kaggle Datasets</a:t>
            </a:r>
            <a:endParaRPr lang="en-US" sz="1250" dirty="0"/>
          </a:p>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UCI Machine Learning Repository</a:t>
            </a:r>
            <a:endParaRPr lang="en-US" sz="1250" dirty="0"/>
          </a:p>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Zenodo</a:t>
            </a:r>
            <a:endParaRPr lang="en-US" sz="1250" dirty="0"/>
          </a:p>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Data.gov · Eurostat</a:t>
            </a:r>
            <a:endParaRPr lang="en-US" sz="1250" dirty="0"/>
          </a:p>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Banco Mundial · Our World in Data</a:t>
            </a:r>
            <a:endParaRPr lang="en-US" sz="1250" dirty="0"/>
          </a:p>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Portales de datos abiertos de Argentina, México, Colombia, Brasil y Perú</a:t>
            </a:r>
            <a:endParaRPr lang="en-US" sz="1250" dirty="0"/>
          </a:p>
        </p:txBody>
      </p:sp>
      <p:sp>
        <p:nvSpPr>
          <p:cNvPr id="7" name="Shape 5"/>
          <p:cNvSpPr/>
          <p:nvPr/>
        </p:nvSpPr>
        <p:spPr>
          <a:xfrm>
            <a:off x="6217920" y="1783080"/>
            <a:ext cx="5394960" cy="2103120"/>
          </a:xfrm>
          <a:prstGeom prst="roundRect">
            <a:avLst>
              <a:gd name="adj" fmla="val 3913"/>
            </a:avLst>
          </a:prstGeom>
          <a:solidFill>
            <a:srgbClr val="0A1526"/>
          </a:solidFill>
          <a:ln w="12700">
            <a:solidFill>
              <a:srgbClr val="0A1526"/>
            </a:solidFill>
            <a:prstDash val="solid"/>
          </a:ln>
        </p:spPr>
        <p:txBody>
          <a:bodyPr/>
          <a:lstStyle/>
          <a:p>
            <a:endParaRPr lang="es-CL"/>
          </a:p>
        </p:txBody>
      </p:sp>
      <p:sp>
        <p:nvSpPr>
          <p:cNvPr id="8" name="Text 6"/>
          <p:cNvSpPr/>
          <p:nvPr/>
        </p:nvSpPr>
        <p:spPr>
          <a:xfrm>
            <a:off x="6537960" y="1938528"/>
            <a:ext cx="475488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Cuatro preguntas antes de descargar</a:t>
            </a:r>
            <a:endParaRPr lang="en-US" sz="1400" dirty="0"/>
          </a:p>
        </p:txBody>
      </p:sp>
      <p:sp>
        <p:nvSpPr>
          <p:cNvPr id="9" name="Shape 7"/>
          <p:cNvSpPr/>
          <p:nvPr/>
        </p:nvSpPr>
        <p:spPr>
          <a:xfrm>
            <a:off x="6537960" y="2414016"/>
            <a:ext cx="182880" cy="182880"/>
          </a:xfrm>
          <a:prstGeom prst="ellipse">
            <a:avLst/>
          </a:prstGeom>
          <a:solidFill>
            <a:srgbClr val="AC212E"/>
          </a:solidFill>
          <a:ln/>
        </p:spPr>
        <p:txBody>
          <a:bodyPr/>
          <a:lstStyle/>
          <a:p>
            <a:endParaRPr lang="es-CL"/>
          </a:p>
        </p:txBody>
      </p:sp>
      <p:sp>
        <p:nvSpPr>
          <p:cNvPr id="10" name="Text 8"/>
          <p:cNvSpPr/>
          <p:nvPr/>
        </p:nvSpPr>
        <p:spPr>
          <a:xfrm>
            <a:off x="6858000" y="2331720"/>
            <a:ext cx="4480560" cy="347472"/>
          </a:xfrm>
          <a:prstGeom prst="rect">
            <a:avLst/>
          </a:prstGeom>
          <a:noFill/>
          <a:ln/>
        </p:spPr>
        <p:txBody>
          <a:bodyPr wrap="square" lIns="0" tIns="0" rIns="0" bIns="0" rtlCol="0" anchor="ctr"/>
          <a:lstStyle/>
          <a:p>
            <a:pPr marL="0" indent="0">
              <a:buNone/>
            </a:pPr>
            <a:r>
              <a:rPr lang="en-US" sz="1250" dirty="0">
                <a:solidFill>
                  <a:srgbClr val="D7E3EE"/>
                </a:solidFill>
                <a:latin typeface="Calibri" pitchFamily="34" charset="0"/>
                <a:ea typeface="Calibri" pitchFamily="34" charset="-122"/>
                <a:cs typeface="Calibri" pitchFamily="34" charset="-120"/>
              </a:rPr>
              <a:t>¿Quién publicó estos datos y cuándo?</a:t>
            </a:r>
            <a:endParaRPr lang="en-US" sz="1250" dirty="0"/>
          </a:p>
        </p:txBody>
      </p:sp>
      <p:sp>
        <p:nvSpPr>
          <p:cNvPr id="11" name="Shape 9"/>
          <p:cNvSpPr/>
          <p:nvPr/>
        </p:nvSpPr>
        <p:spPr>
          <a:xfrm>
            <a:off x="6537960" y="2798064"/>
            <a:ext cx="182880" cy="182880"/>
          </a:xfrm>
          <a:prstGeom prst="ellipse">
            <a:avLst/>
          </a:prstGeom>
          <a:solidFill>
            <a:srgbClr val="AC212E"/>
          </a:solidFill>
          <a:ln/>
        </p:spPr>
        <p:txBody>
          <a:bodyPr/>
          <a:lstStyle/>
          <a:p>
            <a:endParaRPr lang="es-CL"/>
          </a:p>
        </p:txBody>
      </p:sp>
      <p:sp>
        <p:nvSpPr>
          <p:cNvPr id="12" name="Text 10"/>
          <p:cNvSpPr/>
          <p:nvPr/>
        </p:nvSpPr>
        <p:spPr>
          <a:xfrm>
            <a:off x="6858000" y="2715768"/>
            <a:ext cx="4480560" cy="347472"/>
          </a:xfrm>
          <a:prstGeom prst="rect">
            <a:avLst/>
          </a:prstGeom>
          <a:noFill/>
          <a:ln/>
        </p:spPr>
        <p:txBody>
          <a:bodyPr wrap="square" lIns="0" tIns="0" rIns="0" bIns="0" rtlCol="0" anchor="ctr"/>
          <a:lstStyle/>
          <a:p>
            <a:pPr marL="0" indent="0">
              <a:buNone/>
            </a:pPr>
            <a:r>
              <a:rPr lang="en-US" sz="1250" dirty="0">
                <a:solidFill>
                  <a:srgbClr val="D7E3EE"/>
                </a:solidFill>
                <a:latin typeface="Calibri" pitchFamily="34" charset="0"/>
                <a:ea typeface="Calibri" pitchFamily="34" charset="-122"/>
                <a:cs typeface="Calibri" pitchFamily="34" charset="-120"/>
              </a:rPr>
              <a:t>¿Qué licencia tienen y qué permite?</a:t>
            </a:r>
            <a:endParaRPr lang="en-US" sz="1250" dirty="0"/>
          </a:p>
        </p:txBody>
      </p:sp>
      <p:sp>
        <p:nvSpPr>
          <p:cNvPr id="13" name="Shape 11"/>
          <p:cNvSpPr/>
          <p:nvPr/>
        </p:nvSpPr>
        <p:spPr>
          <a:xfrm>
            <a:off x="6537960" y="3182112"/>
            <a:ext cx="182880" cy="182880"/>
          </a:xfrm>
          <a:prstGeom prst="ellipse">
            <a:avLst/>
          </a:prstGeom>
          <a:solidFill>
            <a:srgbClr val="AC212E"/>
          </a:solidFill>
          <a:ln/>
        </p:spPr>
        <p:txBody>
          <a:bodyPr/>
          <a:lstStyle/>
          <a:p>
            <a:endParaRPr lang="es-CL"/>
          </a:p>
        </p:txBody>
      </p:sp>
      <p:sp>
        <p:nvSpPr>
          <p:cNvPr id="14" name="Text 12"/>
          <p:cNvSpPr/>
          <p:nvPr/>
        </p:nvSpPr>
        <p:spPr>
          <a:xfrm>
            <a:off x="6858000" y="3099816"/>
            <a:ext cx="4480560" cy="347472"/>
          </a:xfrm>
          <a:prstGeom prst="rect">
            <a:avLst/>
          </a:prstGeom>
          <a:noFill/>
          <a:ln/>
        </p:spPr>
        <p:txBody>
          <a:bodyPr wrap="square" lIns="0" tIns="0" rIns="0" bIns="0" rtlCol="0" anchor="ctr"/>
          <a:lstStyle/>
          <a:p>
            <a:pPr marL="0" indent="0">
              <a:buNone/>
            </a:pPr>
            <a:r>
              <a:rPr lang="en-US" sz="1250" dirty="0">
                <a:solidFill>
                  <a:srgbClr val="D7E3EE"/>
                </a:solidFill>
                <a:latin typeface="Calibri" pitchFamily="34" charset="0"/>
                <a:ea typeface="Calibri" pitchFamily="34" charset="-122"/>
                <a:cs typeface="Calibri" pitchFamily="34" charset="-120"/>
              </a:rPr>
              <a:t>¿Hay un diccionario de variables?</a:t>
            </a:r>
            <a:endParaRPr lang="en-US" sz="1250" dirty="0"/>
          </a:p>
        </p:txBody>
      </p:sp>
      <p:sp>
        <p:nvSpPr>
          <p:cNvPr id="15" name="Shape 13"/>
          <p:cNvSpPr/>
          <p:nvPr/>
        </p:nvSpPr>
        <p:spPr>
          <a:xfrm>
            <a:off x="6537960" y="3566160"/>
            <a:ext cx="182880" cy="182880"/>
          </a:xfrm>
          <a:prstGeom prst="ellipse">
            <a:avLst/>
          </a:prstGeom>
          <a:solidFill>
            <a:srgbClr val="AC212E"/>
          </a:solidFill>
          <a:ln/>
        </p:spPr>
        <p:txBody>
          <a:bodyPr/>
          <a:lstStyle/>
          <a:p>
            <a:endParaRPr lang="es-CL"/>
          </a:p>
        </p:txBody>
      </p:sp>
      <p:sp>
        <p:nvSpPr>
          <p:cNvPr id="16" name="Text 14"/>
          <p:cNvSpPr/>
          <p:nvPr/>
        </p:nvSpPr>
        <p:spPr>
          <a:xfrm>
            <a:off x="6858000" y="3483864"/>
            <a:ext cx="4480560" cy="347472"/>
          </a:xfrm>
          <a:prstGeom prst="rect">
            <a:avLst/>
          </a:prstGeom>
          <a:noFill/>
          <a:ln/>
        </p:spPr>
        <p:txBody>
          <a:bodyPr wrap="square" lIns="0" tIns="0" rIns="0" bIns="0" rtlCol="0" anchor="ctr"/>
          <a:lstStyle/>
          <a:p>
            <a:pPr marL="0" indent="0">
              <a:buNone/>
            </a:pPr>
            <a:r>
              <a:rPr lang="en-US" sz="1250" dirty="0">
                <a:solidFill>
                  <a:srgbClr val="D7E3EE"/>
                </a:solidFill>
                <a:latin typeface="Calibri" pitchFamily="34" charset="0"/>
                <a:ea typeface="Calibri" pitchFamily="34" charset="-122"/>
                <a:cs typeface="Calibri" pitchFamily="34" charset="-120"/>
              </a:rPr>
              <a:t>¿Los datos son originales o ya vienen procesados?</a:t>
            </a:r>
            <a:endParaRPr lang="en-US" sz="1250" dirty="0"/>
          </a:p>
        </p:txBody>
      </p:sp>
      <p:sp>
        <p:nvSpPr>
          <p:cNvPr id="17" name="Shape 15"/>
          <p:cNvSpPr/>
          <p:nvPr/>
        </p:nvSpPr>
        <p:spPr>
          <a:xfrm>
            <a:off x="548640" y="4206240"/>
            <a:ext cx="11064240" cy="1737360"/>
          </a:xfrm>
          <a:prstGeom prst="roundRect">
            <a:avLst>
              <a:gd name="adj" fmla="val 4737"/>
            </a:avLst>
          </a:prstGeom>
          <a:solidFill>
            <a:srgbClr val="F6E7E9"/>
          </a:solidFill>
          <a:ln w="12700">
            <a:solidFill>
              <a:srgbClr val="F6E7E9"/>
            </a:solidFill>
            <a:prstDash val="solid"/>
          </a:ln>
        </p:spPr>
        <p:txBody>
          <a:bodyPr/>
          <a:lstStyle/>
          <a:p>
            <a:endParaRPr lang="es-CL"/>
          </a:p>
        </p:txBody>
      </p:sp>
      <p:sp>
        <p:nvSpPr>
          <p:cNvPr id="18" name="Text 16"/>
          <p:cNvSpPr/>
          <p:nvPr/>
        </p:nvSpPr>
        <p:spPr>
          <a:xfrm>
            <a:off x="868680" y="4370832"/>
            <a:ext cx="4572000" cy="347472"/>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La trampa de Kaggle</a:t>
            </a:r>
            <a:endParaRPr lang="en-US" sz="1500" dirty="0"/>
          </a:p>
        </p:txBody>
      </p:sp>
      <p:sp>
        <p:nvSpPr>
          <p:cNvPr id="19" name="Text 17"/>
          <p:cNvSpPr/>
          <p:nvPr/>
        </p:nvSpPr>
        <p:spPr>
          <a:xfrm>
            <a:off x="868680" y="4754880"/>
            <a:ext cx="10424160" cy="1051560"/>
          </a:xfrm>
          <a:prstGeom prst="rect">
            <a:avLst/>
          </a:prstGeom>
          <a:noFill/>
          <a:ln/>
        </p:spPr>
        <p:txBody>
          <a:bodyPr wrap="square" lIns="0" tIns="0" rIns="0" bIns="0" rtlCol="0" anchor="ctr"/>
          <a:lstStyle/>
          <a:p>
            <a:pPr marL="0" indent="0">
              <a:lnSpc>
                <a:spcPts val="1900"/>
              </a:lnSpc>
              <a:buNone/>
            </a:pPr>
            <a:r>
              <a:rPr lang="en-US" sz="1350" dirty="0">
                <a:solidFill>
                  <a:srgbClr val="06304A"/>
                </a:solidFill>
                <a:latin typeface="Calibri" pitchFamily="34" charset="0"/>
                <a:ea typeface="Calibri" pitchFamily="34" charset="-122"/>
                <a:cs typeface="Calibri" pitchFamily="34" charset="-120"/>
              </a:rPr>
              <a:t>Muchos datasets populares de Kaggle ya vienen limpios, porque alguien los preparó para una competencia. Eso los hace cómodos y, para este curso, inservibles: no queda preprocesamiento que hacer ni decisiones que justificar. Si eligen Kaggle, prefieran conjuntos publicados como datos crudos y verifiquen la proporción de faltantes antes de comprometerse.</a:t>
            </a:r>
            <a:endParaRPr lang="en-US" sz="13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Cuatro conjuntos internacionales verificados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Alternativa si ninguna fuente chilena calza con el interés del grupo.</a:t>
            </a:r>
            <a:endParaRPr lang="en-US" sz="1400" dirty="0"/>
          </a:p>
        </p:txBody>
      </p:sp>
      <p:sp>
        <p:nvSpPr>
          <p:cNvPr id="4" name="Shape 2"/>
          <p:cNvSpPr/>
          <p:nvPr/>
        </p:nvSpPr>
        <p:spPr>
          <a:xfrm>
            <a:off x="548640" y="1691640"/>
            <a:ext cx="5303520" cy="2057400"/>
          </a:xfrm>
          <a:prstGeom prst="roundRect">
            <a:avLst>
              <a:gd name="adj" fmla="val 4000"/>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04672" y="1783080"/>
            <a:ext cx="4800600" cy="301752"/>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UCI — Diabetes 130-US Hospitals</a:t>
            </a:r>
            <a:endParaRPr lang="en-US" sz="1350" dirty="0"/>
          </a:p>
        </p:txBody>
      </p:sp>
      <p:sp>
        <p:nvSpPr>
          <p:cNvPr id="6" name="Text 4"/>
          <p:cNvSpPr/>
          <p:nvPr/>
        </p:nvSpPr>
        <p:spPr>
          <a:xfrm>
            <a:off x="804672" y="2075688"/>
            <a:ext cx="4800600" cy="256032"/>
          </a:xfrm>
          <a:prstGeom prst="rect">
            <a:avLst/>
          </a:prstGeom>
          <a:noFill/>
          <a:ln/>
        </p:spPr>
        <p:txBody>
          <a:bodyPr wrap="square" lIns="0" tIns="0" rIns="0" bIns="0" rtlCol="0" anchor="ctr"/>
          <a:lstStyle/>
          <a:p>
            <a:pPr marL="0" indent="0">
              <a:buNone/>
            </a:pPr>
            <a:r>
              <a:rPr lang="en-US" sz="950" dirty="0">
                <a:solidFill>
                  <a:srgbClr val="AC212E"/>
                </a:solidFill>
                <a:latin typeface="Courier New" pitchFamily="34" charset="0"/>
                <a:ea typeface="Courier New" pitchFamily="34" charset="-122"/>
                <a:cs typeface="Courier New" pitchFamily="34" charset="-120"/>
              </a:rPr>
              <a:t>archive.ics.uci.edu/dataset/296</a:t>
            </a:r>
            <a:endParaRPr lang="en-US" sz="950" dirty="0"/>
          </a:p>
        </p:txBody>
      </p:sp>
      <p:sp>
        <p:nvSpPr>
          <p:cNvPr id="7" name="Text 5"/>
          <p:cNvSpPr/>
          <p:nvPr/>
        </p:nvSpPr>
        <p:spPr>
          <a:xfrm>
            <a:off x="804672" y="2350008"/>
            <a:ext cx="4800600" cy="256032"/>
          </a:xfrm>
          <a:prstGeom prst="rect">
            <a:avLst/>
          </a:prstGeom>
          <a:noFill/>
          <a:ln/>
        </p:spPr>
        <p:txBody>
          <a:bodyPr wrap="square" lIns="0" tIns="0" rIns="0" bIns="0" rtlCol="0" anchor="ctr"/>
          <a:lstStyle/>
          <a:p>
            <a:pPr marL="0" indent="0">
              <a:buNone/>
            </a:pPr>
            <a:r>
              <a:rPr lang="en-US" sz="1100" i="1" dirty="0">
                <a:solidFill>
                  <a:srgbClr val="5A6B7B"/>
                </a:solidFill>
                <a:latin typeface="Calibri" pitchFamily="34" charset="0"/>
                <a:ea typeface="Calibri" pitchFamily="34" charset="-122"/>
                <a:cs typeface="Calibri" pitchFamily="34" charset="-120"/>
              </a:rPr>
              <a:t>101.766 encuentros hospitalarios · 50 atributos</a:t>
            </a:r>
            <a:endParaRPr lang="en-US" sz="1100" dirty="0"/>
          </a:p>
        </p:txBody>
      </p:sp>
      <p:sp>
        <p:nvSpPr>
          <p:cNvPr id="8" name="Text 6"/>
          <p:cNvSpPr/>
          <p:nvPr/>
        </p:nvSpPr>
        <p:spPr>
          <a:xfrm>
            <a:off x="804672" y="2606040"/>
            <a:ext cx="4800600" cy="658368"/>
          </a:xfrm>
          <a:prstGeom prst="rect">
            <a:avLst/>
          </a:prstGeom>
          <a:noFill/>
          <a:ln/>
        </p:spPr>
        <p:txBody>
          <a:bodyPr wrap="square" lIns="0" tIns="0" rIns="0" bIns="0" rtlCol="0" anchor="ctr"/>
          <a:lstStyle/>
          <a:p>
            <a:pPr marL="0" indent="0">
              <a:lnSpc>
                <a:spcPts val="1350"/>
              </a:lnSpc>
              <a:buNone/>
            </a:pPr>
            <a:r>
              <a:rPr lang="en-US" sz="1050" dirty="0">
                <a:solidFill>
                  <a:srgbClr val="06304A"/>
                </a:solidFill>
                <a:latin typeface="Calibri" pitchFamily="34" charset="0"/>
                <a:ea typeface="Calibri" pitchFamily="34" charset="-122"/>
                <a:cs typeface="Calibri" pitchFamily="34" charset="-120"/>
              </a:rPr>
              <a:t>10 numéricas · 7 binarias · 33 categóricas · tramos de edad (ordinal) · diagnósticos CIE-9 (alta cardinalidad) · dos identificadores</a:t>
            </a:r>
            <a:endParaRPr lang="en-US" sz="1050" dirty="0"/>
          </a:p>
        </p:txBody>
      </p:sp>
      <p:sp>
        <p:nvSpPr>
          <p:cNvPr id="9" name="Text 7"/>
          <p:cNvSpPr/>
          <p:nvPr/>
        </p:nvSpPr>
        <p:spPr>
          <a:xfrm>
            <a:off x="804672" y="3282696"/>
            <a:ext cx="4800600" cy="402336"/>
          </a:xfrm>
          <a:prstGeom prst="rect">
            <a:avLst/>
          </a:prstGeom>
          <a:noFill/>
          <a:ln/>
        </p:spPr>
        <p:txBody>
          <a:bodyPr wrap="square" lIns="0" tIns="0" rIns="0" bIns="0" rtlCol="0" anchor="ctr"/>
          <a:lstStyle/>
          <a:p>
            <a:pPr marL="0" indent="0">
              <a:lnSpc>
                <a:spcPts val="1300"/>
              </a:lnSpc>
              <a:buNone/>
            </a:pPr>
            <a:r>
              <a:rPr lang="en-US" sz="1000" dirty="0">
                <a:solidFill>
                  <a:srgbClr val="AC212E"/>
                </a:solidFill>
                <a:latin typeface="Calibri" pitchFamily="34" charset="0"/>
                <a:ea typeface="Calibri" pitchFamily="34" charset="-122"/>
                <a:cs typeface="Calibri" pitchFamily="34" charset="-120"/>
              </a:rPr>
              <a:t>Peso, código de pagador y especialidad médica superan el 40% de faltantes: caso ideal para decidir entre descartar e imputar.</a:t>
            </a:r>
            <a:endParaRPr lang="en-US" sz="1000" dirty="0"/>
          </a:p>
        </p:txBody>
      </p:sp>
      <p:sp>
        <p:nvSpPr>
          <p:cNvPr id="10" name="Shape 8"/>
          <p:cNvSpPr/>
          <p:nvPr/>
        </p:nvSpPr>
        <p:spPr>
          <a:xfrm>
            <a:off x="6309360" y="1691640"/>
            <a:ext cx="5303520" cy="2057400"/>
          </a:xfrm>
          <a:prstGeom prst="roundRect">
            <a:avLst>
              <a:gd name="adj" fmla="val 4000"/>
            </a:avLst>
          </a:prstGeom>
          <a:solidFill>
            <a:srgbClr val="F4F7FA"/>
          </a:solidFill>
          <a:ln w="12700">
            <a:solidFill>
              <a:srgbClr val="F4F7FA"/>
            </a:solidFill>
            <a:prstDash val="solid"/>
          </a:ln>
        </p:spPr>
        <p:txBody>
          <a:bodyPr/>
          <a:lstStyle/>
          <a:p>
            <a:endParaRPr lang="es-CL"/>
          </a:p>
        </p:txBody>
      </p:sp>
      <p:sp>
        <p:nvSpPr>
          <p:cNvPr id="11" name="Text 9"/>
          <p:cNvSpPr/>
          <p:nvPr/>
        </p:nvSpPr>
        <p:spPr>
          <a:xfrm>
            <a:off x="6565392" y="1783080"/>
            <a:ext cx="4800600" cy="301752"/>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UCI — Online Retail</a:t>
            </a:r>
            <a:endParaRPr lang="en-US" sz="1350" dirty="0"/>
          </a:p>
        </p:txBody>
      </p:sp>
      <p:sp>
        <p:nvSpPr>
          <p:cNvPr id="12" name="Text 10"/>
          <p:cNvSpPr/>
          <p:nvPr/>
        </p:nvSpPr>
        <p:spPr>
          <a:xfrm>
            <a:off x="6565392" y="2075688"/>
            <a:ext cx="4800600" cy="256032"/>
          </a:xfrm>
          <a:prstGeom prst="rect">
            <a:avLst/>
          </a:prstGeom>
          <a:noFill/>
          <a:ln/>
        </p:spPr>
        <p:txBody>
          <a:bodyPr wrap="square" lIns="0" tIns="0" rIns="0" bIns="0" rtlCol="0" anchor="ctr"/>
          <a:lstStyle/>
          <a:p>
            <a:pPr marL="0" indent="0">
              <a:buNone/>
            </a:pPr>
            <a:r>
              <a:rPr lang="en-US" sz="950" dirty="0">
                <a:solidFill>
                  <a:srgbClr val="AC212E"/>
                </a:solidFill>
                <a:latin typeface="Courier New" pitchFamily="34" charset="0"/>
                <a:ea typeface="Courier New" pitchFamily="34" charset="-122"/>
                <a:cs typeface="Courier New" pitchFamily="34" charset="-120"/>
              </a:rPr>
              <a:t>archive.ics.uci.edu/dataset/352</a:t>
            </a:r>
            <a:endParaRPr lang="en-US" sz="950" dirty="0"/>
          </a:p>
        </p:txBody>
      </p:sp>
      <p:sp>
        <p:nvSpPr>
          <p:cNvPr id="13" name="Text 11"/>
          <p:cNvSpPr/>
          <p:nvPr/>
        </p:nvSpPr>
        <p:spPr>
          <a:xfrm>
            <a:off x="6565392" y="2350008"/>
            <a:ext cx="4800600" cy="256032"/>
          </a:xfrm>
          <a:prstGeom prst="rect">
            <a:avLst/>
          </a:prstGeom>
          <a:noFill/>
          <a:ln/>
        </p:spPr>
        <p:txBody>
          <a:bodyPr wrap="square" lIns="0" tIns="0" rIns="0" bIns="0" rtlCol="0" anchor="ctr"/>
          <a:lstStyle/>
          <a:p>
            <a:pPr marL="0" indent="0">
              <a:buNone/>
            </a:pPr>
            <a:r>
              <a:rPr lang="en-US" sz="1100" i="1" dirty="0">
                <a:solidFill>
                  <a:srgbClr val="5A6B7B"/>
                </a:solidFill>
                <a:latin typeface="Calibri" pitchFamily="34" charset="0"/>
                <a:ea typeface="Calibri" pitchFamily="34" charset="-122"/>
                <a:cs typeface="Calibri" pitchFamily="34" charset="-120"/>
              </a:rPr>
              <a:t>Transacciones de un minorista en línea, 2010–2011</a:t>
            </a:r>
            <a:endParaRPr lang="en-US" sz="1100" dirty="0"/>
          </a:p>
        </p:txBody>
      </p:sp>
      <p:sp>
        <p:nvSpPr>
          <p:cNvPr id="14" name="Text 12"/>
          <p:cNvSpPr/>
          <p:nvPr/>
        </p:nvSpPr>
        <p:spPr>
          <a:xfrm>
            <a:off x="6565392" y="2606040"/>
            <a:ext cx="4800600" cy="658368"/>
          </a:xfrm>
          <a:prstGeom prst="rect">
            <a:avLst/>
          </a:prstGeom>
          <a:noFill/>
          <a:ln/>
        </p:spPr>
        <p:txBody>
          <a:bodyPr wrap="square" lIns="0" tIns="0" rIns="0" bIns="0" rtlCol="0" anchor="ctr"/>
          <a:lstStyle/>
          <a:p>
            <a:pPr marL="0" indent="0">
              <a:lnSpc>
                <a:spcPts val="1350"/>
              </a:lnSpc>
              <a:buNone/>
            </a:pPr>
            <a:r>
              <a:rPr lang="en-US" sz="1050" dirty="0">
                <a:solidFill>
                  <a:srgbClr val="06304A"/>
                </a:solidFill>
                <a:latin typeface="Calibri" pitchFamily="34" charset="0"/>
                <a:ea typeface="Calibri" pitchFamily="34" charset="-122"/>
                <a:cs typeface="Calibri" pitchFamily="34" charset="-120"/>
              </a:rPr>
              <a:t>Precio unitario (continua) · cantidad (discreta) · fecha y hora de la factura · país (nominal) · descripción del producto (texto) · código de cliente</a:t>
            </a:r>
            <a:endParaRPr lang="en-US" sz="1050" dirty="0"/>
          </a:p>
        </p:txBody>
      </p:sp>
      <p:sp>
        <p:nvSpPr>
          <p:cNvPr id="15" name="Text 13"/>
          <p:cNvSpPr/>
          <p:nvPr/>
        </p:nvSpPr>
        <p:spPr>
          <a:xfrm>
            <a:off x="6565392" y="3282696"/>
            <a:ext cx="4800600" cy="402336"/>
          </a:xfrm>
          <a:prstGeom prst="rect">
            <a:avLst/>
          </a:prstGeom>
          <a:noFill/>
          <a:ln/>
        </p:spPr>
        <p:txBody>
          <a:bodyPr wrap="square" lIns="0" tIns="0" rIns="0" bIns="0" rtlCol="0" anchor="ctr"/>
          <a:lstStyle/>
          <a:p>
            <a:pPr marL="0" indent="0">
              <a:lnSpc>
                <a:spcPts val="1300"/>
              </a:lnSpc>
              <a:buNone/>
            </a:pPr>
            <a:r>
              <a:rPr lang="en-US" sz="1000" dirty="0">
                <a:solidFill>
                  <a:srgbClr val="AC212E"/>
                </a:solidFill>
                <a:latin typeface="Calibri" pitchFamily="34" charset="0"/>
                <a:ea typeface="Calibri" pitchFamily="34" charset="-122"/>
                <a:cs typeface="Calibri" pitchFamily="34" charset="-120"/>
              </a:rPr>
              <a:t>El identificador de cliente viene vacío en muchas filas y hay cantidades negativas por devoluciones. Licencia CC BY 4.0.</a:t>
            </a:r>
            <a:endParaRPr lang="en-US" sz="1000" dirty="0"/>
          </a:p>
        </p:txBody>
      </p:sp>
      <p:sp>
        <p:nvSpPr>
          <p:cNvPr id="16" name="Shape 14"/>
          <p:cNvSpPr/>
          <p:nvPr/>
        </p:nvSpPr>
        <p:spPr>
          <a:xfrm>
            <a:off x="548640" y="3931920"/>
            <a:ext cx="5303520" cy="2057400"/>
          </a:xfrm>
          <a:prstGeom prst="roundRect">
            <a:avLst>
              <a:gd name="adj" fmla="val 4000"/>
            </a:avLst>
          </a:prstGeom>
          <a:solidFill>
            <a:srgbClr val="F4F7FA"/>
          </a:solidFill>
          <a:ln w="12700">
            <a:solidFill>
              <a:srgbClr val="F4F7FA"/>
            </a:solidFill>
            <a:prstDash val="solid"/>
          </a:ln>
        </p:spPr>
        <p:txBody>
          <a:bodyPr/>
          <a:lstStyle/>
          <a:p>
            <a:endParaRPr lang="es-CL"/>
          </a:p>
        </p:txBody>
      </p:sp>
      <p:sp>
        <p:nvSpPr>
          <p:cNvPr id="17" name="Text 15"/>
          <p:cNvSpPr/>
          <p:nvPr/>
        </p:nvSpPr>
        <p:spPr>
          <a:xfrm>
            <a:off x="804672" y="4023360"/>
            <a:ext cx="4800600" cy="301752"/>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UCI — Bank Marketing</a:t>
            </a:r>
            <a:endParaRPr lang="en-US" sz="1350" dirty="0"/>
          </a:p>
        </p:txBody>
      </p:sp>
      <p:sp>
        <p:nvSpPr>
          <p:cNvPr id="18" name="Text 16"/>
          <p:cNvSpPr/>
          <p:nvPr/>
        </p:nvSpPr>
        <p:spPr>
          <a:xfrm>
            <a:off x="804672" y="4315968"/>
            <a:ext cx="4800600" cy="256032"/>
          </a:xfrm>
          <a:prstGeom prst="rect">
            <a:avLst/>
          </a:prstGeom>
          <a:noFill/>
          <a:ln/>
        </p:spPr>
        <p:txBody>
          <a:bodyPr wrap="square" lIns="0" tIns="0" rIns="0" bIns="0" rtlCol="0" anchor="ctr"/>
          <a:lstStyle/>
          <a:p>
            <a:pPr marL="0" indent="0">
              <a:buNone/>
            </a:pPr>
            <a:r>
              <a:rPr lang="en-US" sz="950" dirty="0">
                <a:solidFill>
                  <a:srgbClr val="AC212E"/>
                </a:solidFill>
                <a:latin typeface="Courier New" pitchFamily="34" charset="0"/>
                <a:ea typeface="Courier New" pitchFamily="34" charset="-122"/>
                <a:cs typeface="Courier New" pitchFamily="34" charset="-120"/>
              </a:rPr>
              <a:t>archive.ics.uci.edu/dataset/222</a:t>
            </a:r>
            <a:endParaRPr lang="en-US" sz="950" dirty="0"/>
          </a:p>
        </p:txBody>
      </p:sp>
      <p:sp>
        <p:nvSpPr>
          <p:cNvPr id="19" name="Text 17"/>
          <p:cNvSpPr/>
          <p:nvPr/>
        </p:nvSpPr>
        <p:spPr>
          <a:xfrm>
            <a:off x="804672" y="4590288"/>
            <a:ext cx="4800600" cy="256032"/>
          </a:xfrm>
          <a:prstGeom prst="rect">
            <a:avLst/>
          </a:prstGeom>
          <a:noFill/>
          <a:ln/>
        </p:spPr>
        <p:txBody>
          <a:bodyPr wrap="square" lIns="0" tIns="0" rIns="0" bIns="0" rtlCol="0" anchor="ctr"/>
          <a:lstStyle/>
          <a:p>
            <a:pPr marL="0" indent="0">
              <a:buNone/>
            </a:pPr>
            <a:r>
              <a:rPr lang="en-US" sz="1100" i="1" dirty="0">
                <a:solidFill>
                  <a:srgbClr val="5A6B7B"/>
                </a:solidFill>
                <a:latin typeface="Calibri" pitchFamily="34" charset="0"/>
                <a:ea typeface="Calibri" pitchFamily="34" charset="-122"/>
                <a:cs typeface="Calibri" pitchFamily="34" charset="-120"/>
              </a:rPr>
              <a:t>Contactos de una campaña telefónica bancaria</a:t>
            </a:r>
            <a:endParaRPr lang="en-US" sz="1100" dirty="0"/>
          </a:p>
        </p:txBody>
      </p:sp>
      <p:sp>
        <p:nvSpPr>
          <p:cNvPr id="20" name="Text 18"/>
          <p:cNvSpPr/>
          <p:nvPr/>
        </p:nvSpPr>
        <p:spPr>
          <a:xfrm>
            <a:off x="804672" y="4846320"/>
            <a:ext cx="4800600" cy="658368"/>
          </a:xfrm>
          <a:prstGeom prst="rect">
            <a:avLst/>
          </a:prstGeom>
          <a:noFill/>
          <a:ln/>
        </p:spPr>
        <p:txBody>
          <a:bodyPr wrap="square" lIns="0" tIns="0" rIns="0" bIns="0" rtlCol="0" anchor="ctr"/>
          <a:lstStyle/>
          <a:p>
            <a:pPr marL="0" indent="0">
              <a:lnSpc>
                <a:spcPts val="1350"/>
              </a:lnSpc>
              <a:buNone/>
            </a:pPr>
            <a:r>
              <a:rPr lang="en-US" sz="1050" dirty="0">
                <a:solidFill>
                  <a:srgbClr val="06304A"/>
                </a:solidFill>
                <a:latin typeface="Calibri" pitchFamily="34" charset="0"/>
                <a:ea typeface="Calibri" pitchFamily="34" charset="-122"/>
                <a:cs typeface="Calibri" pitchFamily="34" charset="-120"/>
              </a:rPr>
              <a:t>Saldo y duración (continuas) · número de contactos (discreta) · suscripción (binaria) · profesión y estado civil (nominales) · mes del último contacto · educación (ordinal)</a:t>
            </a:r>
            <a:endParaRPr lang="en-US" sz="1050" dirty="0"/>
          </a:p>
        </p:txBody>
      </p:sp>
      <p:sp>
        <p:nvSpPr>
          <p:cNvPr id="21" name="Text 19"/>
          <p:cNvSpPr/>
          <p:nvPr/>
        </p:nvSpPr>
        <p:spPr>
          <a:xfrm>
            <a:off x="804672" y="5522976"/>
            <a:ext cx="4800600" cy="402336"/>
          </a:xfrm>
          <a:prstGeom prst="rect">
            <a:avLst/>
          </a:prstGeom>
          <a:noFill/>
          <a:ln/>
        </p:spPr>
        <p:txBody>
          <a:bodyPr wrap="square" lIns="0" tIns="0" rIns="0" bIns="0" rtlCol="0" anchor="ctr"/>
          <a:lstStyle/>
          <a:p>
            <a:pPr marL="0" indent="0">
              <a:lnSpc>
                <a:spcPts val="1300"/>
              </a:lnSpc>
              <a:buNone/>
            </a:pPr>
            <a:r>
              <a:rPr lang="en-US" sz="1000" dirty="0">
                <a:solidFill>
                  <a:srgbClr val="AC212E"/>
                </a:solidFill>
                <a:latin typeface="Calibri" pitchFamily="34" charset="0"/>
                <a:ea typeface="Calibri" pitchFamily="34" charset="-122"/>
                <a:cs typeface="Calibri" pitchFamily="34" charset="-120"/>
              </a:rPr>
              <a:t>Los faltantes vienen codificados como el texto «unknown», no como celdas vacías: hay que detectarlos antes de imputar.</a:t>
            </a:r>
            <a:endParaRPr lang="en-US" sz="1000" dirty="0"/>
          </a:p>
        </p:txBody>
      </p:sp>
      <p:sp>
        <p:nvSpPr>
          <p:cNvPr id="22" name="Shape 20"/>
          <p:cNvSpPr/>
          <p:nvPr/>
        </p:nvSpPr>
        <p:spPr>
          <a:xfrm>
            <a:off x="6309360" y="3931920"/>
            <a:ext cx="5303520" cy="2057400"/>
          </a:xfrm>
          <a:prstGeom prst="roundRect">
            <a:avLst>
              <a:gd name="adj" fmla="val 4000"/>
            </a:avLst>
          </a:prstGeom>
          <a:solidFill>
            <a:srgbClr val="F6E7E9"/>
          </a:solidFill>
          <a:ln w="12700">
            <a:solidFill>
              <a:srgbClr val="F6E7E9"/>
            </a:solidFill>
            <a:prstDash val="solid"/>
          </a:ln>
        </p:spPr>
        <p:txBody>
          <a:bodyPr/>
          <a:lstStyle/>
          <a:p>
            <a:endParaRPr lang="es-CL"/>
          </a:p>
        </p:txBody>
      </p:sp>
      <p:sp>
        <p:nvSpPr>
          <p:cNvPr id="23" name="Text 21"/>
          <p:cNvSpPr/>
          <p:nvPr/>
        </p:nvSpPr>
        <p:spPr>
          <a:xfrm>
            <a:off x="6565392" y="4023360"/>
            <a:ext cx="4800600" cy="301752"/>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Kaggle — Hotel Booking Demand</a:t>
            </a:r>
            <a:endParaRPr lang="en-US" sz="1350" dirty="0"/>
          </a:p>
        </p:txBody>
      </p:sp>
      <p:sp>
        <p:nvSpPr>
          <p:cNvPr id="24" name="Text 22"/>
          <p:cNvSpPr/>
          <p:nvPr/>
        </p:nvSpPr>
        <p:spPr>
          <a:xfrm>
            <a:off x="6565392" y="4315968"/>
            <a:ext cx="4800600" cy="256032"/>
          </a:xfrm>
          <a:prstGeom prst="rect">
            <a:avLst/>
          </a:prstGeom>
          <a:noFill/>
          <a:ln/>
        </p:spPr>
        <p:txBody>
          <a:bodyPr wrap="square" lIns="0" tIns="0" rIns="0" bIns="0" rtlCol="0" anchor="ctr"/>
          <a:lstStyle/>
          <a:p>
            <a:pPr marL="0" indent="0">
              <a:buNone/>
            </a:pPr>
            <a:r>
              <a:rPr lang="en-US" sz="950" dirty="0">
                <a:solidFill>
                  <a:srgbClr val="AC212E"/>
                </a:solidFill>
                <a:latin typeface="Courier New" pitchFamily="34" charset="0"/>
                <a:ea typeface="Courier New" pitchFamily="34" charset="-122"/>
                <a:cs typeface="Courier New" pitchFamily="34" charset="-120"/>
              </a:rPr>
              <a:t>kaggle.com/datasets/jessemostipak/hotel-booking-demand</a:t>
            </a:r>
            <a:endParaRPr lang="en-US" sz="950" dirty="0"/>
          </a:p>
        </p:txBody>
      </p:sp>
      <p:sp>
        <p:nvSpPr>
          <p:cNvPr id="25" name="Text 23"/>
          <p:cNvSpPr/>
          <p:nvPr/>
        </p:nvSpPr>
        <p:spPr>
          <a:xfrm>
            <a:off x="6565392" y="4590288"/>
            <a:ext cx="4800600" cy="256032"/>
          </a:xfrm>
          <a:prstGeom prst="rect">
            <a:avLst/>
          </a:prstGeom>
          <a:noFill/>
          <a:ln/>
        </p:spPr>
        <p:txBody>
          <a:bodyPr wrap="square" lIns="0" tIns="0" rIns="0" bIns="0" rtlCol="0" anchor="ctr"/>
          <a:lstStyle/>
          <a:p>
            <a:pPr marL="0" indent="0">
              <a:buNone/>
            </a:pPr>
            <a:r>
              <a:rPr lang="en-US" sz="1100" i="1" dirty="0">
                <a:solidFill>
                  <a:srgbClr val="5A6B7B"/>
                </a:solidFill>
                <a:latin typeface="Calibri" pitchFamily="34" charset="0"/>
                <a:ea typeface="Calibri" pitchFamily="34" charset="-122"/>
                <a:cs typeface="Calibri" pitchFamily="34" charset="-120"/>
              </a:rPr>
              <a:t>119.390 reservas de dos hoteles, 32 columnas</a:t>
            </a:r>
            <a:endParaRPr lang="en-US" sz="1100" dirty="0"/>
          </a:p>
        </p:txBody>
      </p:sp>
      <p:sp>
        <p:nvSpPr>
          <p:cNvPr id="26" name="Text 24"/>
          <p:cNvSpPr/>
          <p:nvPr/>
        </p:nvSpPr>
        <p:spPr>
          <a:xfrm>
            <a:off x="6565392" y="4846320"/>
            <a:ext cx="4800600" cy="658368"/>
          </a:xfrm>
          <a:prstGeom prst="rect">
            <a:avLst/>
          </a:prstGeom>
          <a:noFill/>
          <a:ln/>
        </p:spPr>
        <p:txBody>
          <a:bodyPr wrap="square" lIns="0" tIns="0" rIns="0" bIns="0" rtlCol="0" anchor="ctr"/>
          <a:lstStyle/>
          <a:p>
            <a:pPr marL="0" indent="0">
              <a:lnSpc>
                <a:spcPts val="1350"/>
              </a:lnSpc>
              <a:buNone/>
            </a:pPr>
            <a:r>
              <a:rPr lang="en-US" sz="1050" dirty="0">
                <a:solidFill>
                  <a:srgbClr val="06304A"/>
                </a:solidFill>
                <a:latin typeface="Calibri" pitchFamily="34" charset="0"/>
                <a:ea typeface="Calibri" pitchFamily="34" charset="-122"/>
                <a:cs typeface="Calibri" pitchFamily="34" charset="-120"/>
              </a:rPr>
              <a:t>Tarifa diaria y antelación (continuas) · adultos y niños (discretas) · cancelación (binaria) · tipo de cliente y régimen (nominales) · fecha de llegada · país y agencia (alta cardinalidad)</a:t>
            </a:r>
            <a:endParaRPr lang="en-US" sz="1050" dirty="0"/>
          </a:p>
        </p:txBody>
      </p:sp>
      <p:sp>
        <p:nvSpPr>
          <p:cNvPr id="27" name="Text 25"/>
          <p:cNvSpPr/>
          <p:nvPr/>
        </p:nvSpPr>
        <p:spPr>
          <a:xfrm>
            <a:off x="6565392" y="5522976"/>
            <a:ext cx="4800600" cy="402336"/>
          </a:xfrm>
          <a:prstGeom prst="rect">
            <a:avLst/>
          </a:prstGeom>
          <a:noFill/>
          <a:ln/>
        </p:spPr>
        <p:txBody>
          <a:bodyPr wrap="square" lIns="0" tIns="0" rIns="0" bIns="0" rtlCol="0" anchor="ctr"/>
          <a:lstStyle/>
          <a:p>
            <a:pPr marL="0" indent="0">
              <a:lnSpc>
                <a:spcPts val="1300"/>
              </a:lnSpc>
              <a:buNone/>
            </a:pPr>
            <a:r>
              <a:rPr lang="en-US" sz="1000" dirty="0">
                <a:solidFill>
                  <a:srgbClr val="AC212E"/>
                </a:solidFill>
                <a:latin typeface="Calibri" pitchFamily="34" charset="0"/>
                <a:ea typeface="Calibri" pitchFamily="34" charset="-122"/>
                <a:cs typeface="Calibri" pitchFamily="34" charset="-120"/>
              </a:rPr>
              <a:t>Nulos en niños, agencia, empresa y país. Publicado a partir del artículo de Antonio, Almeida y Nunes (2019).</a:t>
            </a:r>
            <a:endParaRPr lang="en-US" sz="1000" dirty="0"/>
          </a:p>
        </p:txBody>
      </p:sp>
      <p:sp>
        <p:nvSpPr>
          <p:cNvPr id="28" name="Text 26"/>
          <p:cNvSpPr/>
          <p:nvPr/>
        </p:nvSpPr>
        <p:spPr>
          <a:xfrm>
            <a:off x="548640" y="6327648"/>
            <a:ext cx="11064240" cy="274320"/>
          </a:xfrm>
          <a:prstGeom prst="rect">
            <a:avLst/>
          </a:prstGeom>
          <a:noFill/>
          <a:ln/>
        </p:spPr>
        <p:txBody>
          <a:bodyPr wrap="square" lIns="0" tIns="0" rIns="0" bIns="0" rtlCol="0" anchor="ctr"/>
          <a:lstStyle/>
          <a:p>
            <a:pPr marL="0" indent="0">
              <a:buNone/>
            </a:pPr>
            <a:r>
              <a:rPr lang="en-US" sz="1000" dirty="0">
                <a:solidFill>
                  <a:srgbClr val="5A6B7B"/>
                </a:solidFill>
                <a:latin typeface="Calibri" pitchFamily="34" charset="0"/>
                <a:ea typeface="Calibri" pitchFamily="34" charset="-122"/>
                <a:cs typeface="Calibri" pitchFamily="34" charset="-120"/>
              </a:rPr>
              <a:t>Los cuatro cumplen los requisitos de roles y faltantes. Son más usados que las fuentes chilenas: la originalidad tendrá que venir de la pregunta, no del dataset.</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A1526"/>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No decidan a ojo: validen</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D7E3EE"/>
                </a:solidFill>
                <a:latin typeface="Calibri" pitchFamily="34" charset="0"/>
                <a:ea typeface="Calibri" pitchFamily="34" charset="-122"/>
                <a:cs typeface="Calibri" pitchFamily="34" charset="-120"/>
              </a:rPr>
              <a:t>El curso entrega un script que verifica los requisitos y produce el informe de la entrega.</a:t>
            </a:r>
            <a:endParaRPr lang="en-US" sz="1400" dirty="0"/>
          </a:p>
        </p:txBody>
      </p:sp>
      <p:sp>
        <p:nvSpPr>
          <p:cNvPr id="4" name="Shape 2"/>
          <p:cNvSpPr/>
          <p:nvPr/>
        </p:nvSpPr>
        <p:spPr>
          <a:xfrm>
            <a:off x="548640" y="1828800"/>
            <a:ext cx="11064240" cy="1143000"/>
          </a:xfrm>
          <a:prstGeom prst="roundRect">
            <a:avLst>
              <a:gd name="adj" fmla="val 7200"/>
            </a:avLst>
          </a:prstGeom>
          <a:solidFill>
            <a:srgbClr val="12203A"/>
          </a:solidFill>
          <a:ln w="12700">
            <a:solidFill>
              <a:srgbClr val="12203A"/>
            </a:solidFill>
            <a:prstDash val="solid"/>
          </a:ln>
        </p:spPr>
        <p:txBody>
          <a:bodyPr/>
          <a:lstStyle/>
          <a:p>
            <a:endParaRPr lang="es-CL"/>
          </a:p>
        </p:txBody>
      </p:sp>
      <p:sp>
        <p:nvSpPr>
          <p:cNvPr id="5" name="Text 3"/>
          <p:cNvSpPr/>
          <p:nvPr/>
        </p:nvSpPr>
        <p:spPr>
          <a:xfrm>
            <a:off x="868680" y="1965960"/>
            <a:ext cx="10424160" cy="868680"/>
          </a:xfrm>
          <a:prstGeom prst="rect">
            <a:avLst/>
          </a:prstGeom>
          <a:noFill/>
          <a:ln/>
        </p:spPr>
        <p:txBody>
          <a:bodyPr wrap="square" lIns="0" tIns="0" rIns="0" bIns="0" rtlCol="0" anchor="ctr"/>
          <a:lstStyle/>
          <a:p>
            <a:pPr marL="0" indent="0">
              <a:lnSpc>
                <a:spcPts val="1900"/>
              </a:lnSpc>
              <a:buNone/>
            </a:pPr>
            <a:r>
              <a:rPr lang="en-US" sz="1250" dirty="0">
                <a:solidFill>
                  <a:srgbClr val="D7E3EE"/>
                </a:solidFill>
                <a:latin typeface="Courier New" pitchFamily="34" charset="0"/>
                <a:ea typeface="Courier New" pitchFamily="34" charset="-122"/>
                <a:cs typeface="Courier New" pitchFamily="34" charset="-120"/>
              </a:rPr>
              <a:t>python validar_dataset.py data/raw/mi_dataset.csv</a:t>
            </a:r>
            <a:endParaRPr lang="en-US" sz="1250" dirty="0"/>
          </a:p>
          <a:p>
            <a:pPr marL="0" indent="0">
              <a:lnSpc>
                <a:spcPts val="1900"/>
              </a:lnSpc>
              <a:buNone/>
            </a:pPr>
            <a:r>
              <a:rPr lang="en-US" sz="1250" dirty="0">
                <a:solidFill>
                  <a:srgbClr val="D7E3EE"/>
                </a:solidFill>
                <a:latin typeface="Courier New" pitchFamily="34" charset="0"/>
                <a:ea typeface="Courier New" pitchFamily="34" charset="-122"/>
                <a:cs typeface="Courier New" pitchFamily="34" charset="-120"/>
              </a:rPr>
              <a:t>python validar_dataset.py datos.csv --sep ";" --encoding latin-1</a:t>
            </a:r>
            <a:endParaRPr lang="en-US" sz="1250" dirty="0"/>
          </a:p>
          <a:p>
            <a:pPr marL="0" indent="0">
              <a:lnSpc>
                <a:spcPts val="1900"/>
              </a:lnSpc>
              <a:buNone/>
            </a:pPr>
            <a:r>
              <a:rPr lang="en-US" sz="1250" dirty="0">
                <a:solidFill>
                  <a:srgbClr val="D7E3EE"/>
                </a:solidFill>
                <a:latin typeface="Courier New" pitchFamily="34" charset="0"/>
                <a:ea typeface="Courier New" pitchFamily="34" charset="-122"/>
                <a:cs typeface="Courier New" pitchFamily="34" charset="-120"/>
              </a:rPr>
              <a:t>python validar_dataset.py datos.csv --informe docs/validacion_dataset.md</a:t>
            </a:r>
            <a:endParaRPr lang="en-US" sz="1250" dirty="0"/>
          </a:p>
        </p:txBody>
      </p:sp>
      <p:sp>
        <p:nvSpPr>
          <p:cNvPr id="6" name="Shape 4"/>
          <p:cNvSpPr/>
          <p:nvPr/>
        </p:nvSpPr>
        <p:spPr>
          <a:xfrm>
            <a:off x="548640" y="3291840"/>
            <a:ext cx="5303520" cy="1005840"/>
          </a:xfrm>
          <a:prstGeom prst="roundRect">
            <a:avLst>
              <a:gd name="adj" fmla="val 8182"/>
            </a:avLst>
          </a:prstGeom>
          <a:solidFill>
            <a:srgbClr val="12203A"/>
          </a:solidFill>
          <a:ln w="12700">
            <a:solidFill>
              <a:srgbClr val="12203A"/>
            </a:solidFill>
            <a:prstDash val="solid"/>
          </a:ln>
        </p:spPr>
        <p:txBody>
          <a:bodyPr/>
          <a:lstStyle/>
          <a:p>
            <a:endParaRPr lang="es-CL"/>
          </a:p>
        </p:txBody>
      </p:sp>
      <p:sp>
        <p:nvSpPr>
          <p:cNvPr id="7" name="Shape 5"/>
          <p:cNvSpPr/>
          <p:nvPr/>
        </p:nvSpPr>
        <p:spPr>
          <a:xfrm>
            <a:off x="804672" y="3584448"/>
            <a:ext cx="402336" cy="402336"/>
          </a:xfrm>
          <a:prstGeom prst="ellipse">
            <a:avLst/>
          </a:prstGeom>
          <a:solidFill>
            <a:srgbClr val="AC212E"/>
          </a:solidFill>
          <a:ln/>
        </p:spPr>
        <p:txBody>
          <a:bodyPr/>
          <a:lstStyle/>
          <a:p>
            <a:endParaRPr lang="es-CL"/>
          </a:p>
        </p:txBody>
      </p:sp>
      <p:sp>
        <p:nvSpPr>
          <p:cNvPr id="8" name="Text 6"/>
          <p:cNvSpPr/>
          <p:nvPr/>
        </p:nvSpPr>
        <p:spPr>
          <a:xfrm>
            <a:off x="804672" y="358444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1353312" y="3401568"/>
            <a:ext cx="429768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Perfil de variables</a:t>
            </a:r>
            <a:endParaRPr lang="en-US" sz="1400" dirty="0"/>
          </a:p>
        </p:txBody>
      </p:sp>
      <p:sp>
        <p:nvSpPr>
          <p:cNvPr id="10" name="Text 8"/>
          <p:cNvSpPr/>
          <p:nvPr/>
        </p:nvSpPr>
        <p:spPr>
          <a:xfrm>
            <a:off x="1353312" y="3712464"/>
            <a:ext cx="4343400" cy="502920"/>
          </a:xfrm>
          <a:prstGeom prst="rect">
            <a:avLst/>
          </a:prstGeom>
          <a:noFill/>
          <a:ln/>
        </p:spPr>
        <p:txBody>
          <a:bodyPr wrap="square" lIns="0" tIns="0" rIns="0" bIns="0" rtlCol="0" anchor="ctr"/>
          <a:lstStyle/>
          <a:p>
            <a:pPr marL="0" indent="0">
              <a:lnSpc>
                <a:spcPts val="1600"/>
              </a:lnSpc>
              <a:buNone/>
            </a:pPr>
            <a:r>
              <a:rPr lang="en-US" sz="1200" dirty="0">
                <a:solidFill>
                  <a:srgbClr val="D7E3EE"/>
                </a:solidFill>
                <a:latin typeface="Calibri" pitchFamily="34" charset="0"/>
                <a:ea typeface="Calibri" pitchFamily="34" charset="-122"/>
                <a:cs typeface="Calibri" pitchFamily="34" charset="-120"/>
              </a:rPr>
              <a:t>El rol analítico de cada columna, sus valores únicos y su porcentaje de nulos.</a:t>
            </a:r>
            <a:endParaRPr lang="en-US" sz="1200" dirty="0"/>
          </a:p>
        </p:txBody>
      </p:sp>
      <p:sp>
        <p:nvSpPr>
          <p:cNvPr id="11" name="Shape 9"/>
          <p:cNvSpPr/>
          <p:nvPr/>
        </p:nvSpPr>
        <p:spPr>
          <a:xfrm>
            <a:off x="6309360" y="3291840"/>
            <a:ext cx="5303520" cy="1005840"/>
          </a:xfrm>
          <a:prstGeom prst="roundRect">
            <a:avLst>
              <a:gd name="adj" fmla="val 8182"/>
            </a:avLst>
          </a:prstGeom>
          <a:solidFill>
            <a:srgbClr val="12203A"/>
          </a:solidFill>
          <a:ln w="12700">
            <a:solidFill>
              <a:srgbClr val="12203A"/>
            </a:solidFill>
            <a:prstDash val="solid"/>
          </a:ln>
        </p:spPr>
        <p:txBody>
          <a:bodyPr/>
          <a:lstStyle/>
          <a:p>
            <a:endParaRPr lang="es-CL"/>
          </a:p>
        </p:txBody>
      </p:sp>
      <p:sp>
        <p:nvSpPr>
          <p:cNvPr id="12" name="Shape 10"/>
          <p:cNvSpPr/>
          <p:nvPr/>
        </p:nvSpPr>
        <p:spPr>
          <a:xfrm>
            <a:off x="6565392" y="3584448"/>
            <a:ext cx="402336" cy="402336"/>
          </a:xfrm>
          <a:prstGeom prst="ellipse">
            <a:avLst/>
          </a:prstGeom>
          <a:solidFill>
            <a:srgbClr val="AC212E"/>
          </a:solidFill>
          <a:ln/>
        </p:spPr>
        <p:txBody>
          <a:bodyPr/>
          <a:lstStyle/>
          <a:p>
            <a:endParaRPr lang="es-CL"/>
          </a:p>
        </p:txBody>
      </p:sp>
      <p:sp>
        <p:nvSpPr>
          <p:cNvPr id="13" name="Text 11"/>
          <p:cNvSpPr/>
          <p:nvPr/>
        </p:nvSpPr>
        <p:spPr>
          <a:xfrm>
            <a:off x="6565392" y="358444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7114032" y="3401568"/>
            <a:ext cx="429768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Composición por tipo</a:t>
            </a:r>
            <a:endParaRPr lang="en-US" sz="1400" dirty="0"/>
          </a:p>
        </p:txBody>
      </p:sp>
      <p:sp>
        <p:nvSpPr>
          <p:cNvPr id="15" name="Text 13"/>
          <p:cNvSpPr/>
          <p:nvPr/>
        </p:nvSpPr>
        <p:spPr>
          <a:xfrm>
            <a:off x="7114032" y="3712464"/>
            <a:ext cx="4343400" cy="502920"/>
          </a:xfrm>
          <a:prstGeom prst="rect">
            <a:avLst/>
          </a:prstGeom>
          <a:noFill/>
          <a:ln/>
        </p:spPr>
        <p:txBody>
          <a:bodyPr wrap="square" lIns="0" tIns="0" rIns="0" bIns="0" rtlCol="0" anchor="ctr"/>
          <a:lstStyle/>
          <a:p>
            <a:pPr marL="0" indent="0">
              <a:lnSpc>
                <a:spcPts val="1600"/>
              </a:lnSpc>
              <a:buNone/>
            </a:pPr>
            <a:r>
              <a:rPr lang="en-US" sz="1200" dirty="0">
                <a:solidFill>
                  <a:srgbClr val="D7E3EE"/>
                </a:solidFill>
                <a:latin typeface="Calibri" pitchFamily="34" charset="0"/>
                <a:ea typeface="Calibri" pitchFamily="34" charset="-122"/>
                <a:cs typeface="Calibri" pitchFamily="34" charset="-120"/>
              </a:rPr>
              <a:t>Cuántas variables hay de cada rol.</a:t>
            </a:r>
            <a:endParaRPr lang="en-US" sz="1200" dirty="0"/>
          </a:p>
        </p:txBody>
      </p:sp>
      <p:sp>
        <p:nvSpPr>
          <p:cNvPr id="16" name="Shape 14"/>
          <p:cNvSpPr/>
          <p:nvPr/>
        </p:nvSpPr>
        <p:spPr>
          <a:xfrm>
            <a:off x="548640" y="4480560"/>
            <a:ext cx="5303520" cy="1005840"/>
          </a:xfrm>
          <a:prstGeom prst="roundRect">
            <a:avLst>
              <a:gd name="adj" fmla="val 8182"/>
            </a:avLst>
          </a:prstGeom>
          <a:solidFill>
            <a:srgbClr val="12203A"/>
          </a:solidFill>
          <a:ln w="12700">
            <a:solidFill>
              <a:srgbClr val="12203A"/>
            </a:solidFill>
            <a:prstDash val="solid"/>
          </a:ln>
        </p:spPr>
        <p:txBody>
          <a:bodyPr/>
          <a:lstStyle/>
          <a:p>
            <a:endParaRPr lang="es-CL"/>
          </a:p>
        </p:txBody>
      </p:sp>
      <p:sp>
        <p:nvSpPr>
          <p:cNvPr id="17" name="Shape 15"/>
          <p:cNvSpPr/>
          <p:nvPr/>
        </p:nvSpPr>
        <p:spPr>
          <a:xfrm>
            <a:off x="804672" y="4773168"/>
            <a:ext cx="402336" cy="402336"/>
          </a:xfrm>
          <a:prstGeom prst="ellipse">
            <a:avLst/>
          </a:prstGeom>
          <a:solidFill>
            <a:srgbClr val="AC212E"/>
          </a:solidFill>
          <a:ln/>
        </p:spPr>
        <p:txBody>
          <a:bodyPr/>
          <a:lstStyle/>
          <a:p>
            <a:endParaRPr lang="es-CL"/>
          </a:p>
        </p:txBody>
      </p:sp>
      <p:sp>
        <p:nvSpPr>
          <p:cNvPr id="18" name="Text 16"/>
          <p:cNvSpPr/>
          <p:nvPr/>
        </p:nvSpPr>
        <p:spPr>
          <a:xfrm>
            <a:off x="804672" y="477316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1353312" y="4590288"/>
            <a:ext cx="429768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Veredicto</a:t>
            </a:r>
            <a:endParaRPr lang="en-US" sz="1400" dirty="0"/>
          </a:p>
        </p:txBody>
      </p:sp>
      <p:sp>
        <p:nvSpPr>
          <p:cNvPr id="20" name="Text 18"/>
          <p:cNvSpPr/>
          <p:nvPr/>
        </p:nvSpPr>
        <p:spPr>
          <a:xfrm>
            <a:off x="1353312" y="4901184"/>
            <a:ext cx="4343400" cy="502920"/>
          </a:xfrm>
          <a:prstGeom prst="rect">
            <a:avLst/>
          </a:prstGeom>
          <a:noFill/>
          <a:ln/>
        </p:spPr>
        <p:txBody>
          <a:bodyPr wrap="square" lIns="0" tIns="0" rIns="0" bIns="0" rtlCol="0" anchor="ctr"/>
          <a:lstStyle/>
          <a:p>
            <a:pPr marL="0" indent="0">
              <a:lnSpc>
                <a:spcPts val="1600"/>
              </a:lnSpc>
              <a:buNone/>
            </a:pPr>
            <a:r>
              <a:rPr lang="en-US" sz="1200" dirty="0">
                <a:solidFill>
                  <a:srgbClr val="D7E3EE"/>
                </a:solidFill>
                <a:latin typeface="Calibri" pitchFamily="34" charset="0"/>
                <a:ea typeface="Calibri" pitchFamily="34" charset="-122"/>
                <a:cs typeface="Calibri" pitchFamily="34" charset="-120"/>
              </a:rPr>
              <a:t>Requisito por requisito: OK, FALTA o AVISO.</a:t>
            </a:r>
            <a:endParaRPr lang="en-US" sz="1200" dirty="0"/>
          </a:p>
        </p:txBody>
      </p:sp>
      <p:sp>
        <p:nvSpPr>
          <p:cNvPr id="21" name="Shape 19"/>
          <p:cNvSpPr/>
          <p:nvPr/>
        </p:nvSpPr>
        <p:spPr>
          <a:xfrm>
            <a:off x="6309360" y="4480560"/>
            <a:ext cx="5303520" cy="1005840"/>
          </a:xfrm>
          <a:prstGeom prst="roundRect">
            <a:avLst>
              <a:gd name="adj" fmla="val 8182"/>
            </a:avLst>
          </a:prstGeom>
          <a:solidFill>
            <a:srgbClr val="12203A"/>
          </a:solidFill>
          <a:ln w="12700">
            <a:solidFill>
              <a:srgbClr val="12203A"/>
            </a:solidFill>
            <a:prstDash val="solid"/>
          </a:ln>
        </p:spPr>
        <p:txBody>
          <a:bodyPr/>
          <a:lstStyle/>
          <a:p>
            <a:endParaRPr lang="es-CL"/>
          </a:p>
        </p:txBody>
      </p:sp>
      <p:sp>
        <p:nvSpPr>
          <p:cNvPr id="22" name="Shape 20"/>
          <p:cNvSpPr/>
          <p:nvPr/>
        </p:nvSpPr>
        <p:spPr>
          <a:xfrm>
            <a:off x="6565392" y="4773168"/>
            <a:ext cx="402336" cy="402336"/>
          </a:xfrm>
          <a:prstGeom prst="ellipse">
            <a:avLst/>
          </a:prstGeom>
          <a:solidFill>
            <a:srgbClr val="AC212E"/>
          </a:solidFill>
          <a:ln/>
        </p:spPr>
        <p:txBody>
          <a:bodyPr/>
          <a:lstStyle/>
          <a:p>
            <a:endParaRPr lang="es-CL"/>
          </a:p>
        </p:txBody>
      </p:sp>
      <p:sp>
        <p:nvSpPr>
          <p:cNvPr id="23" name="Text 21"/>
          <p:cNvSpPr/>
          <p:nvPr/>
        </p:nvSpPr>
        <p:spPr>
          <a:xfrm>
            <a:off x="6565392" y="477316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p:nvPr/>
        </p:nvSpPr>
        <p:spPr>
          <a:xfrm>
            <a:off x="7114032" y="4590288"/>
            <a:ext cx="429768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Informe en Markdown</a:t>
            </a:r>
            <a:endParaRPr lang="en-US" sz="1400" dirty="0"/>
          </a:p>
        </p:txBody>
      </p:sp>
      <p:sp>
        <p:nvSpPr>
          <p:cNvPr id="25" name="Text 23"/>
          <p:cNvSpPr/>
          <p:nvPr/>
        </p:nvSpPr>
        <p:spPr>
          <a:xfrm>
            <a:off x="7114032" y="4901184"/>
            <a:ext cx="4343400" cy="502920"/>
          </a:xfrm>
          <a:prstGeom prst="rect">
            <a:avLst/>
          </a:prstGeom>
          <a:noFill/>
          <a:ln/>
        </p:spPr>
        <p:txBody>
          <a:bodyPr wrap="square" lIns="0" tIns="0" rIns="0" bIns="0" rtlCol="0" anchor="ctr"/>
          <a:lstStyle/>
          <a:p>
            <a:pPr marL="0" indent="0">
              <a:lnSpc>
                <a:spcPts val="1600"/>
              </a:lnSpc>
              <a:buNone/>
            </a:pPr>
            <a:r>
              <a:rPr lang="en-US" sz="1200" dirty="0">
                <a:solidFill>
                  <a:srgbClr val="D7E3EE"/>
                </a:solidFill>
                <a:latin typeface="Calibri" pitchFamily="34" charset="0"/>
                <a:ea typeface="Calibri" pitchFamily="34" charset="-122"/>
                <a:cs typeface="Calibri" pitchFamily="34" charset="-120"/>
              </a:rPr>
              <a:t>Listo para adjuntar al entregable de la Fase 1.</a:t>
            </a:r>
            <a:endParaRPr lang="en-US" sz="1200" dirty="0"/>
          </a:p>
        </p:txBody>
      </p:sp>
      <p:sp>
        <p:nvSpPr>
          <p:cNvPr id="26" name="Text 24"/>
          <p:cNvSpPr/>
          <p:nvPr/>
        </p:nvSpPr>
        <p:spPr>
          <a:xfrm>
            <a:off x="548640" y="5760720"/>
            <a:ext cx="11064240" cy="411480"/>
          </a:xfrm>
          <a:prstGeom prst="rect">
            <a:avLst/>
          </a:prstGeom>
          <a:noFill/>
          <a:ln/>
        </p:spPr>
        <p:txBody>
          <a:bodyPr wrap="square" lIns="0" tIns="0" rIns="0" bIns="0" rtlCol="0" anchor="ctr"/>
          <a:lstStyle/>
          <a:p>
            <a:pPr marL="0" indent="0">
              <a:buNone/>
            </a:pPr>
            <a:r>
              <a:rPr lang="en-US" sz="1400" i="1" dirty="0">
                <a:solidFill>
                  <a:srgbClr val="D7E3EE"/>
                </a:solidFill>
                <a:latin typeface="Calibri" pitchFamily="34" charset="0"/>
                <a:ea typeface="Calibri" pitchFamily="34" charset="-122"/>
                <a:cs typeface="Calibri" pitchFamily="34" charset="-120"/>
              </a:rPr>
              <a:t>Adjunten la salida del validador en el entregable. La elección del dataset deja de ser una declaración y pasa a ser una verificación.</a:t>
            </a:r>
            <a:endParaRPr lang="en-US" sz="1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Cómo se lee el resultado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Ejemplo de salida sobre un conjunto de datos que sí cumple.</a:t>
            </a:r>
            <a:endParaRPr lang="en-US" sz="1400" dirty="0"/>
          </a:p>
        </p:txBody>
      </p:sp>
      <p:sp>
        <p:nvSpPr>
          <p:cNvPr id="4" name="Shape 2"/>
          <p:cNvSpPr/>
          <p:nvPr/>
        </p:nvSpPr>
        <p:spPr>
          <a:xfrm>
            <a:off x="548640" y="1737360"/>
            <a:ext cx="6035040" cy="3749040"/>
          </a:xfrm>
          <a:prstGeom prst="roundRect">
            <a:avLst>
              <a:gd name="adj" fmla="val 2195"/>
            </a:avLst>
          </a:prstGeom>
          <a:solidFill>
            <a:srgbClr val="F0F3F7"/>
          </a:solidFill>
          <a:ln w="12700">
            <a:solidFill>
              <a:srgbClr val="F0F3F7"/>
            </a:solidFill>
            <a:prstDash val="solid"/>
          </a:ln>
        </p:spPr>
        <p:txBody>
          <a:bodyPr/>
          <a:lstStyle/>
          <a:p>
            <a:endParaRPr lang="es-CL"/>
          </a:p>
        </p:txBody>
      </p:sp>
      <p:sp>
        <p:nvSpPr>
          <p:cNvPr id="5" name="Text 3"/>
          <p:cNvSpPr/>
          <p:nvPr/>
        </p:nvSpPr>
        <p:spPr>
          <a:xfrm>
            <a:off x="822960" y="1874520"/>
            <a:ext cx="5486400" cy="274320"/>
          </a:xfrm>
          <a:prstGeom prst="rect">
            <a:avLst/>
          </a:prstGeom>
          <a:noFill/>
          <a:ln/>
        </p:spPr>
        <p:txBody>
          <a:bodyPr wrap="square" lIns="0" tIns="0" rIns="0" bIns="0" rtlCol="0" anchor="ctr"/>
          <a:lstStyle/>
          <a:p>
            <a:pPr marL="0" indent="0">
              <a:buNone/>
            </a:pPr>
            <a:r>
              <a:rPr lang="en-US" sz="1100" b="1" dirty="0">
                <a:solidFill>
                  <a:srgbClr val="AC212E"/>
                </a:solidFill>
                <a:latin typeface="Courier New" pitchFamily="34" charset="0"/>
                <a:ea typeface="Courier New" pitchFamily="34" charset="-122"/>
                <a:cs typeface="Courier New" pitchFamily="34" charset="-120"/>
              </a:rPr>
              <a:t>PERFIL DE VARIABLES</a:t>
            </a:r>
            <a:endParaRPr lang="en-US" sz="1100" dirty="0"/>
          </a:p>
        </p:txBody>
      </p:sp>
      <p:sp>
        <p:nvSpPr>
          <p:cNvPr id="6" name="Text 4"/>
          <p:cNvSpPr/>
          <p:nvPr/>
        </p:nvSpPr>
        <p:spPr>
          <a:xfrm>
            <a:off x="822960" y="2194560"/>
            <a:ext cx="5486400" cy="2743200"/>
          </a:xfrm>
          <a:prstGeom prst="rect">
            <a:avLst/>
          </a:prstGeom>
          <a:noFill/>
          <a:ln/>
        </p:spPr>
        <p:txBody>
          <a:bodyPr wrap="square" lIns="0" tIns="0" rIns="0" bIns="0" rtlCol="0" anchor="ctr"/>
          <a:lstStyle/>
          <a:p>
            <a:pPr marL="0" indent="0">
              <a:lnSpc>
                <a:spcPts val="1500"/>
              </a:lnSpc>
              <a:buNone/>
            </a:pPr>
            <a:r>
              <a:rPr lang="en-US" sz="1050" dirty="0">
                <a:solidFill>
                  <a:srgbClr val="06304A"/>
                </a:solidFill>
                <a:latin typeface="Courier New" pitchFamily="34" charset="0"/>
                <a:ea typeface="Courier New" pitchFamily="34" charset="-122"/>
                <a:cs typeface="Courier New" pitchFamily="34" charset="-120"/>
              </a:rPr>
              <a:t>variable          tipo             nulos</a:t>
            </a:r>
            <a:endParaRPr lang="en-US" sz="1050" dirty="0"/>
          </a:p>
          <a:p>
            <a:pPr marL="0" indent="0">
              <a:lnSpc>
                <a:spcPts val="1500"/>
              </a:lnSpc>
              <a:buNone/>
            </a:pPr>
            <a:r>
              <a:rPr lang="en-US" sz="1050" dirty="0">
                <a:solidFill>
                  <a:srgbClr val="06304A"/>
                </a:solidFill>
                <a:latin typeface="Courier New" pitchFamily="34" charset="0"/>
                <a:ea typeface="Courier New" pitchFamily="34" charset="-122"/>
                <a:cs typeface="Courier New" pitchFamily="34" charset="-120"/>
              </a:rPr>
              <a:t>----------------------------------------</a:t>
            </a:r>
            <a:endParaRPr lang="en-US" sz="1050" dirty="0"/>
          </a:p>
          <a:p>
            <a:pPr marL="0" indent="0">
              <a:lnSpc>
                <a:spcPts val="1500"/>
              </a:lnSpc>
              <a:buNone/>
            </a:pPr>
            <a:r>
              <a:rPr lang="en-US" sz="1050" dirty="0">
                <a:solidFill>
                  <a:srgbClr val="06304A"/>
                </a:solidFill>
                <a:latin typeface="Courier New" pitchFamily="34" charset="0"/>
                <a:ea typeface="Courier New" pitchFamily="34" charset="-122"/>
                <a:cs typeface="Courier New" pitchFamily="34" charset="-120"/>
              </a:rPr>
              <a:t>id_registro       identificador     0.0%</a:t>
            </a:r>
            <a:endParaRPr lang="en-US" sz="1050" dirty="0"/>
          </a:p>
          <a:p>
            <a:pPr marL="0" indent="0">
              <a:lnSpc>
                <a:spcPts val="1500"/>
              </a:lnSpc>
              <a:buNone/>
            </a:pPr>
            <a:r>
              <a:rPr lang="en-US" sz="1050" dirty="0">
                <a:solidFill>
                  <a:srgbClr val="06304A"/>
                </a:solidFill>
                <a:latin typeface="Courier New" pitchFamily="34" charset="0"/>
                <a:ea typeface="Courier New" pitchFamily="34" charset="-122"/>
                <a:cs typeface="Courier New" pitchFamily="34" charset="-120"/>
              </a:rPr>
              <a:t>fecha_ingreso     fecha             0.0%</a:t>
            </a:r>
            <a:endParaRPr lang="en-US" sz="1050" dirty="0"/>
          </a:p>
          <a:p>
            <a:pPr marL="0" indent="0">
              <a:lnSpc>
                <a:spcPts val="1500"/>
              </a:lnSpc>
              <a:buNone/>
            </a:pPr>
            <a:r>
              <a:rPr lang="en-US" sz="1050" dirty="0">
                <a:solidFill>
                  <a:srgbClr val="06304A"/>
                </a:solidFill>
                <a:latin typeface="Courier New" pitchFamily="34" charset="0"/>
                <a:ea typeface="Courier New" pitchFamily="34" charset="-122"/>
                <a:cs typeface="Courier New" pitchFamily="34" charset="-120"/>
              </a:rPr>
              <a:t>region            nominal           0.0%</a:t>
            </a:r>
            <a:endParaRPr lang="en-US" sz="1050" dirty="0"/>
          </a:p>
          <a:p>
            <a:pPr marL="0" indent="0">
              <a:lnSpc>
                <a:spcPts val="1500"/>
              </a:lnSpc>
              <a:buNone/>
            </a:pPr>
            <a:r>
              <a:rPr lang="en-US" sz="1050" dirty="0">
                <a:solidFill>
                  <a:srgbClr val="06304A"/>
                </a:solidFill>
                <a:latin typeface="Courier New" pitchFamily="34" charset="0"/>
                <a:ea typeface="Courier New" pitchFamily="34" charset="-122"/>
                <a:cs typeface="Courier New" pitchFamily="34" charset="-120"/>
              </a:rPr>
              <a:t>comuna            alta cardinal.    0.0%</a:t>
            </a:r>
            <a:endParaRPr lang="en-US" sz="1050" dirty="0"/>
          </a:p>
          <a:p>
            <a:pPr marL="0" indent="0">
              <a:lnSpc>
                <a:spcPts val="1500"/>
              </a:lnSpc>
              <a:buNone/>
            </a:pPr>
            <a:r>
              <a:rPr lang="en-US" sz="1050" dirty="0">
                <a:solidFill>
                  <a:srgbClr val="06304A"/>
                </a:solidFill>
                <a:latin typeface="Courier New" pitchFamily="34" charset="0"/>
                <a:ea typeface="Courier New" pitchFamily="34" charset="-122"/>
                <a:cs typeface="Courier New" pitchFamily="34" charset="-120"/>
              </a:rPr>
              <a:t>nivel_riesgo      nominal           0.0%</a:t>
            </a:r>
            <a:endParaRPr lang="en-US" sz="1050" dirty="0"/>
          </a:p>
          <a:p>
            <a:pPr marL="0" indent="0">
              <a:lnSpc>
                <a:spcPts val="1500"/>
              </a:lnSpc>
              <a:buNone/>
            </a:pPr>
            <a:r>
              <a:rPr lang="en-US" sz="1050" dirty="0">
                <a:solidFill>
                  <a:srgbClr val="06304A"/>
                </a:solidFill>
                <a:latin typeface="Courier New" pitchFamily="34" charset="0"/>
                <a:ea typeface="Courier New" pitchFamily="34" charset="-122"/>
                <a:cs typeface="Courier New" pitchFamily="34" charset="-120"/>
              </a:rPr>
              <a:t>aprobado          binaria           0.0%</a:t>
            </a:r>
            <a:endParaRPr lang="en-US" sz="1050" dirty="0"/>
          </a:p>
          <a:p>
            <a:pPr marL="0" indent="0">
              <a:lnSpc>
                <a:spcPts val="1500"/>
              </a:lnSpc>
              <a:buNone/>
            </a:pPr>
            <a:r>
              <a:rPr lang="en-US" sz="1050" dirty="0">
                <a:solidFill>
                  <a:srgbClr val="06304A"/>
                </a:solidFill>
                <a:latin typeface="Courier New" pitchFamily="34" charset="0"/>
                <a:ea typeface="Courier New" pitchFamily="34" charset="-122"/>
                <a:cs typeface="Courier New" pitchFamily="34" charset="-120"/>
              </a:rPr>
              <a:t>monto             continua          2.0%</a:t>
            </a:r>
            <a:endParaRPr lang="en-US" sz="1050" dirty="0"/>
          </a:p>
          <a:p>
            <a:pPr marL="0" indent="0">
              <a:lnSpc>
                <a:spcPts val="1500"/>
              </a:lnSpc>
              <a:buNone/>
            </a:pPr>
            <a:r>
              <a:rPr lang="en-US" sz="1050" dirty="0">
                <a:solidFill>
                  <a:srgbClr val="06304A"/>
                </a:solidFill>
                <a:latin typeface="Courier New" pitchFamily="34" charset="0"/>
                <a:ea typeface="Courier New" pitchFamily="34" charset="-122"/>
                <a:cs typeface="Courier New" pitchFamily="34" charset="-120"/>
              </a:rPr>
              <a:t>duracion_dias     continua          0.0%</a:t>
            </a:r>
            <a:endParaRPr lang="en-US" sz="1050" dirty="0"/>
          </a:p>
          <a:p>
            <a:pPr marL="0" indent="0">
              <a:lnSpc>
                <a:spcPts val="1500"/>
              </a:lnSpc>
              <a:buNone/>
            </a:pPr>
            <a:r>
              <a:rPr lang="en-US" sz="1050" dirty="0">
                <a:solidFill>
                  <a:srgbClr val="06304A"/>
                </a:solidFill>
                <a:latin typeface="Courier New" pitchFamily="34" charset="0"/>
                <a:ea typeface="Courier New" pitchFamily="34" charset="-122"/>
                <a:cs typeface="Courier New" pitchFamily="34" charset="-120"/>
              </a:rPr>
              <a:t>n_participantes   discreta          0.0%</a:t>
            </a:r>
            <a:endParaRPr lang="en-US" sz="1050" dirty="0"/>
          </a:p>
          <a:p>
            <a:pPr marL="0" indent="0">
              <a:lnSpc>
                <a:spcPts val="1500"/>
              </a:lnSpc>
              <a:buNone/>
            </a:pPr>
            <a:r>
              <a:rPr lang="en-US" sz="1050" dirty="0">
                <a:solidFill>
                  <a:srgbClr val="06304A"/>
                </a:solidFill>
                <a:latin typeface="Courier New" pitchFamily="34" charset="0"/>
                <a:ea typeface="Courier New" pitchFamily="34" charset="-122"/>
                <a:cs typeface="Courier New" pitchFamily="34" charset="-120"/>
              </a:rPr>
              <a:t>indice_calidad    continua          8.0%</a:t>
            </a:r>
            <a:endParaRPr lang="en-US" sz="1050" dirty="0"/>
          </a:p>
          <a:p>
            <a:pPr marL="0" indent="0">
              <a:lnSpc>
                <a:spcPts val="1500"/>
              </a:lnSpc>
              <a:buNone/>
            </a:pPr>
            <a:r>
              <a:rPr lang="en-US" sz="1050" dirty="0">
                <a:solidFill>
                  <a:srgbClr val="06304A"/>
                </a:solidFill>
                <a:latin typeface="Courier New" pitchFamily="34" charset="0"/>
                <a:ea typeface="Courier New" pitchFamily="34" charset="-122"/>
                <a:cs typeface="Courier New" pitchFamily="34" charset="-120"/>
              </a:rPr>
              <a:t>glosa             texto libre       0.0%</a:t>
            </a:r>
            <a:endParaRPr lang="en-US" sz="1050" dirty="0"/>
          </a:p>
        </p:txBody>
      </p:sp>
      <p:sp>
        <p:nvSpPr>
          <p:cNvPr id="7" name="Shape 5"/>
          <p:cNvSpPr/>
          <p:nvPr/>
        </p:nvSpPr>
        <p:spPr>
          <a:xfrm>
            <a:off x="6858000" y="1737360"/>
            <a:ext cx="4754880" cy="3749040"/>
          </a:xfrm>
          <a:prstGeom prst="roundRect">
            <a:avLst>
              <a:gd name="adj" fmla="val 2195"/>
            </a:avLst>
          </a:prstGeom>
          <a:solidFill>
            <a:srgbClr val="0A1526"/>
          </a:solidFill>
          <a:ln w="12700">
            <a:solidFill>
              <a:srgbClr val="0A1526"/>
            </a:solidFill>
            <a:prstDash val="solid"/>
          </a:ln>
        </p:spPr>
        <p:txBody>
          <a:bodyPr/>
          <a:lstStyle/>
          <a:p>
            <a:endParaRPr lang="es-CL"/>
          </a:p>
        </p:txBody>
      </p:sp>
      <p:sp>
        <p:nvSpPr>
          <p:cNvPr id="8" name="Text 6"/>
          <p:cNvSpPr/>
          <p:nvPr/>
        </p:nvSpPr>
        <p:spPr>
          <a:xfrm>
            <a:off x="7132320" y="1874520"/>
            <a:ext cx="4206240" cy="274320"/>
          </a:xfrm>
          <a:prstGeom prst="rect">
            <a:avLst/>
          </a:prstGeom>
          <a:noFill/>
          <a:ln/>
        </p:spPr>
        <p:txBody>
          <a:bodyPr wrap="square" lIns="0" tIns="0" rIns="0" bIns="0" rtlCol="0" anchor="ctr"/>
          <a:lstStyle/>
          <a:p>
            <a:pPr marL="0" indent="0">
              <a:buNone/>
            </a:pPr>
            <a:r>
              <a:rPr lang="en-US" sz="1100" b="1" dirty="0">
                <a:solidFill>
                  <a:srgbClr val="AC212E"/>
                </a:solidFill>
                <a:latin typeface="Courier New" pitchFamily="34" charset="0"/>
                <a:ea typeface="Courier New" pitchFamily="34" charset="-122"/>
                <a:cs typeface="Courier New" pitchFamily="34" charset="-120"/>
              </a:rPr>
              <a:t>REQUISITOS</a:t>
            </a:r>
            <a:endParaRPr lang="en-US" sz="1100" dirty="0"/>
          </a:p>
        </p:txBody>
      </p:sp>
      <p:sp>
        <p:nvSpPr>
          <p:cNvPr id="9" name="Text 7"/>
          <p:cNvSpPr/>
          <p:nvPr/>
        </p:nvSpPr>
        <p:spPr>
          <a:xfrm>
            <a:off x="7132320" y="2240280"/>
            <a:ext cx="777240" cy="274320"/>
          </a:xfrm>
          <a:prstGeom prst="rect">
            <a:avLst/>
          </a:prstGeom>
          <a:noFill/>
          <a:ln/>
        </p:spPr>
        <p:txBody>
          <a:bodyPr wrap="square" lIns="0" tIns="0" rIns="0" bIns="0" rtlCol="0" anchor="ctr"/>
          <a:lstStyle/>
          <a:p>
            <a:pPr marL="0" indent="0">
              <a:buNone/>
            </a:pPr>
            <a:r>
              <a:rPr lang="en-US" sz="1000" dirty="0">
                <a:solidFill>
                  <a:srgbClr val="63D297"/>
                </a:solidFill>
                <a:latin typeface="Courier New" pitchFamily="34" charset="0"/>
                <a:ea typeface="Courier New" pitchFamily="34" charset="-122"/>
                <a:cs typeface="Courier New" pitchFamily="34" charset="-120"/>
              </a:rPr>
              <a:t>[ OK ]</a:t>
            </a:r>
            <a:endParaRPr lang="en-US" sz="1000" dirty="0"/>
          </a:p>
        </p:txBody>
      </p:sp>
      <p:sp>
        <p:nvSpPr>
          <p:cNvPr id="10" name="Text 8"/>
          <p:cNvSpPr/>
          <p:nvPr/>
        </p:nvSpPr>
        <p:spPr>
          <a:xfrm>
            <a:off x="8001000" y="2240280"/>
            <a:ext cx="3383280" cy="274320"/>
          </a:xfrm>
          <a:prstGeom prst="rect">
            <a:avLst/>
          </a:prstGeom>
          <a:noFill/>
          <a:ln/>
        </p:spPr>
        <p:txBody>
          <a:bodyPr wrap="square" lIns="0" tIns="0" rIns="0" bIns="0" rtlCol="0" anchor="ctr"/>
          <a:lstStyle/>
          <a:p>
            <a:pPr marL="0" indent="0">
              <a:buNone/>
            </a:pPr>
            <a:r>
              <a:rPr lang="en-US" sz="1000" dirty="0">
                <a:solidFill>
                  <a:srgbClr val="D7E3EE"/>
                </a:solidFill>
                <a:latin typeface="Courier New" pitchFamily="34" charset="0"/>
                <a:ea typeface="Courier New" pitchFamily="34" charset="-122"/>
                <a:cs typeface="Courier New" pitchFamily="34" charset="-120"/>
              </a:rPr>
              <a:t>2.000+ filas</a:t>
            </a:r>
            <a:endParaRPr lang="en-US" sz="1000" dirty="0"/>
          </a:p>
        </p:txBody>
      </p:sp>
      <p:sp>
        <p:nvSpPr>
          <p:cNvPr id="11" name="Text 9"/>
          <p:cNvSpPr/>
          <p:nvPr/>
        </p:nvSpPr>
        <p:spPr>
          <a:xfrm>
            <a:off x="7132320" y="2551176"/>
            <a:ext cx="777240" cy="274320"/>
          </a:xfrm>
          <a:prstGeom prst="rect">
            <a:avLst/>
          </a:prstGeom>
          <a:noFill/>
          <a:ln/>
        </p:spPr>
        <p:txBody>
          <a:bodyPr wrap="square" lIns="0" tIns="0" rIns="0" bIns="0" rtlCol="0" anchor="ctr"/>
          <a:lstStyle/>
          <a:p>
            <a:pPr marL="0" indent="0">
              <a:buNone/>
            </a:pPr>
            <a:r>
              <a:rPr lang="en-US" sz="1000" dirty="0">
                <a:solidFill>
                  <a:srgbClr val="63D297"/>
                </a:solidFill>
                <a:latin typeface="Courier New" pitchFamily="34" charset="0"/>
                <a:ea typeface="Courier New" pitchFamily="34" charset="-122"/>
                <a:cs typeface="Courier New" pitchFamily="34" charset="-120"/>
              </a:rPr>
              <a:t>[ OK ]</a:t>
            </a:r>
            <a:endParaRPr lang="en-US" sz="1000" dirty="0"/>
          </a:p>
        </p:txBody>
      </p:sp>
      <p:sp>
        <p:nvSpPr>
          <p:cNvPr id="12" name="Text 10"/>
          <p:cNvSpPr/>
          <p:nvPr/>
        </p:nvSpPr>
        <p:spPr>
          <a:xfrm>
            <a:off x="8001000" y="2551176"/>
            <a:ext cx="3383280" cy="274320"/>
          </a:xfrm>
          <a:prstGeom prst="rect">
            <a:avLst/>
          </a:prstGeom>
          <a:noFill/>
          <a:ln/>
        </p:spPr>
        <p:txBody>
          <a:bodyPr wrap="square" lIns="0" tIns="0" rIns="0" bIns="0" rtlCol="0" anchor="ctr"/>
          <a:lstStyle/>
          <a:p>
            <a:pPr marL="0" indent="0">
              <a:buNone/>
            </a:pPr>
            <a:r>
              <a:rPr lang="en-US" sz="1000" dirty="0">
                <a:solidFill>
                  <a:srgbClr val="D7E3EE"/>
                </a:solidFill>
                <a:latin typeface="Courier New" pitchFamily="34" charset="0"/>
                <a:ea typeface="Courier New" pitchFamily="34" charset="-122"/>
                <a:cs typeface="Courier New" pitchFamily="34" charset="-120"/>
              </a:rPr>
              <a:t>12+ columnas</a:t>
            </a:r>
            <a:endParaRPr lang="en-US" sz="1000" dirty="0"/>
          </a:p>
        </p:txBody>
      </p:sp>
      <p:sp>
        <p:nvSpPr>
          <p:cNvPr id="13" name="Text 11"/>
          <p:cNvSpPr/>
          <p:nvPr/>
        </p:nvSpPr>
        <p:spPr>
          <a:xfrm>
            <a:off x="7132320" y="2862072"/>
            <a:ext cx="777240" cy="274320"/>
          </a:xfrm>
          <a:prstGeom prst="rect">
            <a:avLst/>
          </a:prstGeom>
          <a:noFill/>
          <a:ln/>
        </p:spPr>
        <p:txBody>
          <a:bodyPr wrap="square" lIns="0" tIns="0" rIns="0" bIns="0" rtlCol="0" anchor="ctr"/>
          <a:lstStyle/>
          <a:p>
            <a:pPr marL="0" indent="0">
              <a:buNone/>
            </a:pPr>
            <a:r>
              <a:rPr lang="en-US" sz="1000" dirty="0">
                <a:solidFill>
                  <a:srgbClr val="63D297"/>
                </a:solidFill>
                <a:latin typeface="Courier New" pitchFamily="34" charset="0"/>
                <a:ea typeface="Courier New" pitchFamily="34" charset="-122"/>
                <a:cs typeface="Courier New" pitchFamily="34" charset="-120"/>
              </a:rPr>
              <a:t>[ OK ]</a:t>
            </a:r>
            <a:endParaRPr lang="en-US" sz="1000" dirty="0"/>
          </a:p>
        </p:txBody>
      </p:sp>
      <p:sp>
        <p:nvSpPr>
          <p:cNvPr id="14" name="Text 12"/>
          <p:cNvSpPr/>
          <p:nvPr/>
        </p:nvSpPr>
        <p:spPr>
          <a:xfrm>
            <a:off x="8001000" y="2862072"/>
            <a:ext cx="3383280" cy="274320"/>
          </a:xfrm>
          <a:prstGeom prst="rect">
            <a:avLst/>
          </a:prstGeom>
          <a:noFill/>
          <a:ln/>
        </p:spPr>
        <p:txBody>
          <a:bodyPr wrap="square" lIns="0" tIns="0" rIns="0" bIns="0" rtlCol="0" anchor="ctr"/>
          <a:lstStyle/>
          <a:p>
            <a:pPr marL="0" indent="0">
              <a:buNone/>
            </a:pPr>
            <a:r>
              <a:rPr lang="en-US" sz="1000" dirty="0">
                <a:solidFill>
                  <a:srgbClr val="D7E3EE"/>
                </a:solidFill>
                <a:latin typeface="Courier New" pitchFamily="34" charset="0"/>
                <a:ea typeface="Courier New" pitchFamily="34" charset="-122"/>
                <a:cs typeface="Courier New" pitchFamily="34" charset="-120"/>
              </a:rPr>
              <a:t>2+ continuas</a:t>
            </a:r>
            <a:endParaRPr lang="en-US" sz="1000" dirty="0"/>
          </a:p>
        </p:txBody>
      </p:sp>
      <p:sp>
        <p:nvSpPr>
          <p:cNvPr id="15" name="Text 13"/>
          <p:cNvSpPr/>
          <p:nvPr/>
        </p:nvSpPr>
        <p:spPr>
          <a:xfrm>
            <a:off x="7132320" y="3172968"/>
            <a:ext cx="777240" cy="274320"/>
          </a:xfrm>
          <a:prstGeom prst="rect">
            <a:avLst/>
          </a:prstGeom>
          <a:noFill/>
          <a:ln/>
        </p:spPr>
        <p:txBody>
          <a:bodyPr wrap="square" lIns="0" tIns="0" rIns="0" bIns="0" rtlCol="0" anchor="ctr"/>
          <a:lstStyle/>
          <a:p>
            <a:pPr marL="0" indent="0">
              <a:buNone/>
            </a:pPr>
            <a:r>
              <a:rPr lang="en-US" sz="1000" dirty="0">
                <a:solidFill>
                  <a:srgbClr val="63D297"/>
                </a:solidFill>
                <a:latin typeface="Courier New" pitchFamily="34" charset="0"/>
                <a:ea typeface="Courier New" pitchFamily="34" charset="-122"/>
                <a:cs typeface="Courier New" pitchFamily="34" charset="-120"/>
              </a:rPr>
              <a:t>[ OK ]</a:t>
            </a:r>
            <a:endParaRPr lang="en-US" sz="1000" dirty="0"/>
          </a:p>
        </p:txBody>
      </p:sp>
      <p:sp>
        <p:nvSpPr>
          <p:cNvPr id="16" name="Text 14"/>
          <p:cNvSpPr/>
          <p:nvPr/>
        </p:nvSpPr>
        <p:spPr>
          <a:xfrm>
            <a:off x="8001000" y="3172968"/>
            <a:ext cx="3383280" cy="274320"/>
          </a:xfrm>
          <a:prstGeom prst="rect">
            <a:avLst/>
          </a:prstGeom>
          <a:noFill/>
          <a:ln/>
        </p:spPr>
        <p:txBody>
          <a:bodyPr wrap="square" lIns="0" tIns="0" rIns="0" bIns="0" rtlCol="0" anchor="ctr"/>
          <a:lstStyle/>
          <a:p>
            <a:pPr marL="0" indent="0">
              <a:buNone/>
            </a:pPr>
            <a:r>
              <a:rPr lang="en-US" sz="1000" dirty="0">
                <a:solidFill>
                  <a:srgbClr val="D7E3EE"/>
                </a:solidFill>
                <a:latin typeface="Courier New" pitchFamily="34" charset="0"/>
                <a:ea typeface="Courier New" pitchFamily="34" charset="-122"/>
                <a:cs typeface="Courier New" pitchFamily="34" charset="-120"/>
              </a:rPr>
              <a:t>1+ discreta</a:t>
            </a:r>
            <a:endParaRPr lang="en-US" sz="1000" dirty="0"/>
          </a:p>
        </p:txBody>
      </p:sp>
      <p:sp>
        <p:nvSpPr>
          <p:cNvPr id="17" name="Text 15"/>
          <p:cNvSpPr/>
          <p:nvPr/>
        </p:nvSpPr>
        <p:spPr>
          <a:xfrm>
            <a:off x="7132320" y="3483864"/>
            <a:ext cx="777240" cy="274320"/>
          </a:xfrm>
          <a:prstGeom prst="rect">
            <a:avLst/>
          </a:prstGeom>
          <a:noFill/>
          <a:ln/>
        </p:spPr>
        <p:txBody>
          <a:bodyPr wrap="square" lIns="0" tIns="0" rIns="0" bIns="0" rtlCol="0" anchor="ctr"/>
          <a:lstStyle/>
          <a:p>
            <a:pPr marL="0" indent="0">
              <a:buNone/>
            </a:pPr>
            <a:r>
              <a:rPr lang="en-US" sz="1000" dirty="0">
                <a:solidFill>
                  <a:srgbClr val="63D297"/>
                </a:solidFill>
                <a:latin typeface="Courier New" pitchFamily="34" charset="0"/>
                <a:ea typeface="Courier New" pitchFamily="34" charset="-122"/>
                <a:cs typeface="Courier New" pitchFamily="34" charset="-120"/>
              </a:rPr>
              <a:t>[ OK ]</a:t>
            </a:r>
            <a:endParaRPr lang="en-US" sz="1000" dirty="0"/>
          </a:p>
        </p:txBody>
      </p:sp>
      <p:sp>
        <p:nvSpPr>
          <p:cNvPr id="18" name="Text 16"/>
          <p:cNvSpPr/>
          <p:nvPr/>
        </p:nvSpPr>
        <p:spPr>
          <a:xfrm>
            <a:off x="8001000" y="3483864"/>
            <a:ext cx="3383280" cy="274320"/>
          </a:xfrm>
          <a:prstGeom prst="rect">
            <a:avLst/>
          </a:prstGeom>
          <a:noFill/>
          <a:ln/>
        </p:spPr>
        <p:txBody>
          <a:bodyPr wrap="square" lIns="0" tIns="0" rIns="0" bIns="0" rtlCol="0" anchor="ctr"/>
          <a:lstStyle/>
          <a:p>
            <a:pPr marL="0" indent="0">
              <a:buNone/>
            </a:pPr>
            <a:r>
              <a:rPr lang="en-US" sz="1000" dirty="0">
                <a:solidFill>
                  <a:srgbClr val="D7E3EE"/>
                </a:solidFill>
                <a:latin typeface="Courier New" pitchFamily="34" charset="0"/>
                <a:ea typeface="Courier New" pitchFamily="34" charset="-122"/>
                <a:cs typeface="Courier New" pitchFamily="34" charset="-120"/>
              </a:rPr>
              <a:t>2+ nominales</a:t>
            </a:r>
            <a:endParaRPr lang="en-US" sz="1000" dirty="0"/>
          </a:p>
        </p:txBody>
      </p:sp>
      <p:sp>
        <p:nvSpPr>
          <p:cNvPr id="19" name="Text 17"/>
          <p:cNvSpPr/>
          <p:nvPr/>
        </p:nvSpPr>
        <p:spPr>
          <a:xfrm>
            <a:off x="7132320" y="3794760"/>
            <a:ext cx="777240" cy="274320"/>
          </a:xfrm>
          <a:prstGeom prst="rect">
            <a:avLst/>
          </a:prstGeom>
          <a:noFill/>
          <a:ln/>
        </p:spPr>
        <p:txBody>
          <a:bodyPr wrap="square" lIns="0" tIns="0" rIns="0" bIns="0" rtlCol="0" anchor="ctr"/>
          <a:lstStyle/>
          <a:p>
            <a:pPr marL="0" indent="0">
              <a:buNone/>
            </a:pPr>
            <a:r>
              <a:rPr lang="en-US" sz="1000" dirty="0">
                <a:solidFill>
                  <a:srgbClr val="63D297"/>
                </a:solidFill>
                <a:latin typeface="Courier New" pitchFamily="34" charset="0"/>
                <a:ea typeface="Courier New" pitchFamily="34" charset="-122"/>
                <a:cs typeface="Courier New" pitchFamily="34" charset="-120"/>
              </a:rPr>
              <a:t>[ OK ]</a:t>
            </a:r>
            <a:endParaRPr lang="en-US" sz="1000" dirty="0"/>
          </a:p>
        </p:txBody>
      </p:sp>
      <p:sp>
        <p:nvSpPr>
          <p:cNvPr id="20" name="Text 18"/>
          <p:cNvSpPr/>
          <p:nvPr/>
        </p:nvSpPr>
        <p:spPr>
          <a:xfrm>
            <a:off x="8001000" y="3794760"/>
            <a:ext cx="3383280" cy="274320"/>
          </a:xfrm>
          <a:prstGeom prst="rect">
            <a:avLst/>
          </a:prstGeom>
          <a:noFill/>
          <a:ln/>
        </p:spPr>
        <p:txBody>
          <a:bodyPr wrap="square" lIns="0" tIns="0" rIns="0" bIns="0" rtlCol="0" anchor="ctr"/>
          <a:lstStyle/>
          <a:p>
            <a:pPr marL="0" indent="0">
              <a:buNone/>
            </a:pPr>
            <a:r>
              <a:rPr lang="en-US" sz="1000" dirty="0">
                <a:solidFill>
                  <a:srgbClr val="D7E3EE"/>
                </a:solidFill>
                <a:latin typeface="Courier New" pitchFamily="34" charset="0"/>
                <a:ea typeface="Courier New" pitchFamily="34" charset="-122"/>
                <a:cs typeface="Courier New" pitchFamily="34" charset="-120"/>
              </a:rPr>
              <a:t>1+ binaria</a:t>
            </a:r>
            <a:endParaRPr lang="en-US" sz="1000" dirty="0"/>
          </a:p>
        </p:txBody>
      </p:sp>
      <p:sp>
        <p:nvSpPr>
          <p:cNvPr id="21" name="Text 19"/>
          <p:cNvSpPr/>
          <p:nvPr/>
        </p:nvSpPr>
        <p:spPr>
          <a:xfrm>
            <a:off x="7132320" y="4105656"/>
            <a:ext cx="777240" cy="274320"/>
          </a:xfrm>
          <a:prstGeom prst="rect">
            <a:avLst/>
          </a:prstGeom>
          <a:noFill/>
          <a:ln/>
        </p:spPr>
        <p:txBody>
          <a:bodyPr wrap="square" lIns="0" tIns="0" rIns="0" bIns="0" rtlCol="0" anchor="ctr"/>
          <a:lstStyle/>
          <a:p>
            <a:pPr marL="0" indent="0">
              <a:buNone/>
            </a:pPr>
            <a:r>
              <a:rPr lang="en-US" sz="1000" dirty="0">
                <a:solidFill>
                  <a:srgbClr val="63D297"/>
                </a:solidFill>
                <a:latin typeface="Courier New" pitchFamily="34" charset="0"/>
                <a:ea typeface="Courier New" pitchFamily="34" charset="-122"/>
                <a:cs typeface="Courier New" pitchFamily="34" charset="-120"/>
              </a:rPr>
              <a:t>[ OK ]</a:t>
            </a:r>
            <a:endParaRPr lang="en-US" sz="1000" dirty="0"/>
          </a:p>
        </p:txBody>
      </p:sp>
      <p:sp>
        <p:nvSpPr>
          <p:cNvPr id="22" name="Text 20"/>
          <p:cNvSpPr/>
          <p:nvPr/>
        </p:nvSpPr>
        <p:spPr>
          <a:xfrm>
            <a:off x="8001000" y="4105656"/>
            <a:ext cx="3383280" cy="274320"/>
          </a:xfrm>
          <a:prstGeom prst="rect">
            <a:avLst/>
          </a:prstGeom>
          <a:noFill/>
          <a:ln/>
        </p:spPr>
        <p:txBody>
          <a:bodyPr wrap="square" lIns="0" tIns="0" rIns="0" bIns="0" rtlCol="0" anchor="ctr"/>
          <a:lstStyle/>
          <a:p>
            <a:pPr marL="0" indent="0">
              <a:buNone/>
            </a:pPr>
            <a:r>
              <a:rPr lang="en-US" sz="1000" dirty="0">
                <a:solidFill>
                  <a:srgbClr val="D7E3EE"/>
                </a:solidFill>
                <a:latin typeface="Courier New" pitchFamily="34" charset="0"/>
                <a:ea typeface="Courier New" pitchFamily="34" charset="-122"/>
                <a:cs typeface="Courier New" pitchFamily="34" charset="-120"/>
              </a:rPr>
              <a:t>1+ fecha</a:t>
            </a:r>
            <a:endParaRPr lang="en-US" sz="1000" dirty="0"/>
          </a:p>
        </p:txBody>
      </p:sp>
      <p:sp>
        <p:nvSpPr>
          <p:cNvPr id="23" name="Text 21"/>
          <p:cNvSpPr/>
          <p:nvPr/>
        </p:nvSpPr>
        <p:spPr>
          <a:xfrm>
            <a:off x="7132320" y="4416552"/>
            <a:ext cx="777240" cy="274320"/>
          </a:xfrm>
          <a:prstGeom prst="rect">
            <a:avLst/>
          </a:prstGeom>
          <a:noFill/>
          <a:ln/>
        </p:spPr>
        <p:txBody>
          <a:bodyPr wrap="square" lIns="0" tIns="0" rIns="0" bIns="0" rtlCol="0" anchor="ctr"/>
          <a:lstStyle/>
          <a:p>
            <a:pPr marL="0" indent="0">
              <a:buNone/>
            </a:pPr>
            <a:r>
              <a:rPr lang="en-US" sz="1000" dirty="0">
                <a:solidFill>
                  <a:srgbClr val="63D297"/>
                </a:solidFill>
                <a:latin typeface="Courier New" pitchFamily="34" charset="0"/>
                <a:ea typeface="Courier New" pitchFamily="34" charset="-122"/>
                <a:cs typeface="Courier New" pitchFamily="34" charset="-120"/>
              </a:rPr>
              <a:t>[ OK ]</a:t>
            </a:r>
            <a:endParaRPr lang="en-US" sz="1000" dirty="0"/>
          </a:p>
        </p:txBody>
      </p:sp>
      <p:sp>
        <p:nvSpPr>
          <p:cNvPr id="24" name="Text 22"/>
          <p:cNvSpPr/>
          <p:nvPr/>
        </p:nvSpPr>
        <p:spPr>
          <a:xfrm>
            <a:off x="8001000" y="4416552"/>
            <a:ext cx="3383280" cy="274320"/>
          </a:xfrm>
          <a:prstGeom prst="rect">
            <a:avLst/>
          </a:prstGeom>
          <a:noFill/>
          <a:ln/>
        </p:spPr>
        <p:txBody>
          <a:bodyPr wrap="square" lIns="0" tIns="0" rIns="0" bIns="0" rtlCol="0" anchor="ctr"/>
          <a:lstStyle/>
          <a:p>
            <a:pPr marL="0" indent="0">
              <a:buNone/>
            </a:pPr>
            <a:r>
              <a:rPr lang="en-US" sz="1000" dirty="0">
                <a:solidFill>
                  <a:srgbClr val="D7E3EE"/>
                </a:solidFill>
                <a:latin typeface="Courier New" pitchFamily="34" charset="0"/>
                <a:ea typeface="Courier New" pitchFamily="34" charset="-122"/>
                <a:cs typeface="Courier New" pitchFamily="34" charset="-120"/>
              </a:rPr>
              <a:t>1+ alta cardinalidad</a:t>
            </a:r>
            <a:endParaRPr lang="en-US" sz="1000" dirty="0"/>
          </a:p>
        </p:txBody>
      </p:sp>
      <p:sp>
        <p:nvSpPr>
          <p:cNvPr id="25" name="Text 23"/>
          <p:cNvSpPr/>
          <p:nvPr/>
        </p:nvSpPr>
        <p:spPr>
          <a:xfrm>
            <a:off x="7132320" y="4727448"/>
            <a:ext cx="777240" cy="274320"/>
          </a:xfrm>
          <a:prstGeom prst="rect">
            <a:avLst/>
          </a:prstGeom>
          <a:noFill/>
          <a:ln/>
        </p:spPr>
        <p:txBody>
          <a:bodyPr wrap="square" lIns="0" tIns="0" rIns="0" bIns="0" rtlCol="0" anchor="ctr"/>
          <a:lstStyle/>
          <a:p>
            <a:pPr marL="0" indent="0">
              <a:buNone/>
            </a:pPr>
            <a:r>
              <a:rPr lang="en-US" sz="1000" dirty="0">
                <a:solidFill>
                  <a:srgbClr val="63D297"/>
                </a:solidFill>
                <a:latin typeface="Courier New" pitchFamily="34" charset="0"/>
                <a:ea typeface="Courier New" pitchFamily="34" charset="-122"/>
                <a:cs typeface="Courier New" pitchFamily="34" charset="-120"/>
              </a:rPr>
              <a:t>[ OK ]</a:t>
            </a:r>
            <a:endParaRPr lang="en-US" sz="1000" dirty="0"/>
          </a:p>
        </p:txBody>
      </p:sp>
      <p:sp>
        <p:nvSpPr>
          <p:cNvPr id="26" name="Text 24"/>
          <p:cNvSpPr/>
          <p:nvPr/>
        </p:nvSpPr>
        <p:spPr>
          <a:xfrm>
            <a:off x="8001000" y="4727448"/>
            <a:ext cx="3383280" cy="274320"/>
          </a:xfrm>
          <a:prstGeom prst="rect">
            <a:avLst/>
          </a:prstGeom>
          <a:noFill/>
          <a:ln/>
        </p:spPr>
        <p:txBody>
          <a:bodyPr wrap="square" lIns="0" tIns="0" rIns="0" bIns="0" rtlCol="0" anchor="ctr"/>
          <a:lstStyle/>
          <a:p>
            <a:pPr marL="0" indent="0">
              <a:buNone/>
            </a:pPr>
            <a:r>
              <a:rPr lang="en-US" sz="1000" dirty="0">
                <a:solidFill>
                  <a:srgbClr val="D7E3EE"/>
                </a:solidFill>
                <a:latin typeface="Courier New" pitchFamily="34" charset="0"/>
                <a:ea typeface="Courier New" pitchFamily="34" charset="-122"/>
                <a:cs typeface="Courier New" pitchFamily="34" charset="-120"/>
              </a:rPr>
              <a:t>Hay faltantes (máx. 8%)</a:t>
            </a:r>
            <a:endParaRPr lang="en-US" sz="1000" dirty="0"/>
          </a:p>
        </p:txBody>
      </p:sp>
      <p:sp>
        <p:nvSpPr>
          <p:cNvPr id="27" name="Text 25"/>
          <p:cNvSpPr/>
          <p:nvPr/>
        </p:nvSpPr>
        <p:spPr>
          <a:xfrm>
            <a:off x="7132320" y="4983480"/>
            <a:ext cx="4206240" cy="457200"/>
          </a:xfrm>
          <a:prstGeom prst="rect">
            <a:avLst/>
          </a:prstGeom>
          <a:noFill/>
          <a:ln/>
        </p:spPr>
        <p:txBody>
          <a:bodyPr wrap="square" lIns="0" tIns="0" rIns="0" bIns="0" rtlCol="0" anchor="ctr"/>
          <a:lstStyle/>
          <a:p>
            <a:pPr marL="0" indent="0">
              <a:lnSpc>
                <a:spcPts val="1400"/>
              </a:lnSpc>
              <a:buNone/>
            </a:pPr>
            <a:r>
              <a:rPr lang="en-US" sz="1050" b="1" dirty="0">
                <a:solidFill>
                  <a:srgbClr val="FFFFFF"/>
                </a:solidFill>
                <a:latin typeface="Courier New" pitchFamily="34" charset="0"/>
                <a:ea typeface="Courier New" pitchFamily="34" charset="-122"/>
                <a:cs typeface="Courier New" pitchFamily="34" charset="-120"/>
              </a:rPr>
              <a:t>RESULTADO: el dataset CUMPLE</a:t>
            </a:r>
            <a:endParaRPr lang="en-US" sz="1050" dirty="0"/>
          </a:p>
          <a:p>
            <a:pPr marL="0" indent="0">
              <a:lnSpc>
                <a:spcPts val="1400"/>
              </a:lnSpc>
              <a:buNone/>
            </a:pPr>
            <a:r>
              <a:rPr lang="en-US" sz="1050" b="1" dirty="0">
                <a:solidFill>
                  <a:srgbClr val="FFFFFF"/>
                </a:solidFill>
                <a:latin typeface="Courier New" pitchFamily="34" charset="0"/>
                <a:ea typeface="Courier New" pitchFamily="34" charset="-122"/>
                <a:cs typeface="Courier New" pitchFamily="34" charset="-120"/>
              </a:rPr>
              <a:t>los requisitos mínimos.</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Tener el dataset no es tener la pregunta</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Una vez validado el conjunto de datos, falta el paso que define el proyecto.</a:t>
            </a:r>
            <a:endParaRPr lang="en-US" sz="1400" dirty="0"/>
          </a:p>
        </p:txBody>
      </p:sp>
      <p:sp>
        <p:nvSpPr>
          <p:cNvPr id="4" name="Shape 2"/>
          <p:cNvSpPr/>
          <p:nvPr/>
        </p:nvSpPr>
        <p:spPr>
          <a:xfrm>
            <a:off x="548640" y="1874520"/>
            <a:ext cx="3520440" cy="1645920"/>
          </a:xfrm>
          <a:prstGeom prst="roundRect">
            <a:avLst>
              <a:gd name="adj" fmla="val 5000"/>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777240" y="2084832"/>
            <a:ext cx="420624" cy="420624"/>
          </a:xfrm>
          <a:prstGeom prst="ellipse">
            <a:avLst/>
          </a:prstGeom>
          <a:solidFill>
            <a:srgbClr val="AC212E"/>
          </a:solidFill>
          <a:ln/>
        </p:spPr>
        <p:txBody>
          <a:bodyPr/>
          <a:lstStyle/>
          <a:p>
            <a:endParaRPr lang="es-CL"/>
          </a:p>
        </p:txBody>
      </p:sp>
      <p:sp>
        <p:nvSpPr>
          <p:cNvPr id="6" name="Text 4"/>
          <p:cNvSpPr/>
          <p:nvPr/>
        </p:nvSpPr>
        <p:spPr>
          <a:xfrm>
            <a:off x="777240" y="208483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25880" y="2057400"/>
            <a:ext cx="2514600" cy="45720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Dataset validado</a:t>
            </a:r>
            <a:endParaRPr lang="en-US" sz="1500" dirty="0"/>
          </a:p>
        </p:txBody>
      </p:sp>
      <p:sp>
        <p:nvSpPr>
          <p:cNvPr id="8" name="Text 6"/>
          <p:cNvSpPr/>
          <p:nvPr/>
        </p:nvSpPr>
        <p:spPr>
          <a:xfrm>
            <a:off x="777240" y="2651760"/>
            <a:ext cx="3063240" cy="73152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Cumple los requisitos técnicos.</a:t>
            </a:r>
            <a:endParaRPr lang="en-US" sz="1250" dirty="0"/>
          </a:p>
        </p:txBody>
      </p:sp>
      <p:sp>
        <p:nvSpPr>
          <p:cNvPr id="9" name="Text 7"/>
          <p:cNvSpPr/>
          <p:nvPr/>
        </p:nvSpPr>
        <p:spPr>
          <a:xfrm>
            <a:off x="4069080" y="2468880"/>
            <a:ext cx="256032" cy="365760"/>
          </a:xfrm>
          <a:prstGeom prst="rect">
            <a:avLst/>
          </a:prstGeom>
          <a:noFill/>
          <a:ln/>
        </p:spPr>
        <p:txBody>
          <a:bodyPr wrap="square" lIns="0" tIns="0" rIns="0" bIns="0" rtlCol="0" anchor="ctr"/>
          <a:lstStyle/>
          <a:p>
            <a:pPr marL="0" indent="0" algn="ctr">
              <a:buNone/>
            </a:pPr>
            <a:r>
              <a:rPr lang="en-US" sz="1800" dirty="0">
                <a:solidFill>
                  <a:srgbClr val="AC212E"/>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4325112" y="1874520"/>
            <a:ext cx="3520440" cy="1645920"/>
          </a:xfrm>
          <a:prstGeom prst="roundRect">
            <a:avLst>
              <a:gd name="adj" fmla="val 5000"/>
            </a:avLst>
          </a:prstGeom>
          <a:solidFill>
            <a:srgbClr val="F4F7FA"/>
          </a:solidFill>
          <a:ln w="12700">
            <a:solidFill>
              <a:srgbClr val="F4F7FA"/>
            </a:solidFill>
            <a:prstDash val="solid"/>
          </a:ln>
        </p:spPr>
        <p:txBody>
          <a:bodyPr/>
          <a:lstStyle/>
          <a:p>
            <a:endParaRPr lang="es-CL"/>
          </a:p>
        </p:txBody>
      </p:sp>
      <p:sp>
        <p:nvSpPr>
          <p:cNvPr id="11" name="Shape 9"/>
          <p:cNvSpPr/>
          <p:nvPr/>
        </p:nvSpPr>
        <p:spPr>
          <a:xfrm>
            <a:off x="4553712" y="2084832"/>
            <a:ext cx="420624" cy="420624"/>
          </a:xfrm>
          <a:prstGeom prst="ellipse">
            <a:avLst/>
          </a:prstGeom>
          <a:solidFill>
            <a:srgbClr val="AC212E"/>
          </a:solidFill>
          <a:ln/>
        </p:spPr>
        <p:txBody>
          <a:bodyPr/>
          <a:lstStyle/>
          <a:p>
            <a:endParaRPr lang="es-CL"/>
          </a:p>
        </p:txBody>
      </p:sp>
      <p:sp>
        <p:nvSpPr>
          <p:cNvPr id="12" name="Text 10"/>
          <p:cNvSpPr/>
          <p:nvPr/>
        </p:nvSpPr>
        <p:spPr>
          <a:xfrm>
            <a:off x="4553712" y="208483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5102352" y="2057400"/>
            <a:ext cx="2514600" cy="45720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Exploración inicial</a:t>
            </a:r>
            <a:endParaRPr lang="en-US" sz="1500" dirty="0"/>
          </a:p>
        </p:txBody>
      </p:sp>
      <p:sp>
        <p:nvSpPr>
          <p:cNvPr id="14" name="Text 12"/>
          <p:cNvSpPr/>
          <p:nvPr/>
        </p:nvSpPr>
        <p:spPr>
          <a:xfrm>
            <a:off x="4553712" y="2651760"/>
            <a:ext cx="3063240" cy="73152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Qué variables hay y qué relaciones sugieren.</a:t>
            </a:r>
            <a:endParaRPr lang="en-US" sz="1250" dirty="0"/>
          </a:p>
        </p:txBody>
      </p:sp>
      <p:sp>
        <p:nvSpPr>
          <p:cNvPr id="15" name="Text 13"/>
          <p:cNvSpPr/>
          <p:nvPr/>
        </p:nvSpPr>
        <p:spPr>
          <a:xfrm>
            <a:off x="7845552" y="2468880"/>
            <a:ext cx="256032" cy="365760"/>
          </a:xfrm>
          <a:prstGeom prst="rect">
            <a:avLst/>
          </a:prstGeom>
          <a:noFill/>
          <a:ln/>
        </p:spPr>
        <p:txBody>
          <a:bodyPr wrap="square" lIns="0" tIns="0" rIns="0" bIns="0" rtlCol="0" anchor="ctr"/>
          <a:lstStyle/>
          <a:p>
            <a:pPr marL="0" indent="0" algn="ctr">
              <a:buNone/>
            </a:pPr>
            <a:r>
              <a:rPr lang="en-US" sz="1800" dirty="0">
                <a:solidFill>
                  <a:srgbClr val="AC212E"/>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8101584" y="1874520"/>
            <a:ext cx="3520440" cy="1645920"/>
          </a:xfrm>
          <a:prstGeom prst="roundRect">
            <a:avLst>
              <a:gd name="adj" fmla="val 5000"/>
            </a:avLst>
          </a:prstGeom>
          <a:solidFill>
            <a:srgbClr val="0A1526"/>
          </a:solidFill>
          <a:ln w="12700">
            <a:solidFill>
              <a:srgbClr val="0A1526"/>
            </a:solidFill>
            <a:prstDash val="solid"/>
          </a:ln>
        </p:spPr>
        <p:txBody>
          <a:bodyPr/>
          <a:lstStyle/>
          <a:p>
            <a:endParaRPr lang="es-CL"/>
          </a:p>
        </p:txBody>
      </p:sp>
      <p:sp>
        <p:nvSpPr>
          <p:cNvPr id="17" name="Shape 15"/>
          <p:cNvSpPr/>
          <p:nvPr/>
        </p:nvSpPr>
        <p:spPr>
          <a:xfrm>
            <a:off x="8330184" y="2084832"/>
            <a:ext cx="420624" cy="420624"/>
          </a:xfrm>
          <a:prstGeom prst="ellipse">
            <a:avLst/>
          </a:prstGeom>
          <a:solidFill>
            <a:srgbClr val="AC212E"/>
          </a:solidFill>
          <a:ln/>
        </p:spPr>
        <p:txBody>
          <a:bodyPr/>
          <a:lstStyle/>
          <a:p>
            <a:endParaRPr lang="es-CL"/>
          </a:p>
        </p:txBody>
      </p:sp>
      <p:sp>
        <p:nvSpPr>
          <p:cNvPr id="18" name="Text 16"/>
          <p:cNvSpPr/>
          <p:nvPr/>
        </p:nvSpPr>
        <p:spPr>
          <a:xfrm>
            <a:off x="8330184" y="208483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8878824" y="2057400"/>
            <a:ext cx="251460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Pregunta analizable</a:t>
            </a:r>
            <a:endParaRPr lang="en-US" sz="1500" dirty="0"/>
          </a:p>
        </p:txBody>
      </p:sp>
      <p:sp>
        <p:nvSpPr>
          <p:cNvPr id="20" name="Text 18"/>
          <p:cNvSpPr/>
          <p:nvPr/>
        </p:nvSpPr>
        <p:spPr>
          <a:xfrm>
            <a:off x="8330184" y="2651760"/>
            <a:ext cx="3063240" cy="73152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Se puede responder con estas variables y este alcance.</a:t>
            </a:r>
            <a:endParaRPr lang="en-US" sz="1250" dirty="0"/>
          </a:p>
        </p:txBody>
      </p:sp>
      <p:sp>
        <p:nvSpPr>
          <p:cNvPr id="21" name="Text 19"/>
          <p:cNvSpPr/>
          <p:nvPr/>
        </p:nvSpPr>
        <p:spPr>
          <a:xfrm>
            <a:off x="548640" y="3840480"/>
            <a:ext cx="7315200" cy="365760"/>
          </a:xfrm>
          <a:prstGeom prst="rect">
            <a:avLst/>
          </a:prstGeom>
          <a:noFill/>
          <a:ln/>
        </p:spPr>
        <p:txBody>
          <a:bodyPr wrap="square" lIns="0" tIns="0" rIns="0" bIns="0" rtlCol="0" anchor="ctr"/>
          <a:lstStyle/>
          <a:p>
            <a:pPr marL="0" indent="0">
              <a:buNone/>
            </a:pPr>
            <a:r>
              <a:rPr lang="en-US" sz="1600" b="1" dirty="0">
                <a:solidFill>
                  <a:srgbClr val="06304A"/>
                </a:solidFill>
                <a:latin typeface="Calibri" pitchFamily="34" charset="0"/>
                <a:ea typeface="Calibri" pitchFamily="34" charset="-122"/>
                <a:cs typeface="Calibri" pitchFamily="34" charset="-120"/>
              </a:rPr>
              <a:t>Tres condiciones de una pregunta analizable</a:t>
            </a:r>
            <a:endParaRPr lang="en-US" sz="1600" dirty="0"/>
          </a:p>
        </p:txBody>
      </p:sp>
      <p:sp>
        <p:nvSpPr>
          <p:cNvPr id="22" name="Shape 20"/>
          <p:cNvSpPr/>
          <p:nvPr/>
        </p:nvSpPr>
        <p:spPr>
          <a:xfrm>
            <a:off x="548640" y="4251960"/>
            <a:ext cx="3520440" cy="914400"/>
          </a:xfrm>
          <a:prstGeom prst="roundRect">
            <a:avLst>
              <a:gd name="adj" fmla="val 9000"/>
            </a:avLst>
          </a:prstGeom>
          <a:solidFill>
            <a:srgbClr val="F6E7E9"/>
          </a:solidFill>
          <a:ln w="12700">
            <a:solidFill>
              <a:srgbClr val="F6E7E9"/>
            </a:solidFill>
            <a:prstDash val="solid"/>
          </a:ln>
        </p:spPr>
        <p:txBody>
          <a:bodyPr/>
          <a:lstStyle/>
          <a:p>
            <a:endParaRPr lang="es-CL"/>
          </a:p>
        </p:txBody>
      </p:sp>
      <p:sp>
        <p:nvSpPr>
          <p:cNvPr id="23" name="Text 21"/>
          <p:cNvSpPr/>
          <p:nvPr/>
        </p:nvSpPr>
        <p:spPr>
          <a:xfrm>
            <a:off x="777240" y="4251960"/>
            <a:ext cx="3063240" cy="914400"/>
          </a:xfrm>
          <a:prstGeom prst="rect">
            <a:avLst/>
          </a:prstGeom>
          <a:noFill/>
          <a:ln/>
        </p:spPr>
        <p:txBody>
          <a:bodyPr wrap="square" lIns="0" tIns="0" rIns="0" bIns="0" rtlCol="0" anchor="ctr"/>
          <a:lstStyle/>
          <a:p>
            <a:pPr marL="0" indent="0">
              <a:lnSpc>
                <a:spcPts val="1600"/>
              </a:lnSpc>
              <a:buNone/>
            </a:pPr>
            <a:r>
              <a:rPr lang="en-US" sz="1250" dirty="0">
                <a:solidFill>
                  <a:srgbClr val="06304A"/>
                </a:solidFill>
                <a:latin typeface="Calibri" pitchFamily="34" charset="0"/>
                <a:ea typeface="Calibri" pitchFamily="34" charset="-122"/>
                <a:cs typeface="Calibri" pitchFamily="34" charset="-120"/>
              </a:rPr>
              <a:t>Los datos necesarios existen en el conjunto elegido.</a:t>
            </a:r>
            <a:endParaRPr lang="en-US" sz="1250" dirty="0"/>
          </a:p>
        </p:txBody>
      </p:sp>
      <p:sp>
        <p:nvSpPr>
          <p:cNvPr id="24" name="Shape 22"/>
          <p:cNvSpPr/>
          <p:nvPr/>
        </p:nvSpPr>
        <p:spPr>
          <a:xfrm>
            <a:off x="4325112" y="4251960"/>
            <a:ext cx="3520440" cy="914400"/>
          </a:xfrm>
          <a:prstGeom prst="roundRect">
            <a:avLst>
              <a:gd name="adj" fmla="val 9000"/>
            </a:avLst>
          </a:prstGeom>
          <a:solidFill>
            <a:srgbClr val="F6E7E9"/>
          </a:solidFill>
          <a:ln w="12700">
            <a:solidFill>
              <a:srgbClr val="F6E7E9"/>
            </a:solidFill>
            <a:prstDash val="solid"/>
          </a:ln>
        </p:spPr>
        <p:txBody>
          <a:bodyPr/>
          <a:lstStyle/>
          <a:p>
            <a:endParaRPr lang="es-CL"/>
          </a:p>
        </p:txBody>
      </p:sp>
      <p:sp>
        <p:nvSpPr>
          <p:cNvPr id="25" name="Text 23"/>
          <p:cNvSpPr/>
          <p:nvPr/>
        </p:nvSpPr>
        <p:spPr>
          <a:xfrm>
            <a:off x="4553712" y="4251960"/>
            <a:ext cx="3063240" cy="914400"/>
          </a:xfrm>
          <a:prstGeom prst="rect">
            <a:avLst/>
          </a:prstGeom>
          <a:noFill/>
          <a:ln/>
        </p:spPr>
        <p:txBody>
          <a:bodyPr wrap="square" lIns="0" tIns="0" rIns="0" bIns="0" rtlCol="0" anchor="ctr"/>
          <a:lstStyle/>
          <a:p>
            <a:pPr marL="0" indent="0">
              <a:lnSpc>
                <a:spcPts val="1600"/>
              </a:lnSpc>
              <a:buNone/>
            </a:pPr>
            <a:r>
              <a:rPr lang="en-US" sz="1250" dirty="0">
                <a:solidFill>
                  <a:srgbClr val="06304A"/>
                </a:solidFill>
                <a:latin typeface="Calibri" pitchFamily="34" charset="0"/>
                <a:ea typeface="Calibri" pitchFamily="34" charset="-122"/>
                <a:cs typeface="Calibri" pitchFamily="34" charset="-120"/>
              </a:rPr>
              <a:t>Los conceptos de la pregunta se pueden medir con esas variables.</a:t>
            </a:r>
            <a:endParaRPr lang="en-US" sz="1250" dirty="0"/>
          </a:p>
        </p:txBody>
      </p:sp>
      <p:sp>
        <p:nvSpPr>
          <p:cNvPr id="26" name="Shape 24"/>
          <p:cNvSpPr/>
          <p:nvPr/>
        </p:nvSpPr>
        <p:spPr>
          <a:xfrm>
            <a:off x="8101584" y="4251960"/>
            <a:ext cx="3520440" cy="914400"/>
          </a:xfrm>
          <a:prstGeom prst="roundRect">
            <a:avLst>
              <a:gd name="adj" fmla="val 9000"/>
            </a:avLst>
          </a:prstGeom>
          <a:solidFill>
            <a:srgbClr val="F6E7E9"/>
          </a:solidFill>
          <a:ln w="12700">
            <a:solidFill>
              <a:srgbClr val="F6E7E9"/>
            </a:solidFill>
            <a:prstDash val="solid"/>
          </a:ln>
        </p:spPr>
        <p:txBody>
          <a:bodyPr/>
          <a:lstStyle/>
          <a:p>
            <a:endParaRPr lang="es-CL"/>
          </a:p>
        </p:txBody>
      </p:sp>
      <p:sp>
        <p:nvSpPr>
          <p:cNvPr id="27" name="Text 25"/>
          <p:cNvSpPr/>
          <p:nvPr/>
        </p:nvSpPr>
        <p:spPr>
          <a:xfrm>
            <a:off x="8330184" y="4251960"/>
            <a:ext cx="3063240" cy="914400"/>
          </a:xfrm>
          <a:prstGeom prst="rect">
            <a:avLst/>
          </a:prstGeom>
          <a:noFill/>
          <a:ln/>
        </p:spPr>
        <p:txBody>
          <a:bodyPr wrap="square" lIns="0" tIns="0" rIns="0" bIns="0" rtlCol="0" anchor="ctr"/>
          <a:lstStyle/>
          <a:p>
            <a:pPr marL="0" indent="0">
              <a:lnSpc>
                <a:spcPts val="1600"/>
              </a:lnSpc>
              <a:buNone/>
            </a:pPr>
            <a:r>
              <a:rPr lang="en-US" sz="1250" dirty="0">
                <a:solidFill>
                  <a:srgbClr val="06304A"/>
                </a:solidFill>
                <a:latin typeface="Calibri" pitchFamily="34" charset="0"/>
                <a:ea typeface="Calibri" pitchFamily="34" charset="-122"/>
                <a:cs typeface="Calibri" pitchFamily="34" charset="-120"/>
              </a:rPr>
              <a:t>El alcance está acotado: se sabe qué queda fuera.</a:t>
            </a:r>
            <a:endParaRPr lang="en-US" sz="1250" dirty="0"/>
          </a:p>
        </p:txBody>
      </p:sp>
      <p:sp>
        <p:nvSpPr>
          <p:cNvPr id="28" name="Text 26"/>
          <p:cNvSpPr/>
          <p:nvPr/>
        </p:nvSpPr>
        <p:spPr>
          <a:xfrm>
            <a:off x="548640" y="5440680"/>
            <a:ext cx="11064240" cy="411480"/>
          </a:xfrm>
          <a:prstGeom prst="rect">
            <a:avLst/>
          </a:prstGeom>
          <a:noFill/>
          <a:ln/>
        </p:spPr>
        <p:txBody>
          <a:bodyPr wrap="square" lIns="0" tIns="0" rIns="0" bIns="0" rtlCol="0" anchor="ctr"/>
          <a:lstStyle/>
          <a:p>
            <a:pPr marL="0" indent="0">
              <a:buNone/>
            </a:pPr>
            <a:r>
              <a:rPr lang="en-US" sz="1400" i="1" dirty="0">
                <a:solidFill>
                  <a:srgbClr val="06304A"/>
                </a:solidFill>
                <a:latin typeface="Calibri" pitchFamily="34" charset="0"/>
                <a:ea typeface="Calibri" pitchFamily="34" charset="-122"/>
                <a:cs typeface="Calibri" pitchFamily="34" charset="-120"/>
              </a:rPr>
              <a:t>Ambas cosas —el dataset y la pregunta— se declaran en el entregable de la Formativa 1.</a:t>
            </a:r>
            <a:endParaRPr lang="en-US" sz="1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A152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55000"/>
          </a:blip>
          <a:stretch>
            <a:fillRect/>
          </a:stretch>
        </p:blipFill>
        <p:spPr>
          <a:xfrm>
            <a:off x="6675120" y="0"/>
            <a:ext cx="5513832" cy="3227832"/>
          </a:xfrm>
          <a:prstGeom prst="rect">
            <a:avLst/>
          </a:prstGeom>
        </p:spPr>
      </p:pic>
      <p:sp>
        <p:nvSpPr>
          <p:cNvPr id="3" name="Shape 0"/>
          <p:cNvSpPr/>
          <p:nvPr/>
        </p:nvSpPr>
        <p:spPr>
          <a:xfrm>
            <a:off x="6675120" y="0"/>
            <a:ext cx="5513832" cy="3227832"/>
          </a:xfrm>
          <a:prstGeom prst="rect">
            <a:avLst/>
          </a:prstGeom>
          <a:solidFill>
            <a:srgbClr val="0A1526">
              <a:alpha val="45000"/>
            </a:srgbClr>
          </a:solidFill>
          <a:ln w="12700">
            <a:solidFill>
              <a:srgbClr val="0A1526">
                <a:alpha val="0"/>
              </a:srgbClr>
            </a:solidFill>
            <a:prstDash val="solid"/>
          </a:ln>
        </p:spPr>
        <p:txBody>
          <a:bodyPr/>
          <a:lstStyle/>
          <a:p>
            <a:endParaRPr lang="es-CL"/>
          </a:p>
        </p:txBody>
      </p:sp>
      <p:pic>
        <p:nvPicPr>
          <p:cNvPr id="4" name="Image 1" descr="preencoded.png"/>
          <p:cNvPicPr>
            <a:picLocks noChangeAspect="1"/>
          </p:cNvPicPr>
          <p:nvPr/>
        </p:nvPicPr>
        <p:blipFill>
          <a:blip r:embed="rId4"/>
          <a:stretch>
            <a:fillRect/>
          </a:stretch>
        </p:blipFill>
        <p:spPr>
          <a:xfrm>
            <a:off x="548640" y="457200"/>
            <a:ext cx="4754880" cy="886968"/>
          </a:xfrm>
          <a:prstGeom prst="rect">
            <a:avLst/>
          </a:prstGeom>
        </p:spPr>
      </p:pic>
      <p:sp>
        <p:nvSpPr>
          <p:cNvPr id="5" name="Text 1"/>
          <p:cNvSpPr/>
          <p:nvPr/>
        </p:nvSpPr>
        <p:spPr>
          <a:xfrm>
            <a:off x="548640" y="1965960"/>
            <a:ext cx="6400800" cy="640080"/>
          </a:xfrm>
          <a:prstGeom prst="rect">
            <a:avLst/>
          </a:prstGeom>
          <a:noFill/>
          <a:ln/>
        </p:spPr>
        <p:txBody>
          <a:bodyPr wrap="square" lIns="0" tIns="0" rIns="0" bIns="0" rtlCol="0" anchor="ctr"/>
          <a:lstStyle/>
          <a:p>
            <a:pPr marL="0" indent="0">
              <a:buNone/>
            </a:pPr>
            <a:r>
              <a:rPr lang="en-US" sz="4600" b="1" kern="0" spc="300" dirty="0">
                <a:solidFill>
                  <a:srgbClr val="FFFFFF"/>
                </a:solidFill>
                <a:latin typeface="Cambria" pitchFamily="34" charset="0"/>
                <a:ea typeface="Cambria" pitchFamily="34" charset="-122"/>
                <a:cs typeface="Cambria" pitchFamily="34" charset="-120"/>
              </a:rPr>
              <a:t>FASE 1</a:t>
            </a:r>
            <a:endParaRPr lang="en-US" sz="4600" dirty="0"/>
          </a:p>
        </p:txBody>
      </p:sp>
      <p:sp>
        <p:nvSpPr>
          <p:cNvPr id="6" name="Text 2"/>
          <p:cNvSpPr/>
          <p:nvPr/>
        </p:nvSpPr>
        <p:spPr>
          <a:xfrm>
            <a:off x="548640" y="2697480"/>
            <a:ext cx="7680960" cy="548640"/>
          </a:xfrm>
          <a:prstGeom prst="rect">
            <a:avLst/>
          </a:prstGeom>
          <a:noFill/>
          <a:ln/>
        </p:spPr>
        <p:txBody>
          <a:bodyPr wrap="square" lIns="0" tIns="0" rIns="0" bIns="0" rtlCol="0" anchor="ctr"/>
          <a:lstStyle/>
          <a:p>
            <a:pPr marL="0" indent="0">
              <a:buNone/>
            </a:pPr>
            <a:r>
              <a:rPr lang="en-US" sz="2600" dirty="0">
                <a:solidFill>
                  <a:srgbClr val="D7E3EE"/>
                </a:solidFill>
                <a:latin typeface="Cambria" pitchFamily="34" charset="0"/>
                <a:ea typeface="Cambria" pitchFamily="34" charset="-122"/>
                <a:cs typeface="Cambria" pitchFamily="34" charset="-120"/>
              </a:rPr>
              <a:t>Definición y orientación de la situación</a:t>
            </a:r>
            <a:endParaRPr lang="en-US" sz="2600" dirty="0"/>
          </a:p>
        </p:txBody>
      </p:sp>
      <p:sp>
        <p:nvSpPr>
          <p:cNvPr id="7" name="Shape 3"/>
          <p:cNvSpPr/>
          <p:nvPr/>
        </p:nvSpPr>
        <p:spPr>
          <a:xfrm>
            <a:off x="548640" y="3429000"/>
            <a:ext cx="1280160" cy="45720"/>
          </a:xfrm>
          <a:prstGeom prst="rect">
            <a:avLst/>
          </a:prstGeom>
          <a:solidFill>
            <a:srgbClr val="AC212E"/>
          </a:solidFill>
          <a:ln w="12700">
            <a:solidFill>
              <a:srgbClr val="AC212E"/>
            </a:solidFill>
            <a:prstDash val="solid"/>
          </a:ln>
        </p:spPr>
        <p:txBody>
          <a:bodyPr/>
          <a:lstStyle/>
          <a:p>
            <a:endParaRPr lang="es-CL"/>
          </a:p>
        </p:txBody>
      </p:sp>
      <p:sp>
        <p:nvSpPr>
          <p:cNvPr id="8" name="Text 4"/>
          <p:cNvSpPr/>
          <p:nvPr/>
        </p:nvSpPr>
        <p:spPr>
          <a:xfrm>
            <a:off x="548640" y="3703320"/>
            <a:ext cx="7863840" cy="822960"/>
          </a:xfrm>
          <a:prstGeom prst="rect">
            <a:avLst/>
          </a:prstGeom>
          <a:noFill/>
          <a:ln/>
        </p:spPr>
        <p:txBody>
          <a:bodyPr wrap="square" lIns="0" tIns="0" rIns="0" bIns="0" rtlCol="0" anchor="ctr"/>
          <a:lstStyle/>
          <a:p>
            <a:pPr marL="0" indent="0">
              <a:lnSpc>
                <a:spcPts val="2400"/>
              </a:lnSpc>
              <a:buNone/>
            </a:pPr>
            <a:r>
              <a:rPr lang="en-US" sz="1600" dirty="0">
                <a:solidFill>
                  <a:srgbClr val="D7E3EE"/>
                </a:solidFill>
                <a:latin typeface="Calibri" pitchFamily="34" charset="0"/>
                <a:ea typeface="Calibri" pitchFamily="34" charset="-122"/>
                <a:cs typeface="Calibri" pitchFamily="34" charset="-120"/>
              </a:rPr>
              <a:t>Evaluación Formativa 1 — Mapa conceptual</a:t>
            </a:r>
            <a:endParaRPr lang="en-US" sz="1600" dirty="0"/>
          </a:p>
          <a:p>
            <a:pPr marL="0" indent="0">
              <a:lnSpc>
                <a:spcPts val="2400"/>
              </a:lnSpc>
              <a:buNone/>
            </a:pPr>
            <a:r>
              <a:rPr lang="en-US" sz="1600" dirty="0">
                <a:solidFill>
                  <a:srgbClr val="D7E3EE"/>
                </a:solidFill>
                <a:latin typeface="Calibri" pitchFamily="34" charset="0"/>
                <a:ea typeface="Calibri" pitchFamily="34" charset="-122"/>
                <a:cs typeface="Calibri" pitchFamily="34" charset="-120"/>
              </a:rPr>
              <a:t>Exploración guiada de herramientas colaborativas en ciencia de datos</a:t>
            </a:r>
            <a:endParaRPr lang="en-US" sz="1600" dirty="0"/>
          </a:p>
        </p:txBody>
      </p:sp>
      <p:sp>
        <p:nvSpPr>
          <p:cNvPr id="9" name="Text 5"/>
          <p:cNvSpPr/>
          <p:nvPr/>
        </p:nvSpPr>
        <p:spPr>
          <a:xfrm>
            <a:off x="548640" y="5943600"/>
            <a:ext cx="11064240" cy="365760"/>
          </a:xfrm>
          <a:prstGeom prst="rect">
            <a:avLst/>
          </a:prstGeom>
          <a:noFill/>
          <a:ln/>
        </p:spPr>
        <p:txBody>
          <a:bodyPr wrap="square" lIns="0" tIns="0" rIns="0" bIns="0" rtlCol="0" anchor="ctr"/>
          <a:lstStyle/>
          <a:p>
            <a:pPr marL="0" indent="0">
              <a:buNone/>
            </a:pPr>
            <a:r>
              <a:rPr lang="en-US" sz="1200" dirty="0">
                <a:solidFill>
                  <a:srgbClr val="5A6B7B"/>
                </a:solidFill>
                <a:latin typeface="Calibri" pitchFamily="34" charset="0"/>
                <a:ea typeface="Calibri" pitchFamily="34" charset="-122"/>
                <a:cs typeface="Calibri" pitchFamily="34" charset="-120"/>
              </a:rPr>
              <a:t>MCDI500 · Programación para la Ciencia de Datos   |   Semana 1   |   Trabajo grupal (3–4)   |   Formativa · 0% · 25 puntos</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Propósito de la Fase 1</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Planificar y representar conceptualmente el flujo de trabajo reproducible inicial del proyecto.</a:t>
            </a:r>
            <a:endParaRPr lang="en-US" sz="1400" dirty="0"/>
          </a:p>
        </p:txBody>
      </p:sp>
      <p:sp>
        <p:nvSpPr>
          <p:cNvPr id="4" name="Shape 2"/>
          <p:cNvSpPr/>
          <p:nvPr/>
        </p:nvSpPr>
        <p:spPr>
          <a:xfrm>
            <a:off x="548640" y="1837944"/>
            <a:ext cx="420624" cy="420624"/>
          </a:xfrm>
          <a:prstGeom prst="ellipse">
            <a:avLst/>
          </a:prstGeom>
          <a:solidFill>
            <a:srgbClr val="AC212E"/>
          </a:solidFill>
          <a:ln/>
        </p:spPr>
        <p:txBody>
          <a:bodyPr/>
          <a:lstStyle/>
          <a:p>
            <a:endParaRPr lang="es-CL"/>
          </a:p>
        </p:txBody>
      </p:sp>
      <p:sp>
        <p:nvSpPr>
          <p:cNvPr id="5" name="Text 3"/>
          <p:cNvSpPr/>
          <p:nvPr/>
        </p:nvSpPr>
        <p:spPr>
          <a:xfrm>
            <a:off x="548640" y="183794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143000" y="1783080"/>
            <a:ext cx="2194560" cy="384048"/>
          </a:xfrm>
          <a:prstGeom prst="rect">
            <a:avLst/>
          </a:prstGeom>
          <a:noFill/>
          <a:ln/>
        </p:spPr>
        <p:txBody>
          <a:bodyPr wrap="square" lIns="0" tIns="0" rIns="0" bIns="0" rtlCol="0" anchor="ctr"/>
          <a:lstStyle/>
          <a:p>
            <a:pPr marL="0" indent="0">
              <a:buNone/>
            </a:pPr>
            <a:r>
              <a:rPr lang="en-US" sz="1700" b="1" dirty="0">
                <a:solidFill>
                  <a:srgbClr val="AC212E"/>
                </a:solidFill>
                <a:latin typeface="Calibri" pitchFamily="34" charset="0"/>
                <a:ea typeface="Calibri" pitchFamily="34" charset="-122"/>
                <a:cs typeface="Calibri" pitchFamily="34" charset="-120"/>
              </a:rPr>
              <a:t>Identificar</a:t>
            </a:r>
            <a:endParaRPr lang="en-US" sz="1700" dirty="0"/>
          </a:p>
        </p:txBody>
      </p:sp>
      <p:sp>
        <p:nvSpPr>
          <p:cNvPr id="7" name="Text 5"/>
          <p:cNvSpPr/>
          <p:nvPr/>
        </p:nvSpPr>
        <p:spPr>
          <a:xfrm>
            <a:off x="3291840" y="1783080"/>
            <a:ext cx="4937760" cy="548640"/>
          </a:xfrm>
          <a:prstGeom prst="rect">
            <a:avLst/>
          </a:prstGeom>
          <a:noFill/>
          <a:ln/>
        </p:spPr>
        <p:txBody>
          <a:bodyPr wrap="square" lIns="0" tIns="0" rIns="0" bIns="0" rtlCol="0" anchor="ctr"/>
          <a:lstStyle/>
          <a:p>
            <a:pPr marL="0" indent="0">
              <a:buNone/>
            </a:pPr>
            <a:r>
              <a:rPr lang="en-US" sz="1400" dirty="0">
                <a:solidFill>
                  <a:srgbClr val="06304A"/>
                </a:solidFill>
                <a:latin typeface="Calibri" pitchFamily="34" charset="0"/>
                <a:ea typeface="Calibri" pitchFamily="34" charset="-122"/>
                <a:cs typeface="Calibri" pitchFamily="34" charset="-120"/>
              </a:rPr>
              <a:t>Qué herramientas de software científico va a usar el grupo y para qué.</a:t>
            </a:r>
            <a:endParaRPr lang="en-US" sz="1400" dirty="0"/>
          </a:p>
        </p:txBody>
      </p:sp>
      <p:sp>
        <p:nvSpPr>
          <p:cNvPr id="8" name="Shape 6"/>
          <p:cNvSpPr/>
          <p:nvPr/>
        </p:nvSpPr>
        <p:spPr>
          <a:xfrm>
            <a:off x="548640" y="2889504"/>
            <a:ext cx="420624" cy="420624"/>
          </a:xfrm>
          <a:prstGeom prst="ellipse">
            <a:avLst/>
          </a:prstGeom>
          <a:solidFill>
            <a:srgbClr val="AC212E"/>
          </a:solidFill>
          <a:ln/>
        </p:spPr>
        <p:txBody>
          <a:bodyPr/>
          <a:lstStyle/>
          <a:p>
            <a:endParaRPr lang="es-CL"/>
          </a:p>
        </p:txBody>
      </p:sp>
      <p:sp>
        <p:nvSpPr>
          <p:cNvPr id="9" name="Text 7"/>
          <p:cNvSpPr/>
          <p:nvPr/>
        </p:nvSpPr>
        <p:spPr>
          <a:xfrm>
            <a:off x="548640" y="288950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143000" y="2834640"/>
            <a:ext cx="2194560" cy="384048"/>
          </a:xfrm>
          <a:prstGeom prst="rect">
            <a:avLst/>
          </a:prstGeom>
          <a:noFill/>
          <a:ln/>
        </p:spPr>
        <p:txBody>
          <a:bodyPr wrap="square" lIns="0" tIns="0" rIns="0" bIns="0" rtlCol="0" anchor="ctr"/>
          <a:lstStyle/>
          <a:p>
            <a:pPr marL="0" indent="0">
              <a:buNone/>
            </a:pPr>
            <a:r>
              <a:rPr lang="en-US" sz="1700" b="1" dirty="0">
                <a:solidFill>
                  <a:srgbClr val="AC212E"/>
                </a:solidFill>
                <a:latin typeface="Calibri" pitchFamily="34" charset="0"/>
                <a:ea typeface="Calibri" pitchFamily="34" charset="-122"/>
                <a:cs typeface="Calibri" pitchFamily="34" charset="-120"/>
              </a:rPr>
              <a:t>Anticipar</a:t>
            </a:r>
            <a:endParaRPr lang="en-US" sz="1700" dirty="0"/>
          </a:p>
        </p:txBody>
      </p:sp>
      <p:sp>
        <p:nvSpPr>
          <p:cNvPr id="11" name="Text 9"/>
          <p:cNvSpPr/>
          <p:nvPr/>
        </p:nvSpPr>
        <p:spPr>
          <a:xfrm>
            <a:off x="3291840" y="2834640"/>
            <a:ext cx="4937760" cy="548640"/>
          </a:xfrm>
          <a:prstGeom prst="rect">
            <a:avLst/>
          </a:prstGeom>
          <a:noFill/>
          <a:ln/>
        </p:spPr>
        <p:txBody>
          <a:bodyPr wrap="square" lIns="0" tIns="0" rIns="0" bIns="0" rtlCol="0" anchor="ctr"/>
          <a:lstStyle/>
          <a:p>
            <a:pPr marL="0" indent="0">
              <a:buNone/>
            </a:pPr>
            <a:r>
              <a:rPr lang="en-US" sz="1400" dirty="0">
                <a:solidFill>
                  <a:srgbClr val="06304A"/>
                </a:solidFill>
                <a:latin typeface="Calibri" pitchFamily="34" charset="0"/>
                <a:ea typeface="Calibri" pitchFamily="34" charset="-122"/>
                <a:cs typeface="Calibri" pitchFamily="34" charset="-120"/>
              </a:rPr>
              <a:t>Cómo se configurará el entorno reproducible que se implementa después.</a:t>
            </a:r>
            <a:endParaRPr lang="en-US" sz="1400" dirty="0"/>
          </a:p>
        </p:txBody>
      </p:sp>
      <p:sp>
        <p:nvSpPr>
          <p:cNvPr id="12" name="Shape 10"/>
          <p:cNvSpPr/>
          <p:nvPr/>
        </p:nvSpPr>
        <p:spPr>
          <a:xfrm>
            <a:off x="548640" y="3941064"/>
            <a:ext cx="420624" cy="420624"/>
          </a:xfrm>
          <a:prstGeom prst="ellipse">
            <a:avLst/>
          </a:prstGeom>
          <a:solidFill>
            <a:srgbClr val="AC212E"/>
          </a:solidFill>
          <a:ln/>
        </p:spPr>
        <p:txBody>
          <a:bodyPr/>
          <a:lstStyle/>
          <a:p>
            <a:endParaRPr lang="es-CL"/>
          </a:p>
        </p:txBody>
      </p:sp>
      <p:sp>
        <p:nvSpPr>
          <p:cNvPr id="13" name="Text 11"/>
          <p:cNvSpPr/>
          <p:nvPr/>
        </p:nvSpPr>
        <p:spPr>
          <a:xfrm>
            <a:off x="548640" y="394106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43000" y="3886200"/>
            <a:ext cx="2194560" cy="384048"/>
          </a:xfrm>
          <a:prstGeom prst="rect">
            <a:avLst/>
          </a:prstGeom>
          <a:noFill/>
          <a:ln/>
        </p:spPr>
        <p:txBody>
          <a:bodyPr wrap="square" lIns="0" tIns="0" rIns="0" bIns="0" rtlCol="0" anchor="ctr"/>
          <a:lstStyle/>
          <a:p>
            <a:pPr marL="0" indent="0">
              <a:buNone/>
            </a:pPr>
            <a:r>
              <a:rPr lang="en-US" sz="1700" b="1" dirty="0">
                <a:solidFill>
                  <a:srgbClr val="AC212E"/>
                </a:solidFill>
                <a:latin typeface="Calibri" pitchFamily="34" charset="0"/>
                <a:ea typeface="Calibri" pitchFamily="34" charset="-122"/>
                <a:cs typeface="Calibri" pitchFamily="34" charset="-120"/>
              </a:rPr>
              <a:t>Organizar</a:t>
            </a:r>
            <a:endParaRPr lang="en-US" sz="1700" dirty="0"/>
          </a:p>
        </p:txBody>
      </p:sp>
      <p:sp>
        <p:nvSpPr>
          <p:cNvPr id="15" name="Text 13"/>
          <p:cNvSpPr/>
          <p:nvPr/>
        </p:nvSpPr>
        <p:spPr>
          <a:xfrm>
            <a:off x="3291840" y="3886200"/>
            <a:ext cx="4937760" cy="548640"/>
          </a:xfrm>
          <a:prstGeom prst="rect">
            <a:avLst/>
          </a:prstGeom>
          <a:noFill/>
          <a:ln/>
        </p:spPr>
        <p:txBody>
          <a:bodyPr wrap="square" lIns="0" tIns="0" rIns="0" bIns="0" rtlCol="0" anchor="ctr"/>
          <a:lstStyle/>
          <a:p>
            <a:pPr marL="0" indent="0">
              <a:buNone/>
            </a:pPr>
            <a:r>
              <a:rPr lang="en-US" sz="1400" dirty="0">
                <a:solidFill>
                  <a:srgbClr val="06304A"/>
                </a:solidFill>
                <a:latin typeface="Calibri" pitchFamily="34" charset="0"/>
                <a:ea typeface="Calibri" pitchFamily="34" charset="-122"/>
                <a:cs typeface="Calibri" pitchFamily="34" charset="-120"/>
              </a:rPr>
              <a:t>La relación entre problema, datos, herramientas y procesos.</a:t>
            </a:r>
            <a:endParaRPr lang="en-US" sz="1400" dirty="0"/>
          </a:p>
        </p:txBody>
      </p:sp>
      <p:sp>
        <p:nvSpPr>
          <p:cNvPr id="16" name="Shape 14"/>
          <p:cNvSpPr/>
          <p:nvPr/>
        </p:nvSpPr>
        <p:spPr>
          <a:xfrm>
            <a:off x="8549640" y="1691640"/>
            <a:ext cx="3063240" cy="3291840"/>
          </a:xfrm>
          <a:prstGeom prst="roundRect">
            <a:avLst>
              <a:gd name="adj" fmla="val 2687"/>
            </a:avLst>
          </a:prstGeom>
          <a:solidFill>
            <a:srgbClr val="0A1526"/>
          </a:solidFill>
          <a:ln w="12700">
            <a:solidFill>
              <a:srgbClr val="0A1526"/>
            </a:solidFill>
            <a:prstDash val="solid"/>
          </a:ln>
        </p:spPr>
        <p:txBody>
          <a:bodyPr/>
          <a:lstStyle/>
          <a:p>
            <a:endParaRPr lang="es-CL"/>
          </a:p>
        </p:txBody>
      </p:sp>
      <p:sp>
        <p:nvSpPr>
          <p:cNvPr id="17" name="Text 15"/>
          <p:cNvSpPr/>
          <p:nvPr/>
        </p:nvSpPr>
        <p:spPr>
          <a:xfrm>
            <a:off x="8823960" y="1920240"/>
            <a:ext cx="2560320" cy="320040"/>
          </a:xfrm>
          <a:prstGeom prst="rect">
            <a:avLst/>
          </a:prstGeom>
          <a:noFill/>
          <a:ln/>
        </p:spPr>
        <p:txBody>
          <a:bodyPr wrap="square" lIns="0" tIns="0" rIns="0" bIns="0" rtlCol="0" anchor="ctr"/>
          <a:lstStyle/>
          <a:p>
            <a:pPr marL="0" indent="0">
              <a:buNone/>
            </a:pPr>
            <a:r>
              <a:rPr lang="en-US" sz="1200" b="1" dirty="0">
                <a:solidFill>
                  <a:srgbClr val="D7E3EE"/>
                </a:solidFill>
                <a:latin typeface="Calibri" pitchFamily="34" charset="0"/>
                <a:ea typeface="Calibri" pitchFamily="34" charset="-122"/>
                <a:cs typeface="Calibri" pitchFamily="34" charset="-120"/>
              </a:rPr>
              <a:t>Resultado de aprendizaje</a:t>
            </a:r>
            <a:endParaRPr lang="en-US" sz="1200" dirty="0"/>
          </a:p>
        </p:txBody>
      </p:sp>
      <p:sp>
        <p:nvSpPr>
          <p:cNvPr id="18" name="Text 16"/>
          <p:cNvSpPr/>
          <p:nvPr/>
        </p:nvSpPr>
        <p:spPr>
          <a:xfrm>
            <a:off x="8823960" y="2286000"/>
            <a:ext cx="2560320" cy="1371600"/>
          </a:xfrm>
          <a:prstGeom prst="rect">
            <a:avLst/>
          </a:prstGeom>
          <a:noFill/>
          <a:ln/>
        </p:spPr>
        <p:txBody>
          <a:bodyPr wrap="square" lIns="0" tIns="0" rIns="0" bIns="0" rtlCol="0" anchor="ctr"/>
          <a:lstStyle/>
          <a:p>
            <a:pPr marL="0" indent="0">
              <a:lnSpc>
                <a:spcPts val="1800"/>
              </a:lnSpc>
              <a:buNone/>
            </a:pPr>
            <a:r>
              <a:rPr lang="en-US" sz="1300" dirty="0">
                <a:solidFill>
                  <a:srgbClr val="FFFFFF"/>
                </a:solidFill>
                <a:latin typeface="Calibri" pitchFamily="34" charset="0"/>
                <a:ea typeface="Calibri" pitchFamily="34" charset="-122"/>
                <a:cs typeface="Calibri" pitchFamily="34" charset="-120"/>
              </a:rPr>
              <a:t>Aplicar buenas prácticas y herramientas de software científico para la gestión y documentación reproducible de proyectos en ciencia de datos.</a:t>
            </a:r>
            <a:endParaRPr lang="en-US" sz="1300" dirty="0"/>
          </a:p>
        </p:txBody>
      </p:sp>
      <p:sp>
        <p:nvSpPr>
          <p:cNvPr id="19" name="Text 17"/>
          <p:cNvSpPr/>
          <p:nvPr/>
        </p:nvSpPr>
        <p:spPr>
          <a:xfrm>
            <a:off x="8823960" y="4343400"/>
            <a:ext cx="2560320" cy="365760"/>
          </a:xfrm>
          <a:prstGeom prst="rect">
            <a:avLst/>
          </a:prstGeom>
          <a:noFill/>
          <a:ln/>
        </p:spPr>
        <p:txBody>
          <a:bodyPr wrap="square" lIns="0" tIns="0" rIns="0" bIns="0" rtlCol="0" anchor="ctr"/>
          <a:lstStyle/>
          <a:p>
            <a:pPr marL="0" indent="0">
              <a:buNone/>
            </a:pPr>
            <a:r>
              <a:rPr lang="en-US" sz="1400" b="1" dirty="0">
                <a:solidFill>
                  <a:srgbClr val="D7E3EE"/>
                </a:solidFill>
                <a:latin typeface="Calibri" pitchFamily="34" charset="0"/>
                <a:ea typeface="Calibri" pitchFamily="34" charset="-122"/>
                <a:cs typeface="Calibri" pitchFamily="34" charset="-120"/>
              </a:rPr>
              <a:t>ID 1.1   ID 1.2   ID 1.3</a:t>
            </a:r>
            <a:endParaRPr lang="en-US" sz="1400" dirty="0"/>
          </a:p>
        </p:txBody>
      </p:sp>
      <p:sp>
        <p:nvSpPr>
          <p:cNvPr id="20" name="Text 18"/>
          <p:cNvSpPr/>
          <p:nvPr/>
        </p:nvSpPr>
        <p:spPr>
          <a:xfrm>
            <a:off x="548640" y="5303520"/>
            <a:ext cx="11064240" cy="457200"/>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En esta fase no se programa, no se configura el control de versiones y no se documenta técnicamente el proyecto.</a:t>
            </a:r>
            <a:endParaRPr lang="en-US" sz="1500" dirty="0"/>
          </a:p>
        </p:txBody>
      </p:sp>
      <p:sp>
        <p:nvSpPr>
          <p:cNvPr id="21" name="Text 19"/>
          <p:cNvSpPr/>
          <p:nvPr/>
        </p:nvSpPr>
        <p:spPr>
          <a:xfrm>
            <a:off x="548640" y="5715000"/>
            <a:ext cx="11064240" cy="365760"/>
          </a:xfrm>
          <a:prstGeom prst="rect">
            <a:avLst/>
          </a:prstGeom>
          <a:noFill/>
          <a:ln/>
        </p:spPr>
        <p:txBody>
          <a:bodyPr wrap="square" lIns="0" tIns="0" rIns="0" bIns="0" rtlCol="0" anchor="ctr"/>
          <a:lstStyle/>
          <a:p>
            <a:pPr marL="0" indent="0">
              <a:buNone/>
            </a:pPr>
            <a:r>
              <a:rPr lang="en-US" sz="1400" dirty="0">
                <a:solidFill>
                  <a:srgbClr val="5A6B7B"/>
                </a:solidFill>
                <a:latin typeface="Calibri" pitchFamily="34" charset="0"/>
                <a:ea typeface="Calibri" pitchFamily="34" charset="-122"/>
                <a:cs typeface="Calibri" pitchFamily="34" charset="-120"/>
              </a:rPr>
              <a:t>Todo eso ocurre en la evaluación sumativa. Aquí se planifica.</a:t>
            </a:r>
            <a:endParaRPr lang="en-US" sz="1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Qué indicadores se están midiendo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Los tres indicadores del RA1 atraviesan toda la actividad.</a:t>
            </a:r>
            <a:endParaRPr lang="en-US" sz="1400" dirty="0"/>
          </a:p>
        </p:txBody>
      </p:sp>
      <p:sp>
        <p:nvSpPr>
          <p:cNvPr id="4" name="Shape 2"/>
          <p:cNvSpPr/>
          <p:nvPr/>
        </p:nvSpPr>
        <p:spPr>
          <a:xfrm>
            <a:off x="548640" y="1783080"/>
            <a:ext cx="11064240" cy="1143000"/>
          </a:xfrm>
          <a:prstGeom prst="roundRect">
            <a:avLst>
              <a:gd name="adj" fmla="val 7200"/>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68680" y="1965960"/>
            <a:ext cx="1051560" cy="457200"/>
          </a:xfrm>
          <a:prstGeom prst="rect">
            <a:avLst/>
          </a:prstGeom>
          <a:noFill/>
          <a:ln/>
        </p:spPr>
        <p:txBody>
          <a:bodyPr wrap="square" lIns="0" tIns="0" rIns="0" bIns="0" rtlCol="0" anchor="ctr"/>
          <a:lstStyle/>
          <a:p>
            <a:pPr marL="0" indent="0">
              <a:buNone/>
            </a:pPr>
            <a:r>
              <a:rPr lang="en-US" sz="2000" b="1" dirty="0">
                <a:solidFill>
                  <a:srgbClr val="AC212E"/>
                </a:solidFill>
                <a:latin typeface="Cambria" pitchFamily="34" charset="0"/>
                <a:ea typeface="Cambria" pitchFamily="34" charset="-122"/>
                <a:cs typeface="Cambria" pitchFamily="34" charset="-120"/>
              </a:rPr>
              <a:t>ID 1.1</a:t>
            </a:r>
            <a:endParaRPr lang="en-US" sz="2000" dirty="0"/>
          </a:p>
        </p:txBody>
      </p:sp>
      <p:sp>
        <p:nvSpPr>
          <p:cNvPr id="6" name="Text 4"/>
          <p:cNvSpPr/>
          <p:nvPr/>
        </p:nvSpPr>
        <p:spPr>
          <a:xfrm>
            <a:off x="2011680" y="1947672"/>
            <a:ext cx="3474720" cy="384048"/>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Herramientas de software científico</a:t>
            </a:r>
            <a:endParaRPr lang="en-US" sz="1500" dirty="0"/>
          </a:p>
        </p:txBody>
      </p:sp>
      <p:sp>
        <p:nvSpPr>
          <p:cNvPr id="7" name="Text 5"/>
          <p:cNvSpPr/>
          <p:nvPr/>
        </p:nvSpPr>
        <p:spPr>
          <a:xfrm>
            <a:off x="2011680" y="2331720"/>
            <a:ext cx="9235440" cy="457200"/>
          </a:xfrm>
          <a:prstGeom prst="rect">
            <a:avLst/>
          </a:prstGeom>
          <a:noFill/>
          <a:ln/>
        </p:spPr>
        <p:txBody>
          <a:bodyPr wrap="square" lIns="0" tIns="0" rIns="0" bIns="0" rtlCol="0" anchor="ctr"/>
          <a:lstStyle/>
          <a:p>
            <a:pPr marL="0" indent="0">
              <a:buNone/>
            </a:pPr>
            <a:r>
              <a:rPr lang="en-US" sz="1300" dirty="0">
                <a:solidFill>
                  <a:srgbClr val="5A6B7B"/>
                </a:solidFill>
                <a:latin typeface="Calibri" pitchFamily="34" charset="0"/>
                <a:ea typeface="Calibri" pitchFamily="34" charset="-122"/>
                <a:cs typeface="Calibri" pitchFamily="34" charset="-120"/>
              </a:rPr>
              <a:t>Aplican herramientas científicas en problemas de análisis de datos en contexto profesional.</a:t>
            </a:r>
            <a:endParaRPr lang="en-US" sz="1300" dirty="0"/>
          </a:p>
        </p:txBody>
      </p:sp>
      <p:sp>
        <p:nvSpPr>
          <p:cNvPr id="8" name="Shape 6"/>
          <p:cNvSpPr/>
          <p:nvPr/>
        </p:nvSpPr>
        <p:spPr>
          <a:xfrm>
            <a:off x="548640" y="3154680"/>
            <a:ext cx="11064240" cy="1143000"/>
          </a:xfrm>
          <a:prstGeom prst="roundRect">
            <a:avLst>
              <a:gd name="adj" fmla="val 7200"/>
            </a:avLst>
          </a:prstGeom>
          <a:solidFill>
            <a:srgbClr val="F4F7FA"/>
          </a:solidFill>
          <a:ln w="12700">
            <a:solidFill>
              <a:srgbClr val="F4F7FA"/>
            </a:solidFill>
            <a:prstDash val="solid"/>
          </a:ln>
        </p:spPr>
        <p:txBody>
          <a:bodyPr/>
          <a:lstStyle/>
          <a:p>
            <a:endParaRPr lang="es-CL"/>
          </a:p>
        </p:txBody>
      </p:sp>
      <p:sp>
        <p:nvSpPr>
          <p:cNvPr id="9" name="Text 7"/>
          <p:cNvSpPr/>
          <p:nvPr/>
        </p:nvSpPr>
        <p:spPr>
          <a:xfrm>
            <a:off x="868680" y="3337560"/>
            <a:ext cx="1051560" cy="457200"/>
          </a:xfrm>
          <a:prstGeom prst="rect">
            <a:avLst/>
          </a:prstGeom>
          <a:noFill/>
          <a:ln/>
        </p:spPr>
        <p:txBody>
          <a:bodyPr wrap="square" lIns="0" tIns="0" rIns="0" bIns="0" rtlCol="0" anchor="ctr"/>
          <a:lstStyle/>
          <a:p>
            <a:pPr marL="0" indent="0">
              <a:buNone/>
            </a:pPr>
            <a:r>
              <a:rPr lang="en-US" sz="2000" b="1" dirty="0">
                <a:solidFill>
                  <a:srgbClr val="AC212E"/>
                </a:solidFill>
                <a:latin typeface="Cambria" pitchFamily="34" charset="0"/>
                <a:ea typeface="Cambria" pitchFamily="34" charset="-122"/>
                <a:cs typeface="Cambria" pitchFamily="34" charset="-120"/>
              </a:rPr>
              <a:t>ID 1.2</a:t>
            </a:r>
            <a:endParaRPr lang="en-US" sz="2000" dirty="0"/>
          </a:p>
        </p:txBody>
      </p:sp>
      <p:sp>
        <p:nvSpPr>
          <p:cNvPr id="10" name="Text 8"/>
          <p:cNvSpPr/>
          <p:nvPr/>
        </p:nvSpPr>
        <p:spPr>
          <a:xfrm>
            <a:off x="2011680" y="3319272"/>
            <a:ext cx="3474720" cy="384048"/>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Control de versiones y notebooks</a:t>
            </a:r>
            <a:endParaRPr lang="en-US" sz="1500" dirty="0"/>
          </a:p>
        </p:txBody>
      </p:sp>
      <p:sp>
        <p:nvSpPr>
          <p:cNvPr id="11" name="Text 9"/>
          <p:cNvSpPr/>
          <p:nvPr/>
        </p:nvSpPr>
        <p:spPr>
          <a:xfrm>
            <a:off x="2011680" y="3703320"/>
            <a:ext cx="9235440" cy="457200"/>
          </a:xfrm>
          <a:prstGeom prst="rect">
            <a:avLst/>
          </a:prstGeom>
          <a:noFill/>
          <a:ln/>
        </p:spPr>
        <p:txBody>
          <a:bodyPr wrap="square" lIns="0" tIns="0" rIns="0" bIns="0" rtlCol="0" anchor="ctr"/>
          <a:lstStyle/>
          <a:p>
            <a:pPr marL="0" indent="0">
              <a:buNone/>
            </a:pPr>
            <a:r>
              <a:rPr lang="en-US" sz="1300" dirty="0">
                <a:solidFill>
                  <a:srgbClr val="5A6B7B"/>
                </a:solidFill>
                <a:latin typeface="Calibri" pitchFamily="34" charset="0"/>
                <a:ea typeface="Calibri" pitchFamily="34" charset="-122"/>
                <a:cs typeface="Calibri" pitchFamily="34" charset="-120"/>
              </a:rPr>
              <a:t>Configuran Git/GitHub y la gestión con Jupyter, asegurando colaboración y reproducibilidad.</a:t>
            </a:r>
            <a:endParaRPr lang="en-US" sz="1300" dirty="0"/>
          </a:p>
        </p:txBody>
      </p:sp>
      <p:sp>
        <p:nvSpPr>
          <p:cNvPr id="12" name="Shape 10"/>
          <p:cNvSpPr/>
          <p:nvPr/>
        </p:nvSpPr>
        <p:spPr>
          <a:xfrm>
            <a:off x="548640" y="4526280"/>
            <a:ext cx="11064240" cy="1143000"/>
          </a:xfrm>
          <a:prstGeom prst="roundRect">
            <a:avLst>
              <a:gd name="adj" fmla="val 7200"/>
            </a:avLst>
          </a:prstGeom>
          <a:solidFill>
            <a:srgbClr val="F4F7FA"/>
          </a:solidFill>
          <a:ln w="12700">
            <a:solidFill>
              <a:srgbClr val="F4F7FA"/>
            </a:solidFill>
            <a:prstDash val="solid"/>
          </a:ln>
        </p:spPr>
        <p:txBody>
          <a:bodyPr/>
          <a:lstStyle/>
          <a:p>
            <a:endParaRPr lang="es-CL"/>
          </a:p>
        </p:txBody>
      </p:sp>
      <p:sp>
        <p:nvSpPr>
          <p:cNvPr id="13" name="Text 11"/>
          <p:cNvSpPr/>
          <p:nvPr/>
        </p:nvSpPr>
        <p:spPr>
          <a:xfrm>
            <a:off x="868680" y="4709160"/>
            <a:ext cx="1051560" cy="457200"/>
          </a:xfrm>
          <a:prstGeom prst="rect">
            <a:avLst/>
          </a:prstGeom>
          <a:noFill/>
          <a:ln/>
        </p:spPr>
        <p:txBody>
          <a:bodyPr wrap="square" lIns="0" tIns="0" rIns="0" bIns="0" rtlCol="0" anchor="ctr"/>
          <a:lstStyle/>
          <a:p>
            <a:pPr marL="0" indent="0">
              <a:buNone/>
            </a:pPr>
            <a:r>
              <a:rPr lang="en-US" sz="2000" b="1" dirty="0">
                <a:solidFill>
                  <a:srgbClr val="AC212E"/>
                </a:solidFill>
                <a:latin typeface="Cambria" pitchFamily="34" charset="0"/>
                <a:ea typeface="Cambria" pitchFamily="34" charset="-122"/>
                <a:cs typeface="Cambria" pitchFamily="34" charset="-120"/>
              </a:rPr>
              <a:t>ID 1.3</a:t>
            </a:r>
            <a:endParaRPr lang="en-US" sz="2000" dirty="0"/>
          </a:p>
        </p:txBody>
      </p:sp>
      <p:sp>
        <p:nvSpPr>
          <p:cNvPr id="14" name="Text 12"/>
          <p:cNvSpPr/>
          <p:nvPr/>
        </p:nvSpPr>
        <p:spPr>
          <a:xfrm>
            <a:off x="2011680" y="4690872"/>
            <a:ext cx="3474720" cy="384048"/>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Documentación colaborativa</a:t>
            </a:r>
            <a:endParaRPr lang="en-US" sz="1500" dirty="0"/>
          </a:p>
        </p:txBody>
      </p:sp>
      <p:sp>
        <p:nvSpPr>
          <p:cNvPr id="15" name="Text 13"/>
          <p:cNvSpPr/>
          <p:nvPr/>
        </p:nvSpPr>
        <p:spPr>
          <a:xfrm>
            <a:off x="2011680" y="5074920"/>
            <a:ext cx="9235440" cy="457200"/>
          </a:xfrm>
          <a:prstGeom prst="rect">
            <a:avLst/>
          </a:prstGeom>
          <a:noFill/>
          <a:ln/>
        </p:spPr>
        <p:txBody>
          <a:bodyPr wrap="square" lIns="0" tIns="0" rIns="0" bIns="0" rtlCol="0" anchor="ctr"/>
          <a:lstStyle/>
          <a:p>
            <a:pPr marL="0" indent="0">
              <a:buNone/>
            </a:pPr>
            <a:r>
              <a:rPr lang="en-US" sz="1300" dirty="0">
                <a:solidFill>
                  <a:srgbClr val="5A6B7B"/>
                </a:solidFill>
                <a:latin typeface="Calibri" pitchFamily="34" charset="0"/>
                <a:ea typeface="Calibri" pitchFamily="34" charset="-122"/>
                <a:cs typeface="Calibri" pitchFamily="34" charset="-120"/>
              </a:rPr>
              <a:t>Documentan avances integrando código, texto y referencias técnicas según buenas prácticas.</a:t>
            </a:r>
            <a:endParaRPr lang="en-US" sz="1300" dirty="0"/>
          </a:p>
        </p:txBody>
      </p:sp>
      <p:sp>
        <p:nvSpPr>
          <p:cNvPr id="16" name="Text 14"/>
          <p:cNvSpPr/>
          <p:nvPr/>
        </p:nvSpPr>
        <p:spPr>
          <a:xfrm>
            <a:off x="548640" y="6327648"/>
            <a:ext cx="11064240" cy="274320"/>
          </a:xfrm>
          <a:prstGeom prst="rect">
            <a:avLst/>
          </a:prstGeom>
          <a:noFill/>
          <a:ln/>
        </p:spPr>
        <p:txBody>
          <a:bodyPr wrap="square" lIns="0" tIns="0" rIns="0" bIns="0" rtlCol="0" anchor="ctr"/>
          <a:lstStyle/>
          <a:p>
            <a:pPr marL="0" indent="0">
              <a:buNone/>
            </a:pPr>
            <a:r>
              <a:rPr lang="en-US" sz="1000" dirty="0">
                <a:solidFill>
                  <a:srgbClr val="5A6B7B"/>
                </a:solidFill>
                <a:latin typeface="Calibri" pitchFamily="34" charset="0"/>
                <a:ea typeface="Calibri" pitchFamily="34" charset="-122"/>
                <a:cs typeface="Calibri" pitchFamily="34" charset="-120"/>
              </a:rPr>
              <a:t>En la Fase 1 estos indicadores se evidencian de forma proyectada: el mapa muestra cómo se van a cumplir, no que ya se cumplieron.</a:t>
            </a:r>
            <a:endParaRPr lang="en-US" sz="1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0A1526"/>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Qué deben hacer</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D7E3EE"/>
                </a:solidFill>
                <a:latin typeface="Calibri" pitchFamily="34" charset="0"/>
                <a:ea typeface="Calibri" pitchFamily="34" charset="-122"/>
                <a:cs typeface="Calibri" pitchFamily="34" charset="-120"/>
              </a:rPr>
              <a:t>Trabajo grupal (3–4 integrantes) · asincrónico · dedicación estimada 90 minutos · 1 intento</a:t>
            </a:r>
            <a:endParaRPr lang="en-US" sz="1400" dirty="0"/>
          </a:p>
        </p:txBody>
      </p:sp>
      <p:sp>
        <p:nvSpPr>
          <p:cNvPr id="4" name="Shape 2"/>
          <p:cNvSpPr/>
          <p:nvPr/>
        </p:nvSpPr>
        <p:spPr>
          <a:xfrm>
            <a:off x="548640" y="1920240"/>
            <a:ext cx="2651760" cy="2286000"/>
          </a:xfrm>
          <a:prstGeom prst="roundRect">
            <a:avLst>
              <a:gd name="adj" fmla="val 3600"/>
            </a:avLst>
          </a:prstGeom>
          <a:solidFill>
            <a:srgbClr val="12203A"/>
          </a:solidFill>
          <a:ln w="12700">
            <a:solidFill>
              <a:srgbClr val="12203A"/>
            </a:solidFill>
            <a:prstDash val="solid"/>
          </a:ln>
        </p:spPr>
        <p:txBody>
          <a:bodyPr/>
          <a:lstStyle/>
          <a:p>
            <a:endParaRPr lang="es-CL"/>
          </a:p>
        </p:txBody>
      </p:sp>
      <p:sp>
        <p:nvSpPr>
          <p:cNvPr id="5" name="Shape 3"/>
          <p:cNvSpPr/>
          <p:nvPr/>
        </p:nvSpPr>
        <p:spPr>
          <a:xfrm>
            <a:off x="822960" y="2148840"/>
            <a:ext cx="457200" cy="457200"/>
          </a:xfrm>
          <a:prstGeom prst="ellipse">
            <a:avLst/>
          </a:prstGeom>
          <a:solidFill>
            <a:srgbClr val="AC212E"/>
          </a:solidFill>
          <a:ln/>
        </p:spPr>
        <p:txBody>
          <a:bodyPr/>
          <a:lstStyle/>
          <a:p>
            <a:endParaRPr lang="es-CL"/>
          </a:p>
        </p:txBody>
      </p:sp>
      <p:sp>
        <p:nvSpPr>
          <p:cNvPr id="6" name="Text 4"/>
          <p:cNvSpPr/>
          <p:nvPr/>
        </p:nvSpPr>
        <p:spPr>
          <a:xfrm>
            <a:off x="822960" y="214884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822960" y="2743200"/>
            <a:ext cx="2103120" cy="38404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Revisar</a:t>
            </a:r>
            <a:endParaRPr lang="en-US" sz="1700" dirty="0"/>
          </a:p>
        </p:txBody>
      </p:sp>
      <p:sp>
        <p:nvSpPr>
          <p:cNvPr id="8" name="Text 6"/>
          <p:cNvSpPr/>
          <p:nvPr/>
        </p:nvSpPr>
        <p:spPr>
          <a:xfrm>
            <a:off x="822960" y="3154680"/>
            <a:ext cx="2148840" cy="91440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El material de la semana: guías técnicas, recursos disciplinares y la rúbrica.</a:t>
            </a:r>
            <a:endParaRPr lang="en-US" sz="1250" dirty="0"/>
          </a:p>
        </p:txBody>
      </p:sp>
      <p:sp>
        <p:nvSpPr>
          <p:cNvPr id="9" name="Shape 7"/>
          <p:cNvSpPr/>
          <p:nvPr/>
        </p:nvSpPr>
        <p:spPr>
          <a:xfrm>
            <a:off x="3410712" y="1920240"/>
            <a:ext cx="2651760" cy="2286000"/>
          </a:xfrm>
          <a:prstGeom prst="roundRect">
            <a:avLst>
              <a:gd name="adj" fmla="val 3600"/>
            </a:avLst>
          </a:prstGeom>
          <a:solidFill>
            <a:srgbClr val="12203A"/>
          </a:solidFill>
          <a:ln w="12700">
            <a:solidFill>
              <a:srgbClr val="12203A"/>
            </a:solidFill>
            <a:prstDash val="solid"/>
          </a:ln>
        </p:spPr>
        <p:txBody>
          <a:bodyPr/>
          <a:lstStyle/>
          <a:p>
            <a:endParaRPr lang="es-CL"/>
          </a:p>
        </p:txBody>
      </p:sp>
      <p:sp>
        <p:nvSpPr>
          <p:cNvPr id="10" name="Shape 8"/>
          <p:cNvSpPr/>
          <p:nvPr/>
        </p:nvSpPr>
        <p:spPr>
          <a:xfrm>
            <a:off x="3685032" y="2148840"/>
            <a:ext cx="457200" cy="457200"/>
          </a:xfrm>
          <a:prstGeom prst="ellipse">
            <a:avLst/>
          </a:prstGeom>
          <a:solidFill>
            <a:srgbClr val="AC212E"/>
          </a:solidFill>
          <a:ln/>
        </p:spPr>
        <p:txBody>
          <a:bodyPr/>
          <a:lstStyle/>
          <a:p>
            <a:endParaRPr lang="es-CL"/>
          </a:p>
        </p:txBody>
      </p:sp>
      <p:sp>
        <p:nvSpPr>
          <p:cNvPr id="11" name="Text 9"/>
          <p:cNvSpPr/>
          <p:nvPr/>
        </p:nvSpPr>
        <p:spPr>
          <a:xfrm>
            <a:off x="3685032" y="214884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3685032" y="2743200"/>
            <a:ext cx="2103120" cy="38404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Acordar</a:t>
            </a:r>
            <a:endParaRPr lang="en-US" sz="1700" dirty="0"/>
          </a:p>
        </p:txBody>
      </p:sp>
      <p:sp>
        <p:nvSpPr>
          <p:cNvPr id="13" name="Text 11"/>
          <p:cNvSpPr/>
          <p:nvPr/>
        </p:nvSpPr>
        <p:spPr>
          <a:xfrm>
            <a:off x="3685032" y="3154680"/>
            <a:ext cx="2148840" cy="91440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La problemática asignada y el conjunto de datos con que trabajará el grupo.</a:t>
            </a:r>
            <a:endParaRPr lang="en-US" sz="1250" dirty="0"/>
          </a:p>
        </p:txBody>
      </p:sp>
      <p:sp>
        <p:nvSpPr>
          <p:cNvPr id="14" name="Shape 12"/>
          <p:cNvSpPr/>
          <p:nvPr/>
        </p:nvSpPr>
        <p:spPr>
          <a:xfrm>
            <a:off x="6272784" y="1920240"/>
            <a:ext cx="2651760" cy="2286000"/>
          </a:xfrm>
          <a:prstGeom prst="roundRect">
            <a:avLst>
              <a:gd name="adj" fmla="val 3600"/>
            </a:avLst>
          </a:prstGeom>
          <a:solidFill>
            <a:srgbClr val="12203A"/>
          </a:solidFill>
          <a:ln w="12700">
            <a:solidFill>
              <a:srgbClr val="12203A"/>
            </a:solidFill>
            <a:prstDash val="solid"/>
          </a:ln>
        </p:spPr>
        <p:txBody>
          <a:bodyPr/>
          <a:lstStyle/>
          <a:p>
            <a:endParaRPr lang="es-CL"/>
          </a:p>
        </p:txBody>
      </p:sp>
      <p:sp>
        <p:nvSpPr>
          <p:cNvPr id="15" name="Shape 13"/>
          <p:cNvSpPr/>
          <p:nvPr/>
        </p:nvSpPr>
        <p:spPr>
          <a:xfrm>
            <a:off x="6547104" y="2148840"/>
            <a:ext cx="457200" cy="457200"/>
          </a:xfrm>
          <a:prstGeom prst="ellipse">
            <a:avLst/>
          </a:prstGeom>
          <a:solidFill>
            <a:srgbClr val="AC212E"/>
          </a:solidFill>
          <a:ln/>
        </p:spPr>
        <p:txBody>
          <a:bodyPr/>
          <a:lstStyle/>
          <a:p>
            <a:endParaRPr lang="es-CL"/>
          </a:p>
        </p:txBody>
      </p:sp>
      <p:sp>
        <p:nvSpPr>
          <p:cNvPr id="16" name="Text 14"/>
          <p:cNvSpPr/>
          <p:nvPr/>
        </p:nvSpPr>
        <p:spPr>
          <a:xfrm>
            <a:off x="6547104" y="214884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6547104" y="2743200"/>
            <a:ext cx="2103120" cy="38404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Elaborar</a:t>
            </a:r>
            <a:endParaRPr lang="en-US" sz="1700" dirty="0"/>
          </a:p>
        </p:txBody>
      </p:sp>
      <p:sp>
        <p:nvSpPr>
          <p:cNvPr id="18" name="Text 16"/>
          <p:cNvSpPr/>
          <p:nvPr/>
        </p:nvSpPr>
        <p:spPr>
          <a:xfrm>
            <a:off x="6547104" y="3154680"/>
            <a:ext cx="2148840" cy="91440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El mapa conceptual del flujo reproducible en la herramienta que elijan.</a:t>
            </a:r>
            <a:endParaRPr lang="en-US" sz="1250" dirty="0"/>
          </a:p>
        </p:txBody>
      </p:sp>
      <p:sp>
        <p:nvSpPr>
          <p:cNvPr id="19" name="Shape 17"/>
          <p:cNvSpPr/>
          <p:nvPr/>
        </p:nvSpPr>
        <p:spPr>
          <a:xfrm>
            <a:off x="9134856" y="1920240"/>
            <a:ext cx="2651760" cy="2286000"/>
          </a:xfrm>
          <a:prstGeom prst="roundRect">
            <a:avLst>
              <a:gd name="adj" fmla="val 3600"/>
            </a:avLst>
          </a:prstGeom>
          <a:solidFill>
            <a:srgbClr val="12203A"/>
          </a:solidFill>
          <a:ln w="12700">
            <a:solidFill>
              <a:srgbClr val="12203A"/>
            </a:solidFill>
            <a:prstDash val="solid"/>
          </a:ln>
        </p:spPr>
        <p:txBody>
          <a:bodyPr/>
          <a:lstStyle/>
          <a:p>
            <a:endParaRPr lang="es-CL"/>
          </a:p>
        </p:txBody>
      </p:sp>
      <p:sp>
        <p:nvSpPr>
          <p:cNvPr id="20" name="Shape 18"/>
          <p:cNvSpPr/>
          <p:nvPr/>
        </p:nvSpPr>
        <p:spPr>
          <a:xfrm>
            <a:off x="9409176" y="2148840"/>
            <a:ext cx="457200" cy="457200"/>
          </a:xfrm>
          <a:prstGeom prst="ellipse">
            <a:avLst/>
          </a:prstGeom>
          <a:solidFill>
            <a:srgbClr val="AC212E"/>
          </a:solidFill>
          <a:ln/>
        </p:spPr>
        <p:txBody>
          <a:bodyPr/>
          <a:lstStyle/>
          <a:p>
            <a:endParaRPr lang="es-CL"/>
          </a:p>
        </p:txBody>
      </p:sp>
      <p:sp>
        <p:nvSpPr>
          <p:cNvPr id="21" name="Text 19"/>
          <p:cNvSpPr/>
          <p:nvPr/>
        </p:nvSpPr>
        <p:spPr>
          <a:xfrm>
            <a:off x="9409176" y="214884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9409176" y="2743200"/>
            <a:ext cx="2103120" cy="38404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Verificar</a:t>
            </a:r>
            <a:endParaRPr lang="en-US" sz="1700" dirty="0"/>
          </a:p>
        </p:txBody>
      </p:sp>
      <p:sp>
        <p:nvSpPr>
          <p:cNvPr id="23" name="Text 21"/>
          <p:cNvSpPr/>
          <p:nvPr/>
        </p:nvSpPr>
        <p:spPr>
          <a:xfrm>
            <a:off x="9409176" y="3154680"/>
            <a:ext cx="2148840" cy="91440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Los aspectos formales y subir el archivo al buzón de tareas.</a:t>
            </a:r>
            <a:endParaRPr lang="en-US" sz="1250" dirty="0"/>
          </a:p>
        </p:txBody>
      </p:sp>
      <p:sp>
        <p:nvSpPr>
          <p:cNvPr id="24" name="Text 22"/>
          <p:cNvSpPr/>
          <p:nvPr/>
        </p:nvSpPr>
        <p:spPr>
          <a:xfrm>
            <a:off x="548640" y="4617720"/>
            <a:ext cx="5486400" cy="36576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Herramientas sugeridas para el mapa</a:t>
            </a:r>
            <a:endParaRPr lang="en-US" sz="1400" dirty="0"/>
          </a:p>
        </p:txBody>
      </p:sp>
      <p:sp>
        <p:nvSpPr>
          <p:cNvPr id="25" name="Text 23"/>
          <p:cNvSpPr/>
          <p:nvPr/>
        </p:nvSpPr>
        <p:spPr>
          <a:xfrm>
            <a:off x="548640" y="4983480"/>
            <a:ext cx="11064240" cy="36576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Lucidchart   ·   XMind   ·   MindMeister   ·   Canva   ·   Miro   ·   PowerPoint u otra similar</a:t>
            </a:r>
            <a:endParaRPr lang="en-US" sz="1400" dirty="0"/>
          </a:p>
        </p:txBody>
      </p:sp>
      <p:sp>
        <p:nvSpPr>
          <p:cNvPr id="26" name="Text 24"/>
          <p:cNvSpPr/>
          <p:nvPr/>
        </p:nvSpPr>
        <p:spPr>
          <a:xfrm>
            <a:off x="548640" y="5577840"/>
            <a:ext cx="11064240" cy="411480"/>
          </a:xfrm>
          <a:prstGeom prst="rect">
            <a:avLst/>
          </a:prstGeom>
          <a:noFill/>
          <a:ln/>
        </p:spPr>
        <p:txBody>
          <a:bodyPr wrap="square" lIns="0" tIns="0" rIns="0" bIns="0" rtlCol="0" anchor="ctr"/>
          <a:lstStyle/>
          <a:p>
            <a:pPr marL="0" indent="0">
              <a:buNone/>
            </a:pPr>
            <a:r>
              <a:rPr lang="en-US" sz="1400" i="1" dirty="0">
                <a:solidFill>
                  <a:srgbClr val="D7E3EE"/>
                </a:solidFill>
                <a:latin typeface="Calibri" pitchFamily="34" charset="0"/>
                <a:ea typeface="Calibri" pitchFamily="34" charset="-122"/>
                <a:cs typeface="Calibri" pitchFamily="34" charset="-120"/>
              </a:rPr>
              <a:t>Recomendación: elaboren primero el mapa y después redacten. Escribir suele revelar vacíos que conviene corregir antes de entregar.</a:t>
            </a:r>
            <a:endParaRPr lang="en-US" sz="1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Qué debe contener el mapa conceptual</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Seis elementos exigidos por las instrucciones. Ninguno es opcional.</a:t>
            </a:r>
            <a:endParaRPr lang="en-US" sz="1400" dirty="0"/>
          </a:p>
        </p:txBody>
      </p:sp>
      <p:sp>
        <p:nvSpPr>
          <p:cNvPr id="4" name="Shape 2"/>
          <p:cNvSpPr/>
          <p:nvPr/>
        </p:nvSpPr>
        <p:spPr>
          <a:xfrm>
            <a:off x="548640" y="1783080"/>
            <a:ext cx="5303520" cy="1097280"/>
          </a:xfrm>
          <a:prstGeom prst="roundRect">
            <a:avLst>
              <a:gd name="adj" fmla="val 7500"/>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804672" y="2112264"/>
            <a:ext cx="402336" cy="402336"/>
          </a:xfrm>
          <a:prstGeom prst="ellipse">
            <a:avLst/>
          </a:prstGeom>
          <a:solidFill>
            <a:srgbClr val="AC212E"/>
          </a:solidFill>
          <a:ln/>
        </p:spPr>
        <p:txBody>
          <a:bodyPr/>
          <a:lstStyle/>
          <a:p>
            <a:endParaRPr lang="es-CL"/>
          </a:p>
        </p:txBody>
      </p:sp>
      <p:sp>
        <p:nvSpPr>
          <p:cNvPr id="6" name="Text 4"/>
          <p:cNvSpPr/>
          <p:nvPr/>
        </p:nvSpPr>
        <p:spPr>
          <a:xfrm>
            <a:off x="804672" y="2112264"/>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371600" y="1892808"/>
            <a:ext cx="4343400" cy="877824"/>
          </a:xfrm>
          <a:prstGeom prst="rect">
            <a:avLst/>
          </a:prstGeom>
          <a:noFill/>
          <a:ln/>
        </p:spPr>
        <p:txBody>
          <a:bodyPr wrap="square" lIns="0" tIns="0" rIns="0" bIns="0" rtlCol="0" anchor="ctr"/>
          <a:lstStyle/>
          <a:p>
            <a:pPr marL="0" indent="0">
              <a:lnSpc>
                <a:spcPts val="1700"/>
              </a:lnSpc>
              <a:buNone/>
            </a:pPr>
            <a:r>
              <a:rPr lang="en-US" sz="1300" dirty="0">
                <a:solidFill>
                  <a:srgbClr val="06304A"/>
                </a:solidFill>
                <a:latin typeface="Calibri" pitchFamily="34" charset="0"/>
                <a:ea typeface="Calibri" pitchFamily="34" charset="-122"/>
                <a:cs typeface="Calibri" pitchFamily="34" charset="-120"/>
              </a:rPr>
              <a:t>Representación visual del flujo de trabajo reproducible del problema y dataset asignado</a:t>
            </a:r>
            <a:endParaRPr lang="en-US" sz="1300" dirty="0"/>
          </a:p>
        </p:txBody>
      </p:sp>
      <p:sp>
        <p:nvSpPr>
          <p:cNvPr id="8" name="Shape 6"/>
          <p:cNvSpPr/>
          <p:nvPr/>
        </p:nvSpPr>
        <p:spPr>
          <a:xfrm>
            <a:off x="6309360" y="1783080"/>
            <a:ext cx="5303520" cy="1097280"/>
          </a:xfrm>
          <a:prstGeom prst="roundRect">
            <a:avLst>
              <a:gd name="adj" fmla="val 7500"/>
            </a:avLst>
          </a:prstGeom>
          <a:solidFill>
            <a:srgbClr val="F4F7FA"/>
          </a:solidFill>
          <a:ln w="12700">
            <a:solidFill>
              <a:srgbClr val="F4F7FA"/>
            </a:solidFill>
            <a:prstDash val="solid"/>
          </a:ln>
        </p:spPr>
        <p:txBody>
          <a:bodyPr/>
          <a:lstStyle/>
          <a:p>
            <a:endParaRPr lang="es-CL"/>
          </a:p>
        </p:txBody>
      </p:sp>
      <p:sp>
        <p:nvSpPr>
          <p:cNvPr id="9" name="Shape 7"/>
          <p:cNvSpPr/>
          <p:nvPr/>
        </p:nvSpPr>
        <p:spPr>
          <a:xfrm>
            <a:off x="6565392" y="2112264"/>
            <a:ext cx="402336" cy="402336"/>
          </a:xfrm>
          <a:prstGeom prst="ellipse">
            <a:avLst/>
          </a:prstGeom>
          <a:solidFill>
            <a:srgbClr val="AC212E"/>
          </a:solidFill>
          <a:ln/>
        </p:spPr>
        <p:txBody>
          <a:bodyPr/>
          <a:lstStyle/>
          <a:p>
            <a:endParaRPr lang="es-CL"/>
          </a:p>
        </p:txBody>
      </p:sp>
      <p:sp>
        <p:nvSpPr>
          <p:cNvPr id="10" name="Text 8"/>
          <p:cNvSpPr/>
          <p:nvPr/>
        </p:nvSpPr>
        <p:spPr>
          <a:xfrm>
            <a:off x="6565392" y="2112264"/>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7132320" y="1892808"/>
            <a:ext cx="4343400" cy="877824"/>
          </a:xfrm>
          <a:prstGeom prst="rect">
            <a:avLst/>
          </a:prstGeom>
          <a:noFill/>
          <a:ln/>
        </p:spPr>
        <p:txBody>
          <a:bodyPr wrap="square" lIns="0" tIns="0" rIns="0" bIns="0" rtlCol="0" anchor="ctr"/>
          <a:lstStyle/>
          <a:p>
            <a:pPr marL="0" indent="0">
              <a:lnSpc>
                <a:spcPts val="1700"/>
              </a:lnSpc>
              <a:buNone/>
            </a:pPr>
            <a:r>
              <a:rPr lang="en-US" sz="1300" dirty="0">
                <a:solidFill>
                  <a:srgbClr val="06304A"/>
                </a:solidFill>
                <a:latin typeface="Calibri" pitchFamily="34" charset="0"/>
                <a:ea typeface="Calibri" pitchFamily="34" charset="-122"/>
                <a:cs typeface="Calibri" pitchFamily="34" charset="-120"/>
              </a:rPr>
              <a:t>Integración de las herramientas: GitHub, Jupyter Notebooks y control de versiones</a:t>
            </a:r>
            <a:endParaRPr lang="en-US" sz="1300" dirty="0"/>
          </a:p>
        </p:txBody>
      </p:sp>
      <p:sp>
        <p:nvSpPr>
          <p:cNvPr id="12" name="Shape 10"/>
          <p:cNvSpPr/>
          <p:nvPr/>
        </p:nvSpPr>
        <p:spPr>
          <a:xfrm>
            <a:off x="548640" y="3081528"/>
            <a:ext cx="5303520" cy="1097280"/>
          </a:xfrm>
          <a:prstGeom prst="roundRect">
            <a:avLst>
              <a:gd name="adj" fmla="val 7500"/>
            </a:avLst>
          </a:prstGeom>
          <a:solidFill>
            <a:srgbClr val="F4F7FA"/>
          </a:solidFill>
          <a:ln w="12700">
            <a:solidFill>
              <a:srgbClr val="F4F7FA"/>
            </a:solidFill>
            <a:prstDash val="solid"/>
          </a:ln>
        </p:spPr>
        <p:txBody>
          <a:bodyPr/>
          <a:lstStyle/>
          <a:p>
            <a:endParaRPr lang="es-CL"/>
          </a:p>
        </p:txBody>
      </p:sp>
      <p:sp>
        <p:nvSpPr>
          <p:cNvPr id="13" name="Shape 11"/>
          <p:cNvSpPr/>
          <p:nvPr/>
        </p:nvSpPr>
        <p:spPr>
          <a:xfrm>
            <a:off x="804672" y="3410712"/>
            <a:ext cx="402336" cy="402336"/>
          </a:xfrm>
          <a:prstGeom prst="ellipse">
            <a:avLst/>
          </a:prstGeom>
          <a:solidFill>
            <a:srgbClr val="AC212E"/>
          </a:solidFill>
          <a:ln/>
        </p:spPr>
        <p:txBody>
          <a:bodyPr/>
          <a:lstStyle/>
          <a:p>
            <a:endParaRPr lang="es-CL"/>
          </a:p>
        </p:txBody>
      </p:sp>
      <p:sp>
        <p:nvSpPr>
          <p:cNvPr id="14" name="Text 12"/>
          <p:cNvSpPr/>
          <p:nvPr/>
        </p:nvSpPr>
        <p:spPr>
          <a:xfrm>
            <a:off x="804672" y="341071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371600" y="3191256"/>
            <a:ext cx="4343400" cy="877824"/>
          </a:xfrm>
          <a:prstGeom prst="rect">
            <a:avLst/>
          </a:prstGeom>
          <a:noFill/>
          <a:ln/>
        </p:spPr>
        <p:txBody>
          <a:bodyPr wrap="square" lIns="0" tIns="0" rIns="0" bIns="0" rtlCol="0" anchor="ctr"/>
          <a:lstStyle/>
          <a:p>
            <a:pPr marL="0" indent="0">
              <a:lnSpc>
                <a:spcPts val="1700"/>
              </a:lnSpc>
              <a:buNone/>
            </a:pPr>
            <a:r>
              <a:rPr lang="en-US" sz="1300" dirty="0">
                <a:solidFill>
                  <a:srgbClr val="06304A"/>
                </a:solidFill>
                <a:latin typeface="Calibri" pitchFamily="34" charset="0"/>
                <a:ea typeface="Calibri" pitchFamily="34" charset="-122"/>
                <a:cs typeface="Calibri" pitchFamily="34" charset="-120"/>
              </a:rPr>
              <a:t>Estructura conceptual del entorno técnico: repositorio, carpetas, archivos y commits proyectados</a:t>
            </a:r>
            <a:endParaRPr lang="en-US" sz="1300" dirty="0"/>
          </a:p>
        </p:txBody>
      </p:sp>
      <p:sp>
        <p:nvSpPr>
          <p:cNvPr id="16" name="Shape 14"/>
          <p:cNvSpPr/>
          <p:nvPr/>
        </p:nvSpPr>
        <p:spPr>
          <a:xfrm>
            <a:off x="6309360" y="3081528"/>
            <a:ext cx="5303520" cy="1097280"/>
          </a:xfrm>
          <a:prstGeom prst="roundRect">
            <a:avLst>
              <a:gd name="adj" fmla="val 7500"/>
            </a:avLst>
          </a:prstGeom>
          <a:solidFill>
            <a:srgbClr val="F4F7FA"/>
          </a:solidFill>
          <a:ln w="12700">
            <a:solidFill>
              <a:srgbClr val="F4F7FA"/>
            </a:solidFill>
            <a:prstDash val="solid"/>
          </a:ln>
        </p:spPr>
        <p:txBody>
          <a:bodyPr/>
          <a:lstStyle/>
          <a:p>
            <a:endParaRPr lang="es-CL"/>
          </a:p>
        </p:txBody>
      </p:sp>
      <p:sp>
        <p:nvSpPr>
          <p:cNvPr id="17" name="Shape 15"/>
          <p:cNvSpPr/>
          <p:nvPr/>
        </p:nvSpPr>
        <p:spPr>
          <a:xfrm>
            <a:off x="6565392" y="3410712"/>
            <a:ext cx="402336" cy="402336"/>
          </a:xfrm>
          <a:prstGeom prst="ellipse">
            <a:avLst/>
          </a:prstGeom>
          <a:solidFill>
            <a:srgbClr val="AC212E"/>
          </a:solidFill>
          <a:ln/>
        </p:spPr>
        <p:txBody>
          <a:bodyPr/>
          <a:lstStyle/>
          <a:p>
            <a:endParaRPr lang="es-CL"/>
          </a:p>
        </p:txBody>
      </p:sp>
      <p:sp>
        <p:nvSpPr>
          <p:cNvPr id="18" name="Text 16"/>
          <p:cNvSpPr/>
          <p:nvPr/>
        </p:nvSpPr>
        <p:spPr>
          <a:xfrm>
            <a:off x="6565392" y="341071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7132320" y="3191256"/>
            <a:ext cx="4343400" cy="877824"/>
          </a:xfrm>
          <a:prstGeom prst="rect">
            <a:avLst/>
          </a:prstGeom>
          <a:noFill/>
          <a:ln/>
        </p:spPr>
        <p:txBody>
          <a:bodyPr wrap="square" lIns="0" tIns="0" rIns="0" bIns="0" rtlCol="0" anchor="ctr"/>
          <a:lstStyle/>
          <a:p>
            <a:pPr marL="0" indent="0">
              <a:lnSpc>
                <a:spcPts val="1700"/>
              </a:lnSpc>
              <a:buNone/>
            </a:pPr>
            <a:r>
              <a:rPr lang="en-US" sz="1300" dirty="0">
                <a:solidFill>
                  <a:srgbClr val="06304A"/>
                </a:solidFill>
                <a:latin typeface="Calibri" pitchFamily="34" charset="0"/>
                <a:ea typeface="Calibri" pitchFamily="34" charset="-122"/>
                <a:cs typeface="Calibri" pitchFamily="34" charset="-120"/>
              </a:rPr>
              <a:t>Vinculación entre componentes técnicos y documentación científica</a:t>
            </a:r>
            <a:endParaRPr lang="en-US" sz="1300" dirty="0"/>
          </a:p>
        </p:txBody>
      </p:sp>
      <p:sp>
        <p:nvSpPr>
          <p:cNvPr id="20" name="Shape 18"/>
          <p:cNvSpPr/>
          <p:nvPr/>
        </p:nvSpPr>
        <p:spPr>
          <a:xfrm>
            <a:off x="548640" y="4379976"/>
            <a:ext cx="5303520" cy="1097280"/>
          </a:xfrm>
          <a:prstGeom prst="roundRect">
            <a:avLst>
              <a:gd name="adj" fmla="val 7500"/>
            </a:avLst>
          </a:prstGeom>
          <a:solidFill>
            <a:srgbClr val="F4F7FA"/>
          </a:solidFill>
          <a:ln w="12700">
            <a:solidFill>
              <a:srgbClr val="F4F7FA"/>
            </a:solidFill>
            <a:prstDash val="solid"/>
          </a:ln>
        </p:spPr>
        <p:txBody>
          <a:bodyPr/>
          <a:lstStyle/>
          <a:p>
            <a:endParaRPr lang="es-CL"/>
          </a:p>
        </p:txBody>
      </p:sp>
      <p:sp>
        <p:nvSpPr>
          <p:cNvPr id="21" name="Shape 19"/>
          <p:cNvSpPr/>
          <p:nvPr/>
        </p:nvSpPr>
        <p:spPr>
          <a:xfrm>
            <a:off x="804672" y="4709160"/>
            <a:ext cx="402336" cy="402336"/>
          </a:xfrm>
          <a:prstGeom prst="ellipse">
            <a:avLst/>
          </a:prstGeom>
          <a:solidFill>
            <a:srgbClr val="AC212E"/>
          </a:solidFill>
          <a:ln/>
        </p:spPr>
        <p:txBody>
          <a:bodyPr/>
          <a:lstStyle/>
          <a:p>
            <a:endParaRPr lang="es-CL"/>
          </a:p>
        </p:txBody>
      </p:sp>
      <p:sp>
        <p:nvSpPr>
          <p:cNvPr id="22" name="Text 20"/>
          <p:cNvSpPr/>
          <p:nvPr/>
        </p:nvSpPr>
        <p:spPr>
          <a:xfrm>
            <a:off x="804672" y="470916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3" name="Text 21"/>
          <p:cNvSpPr/>
          <p:nvPr/>
        </p:nvSpPr>
        <p:spPr>
          <a:xfrm>
            <a:off x="1371600" y="4489704"/>
            <a:ext cx="4343400" cy="877824"/>
          </a:xfrm>
          <a:prstGeom prst="rect">
            <a:avLst/>
          </a:prstGeom>
          <a:noFill/>
          <a:ln/>
        </p:spPr>
        <p:txBody>
          <a:bodyPr wrap="square" lIns="0" tIns="0" rIns="0" bIns="0" rtlCol="0" anchor="ctr"/>
          <a:lstStyle/>
          <a:p>
            <a:pPr marL="0" indent="0">
              <a:lnSpc>
                <a:spcPts val="1700"/>
              </a:lnSpc>
              <a:buNone/>
            </a:pPr>
            <a:r>
              <a:rPr lang="en-US" sz="1300" dirty="0">
                <a:solidFill>
                  <a:srgbClr val="06304A"/>
                </a:solidFill>
                <a:latin typeface="Calibri" pitchFamily="34" charset="0"/>
                <a:ea typeface="Calibri" pitchFamily="34" charset="-122"/>
                <a:cs typeface="Calibri" pitchFamily="34" charset="-120"/>
              </a:rPr>
              <a:t>Leyenda o glosario visual que permita interpretar el flujo</a:t>
            </a:r>
            <a:endParaRPr lang="en-US" sz="1300" dirty="0"/>
          </a:p>
        </p:txBody>
      </p:sp>
      <p:sp>
        <p:nvSpPr>
          <p:cNvPr id="24" name="Shape 22"/>
          <p:cNvSpPr/>
          <p:nvPr/>
        </p:nvSpPr>
        <p:spPr>
          <a:xfrm>
            <a:off x="6309360" y="4379976"/>
            <a:ext cx="5303520" cy="1097280"/>
          </a:xfrm>
          <a:prstGeom prst="roundRect">
            <a:avLst>
              <a:gd name="adj" fmla="val 7500"/>
            </a:avLst>
          </a:prstGeom>
          <a:solidFill>
            <a:srgbClr val="F4F7FA"/>
          </a:solidFill>
          <a:ln w="12700">
            <a:solidFill>
              <a:srgbClr val="F4F7FA"/>
            </a:solidFill>
            <a:prstDash val="solid"/>
          </a:ln>
        </p:spPr>
        <p:txBody>
          <a:bodyPr/>
          <a:lstStyle/>
          <a:p>
            <a:endParaRPr lang="es-CL"/>
          </a:p>
        </p:txBody>
      </p:sp>
      <p:sp>
        <p:nvSpPr>
          <p:cNvPr id="25" name="Shape 23"/>
          <p:cNvSpPr/>
          <p:nvPr/>
        </p:nvSpPr>
        <p:spPr>
          <a:xfrm>
            <a:off x="6565392" y="4709160"/>
            <a:ext cx="402336" cy="402336"/>
          </a:xfrm>
          <a:prstGeom prst="ellipse">
            <a:avLst/>
          </a:prstGeom>
          <a:solidFill>
            <a:srgbClr val="AC212E"/>
          </a:solidFill>
          <a:ln/>
        </p:spPr>
        <p:txBody>
          <a:bodyPr/>
          <a:lstStyle/>
          <a:p>
            <a:endParaRPr lang="es-CL"/>
          </a:p>
        </p:txBody>
      </p:sp>
      <p:sp>
        <p:nvSpPr>
          <p:cNvPr id="26" name="Text 24"/>
          <p:cNvSpPr/>
          <p:nvPr/>
        </p:nvSpPr>
        <p:spPr>
          <a:xfrm>
            <a:off x="6565392" y="470916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7" name="Text 25"/>
          <p:cNvSpPr/>
          <p:nvPr/>
        </p:nvSpPr>
        <p:spPr>
          <a:xfrm>
            <a:off x="7132320" y="4489704"/>
            <a:ext cx="4343400" cy="877824"/>
          </a:xfrm>
          <a:prstGeom prst="rect">
            <a:avLst/>
          </a:prstGeom>
          <a:noFill/>
          <a:ln/>
        </p:spPr>
        <p:txBody>
          <a:bodyPr wrap="square" lIns="0" tIns="0" rIns="0" bIns="0" rtlCol="0" anchor="ctr"/>
          <a:lstStyle/>
          <a:p>
            <a:pPr marL="0" indent="0">
              <a:lnSpc>
                <a:spcPts val="1700"/>
              </a:lnSpc>
              <a:buNone/>
            </a:pPr>
            <a:r>
              <a:rPr lang="en-US" sz="1300" dirty="0">
                <a:solidFill>
                  <a:srgbClr val="06304A"/>
                </a:solidFill>
                <a:latin typeface="Calibri" pitchFamily="34" charset="0"/>
                <a:ea typeface="Calibri" pitchFamily="34" charset="-122"/>
                <a:cs typeface="Calibri" pitchFamily="34" charset="-120"/>
              </a:rPr>
              <a:t>Evidencia de reflexión técnica grupal y coherencia con la Fase 1</a:t>
            </a:r>
            <a:endParaRPr lang="en-US" sz="1300" dirty="0"/>
          </a:p>
        </p:txBody>
      </p:sp>
      <p:sp>
        <p:nvSpPr>
          <p:cNvPr id="28" name="Text 26"/>
          <p:cNvSpPr/>
          <p:nvPr/>
        </p:nvSpPr>
        <p:spPr>
          <a:xfrm>
            <a:off x="548640" y="6327648"/>
            <a:ext cx="11064240" cy="274320"/>
          </a:xfrm>
          <a:prstGeom prst="rect">
            <a:avLst/>
          </a:prstGeom>
          <a:noFill/>
          <a:ln/>
        </p:spPr>
        <p:txBody>
          <a:bodyPr wrap="square" lIns="0" tIns="0" rIns="0" bIns="0" rtlCol="0" anchor="ctr"/>
          <a:lstStyle/>
          <a:p>
            <a:pPr marL="0" indent="0">
              <a:buNone/>
            </a:pPr>
            <a:r>
              <a:rPr lang="en-US" sz="1000" dirty="0">
                <a:solidFill>
                  <a:srgbClr val="5A6B7B"/>
                </a:solidFill>
                <a:latin typeface="Calibri" pitchFamily="34" charset="0"/>
                <a:ea typeface="Calibri" pitchFamily="34" charset="-122"/>
                <a:cs typeface="Calibri" pitchFamily="34" charset="-120"/>
              </a:rPr>
              <a:t>Los elementos 3 y 5 son los que más se omiten: los commits proyectados y la leyenda del mapa.</a:t>
            </a:r>
            <a:endParaRPr lang="en-US" sz="1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Ejemplo aplicado: del enunciado al mapa</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Ejemplo referencial. Cada grupo lo adapta a su problemática y a su conjunto de datos.</a:t>
            </a:r>
            <a:endParaRPr lang="en-US" sz="1400" dirty="0"/>
          </a:p>
        </p:txBody>
      </p:sp>
      <p:sp>
        <p:nvSpPr>
          <p:cNvPr id="4" name="Shape 2"/>
          <p:cNvSpPr/>
          <p:nvPr/>
        </p:nvSpPr>
        <p:spPr>
          <a:xfrm>
            <a:off x="548640" y="1737360"/>
            <a:ext cx="5394960" cy="4023360"/>
          </a:xfrm>
          <a:prstGeom prst="roundRect">
            <a:avLst>
              <a:gd name="adj" fmla="val 2045"/>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22960" y="1920240"/>
            <a:ext cx="4846320" cy="36576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Estructura del repositorio proyectada</a:t>
            </a:r>
            <a:endParaRPr lang="en-US" sz="1400" dirty="0"/>
          </a:p>
        </p:txBody>
      </p:sp>
      <p:sp>
        <p:nvSpPr>
          <p:cNvPr id="6" name="Text 4"/>
          <p:cNvSpPr/>
          <p:nvPr/>
        </p:nvSpPr>
        <p:spPr>
          <a:xfrm>
            <a:off x="822960" y="2331720"/>
            <a:ext cx="4846320" cy="2103120"/>
          </a:xfrm>
          <a:prstGeom prst="rect">
            <a:avLst/>
          </a:prstGeom>
          <a:noFill/>
          <a:ln/>
        </p:spPr>
        <p:txBody>
          <a:bodyPr wrap="square" lIns="0" tIns="0" rIns="0" bIns="0" rtlCol="0" anchor="ctr"/>
          <a:lstStyle/>
          <a:p>
            <a:pPr marL="0" indent="0">
              <a:lnSpc>
                <a:spcPts val="1500"/>
              </a:lnSpc>
              <a:buNone/>
            </a:pPr>
            <a:r>
              <a:rPr lang="en-US" sz="1100" dirty="0">
                <a:solidFill>
                  <a:srgbClr val="06304A"/>
                </a:solidFill>
                <a:latin typeface="Courier New" pitchFamily="34" charset="0"/>
                <a:ea typeface="Courier New" pitchFamily="34" charset="-122"/>
                <a:cs typeface="Courier New" pitchFamily="34" charset="-120"/>
              </a:rPr>
              <a:t>proyecto-grupoX-mcdi500/</a:t>
            </a:r>
            <a:endParaRPr lang="en-US" sz="1100" dirty="0"/>
          </a:p>
          <a:p>
            <a:pPr marL="0" indent="0">
              <a:lnSpc>
                <a:spcPts val="1500"/>
              </a:lnSpc>
              <a:buNone/>
            </a:pPr>
            <a:r>
              <a:rPr lang="en-US" sz="1100" dirty="0">
                <a:solidFill>
                  <a:srgbClr val="06304A"/>
                </a:solidFill>
                <a:latin typeface="Courier New" pitchFamily="34" charset="0"/>
                <a:ea typeface="Courier New" pitchFamily="34" charset="-122"/>
                <a:cs typeface="Courier New" pitchFamily="34" charset="-120"/>
              </a:rPr>
              <a:t>├─ data/</a:t>
            </a:r>
            <a:endParaRPr lang="en-US" sz="1100" dirty="0"/>
          </a:p>
          <a:p>
            <a:pPr marL="0" indent="0">
              <a:lnSpc>
                <a:spcPts val="1500"/>
              </a:lnSpc>
              <a:buNone/>
            </a:pPr>
            <a:r>
              <a:rPr lang="en-US" sz="1100" dirty="0">
                <a:solidFill>
                  <a:srgbClr val="06304A"/>
                </a:solidFill>
                <a:latin typeface="Courier New" pitchFamily="34" charset="0"/>
                <a:ea typeface="Courier New" pitchFamily="34" charset="-122"/>
                <a:cs typeface="Courier New" pitchFamily="34" charset="-120"/>
              </a:rPr>
              <a:t>│   ├─ raw/          datos originales</a:t>
            </a:r>
            <a:endParaRPr lang="en-US" sz="1100" dirty="0"/>
          </a:p>
          <a:p>
            <a:pPr marL="0" indent="0">
              <a:lnSpc>
                <a:spcPts val="1500"/>
              </a:lnSpc>
              <a:buNone/>
            </a:pPr>
            <a:r>
              <a:rPr lang="en-US" sz="1100" dirty="0">
                <a:solidFill>
                  <a:srgbClr val="06304A"/>
                </a:solidFill>
                <a:latin typeface="Courier New" pitchFamily="34" charset="0"/>
                <a:ea typeface="Courier New" pitchFamily="34" charset="-122"/>
                <a:cs typeface="Courier New" pitchFamily="34" charset="-120"/>
              </a:rPr>
              <a:t>│   └─ processed/    datos transformados</a:t>
            </a:r>
            <a:endParaRPr lang="en-US" sz="1100" dirty="0"/>
          </a:p>
          <a:p>
            <a:pPr marL="0" indent="0">
              <a:lnSpc>
                <a:spcPts val="1500"/>
              </a:lnSpc>
              <a:buNone/>
            </a:pPr>
            <a:r>
              <a:rPr lang="en-US" sz="1100" dirty="0">
                <a:solidFill>
                  <a:srgbClr val="06304A"/>
                </a:solidFill>
                <a:latin typeface="Courier New" pitchFamily="34" charset="0"/>
                <a:ea typeface="Courier New" pitchFamily="34" charset="-122"/>
                <a:cs typeface="Courier New" pitchFamily="34" charset="-120"/>
              </a:rPr>
              <a:t>├─ notebooks/        análisis documentado</a:t>
            </a:r>
            <a:endParaRPr lang="en-US" sz="1100" dirty="0"/>
          </a:p>
          <a:p>
            <a:pPr marL="0" indent="0">
              <a:lnSpc>
                <a:spcPts val="1500"/>
              </a:lnSpc>
              <a:buNone/>
            </a:pPr>
            <a:r>
              <a:rPr lang="en-US" sz="1100" dirty="0">
                <a:solidFill>
                  <a:srgbClr val="06304A"/>
                </a:solidFill>
                <a:latin typeface="Courier New" pitchFamily="34" charset="0"/>
                <a:ea typeface="Courier New" pitchFamily="34" charset="-122"/>
                <a:cs typeface="Courier New" pitchFamily="34" charset="-120"/>
              </a:rPr>
              <a:t>├─ src/              funciones reutilizables</a:t>
            </a:r>
            <a:endParaRPr lang="en-US" sz="1100" dirty="0"/>
          </a:p>
          <a:p>
            <a:pPr marL="0" indent="0">
              <a:lnSpc>
                <a:spcPts val="1500"/>
              </a:lnSpc>
              <a:buNone/>
            </a:pPr>
            <a:r>
              <a:rPr lang="en-US" sz="1100" dirty="0">
                <a:solidFill>
                  <a:srgbClr val="06304A"/>
                </a:solidFill>
                <a:latin typeface="Courier New" pitchFamily="34" charset="0"/>
                <a:ea typeface="Courier New" pitchFamily="34" charset="-122"/>
                <a:cs typeface="Courier New" pitchFamily="34" charset="-120"/>
              </a:rPr>
              <a:t>├─ docs/             documentación</a:t>
            </a:r>
            <a:endParaRPr lang="en-US" sz="1100" dirty="0"/>
          </a:p>
          <a:p>
            <a:pPr marL="0" indent="0">
              <a:lnSpc>
                <a:spcPts val="1500"/>
              </a:lnSpc>
              <a:buNone/>
            </a:pPr>
            <a:r>
              <a:rPr lang="en-US" sz="1100" dirty="0">
                <a:solidFill>
                  <a:srgbClr val="06304A"/>
                </a:solidFill>
                <a:latin typeface="Courier New" pitchFamily="34" charset="0"/>
                <a:ea typeface="Courier New" pitchFamily="34" charset="-122"/>
                <a:cs typeface="Courier New" pitchFamily="34" charset="-120"/>
              </a:rPr>
              <a:t>├─ requirements.txt  dependencias</a:t>
            </a:r>
            <a:endParaRPr lang="en-US" sz="1100" dirty="0"/>
          </a:p>
          <a:p>
            <a:pPr marL="0" indent="0">
              <a:lnSpc>
                <a:spcPts val="1500"/>
              </a:lnSpc>
              <a:buNone/>
            </a:pPr>
            <a:r>
              <a:rPr lang="en-US" sz="1100" dirty="0">
                <a:solidFill>
                  <a:srgbClr val="06304A"/>
                </a:solidFill>
                <a:latin typeface="Courier New" pitchFamily="34" charset="0"/>
                <a:ea typeface="Courier New" pitchFamily="34" charset="-122"/>
                <a:cs typeface="Courier New" pitchFamily="34" charset="-120"/>
              </a:rPr>
              <a:t>├─ .gitignore        qué no se versiona</a:t>
            </a:r>
            <a:endParaRPr lang="en-US" sz="1100" dirty="0"/>
          </a:p>
          <a:p>
            <a:pPr marL="0" indent="0">
              <a:lnSpc>
                <a:spcPts val="1500"/>
              </a:lnSpc>
              <a:buNone/>
            </a:pPr>
            <a:r>
              <a:rPr lang="en-US" sz="1100" dirty="0">
                <a:solidFill>
                  <a:srgbClr val="06304A"/>
                </a:solidFill>
                <a:latin typeface="Courier New" pitchFamily="34" charset="0"/>
                <a:ea typeface="Courier New" pitchFamily="34" charset="-122"/>
                <a:cs typeface="Courier New" pitchFamily="34" charset="-120"/>
              </a:rPr>
              <a:t>└─ README.md         qué es y cómo se ejecuta</a:t>
            </a:r>
            <a:endParaRPr lang="en-US" sz="1100" dirty="0"/>
          </a:p>
        </p:txBody>
      </p:sp>
      <p:sp>
        <p:nvSpPr>
          <p:cNvPr id="7" name="Text 5"/>
          <p:cNvSpPr/>
          <p:nvPr/>
        </p:nvSpPr>
        <p:spPr>
          <a:xfrm>
            <a:off x="822960" y="4526280"/>
            <a:ext cx="484632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Commits proyectados</a:t>
            </a:r>
            <a:endParaRPr lang="en-US" sz="1400" dirty="0"/>
          </a:p>
        </p:txBody>
      </p:sp>
      <p:sp>
        <p:nvSpPr>
          <p:cNvPr id="8" name="Text 6"/>
          <p:cNvSpPr/>
          <p:nvPr/>
        </p:nvSpPr>
        <p:spPr>
          <a:xfrm>
            <a:off x="822960" y="4864608"/>
            <a:ext cx="4846320" cy="777240"/>
          </a:xfrm>
          <a:prstGeom prst="rect">
            <a:avLst/>
          </a:prstGeom>
          <a:noFill/>
          <a:ln/>
        </p:spPr>
        <p:txBody>
          <a:bodyPr wrap="square" lIns="0" tIns="0" rIns="0" bIns="0" rtlCol="0" anchor="ctr"/>
          <a:lstStyle/>
          <a:p>
            <a:pPr marL="0" indent="0">
              <a:lnSpc>
                <a:spcPts val="1500"/>
              </a:lnSpc>
              <a:buNone/>
            </a:pPr>
            <a:r>
              <a:rPr lang="en-US" sz="1050" dirty="0">
                <a:solidFill>
                  <a:srgbClr val="06304A"/>
                </a:solidFill>
                <a:latin typeface="Courier New" pitchFamily="34" charset="0"/>
                <a:ea typeface="Courier New" pitchFamily="34" charset="-122"/>
                <a:cs typeface="Courier New" pitchFamily="34" charset="-120"/>
              </a:rPr>
              <a:t>docs: crea estructura inicial del proyecto</a:t>
            </a:r>
            <a:endParaRPr lang="en-US" sz="1050" dirty="0"/>
          </a:p>
          <a:p>
            <a:pPr marL="0" indent="0">
              <a:lnSpc>
                <a:spcPts val="1500"/>
              </a:lnSpc>
              <a:buNone/>
            </a:pPr>
            <a:r>
              <a:rPr lang="en-US" sz="1050" dirty="0">
                <a:solidFill>
                  <a:srgbClr val="06304A"/>
                </a:solidFill>
                <a:latin typeface="Courier New" pitchFamily="34" charset="0"/>
                <a:ea typeface="Courier New" pitchFamily="34" charset="-122"/>
                <a:cs typeface="Courier New" pitchFamily="34" charset="-120"/>
              </a:rPr>
              <a:t>docs: documenta criterios de versionamiento</a:t>
            </a:r>
            <a:endParaRPr lang="en-US" sz="1050" dirty="0"/>
          </a:p>
          <a:p>
            <a:pPr marL="0" indent="0">
              <a:lnSpc>
                <a:spcPts val="1500"/>
              </a:lnSpc>
              <a:buNone/>
            </a:pPr>
            <a:r>
              <a:rPr lang="en-US" sz="1050" dirty="0">
                <a:solidFill>
                  <a:srgbClr val="06304A"/>
                </a:solidFill>
                <a:latin typeface="Courier New" pitchFamily="34" charset="0"/>
                <a:ea typeface="Courier New" pitchFamily="34" charset="-122"/>
                <a:cs typeface="Courier New" pitchFamily="34" charset="-120"/>
              </a:rPr>
              <a:t>data: incorpora dataset base en raw</a:t>
            </a:r>
            <a:endParaRPr lang="en-US" sz="1050" dirty="0"/>
          </a:p>
        </p:txBody>
      </p:sp>
      <p:sp>
        <p:nvSpPr>
          <p:cNvPr id="9" name="Shape 7"/>
          <p:cNvSpPr/>
          <p:nvPr/>
        </p:nvSpPr>
        <p:spPr>
          <a:xfrm>
            <a:off x="6309360" y="1737360"/>
            <a:ext cx="5303520" cy="4023360"/>
          </a:xfrm>
          <a:prstGeom prst="roundRect">
            <a:avLst>
              <a:gd name="adj" fmla="val 2045"/>
            </a:avLst>
          </a:prstGeom>
          <a:solidFill>
            <a:srgbClr val="0A1526"/>
          </a:solidFill>
          <a:ln w="12700">
            <a:solidFill>
              <a:srgbClr val="0A1526"/>
            </a:solidFill>
            <a:prstDash val="solid"/>
          </a:ln>
        </p:spPr>
        <p:txBody>
          <a:bodyPr/>
          <a:lstStyle/>
          <a:p>
            <a:endParaRPr lang="es-CL"/>
          </a:p>
        </p:txBody>
      </p:sp>
      <p:sp>
        <p:nvSpPr>
          <p:cNvPr id="10" name="Text 8"/>
          <p:cNvSpPr/>
          <p:nvPr/>
        </p:nvSpPr>
        <p:spPr>
          <a:xfrm>
            <a:off x="6583680" y="1920240"/>
            <a:ext cx="4754880" cy="36576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Cómo se lee esto en el mapa</a:t>
            </a:r>
            <a:endParaRPr lang="en-US" sz="1400" dirty="0"/>
          </a:p>
        </p:txBody>
      </p:sp>
      <p:sp>
        <p:nvSpPr>
          <p:cNvPr id="11" name="Text 9"/>
          <p:cNvSpPr/>
          <p:nvPr/>
        </p:nvSpPr>
        <p:spPr>
          <a:xfrm>
            <a:off x="6583680" y="2377440"/>
            <a:ext cx="475488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Carpetas → etapas</a:t>
            </a:r>
            <a:endParaRPr lang="en-US" sz="1350" dirty="0"/>
          </a:p>
        </p:txBody>
      </p:sp>
      <p:sp>
        <p:nvSpPr>
          <p:cNvPr id="12" name="Text 10"/>
          <p:cNvSpPr/>
          <p:nvPr/>
        </p:nvSpPr>
        <p:spPr>
          <a:xfrm>
            <a:off x="6583680" y="2670048"/>
            <a:ext cx="4754880" cy="502920"/>
          </a:xfrm>
          <a:prstGeom prst="rect">
            <a:avLst/>
          </a:prstGeom>
          <a:noFill/>
          <a:ln/>
        </p:spPr>
        <p:txBody>
          <a:bodyPr wrap="square" lIns="0" tIns="0" rIns="0" bIns="0" rtlCol="0" anchor="ctr"/>
          <a:lstStyle/>
          <a:p>
            <a:pPr marL="0" indent="0">
              <a:lnSpc>
                <a:spcPts val="1600"/>
              </a:lnSpc>
              <a:buNone/>
            </a:pPr>
            <a:r>
              <a:rPr lang="en-US" sz="1200" dirty="0">
                <a:solidFill>
                  <a:srgbClr val="D7E3EE"/>
                </a:solidFill>
                <a:latin typeface="Calibri" pitchFamily="34" charset="0"/>
                <a:ea typeface="Calibri" pitchFamily="34" charset="-122"/>
                <a:cs typeface="Calibri" pitchFamily="34" charset="-120"/>
              </a:rPr>
              <a:t>Cada carpeta corresponde a un momento del flujo, no a un capricho de orden.</a:t>
            </a:r>
            <a:endParaRPr lang="en-US" sz="1200" dirty="0"/>
          </a:p>
        </p:txBody>
      </p:sp>
      <p:sp>
        <p:nvSpPr>
          <p:cNvPr id="13" name="Text 11"/>
          <p:cNvSpPr/>
          <p:nvPr/>
        </p:nvSpPr>
        <p:spPr>
          <a:xfrm>
            <a:off x="6583680" y="3227832"/>
            <a:ext cx="475488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Commits → trazabilidad</a:t>
            </a:r>
            <a:endParaRPr lang="en-US" sz="1350" dirty="0"/>
          </a:p>
        </p:txBody>
      </p:sp>
      <p:sp>
        <p:nvSpPr>
          <p:cNvPr id="14" name="Text 12"/>
          <p:cNvSpPr/>
          <p:nvPr/>
        </p:nvSpPr>
        <p:spPr>
          <a:xfrm>
            <a:off x="6583680" y="3520440"/>
            <a:ext cx="4754880" cy="502920"/>
          </a:xfrm>
          <a:prstGeom prst="rect">
            <a:avLst/>
          </a:prstGeom>
          <a:noFill/>
          <a:ln/>
        </p:spPr>
        <p:txBody>
          <a:bodyPr wrap="square" lIns="0" tIns="0" rIns="0" bIns="0" rtlCol="0" anchor="ctr"/>
          <a:lstStyle/>
          <a:p>
            <a:pPr marL="0" indent="0">
              <a:lnSpc>
                <a:spcPts val="1600"/>
              </a:lnSpc>
              <a:buNone/>
            </a:pPr>
            <a:r>
              <a:rPr lang="en-US" sz="1200" dirty="0">
                <a:solidFill>
                  <a:srgbClr val="D7E3EE"/>
                </a:solidFill>
                <a:latin typeface="Calibri" pitchFamily="34" charset="0"/>
                <a:ea typeface="Calibri" pitchFamily="34" charset="-122"/>
                <a:cs typeface="Calibri" pitchFamily="34" charset="-120"/>
              </a:rPr>
              <a:t>Los ejemplos muestran que el grupo entiende qué se registra y con qué nivel de detalle.</a:t>
            </a:r>
            <a:endParaRPr lang="en-US" sz="1200" dirty="0"/>
          </a:p>
        </p:txBody>
      </p:sp>
      <p:sp>
        <p:nvSpPr>
          <p:cNvPr id="15" name="Text 13"/>
          <p:cNvSpPr/>
          <p:nvPr/>
        </p:nvSpPr>
        <p:spPr>
          <a:xfrm>
            <a:off x="6583680" y="4078224"/>
            <a:ext cx="475488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README → comunicación</a:t>
            </a:r>
            <a:endParaRPr lang="en-US" sz="1350" dirty="0"/>
          </a:p>
        </p:txBody>
      </p:sp>
      <p:sp>
        <p:nvSpPr>
          <p:cNvPr id="16" name="Text 14"/>
          <p:cNvSpPr/>
          <p:nvPr/>
        </p:nvSpPr>
        <p:spPr>
          <a:xfrm>
            <a:off x="6583680" y="4370832"/>
            <a:ext cx="4754880" cy="502920"/>
          </a:xfrm>
          <a:prstGeom prst="rect">
            <a:avLst/>
          </a:prstGeom>
          <a:noFill/>
          <a:ln/>
        </p:spPr>
        <p:txBody>
          <a:bodyPr wrap="square" lIns="0" tIns="0" rIns="0" bIns="0" rtlCol="0" anchor="ctr"/>
          <a:lstStyle/>
          <a:p>
            <a:pPr marL="0" indent="0">
              <a:lnSpc>
                <a:spcPts val="1600"/>
              </a:lnSpc>
              <a:buNone/>
            </a:pPr>
            <a:r>
              <a:rPr lang="en-US" sz="1200" dirty="0">
                <a:solidFill>
                  <a:srgbClr val="D7E3EE"/>
                </a:solidFill>
                <a:latin typeface="Calibri" pitchFamily="34" charset="0"/>
                <a:ea typeface="Calibri" pitchFamily="34" charset="-122"/>
                <a:cs typeface="Calibri" pitchFamily="34" charset="-120"/>
              </a:rPr>
              <a:t>Es el punto donde el proyecto se explica a un tercero.</a:t>
            </a:r>
            <a:endParaRPr lang="en-US" sz="1200" dirty="0"/>
          </a:p>
        </p:txBody>
      </p:sp>
      <p:sp>
        <p:nvSpPr>
          <p:cNvPr id="17" name="Text 15"/>
          <p:cNvSpPr/>
          <p:nvPr/>
        </p:nvSpPr>
        <p:spPr>
          <a:xfrm>
            <a:off x="6583680" y="4928616"/>
            <a:ext cx="475488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.gitignore → criterio</a:t>
            </a:r>
            <a:endParaRPr lang="en-US" sz="1350" dirty="0"/>
          </a:p>
        </p:txBody>
      </p:sp>
      <p:sp>
        <p:nvSpPr>
          <p:cNvPr id="18" name="Text 16"/>
          <p:cNvSpPr/>
          <p:nvPr/>
        </p:nvSpPr>
        <p:spPr>
          <a:xfrm>
            <a:off x="6583680" y="5221224"/>
            <a:ext cx="4754880" cy="502920"/>
          </a:xfrm>
          <a:prstGeom prst="rect">
            <a:avLst/>
          </a:prstGeom>
          <a:noFill/>
          <a:ln/>
        </p:spPr>
        <p:txBody>
          <a:bodyPr wrap="square" lIns="0" tIns="0" rIns="0" bIns="0" rtlCol="0" anchor="ctr"/>
          <a:lstStyle/>
          <a:p>
            <a:pPr marL="0" indent="0">
              <a:lnSpc>
                <a:spcPts val="1600"/>
              </a:lnSpc>
              <a:buNone/>
            </a:pPr>
            <a:r>
              <a:rPr lang="en-US" sz="1200" dirty="0">
                <a:solidFill>
                  <a:srgbClr val="D7E3EE"/>
                </a:solidFill>
                <a:latin typeface="Calibri" pitchFamily="34" charset="0"/>
                <a:ea typeface="Calibri" pitchFamily="34" charset="-122"/>
                <a:cs typeface="Calibri" pitchFamily="34" charset="-120"/>
              </a:rPr>
              <a:t>Decidir qué NO se versiona también es una decisión técnica.</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Qué deben entregar</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Un solo archivo, subido por una sola persona del grupo.</a:t>
            </a:r>
            <a:endParaRPr lang="en-US" sz="1400" dirty="0"/>
          </a:p>
        </p:txBody>
      </p:sp>
      <p:graphicFrame>
        <p:nvGraphicFramePr>
          <p:cNvPr id="12" name="Table 0"/>
          <p:cNvGraphicFramePr>
            <a:graphicFrameLocks noGrp="1"/>
          </p:cNvGraphicFramePr>
          <p:nvPr/>
        </p:nvGraphicFramePr>
        <p:xfrm>
          <a:off x="548640" y="1737360"/>
          <a:ext cx="11064240" cy="3657600"/>
        </p:xfrm>
        <a:graphic>
          <a:graphicData uri="http://schemas.openxmlformats.org/drawingml/2006/table">
            <a:tbl>
              <a:tblPr/>
              <a:tblGrid>
                <a:gridCol w="3200400">
                  <a:extLst>
                    <a:ext uri="{9D8B030D-6E8A-4147-A177-3AD203B41FA5}">
                      <a16:colId xmlns:a16="http://schemas.microsoft.com/office/drawing/2014/main" val="20000"/>
                    </a:ext>
                  </a:extLst>
                </a:gridCol>
                <a:gridCol w="7863840">
                  <a:extLst>
                    <a:ext uri="{9D8B030D-6E8A-4147-A177-3AD203B41FA5}">
                      <a16:colId xmlns:a16="http://schemas.microsoft.com/office/drawing/2014/main" val="20001"/>
                    </a:ext>
                  </a:extLst>
                </a:gridCol>
              </a:tblGrid>
              <a:tr h="45720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Aspecto</a:t>
                      </a:r>
                      <a:endParaRPr lang="en-US" sz="14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Requisito</a:t>
                      </a:r>
                      <a:endParaRPr lang="en-US" sz="14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extLst>
                  <a:ext uri="{0D108BD9-81ED-4DB2-BD59-A6C34878D82A}">
                    <a16:rowId xmlns:a16="http://schemas.microsoft.com/office/drawing/2014/main" val="10000"/>
                  </a:ext>
                </a:extLst>
              </a:tr>
              <a:tr h="457200">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Formato del archivo</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PDF, JPG o PNG</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Extensión máxima</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Dos páginas tamaño carta, horizontal o vertical</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Portada</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Nombres completos de todos los integrantes, como aparecerán en el acta</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Tipografía</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Arial o Calibri 11 pts, uso moderado de color</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Referencias</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Al menos una en formato APA 7</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Nombre del archivo</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mcdi500_s1_grupox — sin tildes, ñ ni caracteres especiales, máx. 20 caracteres</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Vía de entrega</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Entrega de actividad → botón «Examinar mi equipo»</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Shape 2"/>
          <p:cNvSpPr/>
          <p:nvPr/>
        </p:nvSpPr>
        <p:spPr>
          <a:xfrm>
            <a:off x="548640" y="5257800"/>
            <a:ext cx="11064240" cy="777240"/>
          </a:xfrm>
          <a:prstGeom prst="roundRect">
            <a:avLst>
              <a:gd name="adj" fmla="val 10588"/>
            </a:avLst>
          </a:prstGeom>
          <a:solidFill>
            <a:srgbClr val="F6E7E9"/>
          </a:solidFill>
          <a:ln w="12700">
            <a:solidFill>
              <a:srgbClr val="F6E7E9"/>
            </a:solidFill>
            <a:prstDash val="solid"/>
          </a:ln>
        </p:spPr>
        <p:txBody>
          <a:bodyPr/>
          <a:lstStyle/>
          <a:p>
            <a:endParaRPr lang="es-CL"/>
          </a:p>
        </p:txBody>
      </p:sp>
      <p:sp>
        <p:nvSpPr>
          <p:cNvPr id="6" name="Text 3"/>
          <p:cNvSpPr/>
          <p:nvPr/>
        </p:nvSpPr>
        <p:spPr>
          <a:xfrm>
            <a:off x="868680" y="5394960"/>
            <a:ext cx="10424160" cy="502920"/>
          </a:xfrm>
          <a:prstGeom prst="rect">
            <a:avLst/>
          </a:prstGeom>
          <a:noFill/>
          <a:ln/>
        </p:spPr>
        <p:txBody>
          <a:bodyPr wrap="square" lIns="0" tIns="0" rIns="0" bIns="0" rtlCol="0" anchor="ctr"/>
          <a:lstStyle/>
          <a:p>
            <a:pPr marL="0" indent="0">
              <a:buNone/>
            </a:pPr>
            <a:r>
              <a:rPr lang="en-US" sz="1400" dirty="0">
                <a:solidFill>
                  <a:srgbClr val="AC212E"/>
                </a:solidFill>
                <a:latin typeface="Calibri" pitchFamily="34" charset="0"/>
                <a:ea typeface="Calibri" pitchFamily="34" charset="-122"/>
                <a:cs typeface="Calibri" pitchFamily="34" charset="-120"/>
              </a:rPr>
              <a:t>El plazo importa aunque la actividad no pondere: entregar tarde significa recibir la retroalimentación cuando ya no alcanza a corregirse antes de la sumativa.</a:t>
            </a:r>
            <a:endParaRPr lang="en-US" sz="14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Cómo se evalúa: 5 criterios de 5 puntos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25 puntos en total. Evaluación formativa: no pondera, pero la retroalimentación se aplica a la sumativa.</a:t>
            </a:r>
            <a:endParaRPr lang="en-US" sz="1400" dirty="0"/>
          </a:p>
        </p:txBody>
      </p:sp>
      <p:sp>
        <p:nvSpPr>
          <p:cNvPr id="4" name="Shape 2"/>
          <p:cNvSpPr/>
          <p:nvPr/>
        </p:nvSpPr>
        <p:spPr>
          <a:xfrm>
            <a:off x="548640" y="1783080"/>
            <a:ext cx="8503920" cy="548640"/>
          </a:xfrm>
          <a:prstGeom prst="roundRect">
            <a:avLst>
              <a:gd name="adj" fmla="val 15000"/>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713232" y="1856232"/>
            <a:ext cx="402336" cy="402336"/>
          </a:xfrm>
          <a:prstGeom prst="ellipse">
            <a:avLst/>
          </a:prstGeom>
          <a:solidFill>
            <a:srgbClr val="AC212E"/>
          </a:solidFill>
          <a:ln/>
        </p:spPr>
        <p:txBody>
          <a:bodyPr/>
          <a:lstStyle/>
          <a:p>
            <a:endParaRPr lang="es-CL"/>
          </a:p>
        </p:txBody>
      </p:sp>
      <p:sp>
        <p:nvSpPr>
          <p:cNvPr id="6" name="Text 4"/>
          <p:cNvSpPr/>
          <p:nvPr/>
        </p:nvSpPr>
        <p:spPr>
          <a:xfrm>
            <a:off x="713232" y="185623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280160" y="1783080"/>
            <a:ext cx="7589520" cy="548640"/>
          </a:xfrm>
          <a:prstGeom prst="rect">
            <a:avLst/>
          </a:prstGeom>
          <a:noFill/>
          <a:ln/>
        </p:spPr>
        <p:txBody>
          <a:bodyPr wrap="square" lIns="0" tIns="0" rIns="0" bIns="0" rtlCol="0" anchor="ctr"/>
          <a:lstStyle/>
          <a:p>
            <a:pPr marL="0" indent="0">
              <a:buNone/>
            </a:pPr>
            <a:r>
              <a:rPr lang="en-US" sz="1300" dirty="0">
                <a:solidFill>
                  <a:srgbClr val="06304A"/>
                </a:solidFill>
                <a:latin typeface="Calibri" pitchFamily="34" charset="0"/>
                <a:ea typeface="Calibri" pitchFamily="34" charset="-122"/>
                <a:cs typeface="Calibri" pitchFamily="34" charset="-120"/>
              </a:rPr>
              <a:t>Integración técnica del flujo reproducible y ecosistema científico</a:t>
            </a:r>
            <a:endParaRPr lang="en-US" sz="1300" dirty="0"/>
          </a:p>
        </p:txBody>
      </p:sp>
      <p:sp>
        <p:nvSpPr>
          <p:cNvPr id="8" name="Text 6"/>
          <p:cNvSpPr/>
          <p:nvPr/>
        </p:nvSpPr>
        <p:spPr>
          <a:xfrm>
            <a:off x="9098280" y="1783080"/>
            <a:ext cx="548640" cy="548640"/>
          </a:xfrm>
          <a:prstGeom prst="rect">
            <a:avLst/>
          </a:prstGeom>
          <a:noFill/>
          <a:ln/>
        </p:spPr>
        <p:txBody>
          <a:bodyPr wrap="square" lIns="0" tIns="0" rIns="0" bIns="0" rtlCol="0" anchor="ctr"/>
          <a:lstStyle/>
          <a:p>
            <a:pPr marL="0" indent="0">
              <a:buNone/>
            </a:pPr>
            <a:r>
              <a:rPr lang="en-US" sz="1700" b="1" dirty="0">
                <a:solidFill>
                  <a:srgbClr val="AC212E"/>
                </a:solidFill>
                <a:latin typeface="Cambria" pitchFamily="34" charset="0"/>
                <a:ea typeface="Cambria" pitchFamily="34" charset="-122"/>
                <a:cs typeface="Cambria" pitchFamily="34" charset="-120"/>
              </a:rPr>
              <a:t>/5</a:t>
            </a:r>
            <a:endParaRPr lang="en-US" sz="1700" dirty="0"/>
          </a:p>
        </p:txBody>
      </p:sp>
      <p:sp>
        <p:nvSpPr>
          <p:cNvPr id="9" name="Shape 7"/>
          <p:cNvSpPr/>
          <p:nvPr/>
        </p:nvSpPr>
        <p:spPr>
          <a:xfrm>
            <a:off x="548640" y="2441448"/>
            <a:ext cx="8503920" cy="548640"/>
          </a:xfrm>
          <a:prstGeom prst="roundRect">
            <a:avLst>
              <a:gd name="adj" fmla="val 15000"/>
            </a:avLst>
          </a:prstGeom>
          <a:solidFill>
            <a:srgbClr val="F4F7FA"/>
          </a:solidFill>
          <a:ln w="12700">
            <a:solidFill>
              <a:srgbClr val="F4F7FA"/>
            </a:solidFill>
            <a:prstDash val="solid"/>
          </a:ln>
        </p:spPr>
        <p:txBody>
          <a:bodyPr/>
          <a:lstStyle/>
          <a:p>
            <a:endParaRPr lang="es-CL"/>
          </a:p>
        </p:txBody>
      </p:sp>
      <p:sp>
        <p:nvSpPr>
          <p:cNvPr id="10" name="Shape 8"/>
          <p:cNvSpPr/>
          <p:nvPr/>
        </p:nvSpPr>
        <p:spPr>
          <a:xfrm>
            <a:off x="713232" y="2514600"/>
            <a:ext cx="402336" cy="402336"/>
          </a:xfrm>
          <a:prstGeom prst="ellipse">
            <a:avLst/>
          </a:prstGeom>
          <a:solidFill>
            <a:srgbClr val="AC212E"/>
          </a:solidFill>
          <a:ln/>
        </p:spPr>
        <p:txBody>
          <a:bodyPr/>
          <a:lstStyle/>
          <a:p>
            <a:endParaRPr lang="es-CL"/>
          </a:p>
        </p:txBody>
      </p:sp>
      <p:sp>
        <p:nvSpPr>
          <p:cNvPr id="11" name="Text 9"/>
          <p:cNvSpPr/>
          <p:nvPr/>
        </p:nvSpPr>
        <p:spPr>
          <a:xfrm>
            <a:off x="713232" y="251460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280160" y="2441448"/>
            <a:ext cx="7589520" cy="548640"/>
          </a:xfrm>
          <a:prstGeom prst="rect">
            <a:avLst/>
          </a:prstGeom>
          <a:noFill/>
          <a:ln/>
        </p:spPr>
        <p:txBody>
          <a:bodyPr wrap="square" lIns="0" tIns="0" rIns="0" bIns="0" rtlCol="0" anchor="ctr"/>
          <a:lstStyle/>
          <a:p>
            <a:pPr marL="0" indent="0">
              <a:buNone/>
            </a:pPr>
            <a:r>
              <a:rPr lang="en-US" sz="1300" dirty="0">
                <a:solidFill>
                  <a:srgbClr val="06304A"/>
                </a:solidFill>
                <a:latin typeface="Calibri" pitchFamily="34" charset="0"/>
                <a:ea typeface="Calibri" pitchFamily="34" charset="-122"/>
                <a:cs typeface="Calibri" pitchFamily="34" charset="-120"/>
              </a:rPr>
              <a:t>Estructura conceptual del entorno técnico de trabajo</a:t>
            </a:r>
            <a:endParaRPr lang="en-US" sz="1300" dirty="0"/>
          </a:p>
        </p:txBody>
      </p:sp>
      <p:sp>
        <p:nvSpPr>
          <p:cNvPr id="13" name="Text 11"/>
          <p:cNvSpPr/>
          <p:nvPr/>
        </p:nvSpPr>
        <p:spPr>
          <a:xfrm>
            <a:off x="9098280" y="2441448"/>
            <a:ext cx="548640" cy="548640"/>
          </a:xfrm>
          <a:prstGeom prst="rect">
            <a:avLst/>
          </a:prstGeom>
          <a:noFill/>
          <a:ln/>
        </p:spPr>
        <p:txBody>
          <a:bodyPr wrap="square" lIns="0" tIns="0" rIns="0" bIns="0" rtlCol="0" anchor="ctr"/>
          <a:lstStyle/>
          <a:p>
            <a:pPr marL="0" indent="0">
              <a:buNone/>
            </a:pPr>
            <a:r>
              <a:rPr lang="en-US" sz="1700" b="1" dirty="0">
                <a:solidFill>
                  <a:srgbClr val="AC212E"/>
                </a:solidFill>
                <a:latin typeface="Cambria" pitchFamily="34" charset="0"/>
                <a:ea typeface="Cambria" pitchFamily="34" charset="-122"/>
                <a:cs typeface="Cambria" pitchFamily="34" charset="-120"/>
              </a:rPr>
              <a:t>/5</a:t>
            </a:r>
            <a:endParaRPr lang="en-US" sz="1700" dirty="0"/>
          </a:p>
        </p:txBody>
      </p:sp>
      <p:sp>
        <p:nvSpPr>
          <p:cNvPr id="14" name="Shape 12"/>
          <p:cNvSpPr/>
          <p:nvPr/>
        </p:nvSpPr>
        <p:spPr>
          <a:xfrm>
            <a:off x="548640" y="3099816"/>
            <a:ext cx="8503920" cy="548640"/>
          </a:xfrm>
          <a:prstGeom prst="roundRect">
            <a:avLst>
              <a:gd name="adj" fmla="val 15000"/>
            </a:avLst>
          </a:prstGeom>
          <a:solidFill>
            <a:srgbClr val="F4F7FA"/>
          </a:solidFill>
          <a:ln w="12700">
            <a:solidFill>
              <a:srgbClr val="F4F7FA"/>
            </a:solidFill>
            <a:prstDash val="solid"/>
          </a:ln>
        </p:spPr>
        <p:txBody>
          <a:bodyPr/>
          <a:lstStyle/>
          <a:p>
            <a:endParaRPr lang="es-CL"/>
          </a:p>
        </p:txBody>
      </p:sp>
      <p:sp>
        <p:nvSpPr>
          <p:cNvPr id="15" name="Shape 13"/>
          <p:cNvSpPr/>
          <p:nvPr/>
        </p:nvSpPr>
        <p:spPr>
          <a:xfrm>
            <a:off x="713232" y="3172968"/>
            <a:ext cx="402336" cy="402336"/>
          </a:xfrm>
          <a:prstGeom prst="ellipse">
            <a:avLst/>
          </a:prstGeom>
          <a:solidFill>
            <a:srgbClr val="AC212E"/>
          </a:solidFill>
          <a:ln/>
        </p:spPr>
        <p:txBody>
          <a:bodyPr/>
          <a:lstStyle/>
          <a:p>
            <a:endParaRPr lang="es-CL"/>
          </a:p>
        </p:txBody>
      </p:sp>
      <p:sp>
        <p:nvSpPr>
          <p:cNvPr id="16" name="Text 14"/>
          <p:cNvSpPr/>
          <p:nvPr/>
        </p:nvSpPr>
        <p:spPr>
          <a:xfrm>
            <a:off x="713232" y="3172968"/>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280160" y="3099816"/>
            <a:ext cx="7589520" cy="548640"/>
          </a:xfrm>
          <a:prstGeom prst="rect">
            <a:avLst/>
          </a:prstGeom>
          <a:noFill/>
          <a:ln/>
        </p:spPr>
        <p:txBody>
          <a:bodyPr wrap="square" lIns="0" tIns="0" rIns="0" bIns="0" rtlCol="0" anchor="ctr"/>
          <a:lstStyle/>
          <a:p>
            <a:pPr marL="0" indent="0">
              <a:buNone/>
            </a:pPr>
            <a:r>
              <a:rPr lang="en-US" sz="1300" dirty="0">
                <a:solidFill>
                  <a:srgbClr val="06304A"/>
                </a:solidFill>
                <a:latin typeface="Calibri" pitchFamily="34" charset="0"/>
                <a:ea typeface="Calibri" pitchFamily="34" charset="-122"/>
                <a:cs typeface="Calibri" pitchFamily="34" charset="-120"/>
              </a:rPr>
              <a:t>Vinculación entre componentes técnicos y documentación científica reproducible</a:t>
            </a:r>
            <a:endParaRPr lang="en-US" sz="1300" dirty="0"/>
          </a:p>
        </p:txBody>
      </p:sp>
      <p:sp>
        <p:nvSpPr>
          <p:cNvPr id="18" name="Text 16"/>
          <p:cNvSpPr/>
          <p:nvPr/>
        </p:nvSpPr>
        <p:spPr>
          <a:xfrm>
            <a:off x="9098280" y="3099816"/>
            <a:ext cx="548640" cy="548640"/>
          </a:xfrm>
          <a:prstGeom prst="rect">
            <a:avLst/>
          </a:prstGeom>
          <a:noFill/>
          <a:ln/>
        </p:spPr>
        <p:txBody>
          <a:bodyPr wrap="square" lIns="0" tIns="0" rIns="0" bIns="0" rtlCol="0" anchor="ctr"/>
          <a:lstStyle/>
          <a:p>
            <a:pPr marL="0" indent="0">
              <a:buNone/>
            </a:pPr>
            <a:r>
              <a:rPr lang="en-US" sz="1700" b="1" dirty="0">
                <a:solidFill>
                  <a:srgbClr val="AC212E"/>
                </a:solidFill>
                <a:latin typeface="Cambria" pitchFamily="34" charset="0"/>
                <a:ea typeface="Cambria" pitchFamily="34" charset="-122"/>
                <a:cs typeface="Cambria" pitchFamily="34" charset="-120"/>
              </a:rPr>
              <a:t>/5</a:t>
            </a:r>
            <a:endParaRPr lang="en-US" sz="1700" dirty="0"/>
          </a:p>
        </p:txBody>
      </p:sp>
      <p:sp>
        <p:nvSpPr>
          <p:cNvPr id="19" name="Shape 17"/>
          <p:cNvSpPr/>
          <p:nvPr/>
        </p:nvSpPr>
        <p:spPr>
          <a:xfrm>
            <a:off x="548640" y="3758184"/>
            <a:ext cx="8503920" cy="548640"/>
          </a:xfrm>
          <a:prstGeom prst="roundRect">
            <a:avLst>
              <a:gd name="adj" fmla="val 15000"/>
            </a:avLst>
          </a:prstGeom>
          <a:solidFill>
            <a:srgbClr val="F4F7FA"/>
          </a:solidFill>
          <a:ln w="12700">
            <a:solidFill>
              <a:srgbClr val="F4F7FA"/>
            </a:solidFill>
            <a:prstDash val="solid"/>
          </a:ln>
        </p:spPr>
        <p:txBody>
          <a:bodyPr/>
          <a:lstStyle/>
          <a:p>
            <a:endParaRPr lang="es-CL"/>
          </a:p>
        </p:txBody>
      </p:sp>
      <p:sp>
        <p:nvSpPr>
          <p:cNvPr id="20" name="Shape 18"/>
          <p:cNvSpPr/>
          <p:nvPr/>
        </p:nvSpPr>
        <p:spPr>
          <a:xfrm>
            <a:off x="713232" y="3831336"/>
            <a:ext cx="402336" cy="402336"/>
          </a:xfrm>
          <a:prstGeom prst="ellipse">
            <a:avLst/>
          </a:prstGeom>
          <a:solidFill>
            <a:srgbClr val="AC212E"/>
          </a:solidFill>
          <a:ln/>
        </p:spPr>
        <p:txBody>
          <a:bodyPr/>
          <a:lstStyle/>
          <a:p>
            <a:endParaRPr lang="es-CL"/>
          </a:p>
        </p:txBody>
      </p:sp>
      <p:sp>
        <p:nvSpPr>
          <p:cNvPr id="21" name="Text 19"/>
          <p:cNvSpPr/>
          <p:nvPr/>
        </p:nvSpPr>
        <p:spPr>
          <a:xfrm>
            <a:off x="713232" y="383133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1280160" y="3758184"/>
            <a:ext cx="7589520" cy="548640"/>
          </a:xfrm>
          <a:prstGeom prst="rect">
            <a:avLst/>
          </a:prstGeom>
          <a:noFill/>
          <a:ln/>
        </p:spPr>
        <p:txBody>
          <a:bodyPr wrap="square" lIns="0" tIns="0" rIns="0" bIns="0" rtlCol="0" anchor="ctr"/>
          <a:lstStyle/>
          <a:p>
            <a:pPr marL="0" indent="0">
              <a:buNone/>
            </a:pPr>
            <a:r>
              <a:rPr lang="en-US" sz="1300" dirty="0">
                <a:solidFill>
                  <a:srgbClr val="06304A"/>
                </a:solidFill>
                <a:latin typeface="Calibri" pitchFamily="34" charset="0"/>
                <a:ea typeface="Calibri" pitchFamily="34" charset="-122"/>
                <a:cs typeface="Calibri" pitchFamily="34" charset="-120"/>
              </a:rPr>
              <a:t>Calidad visual, jerarquía conceptual y uso de conectores</a:t>
            </a:r>
            <a:endParaRPr lang="en-US" sz="1300" dirty="0"/>
          </a:p>
        </p:txBody>
      </p:sp>
      <p:sp>
        <p:nvSpPr>
          <p:cNvPr id="23" name="Text 21"/>
          <p:cNvSpPr/>
          <p:nvPr/>
        </p:nvSpPr>
        <p:spPr>
          <a:xfrm>
            <a:off x="9098280" y="3758184"/>
            <a:ext cx="548640" cy="548640"/>
          </a:xfrm>
          <a:prstGeom prst="rect">
            <a:avLst/>
          </a:prstGeom>
          <a:noFill/>
          <a:ln/>
        </p:spPr>
        <p:txBody>
          <a:bodyPr wrap="square" lIns="0" tIns="0" rIns="0" bIns="0" rtlCol="0" anchor="ctr"/>
          <a:lstStyle/>
          <a:p>
            <a:pPr marL="0" indent="0">
              <a:buNone/>
            </a:pPr>
            <a:r>
              <a:rPr lang="en-US" sz="1700" b="1" dirty="0">
                <a:solidFill>
                  <a:srgbClr val="AC212E"/>
                </a:solidFill>
                <a:latin typeface="Cambria" pitchFamily="34" charset="0"/>
                <a:ea typeface="Cambria" pitchFamily="34" charset="-122"/>
                <a:cs typeface="Cambria" pitchFamily="34" charset="-120"/>
              </a:rPr>
              <a:t>/5</a:t>
            </a:r>
            <a:endParaRPr lang="en-US" sz="1700" dirty="0"/>
          </a:p>
        </p:txBody>
      </p:sp>
      <p:sp>
        <p:nvSpPr>
          <p:cNvPr id="24" name="Shape 22"/>
          <p:cNvSpPr/>
          <p:nvPr/>
        </p:nvSpPr>
        <p:spPr>
          <a:xfrm>
            <a:off x="548640" y="4416552"/>
            <a:ext cx="8503920" cy="548640"/>
          </a:xfrm>
          <a:prstGeom prst="roundRect">
            <a:avLst>
              <a:gd name="adj" fmla="val 15000"/>
            </a:avLst>
          </a:prstGeom>
          <a:solidFill>
            <a:srgbClr val="F4F7FA"/>
          </a:solidFill>
          <a:ln w="12700">
            <a:solidFill>
              <a:srgbClr val="F4F7FA"/>
            </a:solidFill>
            <a:prstDash val="solid"/>
          </a:ln>
        </p:spPr>
        <p:txBody>
          <a:bodyPr/>
          <a:lstStyle/>
          <a:p>
            <a:endParaRPr lang="es-CL"/>
          </a:p>
        </p:txBody>
      </p:sp>
      <p:sp>
        <p:nvSpPr>
          <p:cNvPr id="25" name="Shape 23"/>
          <p:cNvSpPr/>
          <p:nvPr/>
        </p:nvSpPr>
        <p:spPr>
          <a:xfrm>
            <a:off x="713232" y="4489704"/>
            <a:ext cx="402336" cy="402336"/>
          </a:xfrm>
          <a:prstGeom prst="ellipse">
            <a:avLst/>
          </a:prstGeom>
          <a:solidFill>
            <a:srgbClr val="AC212E"/>
          </a:solidFill>
          <a:ln/>
        </p:spPr>
        <p:txBody>
          <a:bodyPr/>
          <a:lstStyle/>
          <a:p>
            <a:endParaRPr lang="es-CL"/>
          </a:p>
        </p:txBody>
      </p:sp>
      <p:sp>
        <p:nvSpPr>
          <p:cNvPr id="26" name="Text 24"/>
          <p:cNvSpPr/>
          <p:nvPr/>
        </p:nvSpPr>
        <p:spPr>
          <a:xfrm>
            <a:off x="713232" y="4489704"/>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Text 25"/>
          <p:cNvSpPr/>
          <p:nvPr/>
        </p:nvSpPr>
        <p:spPr>
          <a:xfrm>
            <a:off x="1280160" y="4416552"/>
            <a:ext cx="7589520" cy="548640"/>
          </a:xfrm>
          <a:prstGeom prst="rect">
            <a:avLst/>
          </a:prstGeom>
          <a:noFill/>
          <a:ln/>
        </p:spPr>
        <p:txBody>
          <a:bodyPr wrap="square" lIns="0" tIns="0" rIns="0" bIns="0" rtlCol="0" anchor="ctr"/>
          <a:lstStyle/>
          <a:p>
            <a:pPr marL="0" indent="0">
              <a:buNone/>
            </a:pPr>
            <a:r>
              <a:rPr lang="en-US" sz="1300" dirty="0">
                <a:solidFill>
                  <a:srgbClr val="06304A"/>
                </a:solidFill>
                <a:latin typeface="Calibri" pitchFamily="34" charset="0"/>
                <a:ea typeface="Calibri" pitchFamily="34" charset="-122"/>
                <a:cs typeface="Calibri" pitchFamily="34" charset="-120"/>
              </a:rPr>
              <a:t>Reflexión técnica grupal y coherencia con la Fase 1 del ABP</a:t>
            </a:r>
            <a:endParaRPr lang="en-US" sz="1300" dirty="0"/>
          </a:p>
        </p:txBody>
      </p:sp>
      <p:sp>
        <p:nvSpPr>
          <p:cNvPr id="28" name="Text 26"/>
          <p:cNvSpPr/>
          <p:nvPr/>
        </p:nvSpPr>
        <p:spPr>
          <a:xfrm>
            <a:off x="9098280" y="4416552"/>
            <a:ext cx="548640" cy="548640"/>
          </a:xfrm>
          <a:prstGeom prst="rect">
            <a:avLst/>
          </a:prstGeom>
          <a:noFill/>
          <a:ln/>
        </p:spPr>
        <p:txBody>
          <a:bodyPr wrap="square" lIns="0" tIns="0" rIns="0" bIns="0" rtlCol="0" anchor="ctr"/>
          <a:lstStyle/>
          <a:p>
            <a:pPr marL="0" indent="0">
              <a:buNone/>
            </a:pPr>
            <a:r>
              <a:rPr lang="en-US" sz="1700" b="1" dirty="0">
                <a:solidFill>
                  <a:srgbClr val="AC212E"/>
                </a:solidFill>
                <a:latin typeface="Cambria" pitchFamily="34" charset="0"/>
                <a:ea typeface="Cambria" pitchFamily="34" charset="-122"/>
                <a:cs typeface="Cambria" pitchFamily="34" charset="-120"/>
              </a:rPr>
              <a:t>/5</a:t>
            </a:r>
            <a:endParaRPr lang="en-US" sz="1700" dirty="0"/>
          </a:p>
        </p:txBody>
      </p:sp>
      <p:sp>
        <p:nvSpPr>
          <p:cNvPr id="29" name="Shape 27"/>
          <p:cNvSpPr/>
          <p:nvPr/>
        </p:nvSpPr>
        <p:spPr>
          <a:xfrm>
            <a:off x="9829800" y="1783080"/>
            <a:ext cx="1783080" cy="3035808"/>
          </a:xfrm>
          <a:prstGeom prst="roundRect">
            <a:avLst>
              <a:gd name="adj" fmla="val 4615"/>
            </a:avLst>
          </a:prstGeom>
          <a:solidFill>
            <a:srgbClr val="0A1526"/>
          </a:solidFill>
          <a:ln w="12700">
            <a:solidFill>
              <a:srgbClr val="0A1526"/>
            </a:solidFill>
            <a:prstDash val="solid"/>
          </a:ln>
        </p:spPr>
        <p:txBody>
          <a:bodyPr/>
          <a:lstStyle/>
          <a:p>
            <a:endParaRPr lang="es-CL"/>
          </a:p>
        </p:txBody>
      </p:sp>
      <p:sp>
        <p:nvSpPr>
          <p:cNvPr id="30" name="Text 28"/>
          <p:cNvSpPr/>
          <p:nvPr/>
        </p:nvSpPr>
        <p:spPr>
          <a:xfrm>
            <a:off x="10012680" y="1920240"/>
            <a:ext cx="1463040" cy="292608"/>
          </a:xfrm>
          <a:prstGeom prst="rect">
            <a:avLst/>
          </a:prstGeom>
          <a:noFill/>
          <a:ln/>
        </p:spPr>
        <p:txBody>
          <a:bodyPr wrap="square" lIns="0" tIns="0" rIns="0" bIns="0" rtlCol="0" anchor="ctr"/>
          <a:lstStyle/>
          <a:p>
            <a:pPr marL="0" indent="0">
              <a:buNone/>
            </a:pPr>
            <a:r>
              <a:rPr lang="en-US" sz="1200" b="1" dirty="0">
                <a:solidFill>
                  <a:srgbClr val="AC212E"/>
                </a:solidFill>
                <a:latin typeface="Calibri" pitchFamily="34" charset="0"/>
                <a:ea typeface="Calibri" pitchFamily="34" charset="-122"/>
                <a:cs typeface="Calibri" pitchFamily="34" charset="-120"/>
              </a:rPr>
              <a:t>Niveles</a:t>
            </a:r>
            <a:endParaRPr lang="en-US" sz="1200" dirty="0"/>
          </a:p>
        </p:txBody>
      </p:sp>
      <p:sp>
        <p:nvSpPr>
          <p:cNvPr id="31" name="Text 29"/>
          <p:cNvSpPr/>
          <p:nvPr/>
        </p:nvSpPr>
        <p:spPr>
          <a:xfrm>
            <a:off x="10012680" y="2286000"/>
            <a:ext cx="109728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Excelente</a:t>
            </a:r>
            <a:endParaRPr lang="en-US" sz="1200" dirty="0"/>
          </a:p>
        </p:txBody>
      </p:sp>
      <p:sp>
        <p:nvSpPr>
          <p:cNvPr id="32" name="Text 30"/>
          <p:cNvSpPr/>
          <p:nvPr/>
        </p:nvSpPr>
        <p:spPr>
          <a:xfrm>
            <a:off x="11109960" y="2286000"/>
            <a:ext cx="365760" cy="365760"/>
          </a:xfrm>
          <a:prstGeom prst="rect">
            <a:avLst/>
          </a:prstGeom>
          <a:noFill/>
          <a:ln/>
        </p:spPr>
        <p:txBody>
          <a:bodyPr wrap="square" lIns="0" tIns="0" rIns="0" bIns="0" rtlCol="0" anchor="ctr"/>
          <a:lstStyle/>
          <a:p>
            <a:pPr marL="0" indent="0" algn="r">
              <a:buNone/>
            </a:pPr>
            <a:r>
              <a:rPr lang="en-US" sz="1300" b="1" dirty="0">
                <a:solidFill>
                  <a:srgbClr val="D7E3EE"/>
                </a:solidFill>
                <a:latin typeface="Calibri" pitchFamily="34" charset="0"/>
                <a:ea typeface="Calibri" pitchFamily="34" charset="-122"/>
                <a:cs typeface="Calibri" pitchFamily="34" charset="-120"/>
              </a:rPr>
              <a:t>5</a:t>
            </a:r>
            <a:endParaRPr lang="en-US" sz="1300" dirty="0"/>
          </a:p>
        </p:txBody>
      </p:sp>
      <p:sp>
        <p:nvSpPr>
          <p:cNvPr id="33" name="Text 31"/>
          <p:cNvSpPr/>
          <p:nvPr/>
        </p:nvSpPr>
        <p:spPr>
          <a:xfrm>
            <a:off x="10012680" y="2770632"/>
            <a:ext cx="109728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Bueno</a:t>
            </a:r>
            <a:endParaRPr lang="en-US" sz="1200" dirty="0"/>
          </a:p>
        </p:txBody>
      </p:sp>
      <p:sp>
        <p:nvSpPr>
          <p:cNvPr id="34" name="Text 32"/>
          <p:cNvSpPr/>
          <p:nvPr/>
        </p:nvSpPr>
        <p:spPr>
          <a:xfrm>
            <a:off x="11109960" y="2770632"/>
            <a:ext cx="365760" cy="365760"/>
          </a:xfrm>
          <a:prstGeom prst="rect">
            <a:avLst/>
          </a:prstGeom>
          <a:noFill/>
          <a:ln/>
        </p:spPr>
        <p:txBody>
          <a:bodyPr wrap="square" lIns="0" tIns="0" rIns="0" bIns="0" rtlCol="0" anchor="ctr"/>
          <a:lstStyle/>
          <a:p>
            <a:pPr marL="0" indent="0" algn="r">
              <a:buNone/>
            </a:pPr>
            <a:r>
              <a:rPr lang="en-US" sz="1300" b="1" dirty="0">
                <a:solidFill>
                  <a:srgbClr val="D7E3EE"/>
                </a:solidFill>
                <a:latin typeface="Calibri" pitchFamily="34" charset="0"/>
                <a:ea typeface="Calibri" pitchFamily="34" charset="-122"/>
                <a:cs typeface="Calibri" pitchFamily="34" charset="-120"/>
              </a:rPr>
              <a:t>3</a:t>
            </a:r>
            <a:endParaRPr lang="en-US" sz="1300" dirty="0"/>
          </a:p>
        </p:txBody>
      </p:sp>
      <p:sp>
        <p:nvSpPr>
          <p:cNvPr id="35" name="Text 33"/>
          <p:cNvSpPr/>
          <p:nvPr/>
        </p:nvSpPr>
        <p:spPr>
          <a:xfrm>
            <a:off x="10012680" y="3255264"/>
            <a:ext cx="109728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Suficiente</a:t>
            </a:r>
            <a:endParaRPr lang="en-US" sz="1200" dirty="0"/>
          </a:p>
        </p:txBody>
      </p:sp>
      <p:sp>
        <p:nvSpPr>
          <p:cNvPr id="36" name="Text 34"/>
          <p:cNvSpPr/>
          <p:nvPr/>
        </p:nvSpPr>
        <p:spPr>
          <a:xfrm>
            <a:off x="11109960" y="3255264"/>
            <a:ext cx="365760" cy="365760"/>
          </a:xfrm>
          <a:prstGeom prst="rect">
            <a:avLst/>
          </a:prstGeom>
          <a:noFill/>
          <a:ln/>
        </p:spPr>
        <p:txBody>
          <a:bodyPr wrap="square" lIns="0" tIns="0" rIns="0" bIns="0" rtlCol="0" anchor="ctr"/>
          <a:lstStyle/>
          <a:p>
            <a:pPr marL="0" indent="0" algn="r">
              <a:buNone/>
            </a:pPr>
            <a:r>
              <a:rPr lang="en-US" sz="1300" b="1" dirty="0">
                <a:solidFill>
                  <a:srgbClr val="D7E3EE"/>
                </a:solidFill>
                <a:latin typeface="Calibri" pitchFamily="34" charset="0"/>
                <a:ea typeface="Calibri" pitchFamily="34" charset="-122"/>
                <a:cs typeface="Calibri" pitchFamily="34" charset="-120"/>
              </a:rPr>
              <a:t>2</a:t>
            </a:r>
            <a:endParaRPr lang="en-US" sz="1300" dirty="0"/>
          </a:p>
        </p:txBody>
      </p:sp>
      <p:sp>
        <p:nvSpPr>
          <p:cNvPr id="37" name="Text 35"/>
          <p:cNvSpPr/>
          <p:nvPr/>
        </p:nvSpPr>
        <p:spPr>
          <a:xfrm>
            <a:off x="10012680" y="3739896"/>
            <a:ext cx="109728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Deficiente</a:t>
            </a:r>
            <a:endParaRPr lang="en-US" sz="1200" dirty="0"/>
          </a:p>
        </p:txBody>
      </p:sp>
      <p:sp>
        <p:nvSpPr>
          <p:cNvPr id="38" name="Text 36"/>
          <p:cNvSpPr/>
          <p:nvPr/>
        </p:nvSpPr>
        <p:spPr>
          <a:xfrm>
            <a:off x="11109960" y="3739896"/>
            <a:ext cx="365760" cy="365760"/>
          </a:xfrm>
          <a:prstGeom prst="rect">
            <a:avLst/>
          </a:prstGeom>
          <a:noFill/>
          <a:ln/>
        </p:spPr>
        <p:txBody>
          <a:bodyPr wrap="square" lIns="0" tIns="0" rIns="0" bIns="0" rtlCol="0" anchor="ctr"/>
          <a:lstStyle/>
          <a:p>
            <a:pPr marL="0" indent="0" algn="r">
              <a:buNone/>
            </a:pPr>
            <a:r>
              <a:rPr lang="en-US" sz="1300" b="1" dirty="0">
                <a:solidFill>
                  <a:srgbClr val="D7E3EE"/>
                </a:solidFill>
                <a:latin typeface="Calibri" pitchFamily="34" charset="0"/>
                <a:ea typeface="Calibri" pitchFamily="34" charset="-122"/>
                <a:cs typeface="Calibri" pitchFamily="34" charset="-120"/>
              </a:rPr>
              <a:t>1</a:t>
            </a:r>
            <a:endParaRPr lang="en-US" sz="1300" dirty="0"/>
          </a:p>
        </p:txBody>
      </p:sp>
      <p:sp>
        <p:nvSpPr>
          <p:cNvPr id="39" name="Text 37"/>
          <p:cNvSpPr/>
          <p:nvPr/>
        </p:nvSpPr>
        <p:spPr>
          <a:xfrm>
            <a:off x="10012680" y="4224528"/>
            <a:ext cx="109728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Insuficiente</a:t>
            </a:r>
            <a:endParaRPr lang="en-US" sz="1200" dirty="0"/>
          </a:p>
        </p:txBody>
      </p:sp>
      <p:sp>
        <p:nvSpPr>
          <p:cNvPr id="40" name="Text 38"/>
          <p:cNvSpPr/>
          <p:nvPr/>
        </p:nvSpPr>
        <p:spPr>
          <a:xfrm>
            <a:off x="11109960" y="4224528"/>
            <a:ext cx="365760" cy="365760"/>
          </a:xfrm>
          <a:prstGeom prst="rect">
            <a:avLst/>
          </a:prstGeom>
          <a:noFill/>
          <a:ln/>
        </p:spPr>
        <p:txBody>
          <a:bodyPr wrap="square" lIns="0" tIns="0" rIns="0" bIns="0" rtlCol="0" anchor="ctr"/>
          <a:lstStyle/>
          <a:p>
            <a:pPr marL="0" indent="0" algn="r">
              <a:buNone/>
            </a:pPr>
            <a:r>
              <a:rPr lang="en-US" sz="1300" b="1" dirty="0">
                <a:solidFill>
                  <a:srgbClr val="D7E3EE"/>
                </a:solidFill>
                <a:latin typeface="Calibri" pitchFamily="34" charset="0"/>
                <a:ea typeface="Calibri" pitchFamily="34" charset="-122"/>
                <a:cs typeface="Calibri" pitchFamily="34" charset="-120"/>
              </a:rPr>
              <a:t>0</a:t>
            </a:r>
            <a:endParaRPr lang="en-US" sz="1300" dirty="0"/>
          </a:p>
        </p:txBody>
      </p:sp>
      <p:sp>
        <p:nvSpPr>
          <p:cNvPr id="41" name="Text 39"/>
          <p:cNvSpPr/>
          <p:nvPr/>
        </p:nvSpPr>
        <p:spPr>
          <a:xfrm>
            <a:off x="548640" y="5257800"/>
            <a:ext cx="11064240" cy="457200"/>
          </a:xfrm>
          <a:prstGeom prst="rect">
            <a:avLst/>
          </a:prstGeom>
          <a:noFill/>
          <a:ln/>
        </p:spPr>
        <p:txBody>
          <a:bodyPr wrap="square" lIns="0" tIns="0" rIns="0" bIns="0" rtlCol="0" anchor="ctr"/>
          <a:lstStyle/>
          <a:p>
            <a:pPr marL="0" indent="0">
              <a:buNone/>
            </a:pPr>
            <a:r>
              <a:rPr lang="en-US" sz="1400" i="1" dirty="0">
                <a:solidFill>
                  <a:srgbClr val="06304A"/>
                </a:solidFill>
                <a:latin typeface="Calibri" pitchFamily="34" charset="0"/>
                <a:ea typeface="Calibri" pitchFamily="34" charset="-122"/>
                <a:cs typeface="Calibri" pitchFamily="34" charset="-120"/>
              </a:rPr>
              <a:t>Del nivel Excelente al Bueno se pierden 2 puntos de golpe: la diferencia entre «completo y técnicamente preciso» y «adecuado con aspectos por profundizar».</a:t>
            </a:r>
            <a:endParaRPr lang="en-US" sz="1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Nivel de profundidad esperado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La misma idea, en dos niveles distintos de elaboración.</a:t>
            </a:r>
            <a:endParaRPr lang="en-US" sz="1400" dirty="0"/>
          </a:p>
        </p:txBody>
      </p:sp>
      <p:sp>
        <p:nvSpPr>
          <p:cNvPr id="4" name="Shape 2"/>
          <p:cNvSpPr/>
          <p:nvPr/>
        </p:nvSpPr>
        <p:spPr>
          <a:xfrm>
            <a:off x="548640" y="1737360"/>
            <a:ext cx="5394960" cy="3931920"/>
          </a:xfrm>
          <a:prstGeom prst="roundRect">
            <a:avLst>
              <a:gd name="adj" fmla="val 2093"/>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6217920" y="1737360"/>
            <a:ext cx="5394960" cy="3931920"/>
          </a:xfrm>
          <a:prstGeom prst="roundRect">
            <a:avLst>
              <a:gd name="adj" fmla="val 2093"/>
            </a:avLst>
          </a:prstGeom>
          <a:solidFill>
            <a:srgbClr val="0A1526"/>
          </a:solidFill>
          <a:ln w="12700">
            <a:solidFill>
              <a:srgbClr val="0A1526"/>
            </a:solidFill>
            <a:prstDash val="solid"/>
          </a:ln>
        </p:spPr>
        <p:txBody>
          <a:bodyPr/>
          <a:lstStyle/>
          <a:p>
            <a:endParaRPr lang="es-CL"/>
          </a:p>
        </p:txBody>
      </p:sp>
      <p:sp>
        <p:nvSpPr>
          <p:cNvPr id="6" name="Text 4"/>
          <p:cNvSpPr/>
          <p:nvPr/>
        </p:nvSpPr>
        <p:spPr>
          <a:xfrm>
            <a:off x="868680" y="1920240"/>
            <a:ext cx="4754880" cy="365760"/>
          </a:xfrm>
          <a:prstGeom prst="rect">
            <a:avLst/>
          </a:prstGeom>
          <a:noFill/>
          <a:ln/>
        </p:spPr>
        <p:txBody>
          <a:bodyPr wrap="square" lIns="0" tIns="0" rIns="0" bIns="0" rtlCol="0" anchor="ctr"/>
          <a:lstStyle/>
          <a:p>
            <a:pPr marL="0" indent="0">
              <a:buNone/>
            </a:pPr>
            <a:r>
              <a:rPr lang="en-US" sz="1500" b="1" dirty="0">
                <a:solidFill>
                  <a:srgbClr val="5A6B7B"/>
                </a:solidFill>
                <a:latin typeface="Calibri" pitchFamily="34" charset="0"/>
                <a:ea typeface="Calibri" pitchFamily="34" charset="-122"/>
                <a:cs typeface="Calibri" pitchFamily="34" charset="-120"/>
              </a:rPr>
              <a:t>Insuficiente: solo menciona</a:t>
            </a:r>
            <a:endParaRPr lang="en-US" sz="1500" dirty="0"/>
          </a:p>
        </p:txBody>
      </p:sp>
      <p:sp>
        <p:nvSpPr>
          <p:cNvPr id="7" name="Text 5"/>
          <p:cNvSpPr/>
          <p:nvPr/>
        </p:nvSpPr>
        <p:spPr>
          <a:xfrm>
            <a:off x="6537960" y="1920240"/>
            <a:ext cx="4754880" cy="365760"/>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Nivel Excelente: integra</a:t>
            </a:r>
            <a:endParaRPr lang="en-US" sz="1500" dirty="0"/>
          </a:p>
        </p:txBody>
      </p:sp>
      <p:sp>
        <p:nvSpPr>
          <p:cNvPr id="8" name="Text 6"/>
          <p:cNvSpPr/>
          <p:nvPr/>
        </p:nvSpPr>
        <p:spPr>
          <a:xfrm>
            <a:off x="868680" y="2423160"/>
            <a:ext cx="4754880" cy="914400"/>
          </a:xfrm>
          <a:prstGeom prst="rect">
            <a:avLst/>
          </a:prstGeom>
          <a:noFill/>
          <a:ln/>
        </p:spPr>
        <p:txBody>
          <a:bodyPr wrap="square" lIns="0" tIns="0" rIns="0" bIns="0" rtlCol="0" anchor="t"/>
          <a:lstStyle/>
          <a:p>
            <a:pPr marL="0" indent="0">
              <a:lnSpc>
                <a:spcPts val="1700"/>
              </a:lnSpc>
              <a:buNone/>
            </a:pPr>
            <a:r>
              <a:rPr lang="en-US" sz="1250" i="1" dirty="0">
                <a:solidFill>
                  <a:srgbClr val="5A6B7B"/>
                </a:solidFill>
                <a:latin typeface="Calibri" pitchFamily="34" charset="0"/>
                <a:ea typeface="Calibri" pitchFamily="34" charset="-122"/>
                <a:cs typeface="Calibri" pitchFamily="34" charset="-120"/>
              </a:rPr>
              <a:t>«Usaremos GitHub para el proyecto.»</a:t>
            </a:r>
            <a:endParaRPr lang="en-US" sz="1250" dirty="0"/>
          </a:p>
        </p:txBody>
      </p:sp>
      <p:sp>
        <p:nvSpPr>
          <p:cNvPr id="9" name="Text 7"/>
          <p:cNvSpPr/>
          <p:nvPr/>
        </p:nvSpPr>
        <p:spPr>
          <a:xfrm>
            <a:off x="6537960" y="2423160"/>
            <a:ext cx="4754880" cy="914400"/>
          </a:xfrm>
          <a:prstGeom prst="rect">
            <a:avLst/>
          </a:prstGeom>
          <a:noFill/>
          <a:ln/>
        </p:spPr>
        <p:txBody>
          <a:bodyPr wrap="square" lIns="0" tIns="0" rIns="0" bIns="0" rtlCol="0" anchor="t"/>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«GitHub aloja el repositorio remoto y permite que los cuatro integrantes trabajen sobre la misma base, con historial verificable desde la etapa de definición.»</a:t>
            </a:r>
            <a:endParaRPr lang="en-US" sz="1250" dirty="0"/>
          </a:p>
        </p:txBody>
      </p:sp>
      <p:sp>
        <p:nvSpPr>
          <p:cNvPr id="10" name="Text 8"/>
          <p:cNvSpPr/>
          <p:nvPr/>
        </p:nvSpPr>
        <p:spPr>
          <a:xfrm>
            <a:off x="868680" y="3520440"/>
            <a:ext cx="4754880" cy="914400"/>
          </a:xfrm>
          <a:prstGeom prst="rect">
            <a:avLst/>
          </a:prstGeom>
          <a:noFill/>
          <a:ln/>
        </p:spPr>
        <p:txBody>
          <a:bodyPr wrap="square" lIns="0" tIns="0" rIns="0" bIns="0" rtlCol="0" anchor="t"/>
          <a:lstStyle/>
          <a:p>
            <a:pPr marL="0" indent="0">
              <a:lnSpc>
                <a:spcPts val="1700"/>
              </a:lnSpc>
              <a:buNone/>
            </a:pPr>
            <a:r>
              <a:rPr lang="en-US" sz="1250" i="1" dirty="0">
                <a:solidFill>
                  <a:srgbClr val="5A6B7B"/>
                </a:solidFill>
                <a:latin typeface="Calibri" pitchFamily="34" charset="0"/>
                <a:ea typeface="Calibri" pitchFamily="34" charset="-122"/>
                <a:cs typeface="Calibri" pitchFamily="34" charset="-120"/>
              </a:rPr>
              <a:t>«Haremos commits.»</a:t>
            </a:r>
            <a:endParaRPr lang="en-US" sz="1250" dirty="0"/>
          </a:p>
        </p:txBody>
      </p:sp>
      <p:sp>
        <p:nvSpPr>
          <p:cNvPr id="11" name="Text 9"/>
          <p:cNvSpPr/>
          <p:nvPr/>
        </p:nvSpPr>
        <p:spPr>
          <a:xfrm>
            <a:off x="6537960" y="3520440"/>
            <a:ext cx="4754880" cy="914400"/>
          </a:xfrm>
          <a:prstGeom prst="rect">
            <a:avLst/>
          </a:prstGeom>
          <a:noFill/>
          <a:ln/>
        </p:spPr>
        <p:txBody>
          <a:bodyPr wrap="square" lIns="0" tIns="0" rIns="0" bIns="0" rtlCol="0" anchor="t"/>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«docs: crea estructura inicial del proyecto — usamos prefijos docs, data, feat y fix para que el historial sea legible.»</a:t>
            </a:r>
            <a:endParaRPr lang="en-US" sz="1250" dirty="0"/>
          </a:p>
        </p:txBody>
      </p:sp>
      <p:sp>
        <p:nvSpPr>
          <p:cNvPr id="12" name="Text 10"/>
          <p:cNvSpPr/>
          <p:nvPr/>
        </p:nvSpPr>
        <p:spPr>
          <a:xfrm>
            <a:off x="868680" y="4617720"/>
            <a:ext cx="4754880" cy="914400"/>
          </a:xfrm>
          <a:prstGeom prst="rect">
            <a:avLst/>
          </a:prstGeom>
          <a:noFill/>
          <a:ln/>
        </p:spPr>
        <p:txBody>
          <a:bodyPr wrap="square" lIns="0" tIns="0" rIns="0" bIns="0" rtlCol="0" anchor="t"/>
          <a:lstStyle/>
          <a:p>
            <a:pPr marL="0" indent="0">
              <a:lnSpc>
                <a:spcPts val="1700"/>
              </a:lnSpc>
              <a:buNone/>
            </a:pPr>
            <a:r>
              <a:rPr lang="en-US" sz="1250" i="1" dirty="0">
                <a:solidFill>
                  <a:srgbClr val="5A6B7B"/>
                </a:solidFill>
                <a:latin typeface="Calibri" pitchFamily="34" charset="0"/>
                <a:ea typeface="Calibri" pitchFamily="34" charset="-122"/>
                <a:cs typeface="Calibri" pitchFamily="34" charset="-120"/>
              </a:rPr>
              <a:t>«El notebook tendrá texto y código.»</a:t>
            </a:r>
            <a:endParaRPr lang="en-US" sz="1250" dirty="0"/>
          </a:p>
        </p:txBody>
      </p:sp>
      <p:sp>
        <p:nvSpPr>
          <p:cNvPr id="13" name="Text 11"/>
          <p:cNvSpPr/>
          <p:nvPr/>
        </p:nvSpPr>
        <p:spPr>
          <a:xfrm>
            <a:off x="6537960" y="4617720"/>
            <a:ext cx="4754880" cy="914400"/>
          </a:xfrm>
          <a:prstGeom prst="rect">
            <a:avLst/>
          </a:prstGeom>
          <a:noFill/>
          <a:ln/>
        </p:spPr>
        <p:txBody>
          <a:bodyPr wrap="square" lIns="0" tIns="0" rIns="0" bIns="0" rtlCol="0" anchor="t"/>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«Las celdas narrativas registran por qué se tomó cada decisión; el README explica cómo ejecutar el proyecto desde cero.»</a:t>
            </a:r>
            <a:endParaRPr lang="en-US" sz="1250" dirty="0"/>
          </a:p>
        </p:txBody>
      </p:sp>
      <p:sp>
        <p:nvSpPr>
          <p:cNvPr id="14" name="Text 12"/>
          <p:cNvSpPr/>
          <p:nvPr/>
        </p:nvSpPr>
        <p:spPr>
          <a:xfrm>
            <a:off x="548640" y="5806440"/>
            <a:ext cx="11064240" cy="411480"/>
          </a:xfrm>
          <a:prstGeom prst="rect">
            <a:avLst/>
          </a:prstGeom>
          <a:noFill/>
          <a:ln/>
        </p:spPr>
        <p:txBody>
          <a:bodyPr wrap="square" lIns="0" tIns="0" rIns="0" bIns="0" rtlCol="0" anchor="ctr"/>
          <a:lstStyle/>
          <a:p>
            <a:pPr marL="0" indent="0">
              <a:buNone/>
            </a:pPr>
            <a:r>
              <a:rPr lang="en-US" sz="1400" i="1" dirty="0">
                <a:solidFill>
                  <a:srgbClr val="06304A"/>
                </a:solidFill>
                <a:latin typeface="Calibri" pitchFamily="34" charset="0"/>
                <a:ea typeface="Calibri" pitchFamily="34" charset="-122"/>
                <a:cs typeface="Calibri" pitchFamily="34" charset="-120"/>
              </a:rPr>
              <a:t>La diferencia no es la extensión: es que la segunda versión dice para qué sirve y a qué etapa corresponde.</a:t>
            </a:r>
            <a:endParaRPr lang="en-US" sz="14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Errores frecuentes y cómo evitarlos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Los que más cuestan puntos, y la corrección concreta de cada uno.</a:t>
            </a:r>
            <a:endParaRPr lang="en-US" sz="1400" dirty="0"/>
          </a:p>
        </p:txBody>
      </p:sp>
      <p:sp>
        <p:nvSpPr>
          <p:cNvPr id="4" name="Shape 2"/>
          <p:cNvSpPr/>
          <p:nvPr/>
        </p:nvSpPr>
        <p:spPr>
          <a:xfrm>
            <a:off x="548640" y="1783080"/>
            <a:ext cx="5303520" cy="1143000"/>
          </a:xfrm>
          <a:prstGeom prst="roundRect">
            <a:avLst>
              <a:gd name="adj" fmla="val 7200"/>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786384" y="2084832"/>
            <a:ext cx="384048" cy="384048"/>
          </a:xfrm>
          <a:prstGeom prst="ellipse">
            <a:avLst/>
          </a:prstGeom>
          <a:solidFill>
            <a:srgbClr val="AC212E"/>
          </a:solidFill>
          <a:ln/>
        </p:spPr>
        <p:txBody>
          <a:bodyPr/>
          <a:lstStyle/>
          <a:p>
            <a:endParaRPr lang="es-CL"/>
          </a:p>
        </p:txBody>
      </p:sp>
      <p:sp>
        <p:nvSpPr>
          <p:cNvPr id="6" name="Text 4"/>
          <p:cNvSpPr/>
          <p:nvPr/>
        </p:nvSpPr>
        <p:spPr>
          <a:xfrm>
            <a:off x="786384" y="2084832"/>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1325880" y="1901952"/>
            <a:ext cx="4389120" cy="347472"/>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Confundir Git con GitHub</a:t>
            </a:r>
            <a:endParaRPr lang="en-US" sz="1350" dirty="0"/>
          </a:p>
        </p:txBody>
      </p:sp>
      <p:sp>
        <p:nvSpPr>
          <p:cNvPr id="8" name="Text 6"/>
          <p:cNvSpPr/>
          <p:nvPr/>
        </p:nvSpPr>
        <p:spPr>
          <a:xfrm>
            <a:off x="1325880" y="2258568"/>
            <a:ext cx="4389120" cy="566928"/>
          </a:xfrm>
          <a:prstGeom prst="rect">
            <a:avLst/>
          </a:prstGeom>
          <a:noFill/>
          <a:ln/>
        </p:spPr>
        <p:txBody>
          <a:bodyPr wrap="square" lIns="0" tIns="0" rIns="0" bIns="0" rtlCol="0" anchor="t"/>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Declarar la función de cada uno: control local frente a repositorio remoto y colaboración.</a:t>
            </a:r>
            <a:endParaRPr lang="en-US" sz="1200" dirty="0"/>
          </a:p>
        </p:txBody>
      </p:sp>
      <p:sp>
        <p:nvSpPr>
          <p:cNvPr id="9" name="Shape 7"/>
          <p:cNvSpPr/>
          <p:nvPr/>
        </p:nvSpPr>
        <p:spPr>
          <a:xfrm>
            <a:off x="6309360" y="1783080"/>
            <a:ext cx="5303520" cy="1143000"/>
          </a:xfrm>
          <a:prstGeom prst="roundRect">
            <a:avLst>
              <a:gd name="adj" fmla="val 7200"/>
            </a:avLst>
          </a:prstGeom>
          <a:solidFill>
            <a:srgbClr val="F4F7FA"/>
          </a:solidFill>
          <a:ln w="12700">
            <a:solidFill>
              <a:srgbClr val="F4F7FA"/>
            </a:solidFill>
            <a:prstDash val="solid"/>
          </a:ln>
        </p:spPr>
        <p:txBody>
          <a:bodyPr/>
          <a:lstStyle/>
          <a:p>
            <a:endParaRPr lang="es-CL"/>
          </a:p>
        </p:txBody>
      </p:sp>
      <p:sp>
        <p:nvSpPr>
          <p:cNvPr id="10" name="Shape 8"/>
          <p:cNvSpPr/>
          <p:nvPr/>
        </p:nvSpPr>
        <p:spPr>
          <a:xfrm>
            <a:off x="6547104" y="2084832"/>
            <a:ext cx="384048" cy="384048"/>
          </a:xfrm>
          <a:prstGeom prst="ellipse">
            <a:avLst/>
          </a:prstGeom>
          <a:solidFill>
            <a:srgbClr val="AC212E"/>
          </a:solidFill>
          <a:ln/>
        </p:spPr>
        <p:txBody>
          <a:bodyPr/>
          <a:lstStyle/>
          <a:p>
            <a:endParaRPr lang="es-CL"/>
          </a:p>
        </p:txBody>
      </p:sp>
      <p:sp>
        <p:nvSpPr>
          <p:cNvPr id="11" name="Text 9"/>
          <p:cNvSpPr/>
          <p:nvPr/>
        </p:nvSpPr>
        <p:spPr>
          <a:xfrm>
            <a:off x="6547104" y="2084832"/>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7086600" y="1901952"/>
            <a:ext cx="4389120" cy="347472"/>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Mapa sin leyenda</a:t>
            </a:r>
            <a:endParaRPr lang="en-US" sz="1350" dirty="0"/>
          </a:p>
        </p:txBody>
      </p:sp>
      <p:sp>
        <p:nvSpPr>
          <p:cNvPr id="13" name="Text 11"/>
          <p:cNvSpPr/>
          <p:nvPr/>
        </p:nvSpPr>
        <p:spPr>
          <a:xfrm>
            <a:off x="7086600" y="2258568"/>
            <a:ext cx="4389120" cy="566928"/>
          </a:xfrm>
          <a:prstGeom prst="rect">
            <a:avLst/>
          </a:prstGeom>
          <a:noFill/>
          <a:ln/>
        </p:spPr>
        <p:txBody>
          <a:bodyPr wrap="square" lIns="0" tIns="0" rIns="0" bIns="0" rtlCol="0" anchor="t"/>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Todo símbolo del mapa debe estar en la leyenda, y todo lo de la leyenda debe aparecer en el mapa.</a:t>
            </a:r>
            <a:endParaRPr lang="en-US" sz="1200" dirty="0"/>
          </a:p>
        </p:txBody>
      </p:sp>
      <p:sp>
        <p:nvSpPr>
          <p:cNvPr id="14" name="Shape 12"/>
          <p:cNvSpPr/>
          <p:nvPr/>
        </p:nvSpPr>
        <p:spPr>
          <a:xfrm>
            <a:off x="548640" y="3108960"/>
            <a:ext cx="5303520" cy="1143000"/>
          </a:xfrm>
          <a:prstGeom prst="roundRect">
            <a:avLst>
              <a:gd name="adj" fmla="val 7200"/>
            </a:avLst>
          </a:prstGeom>
          <a:solidFill>
            <a:srgbClr val="F4F7FA"/>
          </a:solidFill>
          <a:ln w="12700">
            <a:solidFill>
              <a:srgbClr val="F4F7FA"/>
            </a:solidFill>
            <a:prstDash val="solid"/>
          </a:ln>
        </p:spPr>
        <p:txBody>
          <a:bodyPr/>
          <a:lstStyle/>
          <a:p>
            <a:endParaRPr lang="es-CL"/>
          </a:p>
        </p:txBody>
      </p:sp>
      <p:sp>
        <p:nvSpPr>
          <p:cNvPr id="15" name="Shape 13"/>
          <p:cNvSpPr/>
          <p:nvPr/>
        </p:nvSpPr>
        <p:spPr>
          <a:xfrm>
            <a:off x="786384" y="3410712"/>
            <a:ext cx="384048" cy="384048"/>
          </a:xfrm>
          <a:prstGeom prst="ellipse">
            <a:avLst/>
          </a:prstGeom>
          <a:solidFill>
            <a:srgbClr val="AC212E"/>
          </a:solidFill>
          <a:ln/>
        </p:spPr>
        <p:txBody>
          <a:bodyPr/>
          <a:lstStyle/>
          <a:p>
            <a:endParaRPr lang="es-CL"/>
          </a:p>
        </p:txBody>
      </p:sp>
      <p:sp>
        <p:nvSpPr>
          <p:cNvPr id="16" name="Text 14"/>
          <p:cNvSpPr/>
          <p:nvPr/>
        </p:nvSpPr>
        <p:spPr>
          <a:xfrm>
            <a:off x="786384" y="3410712"/>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1325880" y="3227832"/>
            <a:ext cx="4389120" cy="347472"/>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Listar herramientas sin vincularlas</a:t>
            </a:r>
            <a:endParaRPr lang="en-US" sz="1350" dirty="0"/>
          </a:p>
        </p:txBody>
      </p:sp>
      <p:sp>
        <p:nvSpPr>
          <p:cNvPr id="18" name="Text 16"/>
          <p:cNvSpPr/>
          <p:nvPr/>
        </p:nvSpPr>
        <p:spPr>
          <a:xfrm>
            <a:off x="1325880" y="3584448"/>
            <a:ext cx="4389120" cy="566928"/>
          </a:xfrm>
          <a:prstGeom prst="rect">
            <a:avLst/>
          </a:prstGeom>
          <a:noFill/>
          <a:ln/>
        </p:spPr>
        <p:txBody>
          <a:bodyPr wrap="square" lIns="0" tIns="0" rIns="0" bIns="0" rtlCol="0" anchor="t"/>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Asociar cada herramienta a la etapa del flujo que sostiene.</a:t>
            </a:r>
            <a:endParaRPr lang="en-US" sz="1200" dirty="0"/>
          </a:p>
        </p:txBody>
      </p:sp>
      <p:sp>
        <p:nvSpPr>
          <p:cNvPr id="19" name="Shape 17"/>
          <p:cNvSpPr/>
          <p:nvPr/>
        </p:nvSpPr>
        <p:spPr>
          <a:xfrm>
            <a:off x="6309360" y="3108960"/>
            <a:ext cx="5303520" cy="1143000"/>
          </a:xfrm>
          <a:prstGeom prst="roundRect">
            <a:avLst>
              <a:gd name="adj" fmla="val 7200"/>
            </a:avLst>
          </a:prstGeom>
          <a:solidFill>
            <a:srgbClr val="F4F7FA"/>
          </a:solidFill>
          <a:ln w="12700">
            <a:solidFill>
              <a:srgbClr val="F4F7FA"/>
            </a:solidFill>
            <a:prstDash val="solid"/>
          </a:ln>
        </p:spPr>
        <p:txBody>
          <a:bodyPr/>
          <a:lstStyle/>
          <a:p>
            <a:endParaRPr lang="es-CL"/>
          </a:p>
        </p:txBody>
      </p:sp>
      <p:sp>
        <p:nvSpPr>
          <p:cNvPr id="20" name="Shape 18"/>
          <p:cNvSpPr/>
          <p:nvPr/>
        </p:nvSpPr>
        <p:spPr>
          <a:xfrm>
            <a:off x="6547104" y="3410712"/>
            <a:ext cx="384048" cy="384048"/>
          </a:xfrm>
          <a:prstGeom prst="ellipse">
            <a:avLst/>
          </a:prstGeom>
          <a:solidFill>
            <a:srgbClr val="AC212E"/>
          </a:solidFill>
          <a:ln/>
        </p:spPr>
        <p:txBody>
          <a:bodyPr/>
          <a:lstStyle/>
          <a:p>
            <a:endParaRPr lang="es-CL"/>
          </a:p>
        </p:txBody>
      </p:sp>
      <p:sp>
        <p:nvSpPr>
          <p:cNvPr id="21" name="Text 19"/>
          <p:cNvSpPr/>
          <p:nvPr/>
        </p:nvSpPr>
        <p:spPr>
          <a:xfrm>
            <a:off x="6547104" y="3410712"/>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7086600" y="3227832"/>
            <a:ext cx="4389120" cy="347472"/>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Commits genéricos</a:t>
            </a:r>
            <a:endParaRPr lang="en-US" sz="1350" dirty="0"/>
          </a:p>
        </p:txBody>
      </p:sp>
      <p:sp>
        <p:nvSpPr>
          <p:cNvPr id="23" name="Text 21"/>
          <p:cNvSpPr/>
          <p:nvPr/>
        </p:nvSpPr>
        <p:spPr>
          <a:xfrm>
            <a:off x="7086600" y="3584448"/>
            <a:ext cx="4389120" cy="566928"/>
          </a:xfrm>
          <a:prstGeom prst="rect">
            <a:avLst/>
          </a:prstGeom>
          <a:noFill/>
          <a:ln/>
        </p:spPr>
        <p:txBody>
          <a:bodyPr wrap="square" lIns="0" tIns="0" rIns="0" bIns="0" rtlCol="0" anchor="t"/>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Reemplazar «primer commit» por mensajes que describan el cambio.</a:t>
            </a:r>
            <a:endParaRPr lang="en-US" sz="1200" dirty="0"/>
          </a:p>
        </p:txBody>
      </p:sp>
      <p:sp>
        <p:nvSpPr>
          <p:cNvPr id="24" name="Shape 22"/>
          <p:cNvSpPr/>
          <p:nvPr/>
        </p:nvSpPr>
        <p:spPr>
          <a:xfrm>
            <a:off x="548640" y="4434840"/>
            <a:ext cx="5303520" cy="1143000"/>
          </a:xfrm>
          <a:prstGeom prst="roundRect">
            <a:avLst>
              <a:gd name="adj" fmla="val 7200"/>
            </a:avLst>
          </a:prstGeom>
          <a:solidFill>
            <a:srgbClr val="F4F7FA"/>
          </a:solidFill>
          <a:ln w="12700">
            <a:solidFill>
              <a:srgbClr val="F4F7FA"/>
            </a:solidFill>
            <a:prstDash val="solid"/>
          </a:ln>
        </p:spPr>
        <p:txBody>
          <a:bodyPr/>
          <a:lstStyle/>
          <a:p>
            <a:endParaRPr lang="es-CL"/>
          </a:p>
        </p:txBody>
      </p:sp>
      <p:sp>
        <p:nvSpPr>
          <p:cNvPr id="25" name="Shape 23"/>
          <p:cNvSpPr/>
          <p:nvPr/>
        </p:nvSpPr>
        <p:spPr>
          <a:xfrm>
            <a:off x="786384" y="4736592"/>
            <a:ext cx="384048" cy="384048"/>
          </a:xfrm>
          <a:prstGeom prst="ellipse">
            <a:avLst/>
          </a:prstGeom>
          <a:solidFill>
            <a:srgbClr val="AC212E"/>
          </a:solidFill>
          <a:ln/>
        </p:spPr>
        <p:txBody>
          <a:bodyPr/>
          <a:lstStyle/>
          <a:p>
            <a:endParaRPr lang="es-CL"/>
          </a:p>
        </p:txBody>
      </p:sp>
      <p:sp>
        <p:nvSpPr>
          <p:cNvPr id="26" name="Text 24"/>
          <p:cNvSpPr/>
          <p:nvPr/>
        </p:nvSpPr>
        <p:spPr>
          <a:xfrm>
            <a:off x="786384" y="4736592"/>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7" name="Text 25"/>
          <p:cNvSpPr/>
          <p:nvPr/>
        </p:nvSpPr>
        <p:spPr>
          <a:xfrm>
            <a:off x="1325880" y="4553712"/>
            <a:ext cx="4389120" cy="347472"/>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Mapa desconectado del problema</a:t>
            </a:r>
            <a:endParaRPr lang="en-US" sz="1350" dirty="0"/>
          </a:p>
        </p:txBody>
      </p:sp>
      <p:sp>
        <p:nvSpPr>
          <p:cNvPr id="28" name="Text 26"/>
          <p:cNvSpPr/>
          <p:nvPr/>
        </p:nvSpPr>
        <p:spPr>
          <a:xfrm>
            <a:off x="1325880" y="4910328"/>
            <a:ext cx="4389120" cy="566928"/>
          </a:xfrm>
          <a:prstGeom prst="rect">
            <a:avLst/>
          </a:prstGeom>
          <a:noFill/>
          <a:ln/>
        </p:spPr>
        <p:txBody>
          <a:bodyPr wrap="square" lIns="0" tIns="0" rIns="0" bIns="0" rtlCol="0" anchor="t"/>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Partir de la problemática y el dataset: son lo que evalúa el criterio 5.</a:t>
            </a:r>
            <a:endParaRPr lang="en-US" sz="1200" dirty="0"/>
          </a:p>
        </p:txBody>
      </p:sp>
      <p:sp>
        <p:nvSpPr>
          <p:cNvPr id="29" name="Shape 27"/>
          <p:cNvSpPr/>
          <p:nvPr/>
        </p:nvSpPr>
        <p:spPr>
          <a:xfrm>
            <a:off x="6309360" y="4434840"/>
            <a:ext cx="5303520" cy="1143000"/>
          </a:xfrm>
          <a:prstGeom prst="roundRect">
            <a:avLst>
              <a:gd name="adj" fmla="val 7200"/>
            </a:avLst>
          </a:prstGeom>
          <a:solidFill>
            <a:srgbClr val="F4F7FA"/>
          </a:solidFill>
          <a:ln w="12700">
            <a:solidFill>
              <a:srgbClr val="F4F7FA"/>
            </a:solidFill>
            <a:prstDash val="solid"/>
          </a:ln>
        </p:spPr>
        <p:txBody>
          <a:bodyPr/>
          <a:lstStyle/>
          <a:p>
            <a:endParaRPr lang="es-CL"/>
          </a:p>
        </p:txBody>
      </p:sp>
      <p:sp>
        <p:nvSpPr>
          <p:cNvPr id="30" name="Shape 28"/>
          <p:cNvSpPr/>
          <p:nvPr/>
        </p:nvSpPr>
        <p:spPr>
          <a:xfrm>
            <a:off x="6547104" y="4736592"/>
            <a:ext cx="384048" cy="384048"/>
          </a:xfrm>
          <a:prstGeom prst="ellipse">
            <a:avLst/>
          </a:prstGeom>
          <a:solidFill>
            <a:srgbClr val="AC212E"/>
          </a:solidFill>
          <a:ln/>
        </p:spPr>
        <p:txBody>
          <a:bodyPr/>
          <a:lstStyle/>
          <a:p>
            <a:endParaRPr lang="es-CL"/>
          </a:p>
        </p:txBody>
      </p:sp>
      <p:sp>
        <p:nvSpPr>
          <p:cNvPr id="31" name="Text 29"/>
          <p:cNvSpPr/>
          <p:nvPr/>
        </p:nvSpPr>
        <p:spPr>
          <a:xfrm>
            <a:off x="6547104" y="4736592"/>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2" name="Text 30"/>
          <p:cNvSpPr/>
          <p:nvPr/>
        </p:nvSpPr>
        <p:spPr>
          <a:xfrm>
            <a:off x="7086600" y="4553712"/>
            <a:ext cx="4389120" cy="347472"/>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Omitir los aspectos formales</a:t>
            </a:r>
            <a:endParaRPr lang="en-US" sz="1350" dirty="0"/>
          </a:p>
        </p:txBody>
      </p:sp>
      <p:sp>
        <p:nvSpPr>
          <p:cNvPr id="33" name="Text 31"/>
          <p:cNvSpPr/>
          <p:nvPr/>
        </p:nvSpPr>
        <p:spPr>
          <a:xfrm>
            <a:off x="7086600" y="4910328"/>
            <a:ext cx="4389120" cy="566928"/>
          </a:xfrm>
          <a:prstGeom prst="rect">
            <a:avLst/>
          </a:prstGeom>
          <a:noFill/>
          <a:ln/>
        </p:spPr>
        <p:txBody>
          <a:bodyPr wrap="square" lIns="0" tIns="0" rIns="0" bIns="0" rtlCol="0" anchor="t"/>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Verificar nombre de archivo, dos páginas, portada con integrantes y referencia APA 7.</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0A1526"/>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Recomendaciones para una buena entrega</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D7E3EE"/>
                </a:solidFill>
                <a:latin typeface="Calibri" pitchFamily="34" charset="0"/>
                <a:ea typeface="Calibri" pitchFamily="34" charset="-122"/>
                <a:cs typeface="Calibri" pitchFamily="34" charset="-120"/>
              </a:rPr>
              <a:t>Cinco decisiones que separan un mapa correcto de uno bien desarrollado.</a:t>
            </a:r>
            <a:endParaRPr lang="en-US" sz="1400" dirty="0"/>
          </a:p>
        </p:txBody>
      </p:sp>
      <p:sp>
        <p:nvSpPr>
          <p:cNvPr id="4" name="Shape 2"/>
          <p:cNvSpPr/>
          <p:nvPr/>
        </p:nvSpPr>
        <p:spPr>
          <a:xfrm>
            <a:off x="548640" y="1874520"/>
            <a:ext cx="420624" cy="420624"/>
          </a:xfrm>
          <a:prstGeom prst="ellipse">
            <a:avLst/>
          </a:prstGeom>
          <a:solidFill>
            <a:srgbClr val="AC212E"/>
          </a:solidFill>
          <a:ln/>
        </p:spPr>
        <p:txBody>
          <a:bodyPr/>
          <a:lstStyle/>
          <a:p>
            <a:endParaRPr lang="es-CL"/>
          </a:p>
        </p:txBody>
      </p:sp>
      <p:sp>
        <p:nvSpPr>
          <p:cNvPr id="5" name="Text 3"/>
          <p:cNvSpPr/>
          <p:nvPr/>
        </p:nvSpPr>
        <p:spPr>
          <a:xfrm>
            <a:off x="548640" y="187452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143000" y="1783080"/>
            <a:ext cx="3017520" cy="384048"/>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Partan del problema</a:t>
            </a:r>
            <a:endParaRPr lang="en-US" sz="1500" dirty="0"/>
          </a:p>
        </p:txBody>
      </p:sp>
      <p:sp>
        <p:nvSpPr>
          <p:cNvPr id="7" name="Text 5"/>
          <p:cNvSpPr/>
          <p:nvPr/>
        </p:nvSpPr>
        <p:spPr>
          <a:xfrm>
            <a:off x="4206240" y="1783080"/>
            <a:ext cx="7406640" cy="566928"/>
          </a:xfrm>
          <a:prstGeom prst="rect">
            <a:avLst/>
          </a:prstGeom>
          <a:noFill/>
          <a:ln/>
        </p:spPr>
        <p:txBody>
          <a:bodyPr wrap="square" lIns="0" tIns="0" rIns="0" bIns="0" rtlCol="0" anchor="ctr"/>
          <a:lstStyle/>
          <a:p>
            <a:pPr marL="0" indent="0">
              <a:lnSpc>
                <a:spcPts val="1800"/>
              </a:lnSpc>
              <a:buNone/>
            </a:pPr>
            <a:r>
              <a:rPr lang="en-US" sz="1350" dirty="0">
                <a:solidFill>
                  <a:srgbClr val="D7E3EE"/>
                </a:solidFill>
                <a:latin typeface="Calibri" pitchFamily="34" charset="0"/>
                <a:ea typeface="Calibri" pitchFamily="34" charset="-122"/>
                <a:cs typeface="Calibri" pitchFamily="34" charset="-120"/>
              </a:rPr>
              <a:t>El mapa se construye desde la problemática y el dataset hacia las herramientas, nunca al revés.</a:t>
            </a:r>
            <a:endParaRPr lang="en-US" sz="1350" dirty="0"/>
          </a:p>
        </p:txBody>
      </p:sp>
      <p:sp>
        <p:nvSpPr>
          <p:cNvPr id="8" name="Shape 6"/>
          <p:cNvSpPr/>
          <p:nvPr/>
        </p:nvSpPr>
        <p:spPr>
          <a:xfrm>
            <a:off x="548640" y="2724912"/>
            <a:ext cx="420624" cy="420624"/>
          </a:xfrm>
          <a:prstGeom prst="ellipse">
            <a:avLst/>
          </a:prstGeom>
          <a:solidFill>
            <a:srgbClr val="AC212E"/>
          </a:solidFill>
          <a:ln/>
        </p:spPr>
        <p:txBody>
          <a:bodyPr/>
          <a:lstStyle/>
          <a:p>
            <a:endParaRPr lang="es-CL"/>
          </a:p>
        </p:txBody>
      </p:sp>
      <p:sp>
        <p:nvSpPr>
          <p:cNvPr id="9" name="Text 7"/>
          <p:cNvSpPr/>
          <p:nvPr/>
        </p:nvSpPr>
        <p:spPr>
          <a:xfrm>
            <a:off x="548640" y="2724912"/>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143000" y="2633472"/>
            <a:ext cx="3017520" cy="384048"/>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Repártanse los seis elementos</a:t>
            </a:r>
            <a:endParaRPr lang="en-US" sz="1500" dirty="0"/>
          </a:p>
        </p:txBody>
      </p:sp>
      <p:sp>
        <p:nvSpPr>
          <p:cNvPr id="11" name="Text 9"/>
          <p:cNvSpPr/>
          <p:nvPr/>
        </p:nvSpPr>
        <p:spPr>
          <a:xfrm>
            <a:off x="4206240" y="2633472"/>
            <a:ext cx="7406640" cy="566928"/>
          </a:xfrm>
          <a:prstGeom prst="rect">
            <a:avLst/>
          </a:prstGeom>
          <a:noFill/>
          <a:ln/>
        </p:spPr>
        <p:txBody>
          <a:bodyPr wrap="square" lIns="0" tIns="0" rIns="0" bIns="0" rtlCol="0" anchor="ctr"/>
          <a:lstStyle/>
          <a:p>
            <a:pPr marL="0" indent="0">
              <a:lnSpc>
                <a:spcPts val="1800"/>
              </a:lnSpc>
              <a:buNone/>
            </a:pPr>
            <a:r>
              <a:rPr lang="en-US" sz="1350" dirty="0">
                <a:solidFill>
                  <a:srgbClr val="D7E3EE"/>
                </a:solidFill>
                <a:latin typeface="Calibri" pitchFamily="34" charset="0"/>
                <a:ea typeface="Calibri" pitchFamily="34" charset="-122"/>
                <a:cs typeface="Calibri" pitchFamily="34" charset="-120"/>
              </a:rPr>
              <a:t>Cada integrante desarrolla uno o dos y luego los integran en una revisión conjunta.</a:t>
            </a:r>
            <a:endParaRPr lang="en-US" sz="1350" dirty="0"/>
          </a:p>
        </p:txBody>
      </p:sp>
      <p:sp>
        <p:nvSpPr>
          <p:cNvPr id="12" name="Shape 10"/>
          <p:cNvSpPr/>
          <p:nvPr/>
        </p:nvSpPr>
        <p:spPr>
          <a:xfrm>
            <a:off x="548640" y="3575304"/>
            <a:ext cx="420624" cy="420624"/>
          </a:xfrm>
          <a:prstGeom prst="ellipse">
            <a:avLst/>
          </a:prstGeom>
          <a:solidFill>
            <a:srgbClr val="AC212E"/>
          </a:solidFill>
          <a:ln/>
        </p:spPr>
        <p:txBody>
          <a:bodyPr/>
          <a:lstStyle/>
          <a:p>
            <a:endParaRPr lang="es-CL"/>
          </a:p>
        </p:txBody>
      </p:sp>
      <p:sp>
        <p:nvSpPr>
          <p:cNvPr id="13" name="Text 11"/>
          <p:cNvSpPr/>
          <p:nvPr/>
        </p:nvSpPr>
        <p:spPr>
          <a:xfrm>
            <a:off x="548640" y="357530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43000" y="3483864"/>
            <a:ext cx="3017520" cy="384048"/>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Escriban después de dibujar</a:t>
            </a:r>
            <a:endParaRPr lang="en-US" sz="1500" dirty="0"/>
          </a:p>
        </p:txBody>
      </p:sp>
      <p:sp>
        <p:nvSpPr>
          <p:cNvPr id="15" name="Text 13"/>
          <p:cNvSpPr/>
          <p:nvPr/>
        </p:nvSpPr>
        <p:spPr>
          <a:xfrm>
            <a:off x="4206240" y="3483864"/>
            <a:ext cx="7406640" cy="566928"/>
          </a:xfrm>
          <a:prstGeom prst="rect">
            <a:avLst/>
          </a:prstGeom>
          <a:noFill/>
          <a:ln/>
        </p:spPr>
        <p:txBody>
          <a:bodyPr wrap="square" lIns="0" tIns="0" rIns="0" bIns="0" rtlCol="0" anchor="ctr"/>
          <a:lstStyle/>
          <a:p>
            <a:pPr marL="0" indent="0">
              <a:lnSpc>
                <a:spcPts val="1800"/>
              </a:lnSpc>
              <a:buNone/>
            </a:pPr>
            <a:r>
              <a:rPr lang="en-US" sz="1350" dirty="0">
                <a:solidFill>
                  <a:srgbClr val="D7E3EE"/>
                </a:solidFill>
                <a:latin typeface="Calibri" pitchFamily="34" charset="0"/>
                <a:ea typeface="Calibri" pitchFamily="34" charset="-122"/>
                <a:cs typeface="Calibri" pitchFamily="34" charset="-120"/>
              </a:rPr>
              <a:t>Redactar obliga a explicitar relaciones que en el diagrama quedaron implícitas.</a:t>
            </a:r>
            <a:endParaRPr lang="en-US" sz="1350" dirty="0"/>
          </a:p>
        </p:txBody>
      </p:sp>
      <p:sp>
        <p:nvSpPr>
          <p:cNvPr id="16" name="Shape 14"/>
          <p:cNvSpPr/>
          <p:nvPr/>
        </p:nvSpPr>
        <p:spPr>
          <a:xfrm>
            <a:off x="548640" y="4425696"/>
            <a:ext cx="420624" cy="420624"/>
          </a:xfrm>
          <a:prstGeom prst="ellipse">
            <a:avLst/>
          </a:prstGeom>
          <a:solidFill>
            <a:srgbClr val="AC212E"/>
          </a:solidFill>
          <a:ln/>
        </p:spPr>
        <p:txBody>
          <a:bodyPr/>
          <a:lstStyle/>
          <a:p>
            <a:endParaRPr lang="es-CL"/>
          </a:p>
        </p:txBody>
      </p:sp>
      <p:sp>
        <p:nvSpPr>
          <p:cNvPr id="17" name="Text 15"/>
          <p:cNvSpPr/>
          <p:nvPr/>
        </p:nvSpPr>
        <p:spPr>
          <a:xfrm>
            <a:off x="548640" y="442569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143000" y="4334256"/>
            <a:ext cx="3017520" cy="384048"/>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Revisen contra la rúbrica</a:t>
            </a:r>
            <a:endParaRPr lang="en-US" sz="1500" dirty="0"/>
          </a:p>
        </p:txBody>
      </p:sp>
      <p:sp>
        <p:nvSpPr>
          <p:cNvPr id="19" name="Text 17"/>
          <p:cNvSpPr/>
          <p:nvPr/>
        </p:nvSpPr>
        <p:spPr>
          <a:xfrm>
            <a:off x="4206240" y="4334256"/>
            <a:ext cx="7406640" cy="566928"/>
          </a:xfrm>
          <a:prstGeom prst="rect">
            <a:avLst/>
          </a:prstGeom>
          <a:noFill/>
          <a:ln/>
        </p:spPr>
        <p:txBody>
          <a:bodyPr wrap="square" lIns="0" tIns="0" rIns="0" bIns="0" rtlCol="0" anchor="ctr"/>
          <a:lstStyle/>
          <a:p>
            <a:pPr marL="0" indent="0">
              <a:lnSpc>
                <a:spcPts val="1800"/>
              </a:lnSpc>
              <a:buNone/>
            </a:pPr>
            <a:r>
              <a:rPr lang="en-US" sz="1350" dirty="0">
                <a:solidFill>
                  <a:srgbClr val="D7E3EE"/>
                </a:solidFill>
                <a:latin typeface="Calibri" pitchFamily="34" charset="0"/>
                <a:ea typeface="Calibri" pitchFamily="34" charset="-122"/>
                <a:cs typeface="Calibri" pitchFamily="34" charset="-120"/>
              </a:rPr>
              <a:t>Los cinco criterios son la lista de verificación real de la entrega.</a:t>
            </a:r>
            <a:endParaRPr lang="en-US" sz="1350" dirty="0"/>
          </a:p>
        </p:txBody>
      </p:sp>
      <p:sp>
        <p:nvSpPr>
          <p:cNvPr id="20" name="Shape 18"/>
          <p:cNvSpPr/>
          <p:nvPr/>
        </p:nvSpPr>
        <p:spPr>
          <a:xfrm>
            <a:off x="548640" y="5276088"/>
            <a:ext cx="420624" cy="420624"/>
          </a:xfrm>
          <a:prstGeom prst="ellipse">
            <a:avLst/>
          </a:prstGeom>
          <a:solidFill>
            <a:srgbClr val="AC212E"/>
          </a:solidFill>
          <a:ln/>
        </p:spPr>
        <p:txBody>
          <a:bodyPr/>
          <a:lstStyle/>
          <a:p>
            <a:endParaRPr lang="es-CL"/>
          </a:p>
        </p:txBody>
      </p:sp>
      <p:sp>
        <p:nvSpPr>
          <p:cNvPr id="21" name="Text 19"/>
          <p:cNvSpPr/>
          <p:nvPr/>
        </p:nvSpPr>
        <p:spPr>
          <a:xfrm>
            <a:off x="548640" y="527608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2" name="Text 20"/>
          <p:cNvSpPr/>
          <p:nvPr/>
        </p:nvSpPr>
        <p:spPr>
          <a:xfrm>
            <a:off x="1143000" y="5184648"/>
            <a:ext cx="3017520" cy="384048"/>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Declaren lo que falta</a:t>
            </a:r>
            <a:endParaRPr lang="en-US" sz="1500" dirty="0"/>
          </a:p>
        </p:txBody>
      </p:sp>
      <p:sp>
        <p:nvSpPr>
          <p:cNvPr id="23" name="Text 21"/>
          <p:cNvSpPr/>
          <p:nvPr/>
        </p:nvSpPr>
        <p:spPr>
          <a:xfrm>
            <a:off x="4206240" y="5184648"/>
            <a:ext cx="7406640" cy="566928"/>
          </a:xfrm>
          <a:prstGeom prst="rect">
            <a:avLst/>
          </a:prstGeom>
          <a:noFill/>
          <a:ln/>
        </p:spPr>
        <p:txBody>
          <a:bodyPr wrap="square" lIns="0" tIns="0" rIns="0" bIns="0" rtlCol="0" anchor="ctr"/>
          <a:lstStyle/>
          <a:p>
            <a:pPr marL="0" indent="0">
              <a:lnSpc>
                <a:spcPts val="1800"/>
              </a:lnSpc>
              <a:buNone/>
            </a:pPr>
            <a:r>
              <a:rPr lang="en-US" sz="1350" dirty="0">
                <a:solidFill>
                  <a:srgbClr val="D7E3EE"/>
                </a:solidFill>
                <a:latin typeface="Calibri" pitchFamily="34" charset="0"/>
                <a:ea typeface="Calibri" pitchFamily="34" charset="-122"/>
                <a:cs typeface="Calibri" pitchFamily="34" charset="-120"/>
              </a:rPr>
              <a:t>Señalar decisiones pendientes evidencia más comprensión que fingir que todo está resuelto.</a:t>
            </a:r>
            <a:endParaRPr lang="en-US" sz="13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De la Fase 1 a la entrega final</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Cada elemento del mapa se convierte, más adelante, en un producto técnico concreto.</a:t>
            </a:r>
            <a:endParaRPr lang="en-US" sz="1400" dirty="0"/>
          </a:p>
        </p:txBody>
      </p:sp>
      <p:graphicFrame>
        <p:nvGraphicFramePr>
          <p:cNvPr id="17" name="Table 0"/>
          <p:cNvGraphicFramePr>
            <a:graphicFrameLocks noGrp="1"/>
          </p:cNvGraphicFramePr>
          <p:nvPr/>
        </p:nvGraphicFramePr>
        <p:xfrm>
          <a:off x="548640" y="1783080"/>
          <a:ext cx="11064240" cy="3182112"/>
        </p:xfrm>
        <a:graphic>
          <a:graphicData uri="http://schemas.openxmlformats.org/drawingml/2006/table">
            <a:tbl>
              <a:tblPr/>
              <a:tblGrid>
                <a:gridCol w="5532120">
                  <a:extLst>
                    <a:ext uri="{9D8B030D-6E8A-4147-A177-3AD203B41FA5}">
                      <a16:colId xmlns:a16="http://schemas.microsoft.com/office/drawing/2014/main" val="20000"/>
                    </a:ext>
                  </a:extLst>
                </a:gridCol>
                <a:gridCol w="5532120">
                  <a:extLst>
                    <a:ext uri="{9D8B030D-6E8A-4147-A177-3AD203B41FA5}">
                      <a16:colId xmlns:a16="http://schemas.microsoft.com/office/drawing/2014/main" val="20001"/>
                    </a:ext>
                  </a:extLst>
                </a:gridCol>
              </a:tblGrid>
              <a:tr h="530352">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Lo que hoy representan en el mapa</a:t>
                      </a:r>
                      <a:endParaRPr lang="en-US" sz="14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En qué se convierte después</a:t>
                      </a:r>
                      <a:endParaRPr lang="en-US" sz="14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extLst>
                  <a:ext uri="{0D108BD9-81ED-4DB2-BD59-A6C34878D82A}">
                    <a16:rowId xmlns:a16="http://schemas.microsoft.com/office/drawing/2014/main" val="10000"/>
                  </a:ext>
                </a:extLst>
              </a:tr>
              <a:tr h="530352">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Flujo de trabajo reproducible</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El notebook ejecutable del proyecto</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Estructura del repositorio y commits</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El repositorio GitHub con historial real</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0352">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Mecanismos de documentación</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El README técnico y las celdas narrativas</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Herramientas identificadas</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El entorno configurado y sus dependencias</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0352">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Reflexión técnica grupal</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Las decisiones justificadas en el informe</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548640" y="5074920"/>
            <a:ext cx="11064240" cy="960120"/>
          </a:xfrm>
          <a:prstGeom prst="roundRect">
            <a:avLst>
              <a:gd name="adj" fmla="val 8571"/>
            </a:avLst>
          </a:prstGeom>
          <a:solidFill>
            <a:srgbClr val="F6E7E9"/>
          </a:solidFill>
          <a:ln w="12700">
            <a:solidFill>
              <a:srgbClr val="F6E7E9"/>
            </a:solidFill>
            <a:prstDash val="solid"/>
          </a:ln>
        </p:spPr>
        <p:txBody>
          <a:bodyPr/>
          <a:lstStyle/>
          <a:p>
            <a:endParaRPr lang="es-CL"/>
          </a:p>
        </p:txBody>
      </p:sp>
      <p:sp>
        <p:nvSpPr>
          <p:cNvPr id="6" name="Text 3"/>
          <p:cNvSpPr/>
          <p:nvPr/>
        </p:nvSpPr>
        <p:spPr>
          <a:xfrm>
            <a:off x="868680" y="5230368"/>
            <a:ext cx="10424160" cy="658368"/>
          </a:xfrm>
          <a:prstGeom prst="rect">
            <a:avLst/>
          </a:prstGeom>
          <a:noFill/>
          <a:ln/>
        </p:spPr>
        <p:txBody>
          <a:bodyPr wrap="square" lIns="0" tIns="0" rIns="0" bIns="0" rtlCol="0" anchor="ctr"/>
          <a:lstStyle/>
          <a:p>
            <a:pPr marL="0" indent="0">
              <a:lnSpc>
                <a:spcPts val="1900"/>
              </a:lnSpc>
              <a:buNone/>
            </a:pPr>
            <a:r>
              <a:rPr lang="en-US" sz="1400" dirty="0">
                <a:solidFill>
                  <a:srgbClr val="AC212E"/>
                </a:solidFill>
                <a:latin typeface="Calibri" pitchFamily="34" charset="0"/>
                <a:ea typeface="Calibri" pitchFamily="34" charset="-122"/>
                <a:cs typeface="Calibri" pitchFamily="34" charset="-120"/>
              </a:rPr>
              <a:t>El mapa que entreguen ahora, corregido con la retroalimentación, se incorpora en la evaluación sumativa de la Fase 1. No es un ejercicio aparte: es el primer borrador de un entregable calificado.</a:t>
            </a:r>
            <a:endParaRPr lang="en-US" sz="14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0A152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55000"/>
          </a:blip>
          <a:stretch>
            <a:fillRect/>
          </a:stretch>
        </p:blipFill>
        <p:spPr>
          <a:xfrm>
            <a:off x="6675120" y="0"/>
            <a:ext cx="5513832" cy="3227832"/>
          </a:xfrm>
          <a:prstGeom prst="rect">
            <a:avLst/>
          </a:prstGeom>
        </p:spPr>
      </p:pic>
      <p:sp>
        <p:nvSpPr>
          <p:cNvPr id="3" name="Shape 0"/>
          <p:cNvSpPr/>
          <p:nvPr/>
        </p:nvSpPr>
        <p:spPr>
          <a:xfrm>
            <a:off x="6675120" y="0"/>
            <a:ext cx="5513832" cy="3227832"/>
          </a:xfrm>
          <a:prstGeom prst="rect">
            <a:avLst/>
          </a:prstGeom>
          <a:solidFill>
            <a:srgbClr val="0A1526">
              <a:alpha val="45000"/>
            </a:srgbClr>
          </a:solidFill>
          <a:ln w="12700">
            <a:solidFill>
              <a:srgbClr val="0A1526">
                <a:alpha val="0"/>
              </a:srgbClr>
            </a:solidFill>
            <a:prstDash val="solid"/>
          </a:ln>
        </p:spPr>
        <p:txBody>
          <a:bodyPr/>
          <a:lstStyle/>
          <a:p>
            <a:endParaRPr lang="es-CL"/>
          </a:p>
        </p:txBody>
      </p:sp>
      <p:pic>
        <p:nvPicPr>
          <p:cNvPr id="4" name="Image 1" descr="preencoded.png"/>
          <p:cNvPicPr>
            <a:picLocks noChangeAspect="1"/>
          </p:cNvPicPr>
          <p:nvPr/>
        </p:nvPicPr>
        <p:blipFill>
          <a:blip r:embed="rId4"/>
          <a:stretch>
            <a:fillRect/>
          </a:stretch>
        </p:blipFill>
        <p:spPr>
          <a:xfrm>
            <a:off x="548640" y="457200"/>
            <a:ext cx="4754880" cy="886968"/>
          </a:xfrm>
          <a:prstGeom prst="rect">
            <a:avLst/>
          </a:prstGeom>
        </p:spPr>
      </p:pic>
      <p:sp>
        <p:nvSpPr>
          <p:cNvPr id="5" name="Text 1"/>
          <p:cNvSpPr/>
          <p:nvPr/>
        </p:nvSpPr>
        <p:spPr>
          <a:xfrm>
            <a:off x="548640" y="1874520"/>
            <a:ext cx="7680960" cy="640080"/>
          </a:xfrm>
          <a:prstGeom prst="rect">
            <a:avLst/>
          </a:prstGeom>
          <a:noFill/>
          <a:ln/>
        </p:spPr>
        <p:txBody>
          <a:bodyPr wrap="square" lIns="0" tIns="0" rIns="0" bIns="0" rtlCol="0" anchor="ctr"/>
          <a:lstStyle/>
          <a:p>
            <a:pPr marL="0" indent="0">
              <a:buNone/>
            </a:pPr>
            <a:r>
              <a:rPr lang="en-US" sz="4000" b="1" kern="0" spc="200" dirty="0">
                <a:solidFill>
                  <a:srgbClr val="FFFFFF"/>
                </a:solidFill>
                <a:latin typeface="Cambria" pitchFamily="34" charset="0"/>
                <a:ea typeface="Cambria" pitchFamily="34" charset="-122"/>
                <a:cs typeface="Cambria" pitchFamily="34" charset="-120"/>
              </a:rPr>
              <a:t>SUMATIVA 1</a:t>
            </a:r>
            <a:endParaRPr lang="en-US" sz="4000" dirty="0"/>
          </a:p>
        </p:txBody>
      </p:sp>
      <p:sp>
        <p:nvSpPr>
          <p:cNvPr id="6" name="Text 2"/>
          <p:cNvSpPr/>
          <p:nvPr/>
        </p:nvSpPr>
        <p:spPr>
          <a:xfrm>
            <a:off x="548640" y="2606040"/>
            <a:ext cx="7680960" cy="502920"/>
          </a:xfrm>
          <a:prstGeom prst="rect">
            <a:avLst/>
          </a:prstGeom>
          <a:noFill/>
          <a:ln/>
        </p:spPr>
        <p:txBody>
          <a:bodyPr wrap="square" lIns="0" tIns="0" rIns="0" bIns="0" rtlCol="0" anchor="ctr"/>
          <a:lstStyle/>
          <a:p>
            <a:pPr marL="0" indent="0">
              <a:buNone/>
            </a:pPr>
            <a:r>
              <a:rPr lang="en-US" sz="2400" dirty="0">
                <a:solidFill>
                  <a:srgbClr val="D7E3EE"/>
                </a:solidFill>
                <a:latin typeface="Cambria" pitchFamily="34" charset="0"/>
                <a:ea typeface="Cambria" pitchFamily="34" charset="-122"/>
                <a:cs typeface="Cambria" pitchFamily="34" charset="-120"/>
              </a:rPr>
              <a:t>Procedimientos prácticos, paso a paso</a:t>
            </a:r>
            <a:endParaRPr lang="en-US" sz="2400" dirty="0"/>
          </a:p>
        </p:txBody>
      </p:sp>
      <p:sp>
        <p:nvSpPr>
          <p:cNvPr id="7" name="Shape 3"/>
          <p:cNvSpPr/>
          <p:nvPr/>
        </p:nvSpPr>
        <p:spPr>
          <a:xfrm>
            <a:off x="548640" y="3337560"/>
            <a:ext cx="1280160" cy="45720"/>
          </a:xfrm>
          <a:prstGeom prst="rect">
            <a:avLst/>
          </a:prstGeom>
          <a:solidFill>
            <a:srgbClr val="AC212E"/>
          </a:solidFill>
          <a:ln w="12700">
            <a:solidFill>
              <a:srgbClr val="AC212E"/>
            </a:solidFill>
            <a:prstDash val="solid"/>
          </a:ln>
        </p:spPr>
        <p:txBody>
          <a:bodyPr/>
          <a:lstStyle/>
          <a:p>
            <a:endParaRPr lang="es-CL"/>
          </a:p>
        </p:txBody>
      </p:sp>
      <p:sp>
        <p:nvSpPr>
          <p:cNvPr id="8" name="Text 4"/>
          <p:cNvSpPr/>
          <p:nvPr/>
        </p:nvSpPr>
        <p:spPr>
          <a:xfrm>
            <a:off x="548640" y="3611880"/>
            <a:ext cx="7863840" cy="457200"/>
          </a:xfrm>
          <a:prstGeom prst="rect">
            <a:avLst/>
          </a:prstGeom>
          <a:noFill/>
          <a:ln/>
        </p:spPr>
        <p:txBody>
          <a:bodyPr wrap="square" lIns="0" tIns="0" rIns="0" bIns="0" rtlCol="0" anchor="ctr"/>
          <a:lstStyle/>
          <a:p>
            <a:pPr marL="0" indent="0">
              <a:buNone/>
            </a:pPr>
            <a:r>
              <a:rPr lang="en-US" sz="1700" dirty="0">
                <a:solidFill>
                  <a:srgbClr val="D7E3EE"/>
                </a:solidFill>
                <a:latin typeface="Calibri" pitchFamily="34" charset="0"/>
                <a:ea typeface="Calibri" pitchFamily="34" charset="-122"/>
                <a:cs typeface="Calibri" pitchFamily="34" charset="-120"/>
              </a:rPr>
              <a:t>Avance del proyecto — Fases 1 y 2</a:t>
            </a:r>
            <a:endParaRPr lang="en-US" sz="1700" dirty="0"/>
          </a:p>
        </p:txBody>
      </p:sp>
      <p:sp>
        <p:nvSpPr>
          <p:cNvPr id="9" name="Text 5"/>
          <p:cNvSpPr/>
          <p:nvPr/>
        </p:nvSpPr>
        <p:spPr>
          <a:xfrm>
            <a:off x="548640" y="5943600"/>
            <a:ext cx="11064240" cy="365760"/>
          </a:xfrm>
          <a:prstGeom prst="rect">
            <a:avLst/>
          </a:prstGeom>
          <a:noFill/>
          <a:ln/>
        </p:spPr>
        <p:txBody>
          <a:bodyPr wrap="square" lIns="0" tIns="0" rIns="0" bIns="0" rtlCol="0" anchor="ctr"/>
          <a:lstStyle/>
          <a:p>
            <a:pPr marL="0" indent="0">
              <a:buNone/>
            </a:pPr>
            <a:r>
              <a:rPr lang="en-US" sz="1200" dirty="0">
                <a:solidFill>
                  <a:srgbClr val="5A6B7B"/>
                </a:solidFill>
                <a:latin typeface="Calibri" pitchFamily="34" charset="0"/>
                <a:ea typeface="Calibri" pitchFamily="34" charset="-122"/>
                <a:cs typeface="Calibri" pitchFamily="34" charset="-120"/>
              </a:rPr>
              <a:t>MCDI500 · Programación para la Ciencia de Datos   |   Trabajo grupal (3–4)   |   99 puntos</a:t>
            </a:r>
            <a:endParaRPr lang="en-US" sz="12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Qué se entrega</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Cuatro productos. Los cuatro se evalúan, y ninguno reemplaza a otro.</a:t>
            </a:r>
            <a:endParaRPr lang="en-US" sz="1400" dirty="0"/>
          </a:p>
        </p:txBody>
      </p:sp>
      <p:sp>
        <p:nvSpPr>
          <p:cNvPr id="4" name="Shape 2"/>
          <p:cNvSpPr/>
          <p:nvPr/>
        </p:nvSpPr>
        <p:spPr>
          <a:xfrm>
            <a:off x="548640" y="1828800"/>
            <a:ext cx="2606040" cy="2651760"/>
          </a:xfrm>
          <a:prstGeom prst="roundRect">
            <a:avLst>
              <a:gd name="adj" fmla="val 3158"/>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777240" y="2057400"/>
            <a:ext cx="457200" cy="457200"/>
          </a:xfrm>
          <a:prstGeom prst="ellipse">
            <a:avLst/>
          </a:prstGeom>
          <a:solidFill>
            <a:srgbClr val="AC212E"/>
          </a:solidFill>
          <a:ln/>
        </p:spPr>
        <p:txBody>
          <a:bodyPr/>
          <a:lstStyle/>
          <a:p>
            <a:endParaRPr lang="es-CL"/>
          </a:p>
        </p:txBody>
      </p:sp>
      <p:sp>
        <p:nvSpPr>
          <p:cNvPr id="6" name="Text 4"/>
          <p:cNvSpPr/>
          <p:nvPr/>
        </p:nvSpPr>
        <p:spPr>
          <a:xfrm>
            <a:off x="777240" y="20574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777240" y="2651760"/>
            <a:ext cx="2148840" cy="384048"/>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Informe técnico</a:t>
            </a:r>
            <a:endParaRPr lang="en-US" sz="1500" dirty="0"/>
          </a:p>
        </p:txBody>
      </p:sp>
      <p:sp>
        <p:nvSpPr>
          <p:cNvPr id="8" name="Text 6"/>
          <p:cNvSpPr/>
          <p:nvPr/>
        </p:nvSpPr>
        <p:spPr>
          <a:xfrm>
            <a:off x="777240" y="3035808"/>
            <a:ext cx="2148840" cy="274320"/>
          </a:xfrm>
          <a:prstGeom prst="rect">
            <a:avLst/>
          </a:prstGeom>
          <a:noFill/>
          <a:ln/>
        </p:spPr>
        <p:txBody>
          <a:bodyPr wrap="square" lIns="0" tIns="0" rIns="0" bIns="0" rtlCol="0" anchor="ctr"/>
          <a:lstStyle/>
          <a:p>
            <a:pPr marL="0" indent="0">
              <a:buNone/>
            </a:pPr>
            <a:r>
              <a:rPr lang="en-US" sz="1100" dirty="0">
                <a:solidFill>
                  <a:srgbClr val="AC212E"/>
                </a:solidFill>
                <a:latin typeface="Courier New" pitchFamily="34" charset="0"/>
                <a:ea typeface="Courier New" pitchFamily="34" charset="-122"/>
                <a:cs typeface="Courier New" pitchFamily="34" charset="-120"/>
              </a:rPr>
              <a:t>PDF</a:t>
            </a:r>
            <a:endParaRPr lang="en-US" sz="1100" dirty="0"/>
          </a:p>
        </p:txBody>
      </p:sp>
      <p:sp>
        <p:nvSpPr>
          <p:cNvPr id="9" name="Text 7"/>
          <p:cNvSpPr/>
          <p:nvPr/>
        </p:nvSpPr>
        <p:spPr>
          <a:xfrm>
            <a:off x="777240" y="3364992"/>
            <a:ext cx="2148840" cy="96012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Problemática, objetivos, metodología, decisiones justificadas y bibliografía en APA 7.</a:t>
            </a:r>
            <a:endParaRPr lang="en-US" sz="1200" dirty="0"/>
          </a:p>
        </p:txBody>
      </p:sp>
      <p:sp>
        <p:nvSpPr>
          <p:cNvPr id="10" name="Shape 8"/>
          <p:cNvSpPr/>
          <p:nvPr/>
        </p:nvSpPr>
        <p:spPr>
          <a:xfrm>
            <a:off x="3419856" y="1828800"/>
            <a:ext cx="2606040" cy="2651760"/>
          </a:xfrm>
          <a:prstGeom prst="roundRect">
            <a:avLst>
              <a:gd name="adj" fmla="val 3158"/>
            </a:avLst>
          </a:prstGeom>
          <a:solidFill>
            <a:srgbClr val="F4F7FA"/>
          </a:solidFill>
          <a:ln w="12700">
            <a:solidFill>
              <a:srgbClr val="F4F7FA"/>
            </a:solidFill>
            <a:prstDash val="solid"/>
          </a:ln>
        </p:spPr>
        <p:txBody>
          <a:bodyPr/>
          <a:lstStyle/>
          <a:p>
            <a:endParaRPr lang="es-CL"/>
          </a:p>
        </p:txBody>
      </p:sp>
      <p:sp>
        <p:nvSpPr>
          <p:cNvPr id="11" name="Shape 9"/>
          <p:cNvSpPr/>
          <p:nvPr/>
        </p:nvSpPr>
        <p:spPr>
          <a:xfrm>
            <a:off x="3648456" y="2057400"/>
            <a:ext cx="457200" cy="457200"/>
          </a:xfrm>
          <a:prstGeom prst="ellipse">
            <a:avLst/>
          </a:prstGeom>
          <a:solidFill>
            <a:srgbClr val="AC212E"/>
          </a:solidFill>
          <a:ln/>
        </p:spPr>
        <p:txBody>
          <a:bodyPr/>
          <a:lstStyle/>
          <a:p>
            <a:endParaRPr lang="es-CL"/>
          </a:p>
        </p:txBody>
      </p:sp>
      <p:sp>
        <p:nvSpPr>
          <p:cNvPr id="12" name="Text 10"/>
          <p:cNvSpPr/>
          <p:nvPr/>
        </p:nvSpPr>
        <p:spPr>
          <a:xfrm>
            <a:off x="3648456" y="20574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3648456" y="2651760"/>
            <a:ext cx="2148840" cy="384048"/>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Repositorio GitHub</a:t>
            </a:r>
            <a:endParaRPr lang="en-US" sz="1500" dirty="0"/>
          </a:p>
        </p:txBody>
      </p:sp>
      <p:sp>
        <p:nvSpPr>
          <p:cNvPr id="14" name="Text 12"/>
          <p:cNvSpPr/>
          <p:nvPr/>
        </p:nvSpPr>
        <p:spPr>
          <a:xfrm>
            <a:off x="3648456" y="3035808"/>
            <a:ext cx="2148840" cy="274320"/>
          </a:xfrm>
          <a:prstGeom prst="rect">
            <a:avLst/>
          </a:prstGeom>
          <a:noFill/>
          <a:ln/>
        </p:spPr>
        <p:txBody>
          <a:bodyPr wrap="square" lIns="0" tIns="0" rIns="0" bIns="0" rtlCol="0" anchor="ctr"/>
          <a:lstStyle/>
          <a:p>
            <a:pPr marL="0" indent="0">
              <a:buNone/>
            </a:pPr>
            <a:r>
              <a:rPr lang="en-US" sz="1100" dirty="0">
                <a:solidFill>
                  <a:srgbClr val="AC212E"/>
                </a:solidFill>
                <a:latin typeface="Courier New" pitchFamily="34" charset="0"/>
                <a:ea typeface="Courier New" pitchFamily="34" charset="-122"/>
                <a:cs typeface="Courier New" pitchFamily="34" charset="-120"/>
              </a:rPr>
              <a:t>enlace</a:t>
            </a:r>
            <a:endParaRPr lang="en-US" sz="1100" dirty="0"/>
          </a:p>
        </p:txBody>
      </p:sp>
      <p:sp>
        <p:nvSpPr>
          <p:cNvPr id="15" name="Text 13"/>
          <p:cNvSpPr/>
          <p:nvPr/>
        </p:nvSpPr>
        <p:spPr>
          <a:xfrm>
            <a:off x="3648456" y="3364992"/>
            <a:ext cx="2148840" cy="96012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Estructura por fases, README, .gitignore, requirements y commits de cada integrante.</a:t>
            </a:r>
            <a:endParaRPr lang="en-US" sz="1200" dirty="0"/>
          </a:p>
        </p:txBody>
      </p:sp>
      <p:sp>
        <p:nvSpPr>
          <p:cNvPr id="16" name="Shape 14"/>
          <p:cNvSpPr/>
          <p:nvPr/>
        </p:nvSpPr>
        <p:spPr>
          <a:xfrm>
            <a:off x="6291072" y="1828800"/>
            <a:ext cx="2606040" cy="2651760"/>
          </a:xfrm>
          <a:prstGeom prst="roundRect">
            <a:avLst>
              <a:gd name="adj" fmla="val 3158"/>
            </a:avLst>
          </a:prstGeom>
          <a:solidFill>
            <a:srgbClr val="F6E7E9"/>
          </a:solidFill>
          <a:ln w="12700">
            <a:solidFill>
              <a:srgbClr val="F6E7E9"/>
            </a:solidFill>
            <a:prstDash val="solid"/>
          </a:ln>
        </p:spPr>
        <p:txBody>
          <a:bodyPr/>
          <a:lstStyle/>
          <a:p>
            <a:endParaRPr lang="es-CL"/>
          </a:p>
        </p:txBody>
      </p:sp>
      <p:sp>
        <p:nvSpPr>
          <p:cNvPr id="17" name="Shape 15"/>
          <p:cNvSpPr/>
          <p:nvPr/>
        </p:nvSpPr>
        <p:spPr>
          <a:xfrm>
            <a:off x="6519672" y="2057400"/>
            <a:ext cx="457200" cy="457200"/>
          </a:xfrm>
          <a:prstGeom prst="ellipse">
            <a:avLst/>
          </a:prstGeom>
          <a:solidFill>
            <a:srgbClr val="AC212E"/>
          </a:solidFill>
          <a:ln/>
        </p:spPr>
        <p:txBody>
          <a:bodyPr/>
          <a:lstStyle/>
          <a:p>
            <a:endParaRPr lang="es-CL"/>
          </a:p>
        </p:txBody>
      </p:sp>
      <p:sp>
        <p:nvSpPr>
          <p:cNvPr id="18" name="Text 16"/>
          <p:cNvSpPr/>
          <p:nvPr/>
        </p:nvSpPr>
        <p:spPr>
          <a:xfrm>
            <a:off x="6519672" y="20574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6519672" y="2651760"/>
            <a:ext cx="2148840" cy="384048"/>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Notebook F1</a:t>
            </a:r>
            <a:endParaRPr lang="en-US" sz="1500" dirty="0"/>
          </a:p>
        </p:txBody>
      </p:sp>
      <p:sp>
        <p:nvSpPr>
          <p:cNvPr id="20" name="Text 18"/>
          <p:cNvSpPr/>
          <p:nvPr/>
        </p:nvSpPr>
        <p:spPr>
          <a:xfrm>
            <a:off x="6519672" y="3035808"/>
            <a:ext cx="2148840" cy="274320"/>
          </a:xfrm>
          <a:prstGeom prst="rect">
            <a:avLst/>
          </a:prstGeom>
          <a:noFill/>
          <a:ln/>
        </p:spPr>
        <p:txBody>
          <a:bodyPr wrap="square" lIns="0" tIns="0" rIns="0" bIns="0" rtlCol="0" anchor="ctr"/>
          <a:lstStyle/>
          <a:p>
            <a:pPr marL="0" indent="0">
              <a:buNone/>
            </a:pPr>
            <a:r>
              <a:rPr lang="en-US" sz="1100" dirty="0">
                <a:solidFill>
                  <a:srgbClr val="AC212E"/>
                </a:solidFill>
                <a:latin typeface="Courier New" pitchFamily="34" charset="0"/>
                <a:ea typeface="Courier New" pitchFamily="34" charset="-122"/>
                <a:cs typeface="Courier New" pitchFamily="34" charset="-120"/>
              </a:rPr>
              <a:t>.ipynb</a:t>
            </a:r>
            <a:endParaRPr lang="en-US" sz="1100" dirty="0"/>
          </a:p>
        </p:txBody>
      </p:sp>
      <p:sp>
        <p:nvSpPr>
          <p:cNvPr id="21" name="Text 19"/>
          <p:cNvSpPr/>
          <p:nvPr/>
        </p:nvSpPr>
        <p:spPr>
          <a:xfrm>
            <a:off x="6519672" y="3364992"/>
            <a:ext cx="2148840" cy="96012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Definición del problema, entorno reproducible y estructura del proyecto.</a:t>
            </a:r>
            <a:endParaRPr lang="en-US" sz="1200" dirty="0"/>
          </a:p>
        </p:txBody>
      </p:sp>
      <p:sp>
        <p:nvSpPr>
          <p:cNvPr id="22" name="Shape 20"/>
          <p:cNvSpPr/>
          <p:nvPr/>
        </p:nvSpPr>
        <p:spPr>
          <a:xfrm>
            <a:off x="9162288" y="1828800"/>
            <a:ext cx="2606040" cy="2651760"/>
          </a:xfrm>
          <a:prstGeom prst="roundRect">
            <a:avLst>
              <a:gd name="adj" fmla="val 3158"/>
            </a:avLst>
          </a:prstGeom>
          <a:solidFill>
            <a:srgbClr val="F6E7E9"/>
          </a:solidFill>
          <a:ln w="12700">
            <a:solidFill>
              <a:srgbClr val="F6E7E9"/>
            </a:solidFill>
            <a:prstDash val="solid"/>
          </a:ln>
        </p:spPr>
        <p:txBody>
          <a:bodyPr/>
          <a:lstStyle/>
          <a:p>
            <a:endParaRPr lang="es-CL"/>
          </a:p>
        </p:txBody>
      </p:sp>
      <p:sp>
        <p:nvSpPr>
          <p:cNvPr id="23" name="Shape 21"/>
          <p:cNvSpPr/>
          <p:nvPr/>
        </p:nvSpPr>
        <p:spPr>
          <a:xfrm>
            <a:off x="9390888" y="2057400"/>
            <a:ext cx="457200" cy="457200"/>
          </a:xfrm>
          <a:prstGeom prst="ellipse">
            <a:avLst/>
          </a:prstGeom>
          <a:solidFill>
            <a:srgbClr val="AC212E"/>
          </a:solidFill>
          <a:ln/>
        </p:spPr>
        <p:txBody>
          <a:bodyPr/>
          <a:lstStyle/>
          <a:p>
            <a:endParaRPr lang="es-CL"/>
          </a:p>
        </p:txBody>
      </p:sp>
      <p:sp>
        <p:nvSpPr>
          <p:cNvPr id="24" name="Text 22"/>
          <p:cNvSpPr/>
          <p:nvPr/>
        </p:nvSpPr>
        <p:spPr>
          <a:xfrm>
            <a:off x="9390888" y="20574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p:nvPr/>
        </p:nvSpPr>
        <p:spPr>
          <a:xfrm>
            <a:off x="9390888" y="2651760"/>
            <a:ext cx="2148840" cy="384048"/>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Notebook F2</a:t>
            </a:r>
            <a:endParaRPr lang="en-US" sz="1500" dirty="0"/>
          </a:p>
        </p:txBody>
      </p:sp>
      <p:sp>
        <p:nvSpPr>
          <p:cNvPr id="26" name="Text 24"/>
          <p:cNvSpPr/>
          <p:nvPr/>
        </p:nvSpPr>
        <p:spPr>
          <a:xfrm>
            <a:off x="9390888" y="3035808"/>
            <a:ext cx="2148840" cy="274320"/>
          </a:xfrm>
          <a:prstGeom prst="rect">
            <a:avLst/>
          </a:prstGeom>
          <a:noFill/>
          <a:ln/>
        </p:spPr>
        <p:txBody>
          <a:bodyPr wrap="square" lIns="0" tIns="0" rIns="0" bIns="0" rtlCol="0" anchor="ctr"/>
          <a:lstStyle/>
          <a:p>
            <a:pPr marL="0" indent="0">
              <a:buNone/>
            </a:pPr>
            <a:r>
              <a:rPr lang="en-US" sz="1100" dirty="0">
                <a:solidFill>
                  <a:srgbClr val="AC212E"/>
                </a:solidFill>
                <a:latin typeface="Courier New" pitchFamily="34" charset="0"/>
                <a:ea typeface="Courier New" pitchFamily="34" charset="-122"/>
                <a:cs typeface="Courier New" pitchFamily="34" charset="-120"/>
              </a:rPr>
              <a:t>.ipynb</a:t>
            </a:r>
            <a:endParaRPr lang="en-US" sz="1100" dirty="0"/>
          </a:p>
        </p:txBody>
      </p:sp>
      <p:sp>
        <p:nvSpPr>
          <p:cNvPr id="27" name="Text 25"/>
          <p:cNvSpPr/>
          <p:nvPr/>
        </p:nvSpPr>
        <p:spPr>
          <a:xfrm>
            <a:off x="9390888" y="3364992"/>
            <a:ext cx="2148840" cy="96012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Pipeline de obtención, limpieza, transformación y validación.</a:t>
            </a:r>
            <a:endParaRPr lang="en-US" sz="1200" dirty="0"/>
          </a:p>
        </p:txBody>
      </p:sp>
      <p:sp>
        <p:nvSpPr>
          <p:cNvPr id="28" name="Shape 26"/>
          <p:cNvSpPr/>
          <p:nvPr/>
        </p:nvSpPr>
        <p:spPr>
          <a:xfrm>
            <a:off x="548640" y="4800600"/>
            <a:ext cx="11064240" cy="1143000"/>
          </a:xfrm>
          <a:prstGeom prst="roundRect">
            <a:avLst>
              <a:gd name="adj" fmla="val 7200"/>
            </a:avLst>
          </a:prstGeom>
          <a:solidFill>
            <a:srgbClr val="0A1526"/>
          </a:solidFill>
          <a:ln w="12700">
            <a:solidFill>
              <a:srgbClr val="0A1526"/>
            </a:solidFill>
            <a:prstDash val="solid"/>
          </a:ln>
        </p:spPr>
        <p:txBody>
          <a:bodyPr/>
          <a:lstStyle/>
          <a:p>
            <a:endParaRPr lang="es-CL"/>
          </a:p>
        </p:txBody>
      </p:sp>
      <p:sp>
        <p:nvSpPr>
          <p:cNvPr id="29" name="Text 27"/>
          <p:cNvSpPr/>
          <p:nvPr/>
        </p:nvSpPr>
        <p:spPr>
          <a:xfrm>
            <a:off x="868680" y="4983480"/>
            <a:ext cx="10424160" cy="777240"/>
          </a:xfrm>
          <a:prstGeom prst="rect">
            <a:avLst/>
          </a:prstGeom>
          <a:noFill/>
          <a:ln/>
        </p:spPr>
        <p:txBody>
          <a:bodyPr wrap="square" lIns="0" tIns="0" rIns="0" bIns="0" rtlCol="0" anchor="ctr"/>
          <a:lstStyle/>
          <a:p>
            <a:pPr marL="0" indent="0">
              <a:lnSpc>
                <a:spcPts val="1900"/>
              </a:lnSpc>
              <a:buNone/>
            </a:pPr>
            <a:r>
              <a:rPr lang="en-US" sz="1400" dirty="0">
                <a:solidFill>
                  <a:srgbClr val="FFFFFF"/>
                </a:solidFill>
                <a:latin typeface="Calibri" pitchFamily="34" charset="0"/>
                <a:ea typeface="Calibri" pitchFamily="34" charset="-122"/>
                <a:cs typeface="Calibri" pitchFamily="34" charset="-120"/>
              </a:rPr>
              <a:t>La rúbrica evalúa los notebooks de F1 y F2 como criterios separados, de 9 puntos cada uno. Si entregan un solo archivo, debe tener las dos partes claramente rotuladas para que cada criterio pueda evaluarse por su cuenta.</a:t>
            </a:r>
            <a:endParaRPr lang="en-US" sz="1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Dónde se juegan los 99 puntos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Dos tercios están en el notebook y el repositorio. El resto, en el informe.</a:t>
            </a:r>
            <a:endParaRPr lang="en-US" sz="1400" dirty="0"/>
          </a:p>
        </p:txBody>
      </p:sp>
      <p:sp>
        <p:nvSpPr>
          <p:cNvPr id="4" name="Shape 2"/>
          <p:cNvSpPr/>
          <p:nvPr/>
        </p:nvSpPr>
        <p:spPr>
          <a:xfrm>
            <a:off x="548640" y="1828800"/>
            <a:ext cx="3520440" cy="3200400"/>
          </a:xfrm>
          <a:prstGeom prst="roundRect">
            <a:avLst>
              <a:gd name="adj" fmla="val 2571"/>
            </a:avLst>
          </a:prstGeom>
          <a:solidFill>
            <a:srgbClr val="F6E7E9"/>
          </a:solidFill>
          <a:ln w="12700">
            <a:solidFill>
              <a:srgbClr val="F6E7E9"/>
            </a:solidFill>
            <a:prstDash val="solid"/>
          </a:ln>
        </p:spPr>
        <p:txBody>
          <a:bodyPr/>
          <a:lstStyle/>
          <a:p>
            <a:endParaRPr lang="es-CL"/>
          </a:p>
        </p:txBody>
      </p:sp>
      <p:sp>
        <p:nvSpPr>
          <p:cNvPr id="5" name="Text 3"/>
          <p:cNvSpPr/>
          <p:nvPr/>
        </p:nvSpPr>
        <p:spPr>
          <a:xfrm>
            <a:off x="804672" y="2011680"/>
            <a:ext cx="1463040" cy="685800"/>
          </a:xfrm>
          <a:prstGeom prst="rect">
            <a:avLst/>
          </a:prstGeom>
          <a:noFill/>
          <a:ln/>
        </p:spPr>
        <p:txBody>
          <a:bodyPr wrap="square" lIns="0" tIns="0" rIns="0" bIns="0" rtlCol="0" anchor="ctr"/>
          <a:lstStyle/>
          <a:p>
            <a:pPr marL="0" indent="0">
              <a:buNone/>
            </a:pPr>
            <a:r>
              <a:rPr lang="en-US" sz="4000" b="1" dirty="0">
                <a:solidFill>
                  <a:srgbClr val="AC212E"/>
                </a:solidFill>
                <a:latin typeface="Cambria" pitchFamily="34" charset="0"/>
                <a:ea typeface="Cambria" pitchFamily="34" charset="-122"/>
                <a:cs typeface="Cambria" pitchFamily="34" charset="-120"/>
              </a:rPr>
              <a:t>66</a:t>
            </a:r>
            <a:endParaRPr lang="en-US" sz="4000" dirty="0"/>
          </a:p>
        </p:txBody>
      </p:sp>
      <p:sp>
        <p:nvSpPr>
          <p:cNvPr id="6" name="Text 4"/>
          <p:cNvSpPr/>
          <p:nvPr/>
        </p:nvSpPr>
        <p:spPr>
          <a:xfrm>
            <a:off x="2148840" y="2331720"/>
            <a:ext cx="1371600" cy="365760"/>
          </a:xfrm>
          <a:prstGeom prst="rect">
            <a:avLst/>
          </a:prstGeom>
          <a:noFill/>
          <a:ln/>
        </p:spPr>
        <p:txBody>
          <a:bodyPr wrap="square" lIns="0" tIns="0" rIns="0" bIns="0" rtlCol="0" anchor="ctr"/>
          <a:lstStyle/>
          <a:p>
            <a:pPr marL="0" indent="0">
              <a:buNone/>
            </a:pPr>
            <a:r>
              <a:rPr lang="en-US" sz="1300" dirty="0">
                <a:solidFill>
                  <a:srgbClr val="5A6B7B"/>
                </a:solidFill>
                <a:latin typeface="Calibri" pitchFamily="34" charset="0"/>
                <a:ea typeface="Calibri" pitchFamily="34" charset="-122"/>
                <a:cs typeface="Calibri" pitchFamily="34" charset="-120"/>
              </a:rPr>
              <a:t>puntos</a:t>
            </a:r>
            <a:endParaRPr lang="en-US" sz="1300" dirty="0"/>
          </a:p>
        </p:txBody>
      </p:sp>
      <p:sp>
        <p:nvSpPr>
          <p:cNvPr id="7" name="Text 5"/>
          <p:cNvSpPr/>
          <p:nvPr/>
        </p:nvSpPr>
        <p:spPr>
          <a:xfrm>
            <a:off x="804672" y="2788920"/>
            <a:ext cx="3017520" cy="365760"/>
          </a:xfrm>
          <a:prstGeom prst="rect">
            <a:avLst/>
          </a:prstGeom>
          <a:noFill/>
          <a:ln/>
        </p:spPr>
        <p:txBody>
          <a:bodyPr wrap="square" lIns="0" tIns="0" rIns="0" bIns="0" rtlCol="0" anchor="ctr"/>
          <a:lstStyle/>
          <a:p>
            <a:pPr marL="0" indent="0">
              <a:buNone/>
            </a:pPr>
            <a:r>
              <a:rPr lang="en-US" sz="1600" b="1" dirty="0">
                <a:solidFill>
                  <a:srgbClr val="06304A"/>
                </a:solidFill>
                <a:latin typeface="Calibri" pitchFamily="34" charset="0"/>
                <a:ea typeface="Calibri" pitchFamily="34" charset="-122"/>
                <a:cs typeface="Calibri" pitchFamily="34" charset="-120"/>
              </a:rPr>
              <a:t>En el notebook</a:t>
            </a:r>
            <a:endParaRPr lang="en-US" sz="1600" dirty="0"/>
          </a:p>
        </p:txBody>
      </p:sp>
      <p:sp>
        <p:nvSpPr>
          <p:cNvPr id="8" name="Text 6"/>
          <p:cNvSpPr/>
          <p:nvPr/>
        </p:nvSpPr>
        <p:spPr>
          <a:xfrm>
            <a:off x="804672" y="3200400"/>
            <a:ext cx="3017520" cy="164592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Herramientas científicas · reproducibilidad · codificación funcional · preprocesamiento · validación · notebooks F1 y F2 · vinculación del mapa</a:t>
            </a:r>
            <a:endParaRPr lang="en-US" sz="1200" dirty="0"/>
          </a:p>
        </p:txBody>
      </p:sp>
      <p:sp>
        <p:nvSpPr>
          <p:cNvPr id="9" name="Shape 7"/>
          <p:cNvSpPr/>
          <p:nvPr/>
        </p:nvSpPr>
        <p:spPr>
          <a:xfrm>
            <a:off x="4325112" y="1828800"/>
            <a:ext cx="3520440" cy="3200400"/>
          </a:xfrm>
          <a:prstGeom prst="roundRect">
            <a:avLst>
              <a:gd name="adj" fmla="val 2571"/>
            </a:avLst>
          </a:prstGeom>
          <a:solidFill>
            <a:srgbClr val="F4F7FA"/>
          </a:solidFill>
          <a:ln w="12700">
            <a:solidFill>
              <a:srgbClr val="F4F7FA"/>
            </a:solidFill>
            <a:prstDash val="solid"/>
          </a:ln>
        </p:spPr>
        <p:txBody>
          <a:bodyPr/>
          <a:lstStyle/>
          <a:p>
            <a:endParaRPr lang="es-CL"/>
          </a:p>
        </p:txBody>
      </p:sp>
      <p:sp>
        <p:nvSpPr>
          <p:cNvPr id="10" name="Text 8"/>
          <p:cNvSpPr/>
          <p:nvPr/>
        </p:nvSpPr>
        <p:spPr>
          <a:xfrm>
            <a:off x="4581144" y="2011680"/>
            <a:ext cx="1463040" cy="685800"/>
          </a:xfrm>
          <a:prstGeom prst="rect">
            <a:avLst/>
          </a:prstGeom>
          <a:noFill/>
          <a:ln/>
        </p:spPr>
        <p:txBody>
          <a:bodyPr wrap="square" lIns="0" tIns="0" rIns="0" bIns="0" rtlCol="0" anchor="ctr"/>
          <a:lstStyle/>
          <a:p>
            <a:pPr marL="0" indent="0">
              <a:buNone/>
            </a:pPr>
            <a:r>
              <a:rPr lang="en-US" sz="4000" b="1" dirty="0">
                <a:solidFill>
                  <a:srgbClr val="06304A"/>
                </a:solidFill>
                <a:latin typeface="Cambria" pitchFamily="34" charset="0"/>
                <a:ea typeface="Cambria" pitchFamily="34" charset="-122"/>
                <a:cs typeface="Cambria" pitchFamily="34" charset="-120"/>
              </a:rPr>
              <a:t>21</a:t>
            </a:r>
            <a:endParaRPr lang="en-US" sz="4000" dirty="0"/>
          </a:p>
        </p:txBody>
      </p:sp>
      <p:sp>
        <p:nvSpPr>
          <p:cNvPr id="11" name="Text 9"/>
          <p:cNvSpPr/>
          <p:nvPr/>
        </p:nvSpPr>
        <p:spPr>
          <a:xfrm>
            <a:off x="5925312" y="2331720"/>
            <a:ext cx="1371600" cy="365760"/>
          </a:xfrm>
          <a:prstGeom prst="rect">
            <a:avLst/>
          </a:prstGeom>
          <a:noFill/>
          <a:ln/>
        </p:spPr>
        <p:txBody>
          <a:bodyPr wrap="square" lIns="0" tIns="0" rIns="0" bIns="0" rtlCol="0" anchor="ctr"/>
          <a:lstStyle/>
          <a:p>
            <a:pPr marL="0" indent="0">
              <a:buNone/>
            </a:pPr>
            <a:r>
              <a:rPr lang="en-US" sz="1300" dirty="0">
                <a:solidFill>
                  <a:srgbClr val="5A6B7B"/>
                </a:solidFill>
                <a:latin typeface="Calibri" pitchFamily="34" charset="0"/>
                <a:ea typeface="Calibri" pitchFamily="34" charset="-122"/>
                <a:cs typeface="Calibri" pitchFamily="34" charset="-120"/>
              </a:rPr>
              <a:t>puntos</a:t>
            </a:r>
            <a:endParaRPr lang="en-US" sz="1300" dirty="0"/>
          </a:p>
        </p:txBody>
      </p:sp>
      <p:sp>
        <p:nvSpPr>
          <p:cNvPr id="12" name="Text 10"/>
          <p:cNvSpPr/>
          <p:nvPr/>
        </p:nvSpPr>
        <p:spPr>
          <a:xfrm>
            <a:off x="4581144" y="2788920"/>
            <a:ext cx="3017520" cy="365760"/>
          </a:xfrm>
          <a:prstGeom prst="rect">
            <a:avLst/>
          </a:prstGeom>
          <a:noFill/>
          <a:ln/>
        </p:spPr>
        <p:txBody>
          <a:bodyPr wrap="square" lIns="0" tIns="0" rIns="0" bIns="0" rtlCol="0" anchor="ctr"/>
          <a:lstStyle/>
          <a:p>
            <a:pPr marL="0" indent="0">
              <a:buNone/>
            </a:pPr>
            <a:r>
              <a:rPr lang="en-US" sz="1600" b="1" dirty="0">
                <a:solidFill>
                  <a:srgbClr val="06304A"/>
                </a:solidFill>
                <a:latin typeface="Calibri" pitchFamily="34" charset="0"/>
                <a:ea typeface="Calibri" pitchFamily="34" charset="-122"/>
                <a:cs typeface="Calibri" pitchFamily="34" charset="-120"/>
              </a:rPr>
              <a:t>En el informe</a:t>
            </a:r>
            <a:endParaRPr lang="en-US" sz="1600" dirty="0"/>
          </a:p>
        </p:txBody>
      </p:sp>
      <p:sp>
        <p:nvSpPr>
          <p:cNvPr id="13" name="Text 11"/>
          <p:cNvSpPr/>
          <p:nvPr/>
        </p:nvSpPr>
        <p:spPr>
          <a:xfrm>
            <a:off x="4581144" y="3200400"/>
            <a:ext cx="3017520" cy="164592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Portada e índice · introducción y contextualización · problemática y objetivos · aspectos formales y APA 7</a:t>
            </a:r>
            <a:endParaRPr lang="en-US" sz="1200" dirty="0"/>
          </a:p>
        </p:txBody>
      </p:sp>
      <p:sp>
        <p:nvSpPr>
          <p:cNvPr id="14" name="Shape 12"/>
          <p:cNvSpPr/>
          <p:nvPr/>
        </p:nvSpPr>
        <p:spPr>
          <a:xfrm>
            <a:off x="8101584" y="1828800"/>
            <a:ext cx="3520440" cy="3200400"/>
          </a:xfrm>
          <a:prstGeom prst="roundRect">
            <a:avLst>
              <a:gd name="adj" fmla="val 2571"/>
            </a:avLst>
          </a:prstGeom>
          <a:solidFill>
            <a:srgbClr val="F4F7FA"/>
          </a:solidFill>
          <a:ln w="12700">
            <a:solidFill>
              <a:srgbClr val="F4F7FA"/>
            </a:solidFill>
            <a:prstDash val="solid"/>
          </a:ln>
        </p:spPr>
        <p:txBody>
          <a:bodyPr/>
          <a:lstStyle/>
          <a:p>
            <a:endParaRPr lang="es-CL"/>
          </a:p>
        </p:txBody>
      </p:sp>
      <p:sp>
        <p:nvSpPr>
          <p:cNvPr id="15" name="Text 13"/>
          <p:cNvSpPr/>
          <p:nvPr/>
        </p:nvSpPr>
        <p:spPr>
          <a:xfrm>
            <a:off x="8357616" y="2011680"/>
            <a:ext cx="1463040" cy="685800"/>
          </a:xfrm>
          <a:prstGeom prst="rect">
            <a:avLst/>
          </a:prstGeom>
          <a:noFill/>
          <a:ln/>
        </p:spPr>
        <p:txBody>
          <a:bodyPr wrap="square" lIns="0" tIns="0" rIns="0" bIns="0" rtlCol="0" anchor="ctr"/>
          <a:lstStyle/>
          <a:p>
            <a:pPr marL="0" indent="0">
              <a:buNone/>
            </a:pPr>
            <a:r>
              <a:rPr lang="en-US" sz="4000" b="1" dirty="0">
                <a:solidFill>
                  <a:srgbClr val="06304A"/>
                </a:solidFill>
                <a:latin typeface="Cambria" pitchFamily="34" charset="0"/>
                <a:ea typeface="Cambria" pitchFamily="34" charset="-122"/>
                <a:cs typeface="Cambria" pitchFamily="34" charset="-120"/>
              </a:rPr>
              <a:t>12</a:t>
            </a:r>
            <a:endParaRPr lang="en-US" sz="4000" dirty="0"/>
          </a:p>
        </p:txBody>
      </p:sp>
      <p:sp>
        <p:nvSpPr>
          <p:cNvPr id="16" name="Text 14"/>
          <p:cNvSpPr/>
          <p:nvPr/>
        </p:nvSpPr>
        <p:spPr>
          <a:xfrm>
            <a:off x="9701784" y="2331720"/>
            <a:ext cx="1371600" cy="365760"/>
          </a:xfrm>
          <a:prstGeom prst="rect">
            <a:avLst/>
          </a:prstGeom>
          <a:noFill/>
          <a:ln/>
        </p:spPr>
        <p:txBody>
          <a:bodyPr wrap="square" lIns="0" tIns="0" rIns="0" bIns="0" rtlCol="0" anchor="ctr"/>
          <a:lstStyle/>
          <a:p>
            <a:pPr marL="0" indent="0">
              <a:buNone/>
            </a:pPr>
            <a:r>
              <a:rPr lang="en-US" sz="1300" dirty="0">
                <a:solidFill>
                  <a:srgbClr val="5A6B7B"/>
                </a:solidFill>
                <a:latin typeface="Calibri" pitchFamily="34" charset="0"/>
                <a:ea typeface="Calibri" pitchFamily="34" charset="-122"/>
                <a:cs typeface="Calibri" pitchFamily="34" charset="-120"/>
              </a:rPr>
              <a:t>puntos</a:t>
            </a:r>
            <a:endParaRPr lang="en-US" sz="1300" dirty="0"/>
          </a:p>
        </p:txBody>
      </p:sp>
      <p:sp>
        <p:nvSpPr>
          <p:cNvPr id="17" name="Text 15"/>
          <p:cNvSpPr/>
          <p:nvPr/>
        </p:nvSpPr>
        <p:spPr>
          <a:xfrm>
            <a:off x="8357616" y="2788920"/>
            <a:ext cx="3017520" cy="365760"/>
          </a:xfrm>
          <a:prstGeom prst="rect">
            <a:avLst/>
          </a:prstGeom>
          <a:noFill/>
          <a:ln/>
        </p:spPr>
        <p:txBody>
          <a:bodyPr wrap="square" lIns="0" tIns="0" rIns="0" bIns="0" rtlCol="0" anchor="ctr"/>
          <a:lstStyle/>
          <a:p>
            <a:pPr marL="0" indent="0">
              <a:buNone/>
            </a:pPr>
            <a:r>
              <a:rPr lang="en-US" sz="1600" b="1" dirty="0">
                <a:solidFill>
                  <a:srgbClr val="06304A"/>
                </a:solidFill>
                <a:latin typeface="Calibri" pitchFamily="34" charset="0"/>
                <a:ea typeface="Calibri" pitchFamily="34" charset="-122"/>
                <a:cs typeface="Calibri" pitchFamily="34" charset="-120"/>
              </a:rPr>
              <a:t>En el repositorio</a:t>
            </a:r>
            <a:endParaRPr lang="en-US" sz="1600" dirty="0"/>
          </a:p>
        </p:txBody>
      </p:sp>
      <p:sp>
        <p:nvSpPr>
          <p:cNvPr id="18" name="Text 16"/>
          <p:cNvSpPr/>
          <p:nvPr/>
        </p:nvSpPr>
        <p:spPr>
          <a:xfrm>
            <a:off x="8357616" y="3200400"/>
            <a:ext cx="3017520" cy="164592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Control de versiones · estructura, README y commits identificables por integrante</a:t>
            </a:r>
            <a:endParaRPr lang="en-US" sz="1200" dirty="0"/>
          </a:p>
        </p:txBody>
      </p:sp>
      <p:sp>
        <p:nvSpPr>
          <p:cNvPr id="19" name="Text 17"/>
          <p:cNvSpPr/>
          <p:nvPr/>
        </p:nvSpPr>
        <p:spPr>
          <a:xfrm>
            <a:off x="548640" y="5303520"/>
            <a:ext cx="11064240" cy="457200"/>
          </a:xfrm>
          <a:prstGeom prst="rect">
            <a:avLst/>
          </a:prstGeom>
          <a:noFill/>
          <a:ln/>
        </p:spPr>
        <p:txBody>
          <a:bodyPr wrap="square" lIns="0" tIns="0" rIns="0" bIns="0" rtlCol="0" anchor="ctr"/>
          <a:lstStyle/>
          <a:p>
            <a:pPr marL="0" indent="0">
              <a:buNone/>
            </a:pPr>
            <a:r>
              <a:rPr lang="en-US" sz="1500" i="1" dirty="0">
                <a:solidFill>
                  <a:srgbClr val="AC212E"/>
                </a:solidFill>
                <a:latin typeface="Calibri" pitchFamily="34" charset="0"/>
                <a:ea typeface="Calibri" pitchFamily="34" charset="-122"/>
                <a:cs typeface="Calibri" pitchFamily="34" charset="-120"/>
              </a:rPr>
              <a:t>Un notebook impecable con un informe descuidado deja veintiún puntos sin cubrir.</a:t>
            </a:r>
            <a:endParaRPr lang="en-US" sz="15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0A1526"/>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La ruta completa: doce pasos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D7E3EE"/>
                </a:solidFill>
                <a:latin typeface="Calibri" pitchFamily="34" charset="0"/>
                <a:ea typeface="Calibri" pitchFamily="34" charset="-122"/>
                <a:cs typeface="Calibri" pitchFamily="34" charset="-120"/>
              </a:rPr>
              <a:t>Los pasos 1 a 4 ya se cubrieron en los bloques anteriores. Aquí se detalla del 5 en adelante.</a:t>
            </a:r>
            <a:endParaRPr lang="en-US" sz="1400" dirty="0"/>
          </a:p>
        </p:txBody>
      </p:sp>
      <p:sp>
        <p:nvSpPr>
          <p:cNvPr id="4" name="Shape 2"/>
          <p:cNvSpPr/>
          <p:nvPr/>
        </p:nvSpPr>
        <p:spPr>
          <a:xfrm>
            <a:off x="548640" y="1828800"/>
            <a:ext cx="4114800" cy="3657600"/>
          </a:xfrm>
          <a:prstGeom prst="roundRect">
            <a:avLst>
              <a:gd name="adj" fmla="val 2250"/>
            </a:avLst>
          </a:prstGeom>
          <a:solidFill>
            <a:srgbClr val="12203A"/>
          </a:solidFill>
          <a:ln w="12700">
            <a:solidFill>
              <a:srgbClr val="12203A"/>
            </a:solidFill>
            <a:prstDash val="solid"/>
          </a:ln>
        </p:spPr>
        <p:txBody>
          <a:bodyPr/>
          <a:lstStyle/>
          <a:p>
            <a:endParaRPr lang="es-CL"/>
          </a:p>
        </p:txBody>
      </p:sp>
      <p:sp>
        <p:nvSpPr>
          <p:cNvPr id="5" name="Text 3"/>
          <p:cNvSpPr/>
          <p:nvPr/>
        </p:nvSpPr>
        <p:spPr>
          <a:xfrm>
            <a:off x="777240" y="1965960"/>
            <a:ext cx="3657600" cy="320040"/>
          </a:xfrm>
          <a:prstGeom prst="rect">
            <a:avLst/>
          </a:prstGeom>
          <a:noFill/>
          <a:ln/>
        </p:spPr>
        <p:txBody>
          <a:bodyPr wrap="square" lIns="0" tIns="0" rIns="0" bIns="0" rtlCol="0" anchor="ctr"/>
          <a:lstStyle/>
          <a:p>
            <a:pPr marL="0" indent="0">
              <a:buNone/>
            </a:pPr>
            <a:r>
              <a:rPr lang="en-US" sz="1200" b="1" kern="0" spc="100" dirty="0">
                <a:solidFill>
                  <a:srgbClr val="AC212E"/>
                </a:solidFill>
                <a:latin typeface="Calibri" pitchFamily="34" charset="0"/>
                <a:ea typeface="Calibri" pitchFamily="34" charset="-122"/>
                <a:cs typeface="Calibri" pitchFamily="34" charset="-120"/>
              </a:rPr>
              <a:t>MONTAJE — Fase 1</a:t>
            </a:r>
            <a:endParaRPr lang="en-US" sz="1200" dirty="0"/>
          </a:p>
        </p:txBody>
      </p:sp>
      <p:sp>
        <p:nvSpPr>
          <p:cNvPr id="6" name="Shape 4"/>
          <p:cNvSpPr/>
          <p:nvPr/>
        </p:nvSpPr>
        <p:spPr>
          <a:xfrm>
            <a:off x="777240" y="2423160"/>
            <a:ext cx="347472" cy="347472"/>
          </a:xfrm>
          <a:prstGeom prst="ellipse">
            <a:avLst/>
          </a:prstGeom>
          <a:solidFill>
            <a:srgbClr val="AC212E"/>
          </a:solidFill>
          <a:ln/>
        </p:spPr>
        <p:txBody>
          <a:bodyPr/>
          <a:lstStyle/>
          <a:p>
            <a:endParaRPr lang="es-CL"/>
          </a:p>
        </p:txBody>
      </p:sp>
      <p:sp>
        <p:nvSpPr>
          <p:cNvPr id="7" name="Text 5"/>
          <p:cNvSpPr/>
          <p:nvPr/>
        </p:nvSpPr>
        <p:spPr>
          <a:xfrm>
            <a:off x="777240" y="242316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34440" y="2404872"/>
            <a:ext cx="320040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Entorno virtual y kernel</a:t>
            </a:r>
            <a:endParaRPr lang="en-US" sz="1200" dirty="0"/>
          </a:p>
        </p:txBody>
      </p:sp>
      <p:sp>
        <p:nvSpPr>
          <p:cNvPr id="9" name="Shape 7"/>
          <p:cNvSpPr/>
          <p:nvPr/>
        </p:nvSpPr>
        <p:spPr>
          <a:xfrm>
            <a:off x="777240" y="2926080"/>
            <a:ext cx="347472" cy="347472"/>
          </a:xfrm>
          <a:prstGeom prst="ellipse">
            <a:avLst/>
          </a:prstGeom>
          <a:solidFill>
            <a:srgbClr val="AC212E"/>
          </a:solidFill>
          <a:ln/>
        </p:spPr>
        <p:txBody>
          <a:bodyPr/>
          <a:lstStyle/>
          <a:p>
            <a:endParaRPr lang="es-CL"/>
          </a:p>
        </p:txBody>
      </p:sp>
      <p:sp>
        <p:nvSpPr>
          <p:cNvPr id="10" name="Text 8"/>
          <p:cNvSpPr/>
          <p:nvPr/>
        </p:nvSpPr>
        <p:spPr>
          <a:xfrm>
            <a:off x="777240" y="292608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34440" y="2907792"/>
            <a:ext cx="320040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Repositorio y estructura</a:t>
            </a:r>
            <a:endParaRPr lang="en-US" sz="1200" dirty="0"/>
          </a:p>
        </p:txBody>
      </p:sp>
      <p:sp>
        <p:nvSpPr>
          <p:cNvPr id="12" name="Shape 10"/>
          <p:cNvSpPr/>
          <p:nvPr/>
        </p:nvSpPr>
        <p:spPr>
          <a:xfrm>
            <a:off x="777240" y="3429000"/>
            <a:ext cx="347472" cy="347472"/>
          </a:xfrm>
          <a:prstGeom prst="ellipse">
            <a:avLst/>
          </a:prstGeom>
          <a:solidFill>
            <a:srgbClr val="AC212E"/>
          </a:solidFill>
          <a:ln/>
        </p:spPr>
        <p:txBody>
          <a:bodyPr/>
          <a:lstStyle/>
          <a:p>
            <a:endParaRPr lang="es-CL"/>
          </a:p>
        </p:txBody>
      </p:sp>
      <p:sp>
        <p:nvSpPr>
          <p:cNvPr id="13" name="Text 11"/>
          <p:cNvSpPr/>
          <p:nvPr/>
        </p:nvSpPr>
        <p:spPr>
          <a:xfrm>
            <a:off x="777240" y="342900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34440" y="3410712"/>
            <a:ext cx="320040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Descarga y verificación del dataset</a:t>
            </a:r>
            <a:endParaRPr lang="en-US" sz="1200" dirty="0"/>
          </a:p>
        </p:txBody>
      </p:sp>
      <p:sp>
        <p:nvSpPr>
          <p:cNvPr id="15" name="Shape 13"/>
          <p:cNvSpPr/>
          <p:nvPr/>
        </p:nvSpPr>
        <p:spPr>
          <a:xfrm>
            <a:off x="777240" y="3931920"/>
            <a:ext cx="347472" cy="347472"/>
          </a:xfrm>
          <a:prstGeom prst="ellipse">
            <a:avLst/>
          </a:prstGeom>
          <a:solidFill>
            <a:srgbClr val="AC212E"/>
          </a:solidFill>
          <a:ln/>
        </p:spPr>
        <p:txBody>
          <a:bodyPr/>
          <a:lstStyle/>
          <a:p>
            <a:endParaRPr lang="es-CL"/>
          </a:p>
        </p:txBody>
      </p:sp>
      <p:sp>
        <p:nvSpPr>
          <p:cNvPr id="16" name="Text 14"/>
          <p:cNvSpPr/>
          <p:nvPr/>
        </p:nvSpPr>
        <p:spPr>
          <a:xfrm>
            <a:off x="777240" y="393192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234440" y="3913632"/>
            <a:ext cx="320040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Diccionario de variables</a:t>
            </a:r>
            <a:endParaRPr lang="en-US" sz="1200" dirty="0"/>
          </a:p>
        </p:txBody>
      </p:sp>
      <p:sp>
        <p:nvSpPr>
          <p:cNvPr id="18" name="Shape 16"/>
          <p:cNvSpPr/>
          <p:nvPr/>
        </p:nvSpPr>
        <p:spPr>
          <a:xfrm>
            <a:off x="777240" y="4434840"/>
            <a:ext cx="347472" cy="347472"/>
          </a:xfrm>
          <a:prstGeom prst="ellipse">
            <a:avLst/>
          </a:prstGeom>
          <a:solidFill>
            <a:srgbClr val="AC212E"/>
          </a:solidFill>
          <a:ln/>
        </p:spPr>
        <p:txBody>
          <a:bodyPr/>
          <a:lstStyle/>
          <a:p>
            <a:endParaRPr lang="es-CL"/>
          </a:p>
        </p:txBody>
      </p:sp>
      <p:sp>
        <p:nvSpPr>
          <p:cNvPr id="19" name="Text 17"/>
          <p:cNvSpPr/>
          <p:nvPr/>
        </p:nvSpPr>
        <p:spPr>
          <a:xfrm>
            <a:off x="777240" y="443484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1234440" y="4416552"/>
            <a:ext cx="320040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README y requirements</a:t>
            </a:r>
            <a:endParaRPr lang="en-US" sz="1200" dirty="0"/>
          </a:p>
        </p:txBody>
      </p:sp>
      <p:sp>
        <p:nvSpPr>
          <p:cNvPr id="21" name="Shape 19"/>
          <p:cNvSpPr/>
          <p:nvPr/>
        </p:nvSpPr>
        <p:spPr>
          <a:xfrm>
            <a:off x="4937760" y="1828800"/>
            <a:ext cx="4480560" cy="3657600"/>
          </a:xfrm>
          <a:prstGeom prst="roundRect">
            <a:avLst>
              <a:gd name="adj" fmla="val 2250"/>
            </a:avLst>
          </a:prstGeom>
          <a:solidFill>
            <a:srgbClr val="12203A"/>
          </a:solidFill>
          <a:ln w="12700">
            <a:solidFill>
              <a:srgbClr val="12203A"/>
            </a:solidFill>
            <a:prstDash val="solid"/>
          </a:ln>
        </p:spPr>
        <p:txBody>
          <a:bodyPr/>
          <a:lstStyle/>
          <a:p>
            <a:endParaRPr lang="es-CL"/>
          </a:p>
        </p:txBody>
      </p:sp>
      <p:sp>
        <p:nvSpPr>
          <p:cNvPr id="22" name="Text 20"/>
          <p:cNvSpPr/>
          <p:nvPr/>
        </p:nvSpPr>
        <p:spPr>
          <a:xfrm>
            <a:off x="5166360" y="1965960"/>
            <a:ext cx="4023360" cy="320040"/>
          </a:xfrm>
          <a:prstGeom prst="rect">
            <a:avLst/>
          </a:prstGeom>
          <a:noFill/>
          <a:ln/>
        </p:spPr>
        <p:txBody>
          <a:bodyPr wrap="square" lIns="0" tIns="0" rIns="0" bIns="0" rtlCol="0" anchor="ctr"/>
          <a:lstStyle/>
          <a:p>
            <a:pPr marL="0" indent="0">
              <a:buNone/>
            </a:pPr>
            <a:r>
              <a:rPr lang="en-US" sz="1200" b="1" kern="0" spc="100" dirty="0">
                <a:solidFill>
                  <a:srgbClr val="AC212E"/>
                </a:solidFill>
                <a:latin typeface="Calibri" pitchFamily="34" charset="0"/>
                <a:ea typeface="Calibri" pitchFamily="34" charset="-122"/>
                <a:cs typeface="Calibri" pitchFamily="34" charset="-120"/>
              </a:rPr>
              <a:t>PIPELINE — Fase 2</a:t>
            </a:r>
            <a:endParaRPr lang="en-US" sz="1200" dirty="0"/>
          </a:p>
        </p:txBody>
      </p:sp>
      <p:sp>
        <p:nvSpPr>
          <p:cNvPr id="23" name="Shape 21"/>
          <p:cNvSpPr/>
          <p:nvPr/>
        </p:nvSpPr>
        <p:spPr>
          <a:xfrm>
            <a:off x="5166360" y="2423160"/>
            <a:ext cx="347472" cy="347472"/>
          </a:xfrm>
          <a:prstGeom prst="ellipse">
            <a:avLst/>
          </a:prstGeom>
          <a:solidFill>
            <a:srgbClr val="AC212E"/>
          </a:solidFill>
          <a:ln/>
        </p:spPr>
        <p:txBody>
          <a:bodyPr/>
          <a:lstStyle/>
          <a:p>
            <a:endParaRPr lang="es-CL"/>
          </a:p>
        </p:txBody>
      </p:sp>
      <p:sp>
        <p:nvSpPr>
          <p:cNvPr id="24" name="Text 22"/>
          <p:cNvSpPr/>
          <p:nvPr/>
        </p:nvSpPr>
        <p:spPr>
          <a:xfrm>
            <a:off x="5166360" y="242316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5" name="Text 23"/>
          <p:cNvSpPr/>
          <p:nvPr/>
        </p:nvSpPr>
        <p:spPr>
          <a:xfrm>
            <a:off x="5623560" y="2404872"/>
            <a:ext cx="356616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Exploración y medición</a:t>
            </a:r>
            <a:endParaRPr lang="en-US" sz="1200" dirty="0"/>
          </a:p>
        </p:txBody>
      </p:sp>
      <p:sp>
        <p:nvSpPr>
          <p:cNvPr id="26" name="Shape 24"/>
          <p:cNvSpPr/>
          <p:nvPr/>
        </p:nvSpPr>
        <p:spPr>
          <a:xfrm>
            <a:off x="5166360" y="2926080"/>
            <a:ext cx="347472" cy="347472"/>
          </a:xfrm>
          <a:prstGeom prst="ellipse">
            <a:avLst/>
          </a:prstGeom>
          <a:solidFill>
            <a:srgbClr val="AC212E"/>
          </a:solidFill>
          <a:ln/>
        </p:spPr>
        <p:txBody>
          <a:bodyPr/>
          <a:lstStyle/>
          <a:p>
            <a:endParaRPr lang="es-CL"/>
          </a:p>
        </p:txBody>
      </p:sp>
      <p:sp>
        <p:nvSpPr>
          <p:cNvPr id="27" name="Text 25"/>
          <p:cNvSpPr/>
          <p:nvPr/>
        </p:nvSpPr>
        <p:spPr>
          <a:xfrm>
            <a:off x="5166360" y="292608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8" name="Text 26"/>
          <p:cNvSpPr/>
          <p:nvPr/>
        </p:nvSpPr>
        <p:spPr>
          <a:xfrm>
            <a:off x="5623560" y="2907792"/>
            <a:ext cx="356616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Limpieza e imputación</a:t>
            </a:r>
            <a:endParaRPr lang="en-US" sz="1200" dirty="0"/>
          </a:p>
        </p:txBody>
      </p:sp>
      <p:sp>
        <p:nvSpPr>
          <p:cNvPr id="29" name="Shape 27"/>
          <p:cNvSpPr/>
          <p:nvPr/>
        </p:nvSpPr>
        <p:spPr>
          <a:xfrm>
            <a:off x="5166360" y="3429000"/>
            <a:ext cx="347472" cy="347472"/>
          </a:xfrm>
          <a:prstGeom prst="ellipse">
            <a:avLst/>
          </a:prstGeom>
          <a:solidFill>
            <a:srgbClr val="AC212E"/>
          </a:solidFill>
          <a:ln/>
        </p:spPr>
        <p:txBody>
          <a:bodyPr/>
          <a:lstStyle/>
          <a:p>
            <a:endParaRPr lang="es-CL"/>
          </a:p>
        </p:txBody>
      </p:sp>
      <p:sp>
        <p:nvSpPr>
          <p:cNvPr id="30" name="Text 28"/>
          <p:cNvSpPr/>
          <p:nvPr/>
        </p:nvSpPr>
        <p:spPr>
          <a:xfrm>
            <a:off x="5166360" y="342900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31" name="Text 29"/>
          <p:cNvSpPr/>
          <p:nvPr/>
        </p:nvSpPr>
        <p:spPr>
          <a:xfrm>
            <a:off x="5623560" y="3410712"/>
            <a:ext cx="356616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Transformación</a:t>
            </a:r>
            <a:endParaRPr lang="en-US" sz="1200" dirty="0"/>
          </a:p>
        </p:txBody>
      </p:sp>
      <p:sp>
        <p:nvSpPr>
          <p:cNvPr id="32" name="Shape 30"/>
          <p:cNvSpPr/>
          <p:nvPr/>
        </p:nvSpPr>
        <p:spPr>
          <a:xfrm>
            <a:off x="5166360" y="3931920"/>
            <a:ext cx="347472" cy="347472"/>
          </a:xfrm>
          <a:prstGeom prst="ellipse">
            <a:avLst/>
          </a:prstGeom>
          <a:solidFill>
            <a:srgbClr val="AC212E"/>
          </a:solidFill>
          <a:ln/>
        </p:spPr>
        <p:txBody>
          <a:bodyPr/>
          <a:lstStyle/>
          <a:p>
            <a:endParaRPr lang="es-CL"/>
          </a:p>
        </p:txBody>
      </p:sp>
      <p:sp>
        <p:nvSpPr>
          <p:cNvPr id="33" name="Text 31"/>
          <p:cNvSpPr/>
          <p:nvPr/>
        </p:nvSpPr>
        <p:spPr>
          <a:xfrm>
            <a:off x="5166360" y="393192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34" name="Text 32"/>
          <p:cNvSpPr/>
          <p:nvPr/>
        </p:nvSpPr>
        <p:spPr>
          <a:xfrm>
            <a:off x="5623560" y="3913632"/>
            <a:ext cx="356616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Escalamiento</a:t>
            </a:r>
            <a:endParaRPr lang="en-US" sz="1200" dirty="0"/>
          </a:p>
        </p:txBody>
      </p:sp>
      <p:sp>
        <p:nvSpPr>
          <p:cNvPr id="35" name="Shape 33"/>
          <p:cNvSpPr/>
          <p:nvPr/>
        </p:nvSpPr>
        <p:spPr>
          <a:xfrm>
            <a:off x="5166360" y="4434840"/>
            <a:ext cx="347472" cy="347472"/>
          </a:xfrm>
          <a:prstGeom prst="ellipse">
            <a:avLst/>
          </a:prstGeom>
          <a:solidFill>
            <a:srgbClr val="AC212E"/>
          </a:solidFill>
          <a:ln/>
        </p:spPr>
        <p:txBody>
          <a:bodyPr/>
          <a:lstStyle/>
          <a:p>
            <a:endParaRPr lang="es-CL"/>
          </a:p>
        </p:txBody>
      </p:sp>
      <p:sp>
        <p:nvSpPr>
          <p:cNvPr id="36" name="Text 34"/>
          <p:cNvSpPr/>
          <p:nvPr/>
        </p:nvSpPr>
        <p:spPr>
          <a:xfrm>
            <a:off x="5166360" y="443484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37" name="Text 35"/>
          <p:cNvSpPr/>
          <p:nvPr/>
        </p:nvSpPr>
        <p:spPr>
          <a:xfrm>
            <a:off x="5623560" y="4416552"/>
            <a:ext cx="356616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Validación y pruebas</a:t>
            </a:r>
            <a:endParaRPr lang="en-US" sz="1200" dirty="0"/>
          </a:p>
        </p:txBody>
      </p:sp>
      <p:sp>
        <p:nvSpPr>
          <p:cNvPr id="38" name="Shape 36"/>
          <p:cNvSpPr/>
          <p:nvPr/>
        </p:nvSpPr>
        <p:spPr>
          <a:xfrm>
            <a:off x="5166360" y="4937760"/>
            <a:ext cx="347472" cy="347472"/>
          </a:xfrm>
          <a:prstGeom prst="ellipse">
            <a:avLst/>
          </a:prstGeom>
          <a:solidFill>
            <a:srgbClr val="AC212E"/>
          </a:solidFill>
          <a:ln/>
        </p:spPr>
        <p:txBody>
          <a:bodyPr/>
          <a:lstStyle/>
          <a:p>
            <a:endParaRPr lang="es-CL"/>
          </a:p>
        </p:txBody>
      </p:sp>
      <p:sp>
        <p:nvSpPr>
          <p:cNvPr id="39" name="Text 37"/>
          <p:cNvSpPr/>
          <p:nvPr/>
        </p:nvSpPr>
        <p:spPr>
          <a:xfrm>
            <a:off x="5166360" y="493776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40" name="Text 38"/>
          <p:cNvSpPr/>
          <p:nvPr/>
        </p:nvSpPr>
        <p:spPr>
          <a:xfrm>
            <a:off x="5623560" y="4919472"/>
            <a:ext cx="356616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Persistencia y bitácora</a:t>
            </a:r>
            <a:endParaRPr lang="en-US" sz="1200" dirty="0"/>
          </a:p>
        </p:txBody>
      </p:sp>
      <p:sp>
        <p:nvSpPr>
          <p:cNvPr id="41" name="Shape 39"/>
          <p:cNvSpPr/>
          <p:nvPr/>
        </p:nvSpPr>
        <p:spPr>
          <a:xfrm>
            <a:off x="9692640" y="1828800"/>
            <a:ext cx="2286000" cy="3657600"/>
          </a:xfrm>
          <a:prstGeom prst="roundRect">
            <a:avLst>
              <a:gd name="adj" fmla="val 3600"/>
            </a:avLst>
          </a:prstGeom>
          <a:solidFill>
            <a:srgbClr val="12203A"/>
          </a:solidFill>
          <a:ln w="12700">
            <a:solidFill>
              <a:srgbClr val="12203A"/>
            </a:solidFill>
            <a:prstDash val="solid"/>
          </a:ln>
        </p:spPr>
        <p:txBody>
          <a:bodyPr/>
          <a:lstStyle/>
          <a:p>
            <a:endParaRPr lang="es-CL"/>
          </a:p>
        </p:txBody>
      </p:sp>
      <p:sp>
        <p:nvSpPr>
          <p:cNvPr id="42" name="Text 40"/>
          <p:cNvSpPr/>
          <p:nvPr/>
        </p:nvSpPr>
        <p:spPr>
          <a:xfrm>
            <a:off x="9921240" y="1965960"/>
            <a:ext cx="1828800" cy="320040"/>
          </a:xfrm>
          <a:prstGeom prst="rect">
            <a:avLst/>
          </a:prstGeom>
          <a:noFill/>
          <a:ln/>
        </p:spPr>
        <p:txBody>
          <a:bodyPr wrap="square" lIns="0" tIns="0" rIns="0" bIns="0" rtlCol="0" anchor="ctr"/>
          <a:lstStyle/>
          <a:p>
            <a:pPr marL="0" indent="0">
              <a:buNone/>
            </a:pPr>
            <a:r>
              <a:rPr lang="en-US" sz="1200" b="1" kern="0" spc="100" dirty="0">
                <a:solidFill>
                  <a:srgbClr val="AC212E"/>
                </a:solidFill>
                <a:latin typeface="Calibri" pitchFamily="34" charset="0"/>
                <a:ea typeface="Calibri" pitchFamily="34" charset="-122"/>
                <a:cs typeface="Calibri" pitchFamily="34" charset="-120"/>
              </a:rPr>
              <a:t>ENTREGA</a:t>
            </a:r>
            <a:endParaRPr lang="en-US" sz="1200" dirty="0"/>
          </a:p>
        </p:txBody>
      </p:sp>
      <p:sp>
        <p:nvSpPr>
          <p:cNvPr id="43" name="Shape 41"/>
          <p:cNvSpPr/>
          <p:nvPr/>
        </p:nvSpPr>
        <p:spPr>
          <a:xfrm>
            <a:off x="9921240" y="2423160"/>
            <a:ext cx="347472" cy="347472"/>
          </a:xfrm>
          <a:prstGeom prst="ellipse">
            <a:avLst/>
          </a:prstGeom>
          <a:solidFill>
            <a:srgbClr val="AC212E"/>
          </a:solidFill>
          <a:ln/>
        </p:spPr>
        <p:txBody>
          <a:bodyPr/>
          <a:lstStyle/>
          <a:p>
            <a:endParaRPr lang="es-CL"/>
          </a:p>
        </p:txBody>
      </p:sp>
      <p:sp>
        <p:nvSpPr>
          <p:cNvPr id="44" name="Text 42"/>
          <p:cNvSpPr/>
          <p:nvPr/>
        </p:nvSpPr>
        <p:spPr>
          <a:xfrm>
            <a:off x="9921240" y="242316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45" name="Text 43"/>
          <p:cNvSpPr/>
          <p:nvPr/>
        </p:nvSpPr>
        <p:spPr>
          <a:xfrm>
            <a:off x="10378440" y="2404872"/>
            <a:ext cx="137160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Informe, commits y verificación final</a:t>
            </a:r>
            <a:endParaRPr lang="en-US" sz="1200" dirty="0"/>
          </a:p>
        </p:txBody>
      </p:sp>
      <p:sp>
        <p:nvSpPr>
          <p:cNvPr id="46" name="Text 44"/>
          <p:cNvSpPr/>
          <p:nvPr/>
        </p:nvSpPr>
        <p:spPr>
          <a:xfrm>
            <a:off x="548640" y="5669280"/>
            <a:ext cx="11064240" cy="457200"/>
          </a:xfrm>
          <a:prstGeom prst="rect">
            <a:avLst/>
          </a:prstGeom>
          <a:noFill/>
          <a:ln/>
        </p:spPr>
        <p:txBody>
          <a:bodyPr wrap="square" lIns="0" tIns="0" rIns="0" bIns="0" rtlCol="0" anchor="ctr"/>
          <a:lstStyle/>
          <a:p>
            <a:pPr marL="0" indent="0">
              <a:buNone/>
            </a:pPr>
            <a:r>
              <a:rPr lang="en-US" sz="1350" i="1" dirty="0">
                <a:solidFill>
                  <a:srgbClr val="D7E3EE"/>
                </a:solidFill>
                <a:latin typeface="Calibri" pitchFamily="34" charset="0"/>
                <a:ea typeface="Calibri" pitchFamily="34" charset="-122"/>
                <a:cs typeface="Calibri" pitchFamily="34" charset="-120"/>
              </a:rPr>
              <a:t>El montaje del entorno y la elección del dataset pueden avanzar en paralelo. Del paso 6 en adelante, no: cada etapa consume el resultado de la anterior.</a:t>
            </a:r>
            <a:endParaRPr lang="en-US" sz="13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Paso 5 · README y requirements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Los dos archivos que hacen reconstruible el proyecto. Ambos son evidencia evaluada.</a:t>
            </a:r>
            <a:endParaRPr lang="en-US" sz="1400" dirty="0"/>
          </a:p>
        </p:txBody>
      </p:sp>
      <p:sp>
        <p:nvSpPr>
          <p:cNvPr id="4" name="Shape 2"/>
          <p:cNvSpPr/>
          <p:nvPr/>
        </p:nvSpPr>
        <p:spPr>
          <a:xfrm>
            <a:off x="548640" y="1783080"/>
            <a:ext cx="5394960" cy="2834640"/>
          </a:xfrm>
          <a:prstGeom prst="roundRect">
            <a:avLst>
              <a:gd name="adj" fmla="val 2903"/>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68680" y="1938528"/>
            <a:ext cx="4754880" cy="347472"/>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Qué debe decir el README</a:t>
            </a:r>
            <a:endParaRPr lang="en-US" sz="1500" dirty="0"/>
          </a:p>
        </p:txBody>
      </p:sp>
      <p:sp>
        <p:nvSpPr>
          <p:cNvPr id="6" name="Shape 4"/>
          <p:cNvSpPr/>
          <p:nvPr/>
        </p:nvSpPr>
        <p:spPr>
          <a:xfrm>
            <a:off x="896112" y="2404872"/>
            <a:ext cx="164592" cy="164592"/>
          </a:xfrm>
          <a:prstGeom prst="ellipse">
            <a:avLst/>
          </a:prstGeom>
          <a:solidFill>
            <a:srgbClr val="AC212E"/>
          </a:solidFill>
          <a:ln/>
        </p:spPr>
        <p:txBody>
          <a:bodyPr/>
          <a:lstStyle/>
          <a:p>
            <a:endParaRPr lang="es-CL"/>
          </a:p>
        </p:txBody>
      </p:sp>
      <p:sp>
        <p:nvSpPr>
          <p:cNvPr id="7" name="Text 5"/>
          <p:cNvSpPr/>
          <p:nvPr/>
        </p:nvSpPr>
        <p:spPr>
          <a:xfrm>
            <a:off x="1188720" y="2331720"/>
            <a:ext cx="4480560" cy="292608"/>
          </a:xfrm>
          <a:prstGeom prst="rect">
            <a:avLst/>
          </a:prstGeom>
          <a:noFill/>
          <a:ln/>
        </p:spPr>
        <p:txBody>
          <a:bodyPr wrap="square" lIns="0" tIns="0" rIns="0" bIns="0" rtlCol="0" anchor="ctr"/>
          <a:lstStyle/>
          <a:p>
            <a:pPr marL="0" indent="0">
              <a:buNone/>
            </a:pPr>
            <a:r>
              <a:rPr lang="en-US" sz="1200" dirty="0">
                <a:solidFill>
                  <a:srgbClr val="06304A"/>
                </a:solidFill>
                <a:latin typeface="Calibri" pitchFamily="34" charset="0"/>
                <a:ea typeface="Calibri" pitchFamily="34" charset="-122"/>
                <a:cs typeface="Calibri" pitchFamily="34" charset="-120"/>
              </a:rPr>
              <a:t>Problemática, pregunta y objetivos</a:t>
            </a:r>
            <a:endParaRPr lang="en-US" sz="1200" dirty="0"/>
          </a:p>
        </p:txBody>
      </p:sp>
      <p:sp>
        <p:nvSpPr>
          <p:cNvPr id="8" name="Shape 6"/>
          <p:cNvSpPr/>
          <p:nvPr/>
        </p:nvSpPr>
        <p:spPr>
          <a:xfrm>
            <a:off x="896112" y="2715768"/>
            <a:ext cx="164592" cy="164592"/>
          </a:xfrm>
          <a:prstGeom prst="ellipse">
            <a:avLst/>
          </a:prstGeom>
          <a:solidFill>
            <a:srgbClr val="AC212E"/>
          </a:solidFill>
          <a:ln/>
        </p:spPr>
        <p:txBody>
          <a:bodyPr/>
          <a:lstStyle/>
          <a:p>
            <a:endParaRPr lang="es-CL"/>
          </a:p>
        </p:txBody>
      </p:sp>
      <p:sp>
        <p:nvSpPr>
          <p:cNvPr id="9" name="Text 7"/>
          <p:cNvSpPr/>
          <p:nvPr/>
        </p:nvSpPr>
        <p:spPr>
          <a:xfrm>
            <a:off x="1188720" y="2642616"/>
            <a:ext cx="4480560" cy="292608"/>
          </a:xfrm>
          <a:prstGeom prst="rect">
            <a:avLst/>
          </a:prstGeom>
          <a:noFill/>
          <a:ln/>
        </p:spPr>
        <p:txBody>
          <a:bodyPr wrap="square" lIns="0" tIns="0" rIns="0" bIns="0" rtlCol="0" anchor="ctr"/>
          <a:lstStyle/>
          <a:p>
            <a:pPr marL="0" indent="0">
              <a:buNone/>
            </a:pPr>
            <a:r>
              <a:rPr lang="en-US" sz="1200" dirty="0">
                <a:solidFill>
                  <a:srgbClr val="06304A"/>
                </a:solidFill>
                <a:latin typeface="Calibri" pitchFamily="34" charset="0"/>
                <a:ea typeface="Calibri" pitchFamily="34" charset="-122"/>
                <a:cs typeface="Calibri" pitchFamily="34" charset="-120"/>
              </a:rPr>
              <a:t>Integrantes del grupo</a:t>
            </a:r>
            <a:endParaRPr lang="en-US" sz="1200" dirty="0"/>
          </a:p>
        </p:txBody>
      </p:sp>
      <p:sp>
        <p:nvSpPr>
          <p:cNvPr id="10" name="Shape 8"/>
          <p:cNvSpPr/>
          <p:nvPr/>
        </p:nvSpPr>
        <p:spPr>
          <a:xfrm>
            <a:off x="896112" y="3026664"/>
            <a:ext cx="164592" cy="164592"/>
          </a:xfrm>
          <a:prstGeom prst="ellipse">
            <a:avLst/>
          </a:prstGeom>
          <a:solidFill>
            <a:srgbClr val="AC212E"/>
          </a:solidFill>
          <a:ln/>
        </p:spPr>
        <p:txBody>
          <a:bodyPr/>
          <a:lstStyle/>
          <a:p>
            <a:endParaRPr lang="es-CL"/>
          </a:p>
        </p:txBody>
      </p:sp>
      <p:sp>
        <p:nvSpPr>
          <p:cNvPr id="11" name="Text 9"/>
          <p:cNvSpPr/>
          <p:nvPr/>
        </p:nvSpPr>
        <p:spPr>
          <a:xfrm>
            <a:off x="1188720" y="2953512"/>
            <a:ext cx="4480560" cy="292608"/>
          </a:xfrm>
          <a:prstGeom prst="rect">
            <a:avLst/>
          </a:prstGeom>
          <a:noFill/>
          <a:ln/>
        </p:spPr>
        <p:txBody>
          <a:bodyPr wrap="square" lIns="0" tIns="0" rIns="0" bIns="0" rtlCol="0" anchor="ctr"/>
          <a:lstStyle/>
          <a:p>
            <a:pPr marL="0" indent="0">
              <a:buNone/>
            </a:pPr>
            <a:r>
              <a:rPr lang="en-US" sz="1200" dirty="0">
                <a:solidFill>
                  <a:srgbClr val="06304A"/>
                </a:solidFill>
                <a:latin typeface="Calibri" pitchFamily="34" charset="0"/>
                <a:ea typeface="Calibri" pitchFamily="34" charset="-122"/>
                <a:cs typeface="Calibri" pitchFamily="34" charset="-120"/>
              </a:rPr>
              <a:t>Fuente del dataset y cómo descargarlo</a:t>
            </a:r>
            <a:endParaRPr lang="en-US" sz="1200" dirty="0"/>
          </a:p>
        </p:txBody>
      </p:sp>
      <p:sp>
        <p:nvSpPr>
          <p:cNvPr id="12" name="Shape 10"/>
          <p:cNvSpPr/>
          <p:nvPr/>
        </p:nvSpPr>
        <p:spPr>
          <a:xfrm>
            <a:off x="896112" y="3337560"/>
            <a:ext cx="164592" cy="164592"/>
          </a:xfrm>
          <a:prstGeom prst="ellipse">
            <a:avLst/>
          </a:prstGeom>
          <a:solidFill>
            <a:srgbClr val="AC212E"/>
          </a:solidFill>
          <a:ln/>
        </p:spPr>
        <p:txBody>
          <a:bodyPr/>
          <a:lstStyle/>
          <a:p>
            <a:endParaRPr lang="es-CL"/>
          </a:p>
        </p:txBody>
      </p:sp>
      <p:sp>
        <p:nvSpPr>
          <p:cNvPr id="13" name="Text 11"/>
          <p:cNvSpPr/>
          <p:nvPr/>
        </p:nvSpPr>
        <p:spPr>
          <a:xfrm>
            <a:off x="1188720" y="3264408"/>
            <a:ext cx="4480560" cy="292608"/>
          </a:xfrm>
          <a:prstGeom prst="rect">
            <a:avLst/>
          </a:prstGeom>
          <a:noFill/>
          <a:ln/>
        </p:spPr>
        <p:txBody>
          <a:bodyPr wrap="square" lIns="0" tIns="0" rIns="0" bIns="0" rtlCol="0" anchor="ctr"/>
          <a:lstStyle/>
          <a:p>
            <a:pPr marL="0" indent="0">
              <a:buNone/>
            </a:pPr>
            <a:r>
              <a:rPr lang="en-US" sz="1200" dirty="0">
                <a:solidFill>
                  <a:srgbClr val="06304A"/>
                </a:solidFill>
                <a:latin typeface="Calibri" pitchFamily="34" charset="0"/>
                <a:ea typeface="Calibri" pitchFamily="34" charset="-122"/>
                <a:cs typeface="Calibri" pitchFamily="34" charset="-120"/>
              </a:rPr>
              <a:t>Estructura del repositorio</a:t>
            </a:r>
            <a:endParaRPr lang="en-US" sz="1200" dirty="0"/>
          </a:p>
        </p:txBody>
      </p:sp>
      <p:sp>
        <p:nvSpPr>
          <p:cNvPr id="14" name="Shape 12"/>
          <p:cNvSpPr/>
          <p:nvPr/>
        </p:nvSpPr>
        <p:spPr>
          <a:xfrm>
            <a:off x="896112" y="3648456"/>
            <a:ext cx="164592" cy="164592"/>
          </a:xfrm>
          <a:prstGeom prst="ellipse">
            <a:avLst/>
          </a:prstGeom>
          <a:solidFill>
            <a:srgbClr val="AC212E"/>
          </a:solidFill>
          <a:ln/>
        </p:spPr>
        <p:txBody>
          <a:bodyPr/>
          <a:lstStyle/>
          <a:p>
            <a:endParaRPr lang="es-CL"/>
          </a:p>
        </p:txBody>
      </p:sp>
      <p:sp>
        <p:nvSpPr>
          <p:cNvPr id="15" name="Text 13"/>
          <p:cNvSpPr/>
          <p:nvPr/>
        </p:nvSpPr>
        <p:spPr>
          <a:xfrm>
            <a:off x="1188720" y="3575304"/>
            <a:ext cx="4480560" cy="292608"/>
          </a:xfrm>
          <a:prstGeom prst="rect">
            <a:avLst/>
          </a:prstGeom>
          <a:noFill/>
          <a:ln/>
        </p:spPr>
        <p:txBody>
          <a:bodyPr wrap="square" lIns="0" tIns="0" rIns="0" bIns="0" rtlCol="0" anchor="ctr"/>
          <a:lstStyle/>
          <a:p>
            <a:pPr marL="0" indent="0">
              <a:buNone/>
            </a:pPr>
            <a:r>
              <a:rPr lang="en-US" sz="1200" dirty="0">
                <a:solidFill>
                  <a:srgbClr val="06304A"/>
                </a:solidFill>
                <a:latin typeface="Calibri" pitchFamily="34" charset="0"/>
                <a:ea typeface="Calibri" pitchFamily="34" charset="-122"/>
                <a:cs typeface="Calibri" pitchFamily="34" charset="-120"/>
              </a:rPr>
              <a:t>Requisitos y comandos de ejecución</a:t>
            </a:r>
            <a:endParaRPr lang="en-US" sz="1200" dirty="0"/>
          </a:p>
        </p:txBody>
      </p:sp>
      <p:sp>
        <p:nvSpPr>
          <p:cNvPr id="16" name="Shape 14"/>
          <p:cNvSpPr/>
          <p:nvPr/>
        </p:nvSpPr>
        <p:spPr>
          <a:xfrm>
            <a:off x="896112" y="3959352"/>
            <a:ext cx="164592" cy="164592"/>
          </a:xfrm>
          <a:prstGeom prst="ellipse">
            <a:avLst/>
          </a:prstGeom>
          <a:solidFill>
            <a:srgbClr val="AC212E"/>
          </a:solidFill>
          <a:ln/>
        </p:spPr>
        <p:txBody>
          <a:bodyPr/>
          <a:lstStyle/>
          <a:p>
            <a:endParaRPr lang="es-CL"/>
          </a:p>
        </p:txBody>
      </p:sp>
      <p:sp>
        <p:nvSpPr>
          <p:cNvPr id="17" name="Text 15"/>
          <p:cNvSpPr/>
          <p:nvPr/>
        </p:nvSpPr>
        <p:spPr>
          <a:xfrm>
            <a:off x="1188720" y="3886200"/>
            <a:ext cx="4480560" cy="292608"/>
          </a:xfrm>
          <a:prstGeom prst="rect">
            <a:avLst/>
          </a:prstGeom>
          <a:noFill/>
          <a:ln/>
        </p:spPr>
        <p:txBody>
          <a:bodyPr wrap="square" lIns="0" tIns="0" rIns="0" bIns="0" rtlCol="0" anchor="ctr"/>
          <a:lstStyle/>
          <a:p>
            <a:pPr marL="0" indent="0">
              <a:buNone/>
            </a:pPr>
            <a:r>
              <a:rPr lang="en-US" sz="1200" dirty="0">
                <a:solidFill>
                  <a:srgbClr val="06304A"/>
                </a:solidFill>
                <a:latin typeface="Calibri" pitchFamily="34" charset="0"/>
                <a:ea typeface="Calibri" pitchFamily="34" charset="-122"/>
                <a:cs typeface="Calibri" pitchFamily="34" charset="-120"/>
              </a:rPr>
              <a:t>Criterios de reproducibilidad</a:t>
            </a:r>
            <a:endParaRPr lang="en-US" sz="1200" dirty="0"/>
          </a:p>
        </p:txBody>
      </p:sp>
      <p:sp>
        <p:nvSpPr>
          <p:cNvPr id="18" name="Shape 16"/>
          <p:cNvSpPr/>
          <p:nvPr/>
        </p:nvSpPr>
        <p:spPr>
          <a:xfrm>
            <a:off x="896112" y="4270248"/>
            <a:ext cx="164592" cy="164592"/>
          </a:xfrm>
          <a:prstGeom prst="ellipse">
            <a:avLst/>
          </a:prstGeom>
          <a:solidFill>
            <a:srgbClr val="AC212E"/>
          </a:solidFill>
          <a:ln/>
        </p:spPr>
        <p:txBody>
          <a:bodyPr/>
          <a:lstStyle/>
          <a:p>
            <a:endParaRPr lang="es-CL"/>
          </a:p>
        </p:txBody>
      </p:sp>
      <p:sp>
        <p:nvSpPr>
          <p:cNvPr id="19" name="Text 17"/>
          <p:cNvSpPr/>
          <p:nvPr/>
        </p:nvSpPr>
        <p:spPr>
          <a:xfrm>
            <a:off x="1188720" y="4197096"/>
            <a:ext cx="4480560" cy="292608"/>
          </a:xfrm>
          <a:prstGeom prst="rect">
            <a:avLst/>
          </a:prstGeom>
          <a:noFill/>
          <a:ln/>
        </p:spPr>
        <p:txBody>
          <a:bodyPr wrap="square" lIns="0" tIns="0" rIns="0" bIns="0" rtlCol="0" anchor="ctr"/>
          <a:lstStyle/>
          <a:p>
            <a:pPr marL="0" indent="0">
              <a:buNone/>
            </a:pPr>
            <a:r>
              <a:rPr lang="en-US" sz="1200" dirty="0">
                <a:solidFill>
                  <a:srgbClr val="06304A"/>
                </a:solidFill>
                <a:latin typeface="Calibri" pitchFamily="34" charset="0"/>
                <a:ea typeface="Calibri" pitchFamily="34" charset="-122"/>
                <a:cs typeface="Calibri" pitchFamily="34" charset="-120"/>
              </a:rPr>
              <a:t>Convención de commits</a:t>
            </a:r>
            <a:endParaRPr lang="en-US" sz="1200" dirty="0"/>
          </a:p>
        </p:txBody>
      </p:sp>
      <p:sp>
        <p:nvSpPr>
          <p:cNvPr id="20" name="Shape 18"/>
          <p:cNvSpPr/>
          <p:nvPr/>
        </p:nvSpPr>
        <p:spPr>
          <a:xfrm>
            <a:off x="6217920" y="1783080"/>
            <a:ext cx="5394960" cy="2834640"/>
          </a:xfrm>
          <a:prstGeom prst="roundRect">
            <a:avLst>
              <a:gd name="adj" fmla="val 2903"/>
            </a:avLst>
          </a:prstGeom>
          <a:solidFill>
            <a:srgbClr val="0A1526"/>
          </a:solidFill>
          <a:ln w="12700">
            <a:solidFill>
              <a:srgbClr val="0A1526"/>
            </a:solidFill>
            <a:prstDash val="solid"/>
          </a:ln>
        </p:spPr>
        <p:txBody>
          <a:bodyPr/>
          <a:lstStyle/>
          <a:p>
            <a:endParaRPr lang="es-CL"/>
          </a:p>
        </p:txBody>
      </p:sp>
      <p:sp>
        <p:nvSpPr>
          <p:cNvPr id="21" name="Text 19"/>
          <p:cNvSpPr/>
          <p:nvPr/>
        </p:nvSpPr>
        <p:spPr>
          <a:xfrm>
            <a:off x="6537960" y="1938528"/>
            <a:ext cx="4754880" cy="347472"/>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requirements.txt</a:t>
            </a:r>
            <a:endParaRPr lang="en-US" sz="1500" dirty="0"/>
          </a:p>
        </p:txBody>
      </p:sp>
      <p:sp>
        <p:nvSpPr>
          <p:cNvPr id="22" name="Text 20"/>
          <p:cNvSpPr/>
          <p:nvPr/>
        </p:nvSpPr>
        <p:spPr>
          <a:xfrm>
            <a:off x="6537960" y="2331720"/>
            <a:ext cx="4754880" cy="320040"/>
          </a:xfrm>
          <a:prstGeom prst="rect">
            <a:avLst/>
          </a:prstGeom>
          <a:noFill/>
          <a:ln/>
        </p:spPr>
        <p:txBody>
          <a:bodyPr wrap="square" lIns="0" tIns="0" rIns="0" bIns="0" rtlCol="0" anchor="ctr"/>
          <a:lstStyle/>
          <a:p>
            <a:pPr marL="0" indent="0">
              <a:buNone/>
            </a:pPr>
            <a:r>
              <a:rPr lang="en-US" sz="1100" dirty="0">
                <a:solidFill>
                  <a:srgbClr val="D7E3EE"/>
                </a:solidFill>
                <a:latin typeface="Courier New" pitchFamily="34" charset="0"/>
                <a:ea typeface="Courier New" pitchFamily="34" charset="-122"/>
                <a:cs typeface="Courier New" pitchFamily="34" charset="-120"/>
              </a:rPr>
              <a:t>python -m pip freeze &gt; requirements.txt</a:t>
            </a:r>
            <a:endParaRPr lang="en-US" sz="1100" dirty="0"/>
          </a:p>
        </p:txBody>
      </p:sp>
      <p:sp>
        <p:nvSpPr>
          <p:cNvPr id="23" name="Text 21"/>
          <p:cNvSpPr/>
          <p:nvPr/>
        </p:nvSpPr>
        <p:spPr>
          <a:xfrm>
            <a:off x="6537960" y="2788920"/>
            <a:ext cx="4754880" cy="1645920"/>
          </a:xfrm>
          <a:prstGeom prst="rect">
            <a:avLst/>
          </a:prstGeom>
          <a:noFill/>
          <a:ln/>
        </p:spPr>
        <p:txBody>
          <a:bodyPr wrap="square" lIns="0" tIns="0" rIns="0" bIns="0" rtlCol="0" anchor="ctr"/>
          <a:lstStyle/>
          <a:p>
            <a:pPr marL="0" indent="0">
              <a:lnSpc>
                <a:spcPts val="1700"/>
              </a:lnSpc>
              <a:buNone/>
            </a:pPr>
            <a:r>
              <a:rPr lang="en-US" sz="1200" dirty="0">
                <a:solidFill>
                  <a:srgbClr val="FFFFFF"/>
                </a:solidFill>
                <a:latin typeface="Calibri" pitchFamily="34" charset="0"/>
                <a:ea typeface="Calibri" pitchFamily="34" charset="-122"/>
                <a:cs typeface="Calibri" pitchFamily="34" charset="-120"/>
              </a:rPr>
              <a:t>Regenérenlo cada vez que instalen algo nuevo, no solo antes de entregar.</a:t>
            </a:r>
            <a:endParaRPr lang="en-US" sz="1200" dirty="0"/>
          </a:p>
          <a:p>
            <a:pPr marL="0" indent="0">
              <a:lnSpc>
                <a:spcPts val="1700"/>
              </a:lnSpc>
              <a:buNone/>
            </a:pPr>
            <a:endParaRPr lang="en-US" sz="1200" dirty="0"/>
          </a:p>
          <a:p>
            <a:pPr marL="0" indent="0">
              <a:lnSpc>
                <a:spcPts val="1700"/>
              </a:lnSpc>
              <a:buNone/>
            </a:pPr>
            <a:r>
              <a:rPr lang="en-US" sz="1200" dirty="0">
                <a:solidFill>
                  <a:srgbClr val="FFFFFF"/>
                </a:solidFill>
                <a:latin typeface="Calibri" pitchFamily="34" charset="0"/>
                <a:ea typeface="Calibri" pitchFamily="34" charset="-122"/>
                <a:cs typeface="Calibri" pitchFamily="34" charset="-120"/>
              </a:rPr>
              <a:t>Es lo que permite que otra persona reconstruya el entorno exacto:</a:t>
            </a:r>
            <a:endParaRPr lang="en-US" sz="1200" dirty="0"/>
          </a:p>
          <a:p>
            <a:pPr marL="0" indent="0">
              <a:lnSpc>
                <a:spcPts val="1700"/>
              </a:lnSpc>
              <a:buNone/>
            </a:pPr>
            <a:endParaRPr lang="en-US" sz="1200" dirty="0"/>
          </a:p>
          <a:p>
            <a:pPr marL="0" indent="0">
              <a:lnSpc>
                <a:spcPts val="1700"/>
              </a:lnSpc>
              <a:buNone/>
            </a:pPr>
            <a:r>
              <a:rPr lang="en-US" sz="1200" dirty="0">
                <a:solidFill>
                  <a:srgbClr val="FFFFFF"/>
                </a:solidFill>
                <a:latin typeface="Calibri" pitchFamily="34" charset="0"/>
                <a:ea typeface="Calibri" pitchFamily="34" charset="-122"/>
                <a:cs typeface="Calibri" pitchFamily="34" charset="-120"/>
              </a:rPr>
              <a:t>python -m pip install -r requirements.txt</a:t>
            </a:r>
            <a:endParaRPr lang="en-US" sz="1200" dirty="0"/>
          </a:p>
        </p:txBody>
      </p:sp>
      <p:sp>
        <p:nvSpPr>
          <p:cNvPr id="24" name="Shape 22"/>
          <p:cNvSpPr/>
          <p:nvPr/>
        </p:nvSpPr>
        <p:spPr>
          <a:xfrm>
            <a:off x="548640" y="4800600"/>
            <a:ext cx="11064240" cy="1143000"/>
          </a:xfrm>
          <a:prstGeom prst="roundRect">
            <a:avLst>
              <a:gd name="adj" fmla="val 7200"/>
            </a:avLst>
          </a:prstGeom>
          <a:solidFill>
            <a:srgbClr val="F6E7E9"/>
          </a:solidFill>
          <a:ln w="12700">
            <a:solidFill>
              <a:srgbClr val="F6E7E9"/>
            </a:solidFill>
            <a:prstDash val="solid"/>
          </a:ln>
        </p:spPr>
        <p:txBody>
          <a:bodyPr/>
          <a:lstStyle/>
          <a:p>
            <a:endParaRPr lang="es-CL"/>
          </a:p>
        </p:txBody>
      </p:sp>
      <p:sp>
        <p:nvSpPr>
          <p:cNvPr id="25" name="Text 23"/>
          <p:cNvSpPr/>
          <p:nvPr/>
        </p:nvSpPr>
        <p:spPr>
          <a:xfrm>
            <a:off x="868680" y="4956048"/>
            <a:ext cx="10424160" cy="822960"/>
          </a:xfrm>
          <a:prstGeom prst="rect">
            <a:avLst/>
          </a:prstGeom>
          <a:noFill/>
          <a:ln/>
        </p:spPr>
        <p:txBody>
          <a:bodyPr wrap="square" lIns="0" tIns="0" rIns="0" bIns="0" rtlCol="0" anchor="ctr"/>
          <a:lstStyle/>
          <a:p>
            <a:pPr marL="0" indent="0">
              <a:lnSpc>
                <a:spcPts val="1900"/>
              </a:lnSpc>
              <a:buNone/>
            </a:pPr>
            <a:r>
              <a:rPr lang="en-US" sz="1400" dirty="0">
                <a:solidFill>
                  <a:srgbClr val="AC212E"/>
                </a:solidFill>
                <a:latin typeface="Calibri" pitchFamily="34" charset="0"/>
                <a:ea typeface="Calibri" pitchFamily="34" charset="-122"/>
                <a:cs typeface="Calibri" pitchFamily="34" charset="-120"/>
              </a:rPr>
              <a:t>Truco que ahorra trabajo: generen el README desde el notebook, a partir de la configuración del proyecto. Así la documentación no puede desactualizarse respecto del código, y actualizar un dato lo actualiza en todas partes.</a:t>
            </a:r>
            <a:endParaRPr lang="en-US" sz="14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Paso 6 · Explorar antes de tocar nada</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Medir primero. Todas las decisiones posteriores se justifican con estas cifras.</a:t>
            </a:r>
            <a:endParaRPr lang="en-US" sz="1400" dirty="0"/>
          </a:p>
        </p:txBody>
      </p:sp>
      <p:sp>
        <p:nvSpPr>
          <p:cNvPr id="4" name="Shape 2"/>
          <p:cNvSpPr/>
          <p:nvPr/>
        </p:nvSpPr>
        <p:spPr>
          <a:xfrm>
            <a:off x="548640" y="1783080"/>
            <a:ext cx="5303520" cy="1051560"/>
          </a:xfrm>
          <a:prstGeom prst="roundRect">
            <a:avLst>
              <a:gd name="adj" fmla="val 7826"/>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804672" y="2084832"/>
            <a:ext cx="402336" cy="402336"/>
          </a:xfrm>
          <a:prstGeom prst="ellipse">
            <a:avLst/>
          </a:prstGeom>
          <a:solidFill>
            <a:srgbClr val="06304A"/>
          </a:solidFill>
          <a:ln/>
        </p:spPr>
        <p:txBody>
          <a:bodyPr/>
          <a:lstStyle/>
          <a:p>
            <a:endParaRPr lang="es-CL"/>
          </a:p>
        </p:txBody>
      </p:sp>
      <p:sp>
        <p:nvSpPr>
          <p:cNvPr id="6" name="Text 4"/>
          <p:cNvSpPr/>
          <p:nvPr/>
        </p:nvSpPr>
        <p:spPr>
          <a:xfrm>
            <a:off x="804672" y="208483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53312" y="1892808"/>
            <a:ext cx="4297680" cy="320040"/>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Dimensiones y tipos</a:t>
            </a:r>
            <a:endParaRPr lang="en-US" sz="1400" dirty="0"/>
          </a:p>
        </p:txBody>
      </p:sp>
      <p:sp>
        <p:nvSpPr>
          <p:cNvPr id="8" name="Text 6"/>
          <p:cNvSpPr/>
          <p:nvPr/>
        </p:nvSpPr>
        <p:spPr>
          <a:xfrm>
            <a:off x="1353312" y="2221992"/>
            <a:ext cx="4343400" cy="50292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Cuántas filas y columnas, y de qué tipo es cada una.</a:t>
            </a:r>
            <a:endParaRPr lang="en-US" sz="1200" dirty="0"/>
          </a:p>
        </p:txBody>
      </p:sp>
      <p:sp>
        <p:nvSpPr>
          <p:cNvPr id="9" name="Shape 7"/>
          <p:cNvSpPr/>
          <p:nvPr/>
        </p:nvSpPr>
        <p:spPr>
          <a:xfrm>
            <a:off x="6309360" y="1783080"/>
            <a:ext cx="5303520" cy="1051560"/>
          </a:xfrm>
          <a:prstGeom prst="roundRect">
            <a:avLst>
              <a:gd name="adj" fmla="val 7826"/>
            </a:avLst>
          </a:prstGeom>
          <a:solidFill>
            <a:srgbClr val="F4F7FA"/>
          </a:solidFill>
          <a:ln w="12700">
            <a:solidFill>
              <a:srgbClr val="F4F7FA"/>
            </a:solidFill>
            <a:prstDash val="solid"/>
          </a:ln>
        </p:spPr>
        <p:txBody>
          <a:bodyPr/>
          <a:lstStyle/>
          <a:p>
            <a:endParaRPr lang="es-CL"/>
          </a:p>
        </p:txBody>
      </p:sp>
      <p:sp>
        <p:nvSpPr>
          <p:cNvPr id="10" name="Shape 8"/>
          <p:cNvSpPr/>
          <p:nvPr/>
        </p:nvSpPr>
        <p:spPr>
          <a:xfrm>
            <a:off x="6565392" y="2084832"/>
            <a:ext cx="402336" cy="402336"/>
          </a:xfrm>
          <a:prstGeom prst="ellipse">
            <a:avLst/>
          </a:prstGeom>
          <a:solidFill>
            <a:srgbClr val="06304A"/>
          </a:solidFill>
          <a:ln/>
        </p:spPr>
        <p:txBody>
          <a:bodyPr/>
          <a:lstStyle/>
          <a:p>
            <a:endParaRPr lang="es-CL"/>
          </a:p>
        </p:txBody>
      </p:sp>
      <p:sp>
        <p:nvSpPr>
          <p:cNvPr id="11" name="Text 9"/>
          <p:cNvSpPr/>
          <p:nvPr/>
        </p:nvSpPr>
        <p:spPr>
          <a:xfrm>
            <a:off x="6565392" y="208483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7114032" y="1892808"/>
            <a:ext cx="4297680" cy="320040"/>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Valores faltantes</a:t>
            </a:r>
            <a:endParaRPr lang="en-US" sz="1400" dirty="0"/>
          </a:p>
        </p:txBody>
      </p:sp>
      <p:sp>
        <p:nvSpPr>
          <p:cNvPr id="13" name="Text 11"/>
          <p:cNvSpPr/>
          <p:nvPr/>
        </p:nvSpPr>
        <p:spPr>
          <a:xfrm>
            <a:off x="7114032" y="2221992"/>
            <a:ext cx="4343400" cy="50292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Cuántos, en qué variables y en qué proporción.</a:t>
            </a:r>
            <a:endParaRPr lang="en-US" sz="1200" dirty="0"/>
          </a:p>
        </p:txBody>
      </p:sp>
      <p:sp>
        <p:nvSpPr>
          <p:cNvPr id="14" name="Shape 12"/>
          <p:cNvSpPr/>
          <p:nvPr/>
        </p:nvSpPr>
        <p:spPr>
          <a:xfrm>
            <a:off x="548640" y="3017520"/>
            <a:ext cx="5303520" cy="1051560"/>
          </a:xfrm>
          <a:prstGeom prst="roundRect">
            <a:avLst>
              <a:gd name="adj" fmla="val 7826"/>
            </a:avLst>
          </a:prstGeom>
          <a:solidFill>
            <a:srgbClr val="F4F7FA"/>
          </a:solidFill>
          <a:ln w="12700">
            <a:solidFill>
              <a:srgbClr val="F4F7FA"/>
            </a:solidFill>
            <a:prstDash val="solid"/>
          </a:ln>
        </p:spPr>
        <p:txBody>
          <a:bodyPr/>
          <a:lstStyle/>
          <a:p>
            <a:endParaRPr lang="es-CL"/>
          </a:p>
        </p:txBody>
      </p:sp>
      <p:sp>
        <p:nvSpPr>
          <p:cNvPr id="15" name="Shape 13"/>
          <p:cNvSpPr/>
          <p:nvPr/>
        </p:nvSpPr>
        <p:spPr>
          <a:xfrm>
            <a:off x="804672" y="3319272"/>
            <a:ext cx="402336" cy="402336"/>
          </a:xfrm>
          <a:prstGeom prst="ellipse">
            <a:avLst/>
          </a:prstGeom>
          <a:solidFill>
            <a:srgbClr val="06304A"/>
          </a:solidFill>
          <a:ln/>
        </p:spPr>
        <p:txBody>
          <a:bodyPr/>
          <a:lstStyle/>
          <a:p>
            <a:endParaRPr lang="es-CL"/>
          </a:p>
        </p:txBody>
      </p:sp>
      <p:sp>
        <p:nvSpPr>
          <p:cNvPr id="16" name="Text 14"/>
          <p:cNvSpPr/>
          <p:nvPr/>
        </p:nvSpPr>
        <p:spPr>
          <a:xfrm>
            <a:off x="804672" y="331927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353312" y="3127248"/>
            <a:ext cx="4297680" cy="320040"/>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Categorías observadas</a:t>
            </a:r>
            <a:endParaRPr lang="en-US" sz="1400" dirty="0"/>
          </a:p>
        </p:txBody>
      </p:sp>
      <p:sp>
        <p:nvSpPr>
          <p:cNvPr id="18" name="Text 16"/>
          <p:cNvSpPr/>
          <p:nvPr/>
        </p:nvSpPr>
        <p:spPr>
          <a:xfrm>
            <a:off x="1353312" y="3456432"/>
            <a:ext cx="4343400" cy="50292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Detecta la misma categoría escrita de dos maneras.</a:t>
            </a:r>
            <a:endParaRPr lang="en-US" sz="1200" dirty="0"/>
          </a:p>
        </p:txBody>
      </p:sp>
      <p:sp>
        <p:nvSpPr>
          <p:cNvPr id="19" name="Shape 17"/>
          <p:cNvSpPr/>
          <p:nvPr/>
        </p:nvSpPr>
        <p:spPr>
          <a:xfrm>
            <a:off x="6309360" y="3017520"/>
            <a:ext cx="5303520" cy="1051560"/>
          </a:xfrm>
          <a:prstGeom prst="roundRect">
            <a:avLst>
              <a:gd name="adj" fmla="val 7826"/>
            </a:avLst>
          </a:prstGeom>
          <a:solidFill>
            <a:srgbClr val="F4F7FA"/>
          </a:solidFill>
          <a:ln w="12700">
            <a:solidFill>
              <a:srgbClr val="F4F7FA"/>
            </a:solidFill>
            <a:prstDash val="solid"/>
          </a:ln>
        </p:spPr>
        <p:txBody>
          <a:bodyPr/>
          <a:lstStyle/>
          <a:p>
            <a:endParaRPr lang="es-CL"/>
          </a:p>
        </p:txBody>
      </p:sp>
      <p:sp>
        <p:nvSpPr>
          <p:cNvPr id="20" name="Shape 18"/>
          <p:cNvSpPr/>
          <p:nvPr/>
        </p:nvSpPr>
        <p:spPr>
          <a:xfrm>
            <a:off x="6565392" y="3319272"/>
            <a:ext cx="402336" cy="402336"/>
          </a:xfrm>
          <a:prstGeom prst="ellipse">
            <a:avLst/>
          </a:prstGeom>
          <a:solidFill>
            <a:srgbClr val="06304A"/>
          </a:solidFill>
          <a:ln/>
        </p:spPr>
        <p:txBody>
          <a:bodyPr/>
          <a:lstStyle/>
          <a:p>
            <a:endParaRPr lang="es-CL"/>
          </a:p>
        </p:txBody>
      </p:sp>
      <p:sp>
        <p:nvSpPr>
          <p:cNvPr id="21" name="Text 19"/>
          <p:cNvSpPr/>
          <p:nvPr/>
        </p:nvSpPr>
        <p:spPr>
          <a:xfrm>
            <a:off x="6565392" y="331927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7114032" y="3127248"/>
            <a:ext cx="4297680" cy="320040"/>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Valores atípicos</a:t>
            </a:r>
            <a:endParaRPr lang="en-US" sz="1400" dirty="0"/>
          </a:p>
        </p:txBody>
      </p:sp>
      <p:sp>
        <p:nvSpPr>
          <p:cNvPr id="23" name="Text 21"/>
          <p:cNvSpPr/>
          <p:nvPr/>
        </p:nvSpPr>
        <p:spPr>
          <a:xfrm>
            <a:off x="7114032" y="3456432"/>
            <a:ext cx="4343400" cy="50292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Con el rango intercuartílico. Es lo que justifica imputar con mediana.</a:t>
            </a:r>
            <a:endParaRPr lang="en-US" sz="1200" dirty="0"/>
          </a:p>
        </p:txBody>
      </p:sp>
      <p:sp>
        <p:nvSpPr>
          <p:cNvPr id="24" name="Shape 22"/>
          <p:cNvSpPr/>
          <p:nvPr/>
        </p:nvSpPr>
        <p:spPr>
          <a:xfrm>
            <a:off x="548640" y="4343400"/>
            <a:ext cx="11064240" cy="1600200"/>
          </a:xfrm>
          <a:prstGeom prst="roundRect">
            <a:avLst>
              <a:gd name="adj" fmla="val 5143"/>
            </a:avLst>
          </a:prstGeom>
          <a:solidFill>
            <a:srgbClr val="0A1526"/>
          </a:solidFill>
          <a:ln w="12700">
            <a:solidFill>
              <a:srgbClr val="0A1526"/>
            </a:solidFill>
            <a:prstDash val="solid"/>
          </a:ln>
        </p:spPr>
        <p:txBody>
          <a:bodyPr/>
          <a:lstStyle/>
          <a:p>
            <a:endParaRPr lang="es-CL"/>
          </a:p>
        </p:txBody>
      </p:sp>
      <p:sp>
        <p:nvSpPr>
          <p:cNvPr id="25" name="Text 23"/>
          <p:cNvSpPr/>
          <p:nvPr/>
        </p:nvSpPr>
        <p:spPr>
          <a:xfrm>
            <a:off x="868680" y="4498848"/>
            <a:ext cx="5486400" cy="347472"/>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La regla de oro del preprocesamiento</a:t>
            </a:r>
            <a:endParaRPr lang="en-US" sz="1500" dirty="0"/>
          </a:p>
        </p:txBody>
      </p:sp>
      <p:sp>
        <p:nvSpPr>
          <p:cNvPr id="26" name="Text 24"/>
          <p:cNvSpPr/>
          <p:nvPr/>
        </p:nvSpPr>
        <p:spPr>
          <a:xfrm>
            <a:off x="868680" y="4864608"/>
            <a:ext cx="10424160" cy="868680"/>
          </a:xfrm>
          <a:prstGeom prst="rect">
            <a:avLst/>
          </a:prstGeom>
          <a:noFill/>
          <a:ln/>
        </p:spPr>
        <p:txBody>
          <a:bodyPr wrap="square" lIns="0" tIns="0" rIns="0" bIns="0" rtlCol="0" anchor="ctr"/>
          <a:lstStyle/>
          <a:p>
            <a:pPr marL="0" indent="0">
              <a:lnSpc>
                <a:spcPts val="1900"/>
              </a:lnSpc>
              <a:buNone/>
            </a:pPr>
            <a:r>
              <a:rPr lang="en-US" sz="1400" dirty="0">
                <a:solidFill>
                  <a:srgbClr val="FFFFFF"/>
                </a:solidFill>
                <a:latin typeface="Calibri" pitchFamily="34" charset="0"/>
                <a:ea typeface="Calibri" pitchFamily="34" charset="-122"/>
                <a:cs typeface="Calibri" pitchFamily="34" charset="-120"/>
              </a:rPr>
              <a:t>No apliquen una técnica porque es la habitual: apliquen la que las cifras justifican. Si van a imputar con la mediana «porque hay valores extremos», la tabla de atípicos tiene que mostrarlos. Afirmar sin evidencia es la incoherencia que más penaliza la rúbrica.</a:t>
            </a:r>
            <a:endParaRPr lang="en-US" sz="14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Paso 7 · Limpieza: comparar antes de imputar</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No hay un método universalmente mejor. Se comparan, se leen las cifras y se justifica.</a:t>
            </a:r>
            <a:endParaRPr lang="en-US" sz="1400" dirty="0"/>
          </a:p>
        </p:txBody>
      </p:sp>
      <p:graphicFrame>
        <p:nvGraphicFramePr>
          <p:cNvPr id="10" name="Table 0"/>
          <p:cNvGraphicFramePr>
            <a:graphicFrameLocks noGrp="1"/>
          </p:cNvGraphicFramePr>
          <p:nvPr/>
        </p:nvGraphicFramePr>
        <p:xfrm>
          <a:off x="548640" y="1737360"/>
          <a:ext cx="11064240" cy="2651760"/>
        </p:xfrm>
        <a:graphic>
          <a:graphicData uri="http://schemas.openxmlformats.org/drawingml/2006/table">
            <a:tbl>
              <a:tblPr/>
              <a:tblGrid>
                <a:gridCol w="26517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530352">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Método</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Cuándo conviene</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Qué distorsiona</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extLst>
                  <a:ext uri="{0D108BD9-81ED-4DB2-BD59-A6C34878D82A}">
                    <a16:rowId xmlns:a16="http://schemas.microsoft.com/office/drawing/2014/main" val="10000"/>
                  </a:ext>
                </a:extLst>
              </a:tr>
              <a:tr h="530352">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Eliminar filas</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Faltantes escasos y aparentemente aleatorios</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Pierde muestra; sesga si no son aleatorios</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Media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Distribución aproximadamente simétrica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La arrastran los extremos; reduce la dispersión</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0352">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Mediana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Hay valores extremos o asimetría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Reduce la dispersión; ignora las demás variables</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Mediana por grupo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El valor depende de otra variable observada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Reduce la dispersión dentro de cada grupo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2"/>
          <p:cNvSpPr/>
          <p:nvPr/>
        </p:nvSpPr>
        <p:spPr>
          <a:xfrm>
            <a:off x="548640" y="4480560"/>
            <a:ext cx="5394960" cy="1463040"/>
          </a:xfrm>
          <a:prstGeom prst="roundRect">
            <a:avLst>
              <a:gd name="adj" fmla="val 5625"/>
            </a:avLst>
          </a:prstGeom>
          <a:solidFill>
            <a:srgbClr val="F6E7E9"/>
          </a:solidFill>
          <a:ln w="12700">
            <a:solidFill>
              <a:srgbClr val="F6E7E9"/>
            </a:solidFill>
            <a:prstDash val="solid"/>
          </a:ln>
        </p:spPr>
        <p:txBody>
          <a:bodyPr/>
          <a:lstStyle/>
          <a:p>
            <a:endParaRPr lang="es-CL"/>
          </a:p>
        </p:txBody>
      </p:sp>
      <p:sp>
        <p:nvSpPr>
          <p:cNvPr id="6" name="Text 3"/>
          <p:cNvSpPr/>
          <p:nvPr/>
        </p:nvSpPr>
        <p:spPr>
          <a:xfrm>
            <a:off x="868680" y="4617720"/>
            <a:ext cx="475488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Qué mirar en la comparación</a:t>
            </a:r>
            <a:endParaRPr lang="en-US" sz="1400" dirty="0"/>
          </a:p>
        </p:txBody>
      </p:sp>
      <p:sp>
        <p:nvSpPr>
          <p:cNvPr id="7" name="Text 4"/>
          <p:cNvSpPr/>
          <p:nvPr/>
        </p:nvSpPr>
        <p:spPr>
          <a:xfrm>
            <a:off x="868680" y="4956048"/>
            <a:ext cx="4754880" cy="868680"/>
          </a:xfrm>
          <a:prstGeom prst="rect">
            <a:avLst/>
          </a:prstGeom>
          <a:noFill/>
          <a:ln/>
        </p:spPr>
        <p:txBody>
          <a:bodyPr wrap="square" lIns="0" tIns="0" rIns="0" bIns="0" rtlCol="0" anchor="ctr"/>
          <a:lstStyle/>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El cambio porcentual en la desviación estándar. Toda imputación reduce la variabilidad: el mejor método es el que menos la deforma.</a:t>
            </a:r>
            <a:endParaRPr lang="en-US" sz="1250" dirty="0"/>
          </a:p>
        </p:txBody>
      </p:sp>
      <p:sp>
        <p:nvSpPr>
          <p:cNvPr id="8" name="Shape 5"/>
          <p:cNvSpPr/>
          <p:nvPr/>
        </p:nvSpPr>
        <p:spPr>
          <a:xfrm>
            <a:off x="6217920" y="4480560"/>
            <a:ext cx="5394960" cy="1463040"/>
          </a:xfrm>
          <a:prstGeom prst="roundRect">
            <a:avLst>
              <a:gd name="adj" fmla="val 5625"/>
            </a:avLst>
          </a:prstGeom>
          <a:solidFill>
            <a:srgbClr val="F4F7FA"/>
          </a:solidFill>
          <a:ln w="12700">
            <a:solidFill>
              <a:srgbClr val="F4F7FA"/>
            </a:solidFill>
            <a:prstDash val="solid"/>
          </a:ln>
        </p:spPr>
        <p:txBody>
          <a:bodyPr/>
          <a:lstStyle/>
          <a:p>
            <a:endParaRPr lang="es-CL"/>
          </a:p>
        </p:txBody>
      </p:sp>
      <p:sp>
        <p:nvSpPr>
          <p:cNvPr id="9" name="Text 6"/>
          <p:cNvSpPr/>
          <p:nvPr/>
        </p:nvSpPr>
        <p:spPr>
          <a:xfrm>
            <a:off x="6537960" y="4617720"/>
            <a:ext cx="475488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Dos cosas que no pueden faltar</a:t>
            </a:r>
            <a:endParaRPr lang="en-US" sz="1400" dirty="0"/>
          </a:p>
        </p:txBody>
      </p:sp>
      <p:sp>
        <p:nvSpPr>
          <p:cNvPr id="4" name="Text 7"/>
          <p:cNvSpPr/>
          <p:nvPr/>
        </p:nvSpPr>
        <p:spPr>
          <a:xfrm>
            <a:off x="6537960" y="4956048"/>
            <a:ext cx="4754880" cy="868680"/>
          </a:xfrm>
          <a:prstGeom prst="rect">
            <a:avLst/>
          </a:prstGeom>
          <a:noFill/>
          <a:ln/>
        </p:spPr>
        <p:txBody>
          <a:bodyPr wrap="square" lIns="0" tIns="0" rIns="0" bIns="0" rtlCol="0" anchor="ctr"/>
          <a:lstStyle/>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Una bandera que registre qué filas fueron imputadas, y el reporte del efecto sobre la dispersión para el informe.</a:t>
            </a:r>
            <a:endParaRPr lang="en-US" sz="12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Paso 8 · Transformación por tipo de variable</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Cada rol analítico exige un tratamiento distinto. Aplicar el mismo a todo es un error de fondo.</a:t>
            </a:r>
            <a:endParaRPr lang="en-US" sz="1400" dirty="0"/>
          </a:p>
        </p:txBody>
      </p:sp>
      <p:sp>
        <p:nvSpPr>
          <p:cNvPr id="4" name="Shape 2"/>
          <p:cNvSpPr/>
          <p:nvPr/>
        </p:nvSpPr>
        <p:spPr>
          <a:xfrm>
            <a:off x="548640" y="1783080"/>
            <a:ext cx="3520440" cy="2651760"/>
          </a:xfrm>
          <a:prstGeom prst="roundRect">
            <a:avLst>
              <a:gd name="adj" fmla="val 3103"/>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04672" y="1938528"/>
            <a:ext cx="3017520" cy="384048"/>
          </a:xfrm>
          <a:prstGeom prst="rect">
            <a:avLst/>
          </a:prstGeom>
          <a:noFill/>
          <a:ln/>
        </p:spPr>
        <p:txBody>
          <a:bodyPr wrap="square" lIns="0" tIns="0" rIns="0" bIns="0" rtlCol="0" anchor="ctr"/>
          <a:lstStyle/>
          <a:p>
            <a:pPr marL="0" indent="0">
              <a:buNone/>
            </a:pPr>
            <a:r>
              <a:rPr lang="en-US" sz="2000" b="1" dirty="0">
                <a:solidFill>
                  <a:srgbClr val="06304A"/>
                </a:solidFill>
                <a:latin typeface="Cambria" pitchFamily="34" charset="0"/>
                <a:ea typeface="Cambria" pitchFamily="34" charset="-122"/>
                <a:cs typeface="Cambria" pitchFamily="34" charset="-120"/>
              </a:rPr>
              <a:t>Nominal</a:t>
            </a:r>
            <a:endParaRPr lang="en-US" sz="2000" dirty="0"/>
          </a:p>
        </p:txBody>
      </p:sp>
      <p:sp>
        <p:nvSpPr>
          <p:cNvPr id="6" name="Text 4"/>
          <p:cNvSpPr/>
          <p:nvPr/>
        </p:nvSpPr>
        <p:spPr>
          <a:xfrm>
            <a:off x="804672" y="2331720"/>
            <a:ext cx="3017520" cy="274320"/>
          </a:xfrm>
          <a:prstGeom prst="rect">
            <a:avLst/>
          </a:prstGeom>
          <a:noFill/>
          <a:ln/>
        </p:spPr>
        <p:txBody>
          <a:bodyPr wrap="square" lIns="0" tIns="0" rIns="0" bIns="0" rtlCol="0" anchor="ctr"/>
          <a:lstStyle/>
          <a:p>
            <a:pPr marL="0" indent="0">
              <a:buNone/>
            </a:pPr>
            <a:r>
              <a:rPr lang="en-US" sz="1200" i="1" dirty="0">
                <a:solidFill>
                  <a:srgbClr val="AC212E"/>
                </a:solidFill>
                <a:latin typeface="Calibri" pitchFamily="34" charset="0"/>
                <a:ea typeface="Calibri" pitchFamily="34" charset="-122"/>
                <a:cs typeface="Calibri" pitchFamily="34" charset="-120"/>
              </a:rPr>
              <a:t>Sin orden natural</a:t>
            </a:r>
            <a:endParaRPr lang="en-US" sz="1200" dirty="0"/>
          </a:p>
        </p:txBody>
      </p:sp>
      <p:sp>
        <p:nvSpPr>
          <p:cNvPr id="7" name="Text 5"/>
          <p:cNvSpPr/>
          <p:nvPr/>
        </p:nvSpPr>
        <p:spPr>
          <a:xfrm>
            <a:off x="804672" y="2697480"/>
            <a:ext cx="3017520" cy="1005840"/>
          </a:xfrm>
          <a:prstGeom prst="rect">
            <a:avLst/>
          </a:prstGeom>
          <a:noFill/>
          <a:ln/>
        </p:spPr>
        <p:txBody>
          <a:bodyPr wrap="square" lIns="0" tIns="0" rIns="0" bIns="0" rtlCol="0" anchor="ctr"/>
          <a:lstStyle/>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One-hot encoding: una columna binaria por categoría</a:t>
            </a:r>
            <a:endParaRPr lang="en-US" sz="1250" dirty="0"/>
          </a:p>
        </p:txBody>
      </p:sp>
      <p:sp>
        <p:nvSpPr>
          <p:cNvPr id="8" name="Text 6"/>
          <p:cNvSpPr/>
          <p:nvPr/>
        </p:nvSpPr>
        <p:spPr>
          <a:xfrm>
            <a:off x="804672" y="3794760"/>
            <a:ext cx="3017520" cy="365760"/>
          </a:xfrm>
          <a:prstGeom prst="rect">
            <a:avLst/>
          </a:prstGeom>
          <a:noFill/>
          <a:ln/>
        </p:spPr>
        <p:txBody>
          <a:bodyPr wrap="square" lIns="0" tIns="0" rIns="0" bIns="0" rtlCol="0" anchor="ctr"/>
          <a:lstStyle/>
          <a:p>
            <a:pPr marL="0" indent="0">
              <a:buNone/>
            </a:pPr>
            <a:r>
              <a:rPr lang="en-US" sz="1150" dirty="0">
                <a:solidFill>
                  <a:srgbClr val="5A6B7B"/>
                </a:solidFill>
                <a:latin typeface="Calibri" pitchFamily="34" charset="0"/>
                <a:ea typeface="Calibri" pitchFamily="34" charset="-122"/>
                <a:cs typeface="Calibri" pitchFamily="34" charset="-120"/>
              </a:rPr>
              <a:t>Ejemplo: gender, work_type</a:t>
            </a:r>
            <a:endParaRPr lang="en-US" sz="1150" dirty="0"/>
          </a:p>
        </p:txBody>
      </p:sp>
      <p:sp>
        <p:nvSpPr>
          <p:cNvPr id="9" name="Shape 7"/>
          <p:cNvSpPr/>
          <p:nvPr/>
        </p:nvSpPr>
        <p:spPr>
          <a:xfrm>
            <a:off x="4325112" y="1783080"/>
            <a:ext cx="3520440" cy="2651760"/>
          </a:xfrm>
          <a:prstGeom prst="roundRect">
            <a:avLst>
              <a:gd name="adj" fmla="val 3103"/>
            </a:avLst>
          </a:prstGeom>
          <a:solidFill>
            <a:srgbClr val="F6E7E9"/>
          </a:solidFill>
          <a:ln w="12700">
            <a:solidFill>
              <a:srgbClr val="F6E7E9"/>
            </a:solidFill>
            <a:prstDash val="solid"/>
          </a:ln>
        </p:spPr>
        <p:txBody>
          <a:bodyPr/>
          <a:lstStyle/>
          <a:p>
            <a:endParaRPr lang="es-CL"/>
          </a:p>
        </p:txBody>
      </p:sp>
      <p:sp>
        <p:nvSpPr>
          <p:cNvPr id="10" name="Text 8"/>
          <p:cNvSpPr/>
          <p:nvPr/>
        </p:nvSpPr>
        <p:spPr>
          <a:xfrm>
            <a:off x="4581144" y="1938528"/>
            <a:ext cx="3017520" cy="384048"/>
          </a:xfrm>
          <a:prstGeom prst="rect">
            <a:avLst/>
          </a:prstGeom>
          <a:noFill/>
          <a:ln/>
        </p:spPr>
        <p:txBody>
          <a:bodyPr wrap="square" lIns="0" tIns="0" rIns="0" bIns="0" rtlCol="0" anchor="ctr"/>
          <a:lstStyle/>
          <a:p>
            <a:pPr marL="0" indent="0">
              <a:buNone/>
            </a:pPr>
            <a:r>
              <a:rPr lang="en-US" sz="2000" b="1" dirty="0">
                <a:solidFill>
                  <a:srgbClr val="06304A"/>
                </a:solidFill>
                <a:latin typeface="Cambria" pitchFamily="34" charset="0"/>
                <a:ea typeface="Cambria" pitchFamily="34" charset="-122"/>
                <a:cs typeface="Cambria" pitchFamily="34" charset="-120"/>
              </a:rPr>
              <a:t>Ordinal</a:t>
            </a:r>
            <a:endParaRPr lang="en-US" sz="2000" dirty="0"/>
          </a:p>
        </p:txBody>
      </p:sp>
      <p:sp>
        <p:nvSpPr>
          <p:cNvPr id="11" name="Text 9"/>
          <p:cNvSpPr/>
          <p:nvPr/>
        </p:nvSpPr>
        <p:spPr>
          <a:xfrm>
            <a:off x="4581144" y="2331720"/>
            <a:ext cx="3017520" cy="274320"/>
          </a:xfrm>
          <a:prstGeom prst="rect">
            <a:avLst/>
          </a:prstGeom>
          <a:noFill/>
          <a:ln/>
        </p:spPr>
        <p:txBody>
          <a:bodyPr wrap="square" lIns="0" tIns="0" rIns="0" bIns="0" rtlCol="0" anchor="ctr"/>
          <a:lstStyle/>
          <a:p>
            <a:pPr marL="0" indent="0">
              <a:buNone/>
            </a:pPr>
            <a:r>
              <a:rPr lang="en-US" sz="1200" i="1" dirty="0">
                <a:solidFill>
                  <a:srgbClr val="AC212E"/>
                </a:solidFill>
                <a:latin typeface="Calibri" pitchFamily="34" charset="0"/>
                <a:ea typeface="Calibri" pitchFamily="34" charset="-122"/>
                <a:cs typeface="Calibri" pitchFamily="34" charset="-120"/>
              </a:rPr>
              <a:t>Con orden natural</a:t>
            </a:r>
            <a:endParaRPr lang="en-US" sz="1200" dirty="0"/>
          </a:p>
        </p:txBody>
      </p:sp>
      <p:sp>
        <p:nvSpPr>
          <p:cNvPr id="12" name="Text 10"/>
          <p:cNvSpPr/>
          <p:nvPr/>
        </p:nvSpPr>
        <p:spPr>
          <a:xfrm>
            <a:off x="4581144" y="2697480"/>
            <a:ext cx="3017520" cy="1005840"/>
          </a:xfrm>
          <a:prstGeom prst="rect">
            <a:avLst/>
          </a:prstGeom>
          <a:noFill/>
          <a:ln/>
        </p:spPr>
        <p:txBody>
          <a:bodyPr wrap="square" lIns="0" tIns="0" rIns="0" bIns="0" rtlCol="0" anchor="ctr"/>
          <a:lstStyle/>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Codificación con el orden declarado explícitamente por el grupo</a:t>
            </a:r>
            <a:endParaRPr lang="en-US" sz="1250" dirty="0"/>
          </a:p>
        </p:txBody>
      </p:sp>
      <p:sp>
        <p:nvSpPr>
          <p:cNvPr id="13" name="Text 11"/>
          <p:cNvSpPr/>
          <p:nvPr/>
        </p:nvSpPr>
        <p:spPr>
          <a:xfrm>
            <a:off x="4581144" y="3794760"/>
            <a:ext cx="3017520" cy="365760"/>
          </a:xfrm>
          <a:prstGeom prst="rect">
            <a:avLst/>
          </a:prstGeom>
          <a:noFill/>
          <a:ln/>
        </p:spPr>
        <p:txBody>
          <a:bodyPr wrap="square" lIns="0" tIns="0" rIns="0" bIns="0" rtlCol="0" anchor="ctr"/>
          <a:lstStyle/>
          <a:p>
            <a:pPr marL="0" indent="0">
              <a:buNone/>
            </a:pPr>
            <a:r>
              <a:rPr lang="en-US" sz="1150" dirty="0">
                <a:solidFill>
                  <a:srgbClr val="5A6B7B"/>
                </a:solidFill>
                <a:latin typeface="Calibri" pitchFamily="34" charset="0"/>
                <a:ea typeface="Calibri" pitchFamily="34" charset="-122"/>
                <a:cs typeface="Calibri" pitchFamily="34" charset="-120"/>
              </a:rPr>
              <a:t>Ejemplo: nivel de riesgo</a:t>
            </a:r>
            <a:endParaRPr lang="en-US" sz="1150" dirty="0"/>
          </a:p>
        </p:txBody>
      </p:sp>
      <p:sp>
        <p:nvSpPr>
          <p:cNvPr id="14" name="Shape 12"/>
          <p:cNvSpPr/>
          <p:nvPr/>
        </p:nvSpPr>
        <p:spPr>
          <a:xfrm>
            <a:off x="8101584" y="1783080"/>
            <a:ext cx="3520440" cy="2651760"/>
          </a:xfrm>
          <a:prstGeom prst="roundRect">
            <a:avLst>
              <a:gd name="adj" fmla="val 3103"/>
            </a:avLst>
          </a:prstGeom>
          <a:solidFill>
            <a:srgbClr val="F4F7FA"/>
          </a:solidFill>
          <a:ln w="12700">
            <a:solidFill>
              <a:srgbClr val="F4F7FA"/>
            </a:solidFill>
            <a:prstDash val="solid"/>
          </a:ln>
        </p:spPr>
        <p:txBody>
          <a:bodyPr/>
          <a:lstStyle/>
          <a:p>
            <a:endParaRPr lang="es-CL"/>
          </a:p>
        </p:txBody>
      </p:sp>
      <p:sp>
        <p:nvSpPr>
          <p:cNvPr id="15" name="Text 13"/>
          <p:cNvSpPr/>
          <p:nvPr/>
        </p:nvSpPr>
        <p:spPr>
          <a:xfrm>
            <a:off x="8357616" y="1938528"/>
            <a:ext cx="3017520" cy="384048"/>
          </a:xfrm>
          <a:prstGeom prst="rect">
            <a:avLst/>
          </a:prstGeom>
          <a:noFill/>
          <a:ln/>
        </p:spPr>
        <p:txBody>
          <a:bodyPr wrap="square" lIns="0" tIns="0" rIns="0" bIns="0" rtlCol="0" anchor="ctr"/>
          <a:lstStyle/>
          <a:p>
            <a:pPr marL="0" indent="0">
              <a:buNone/>
            </a:pPr>
            <a:r>
              <a:rPr lang="en-US" sz="2000" b="1" dirty="0">
                <a:solidFill>
                  <a:srgbClr val="06304A"/>
                </a:solidFill>
                <a:latin typeface="Cambria" pitchFamily="34" charset="0"/>
                <a:ea typeface="Cambria" pitchFamily="34" charset="-122"/>
                <a:cs typeface="Cambria" pitchFamily="34" charset="-120"/>
              </a:rPr>
              <a:t>Derivadas</a:t>
            </a:r>
            <a:endParaRPr lang="en-US" sz="2000" dirty="0"/>
          </a:p>
        </p:txBody>
      </p:sp>
      <p:sp>
        <p:nvSpPr>
          <p:cNvPr id="16" name="Text 14"/>
          <p:cNvSpPr/>
          <p:nvPr/>
        </p:nvSpPr>
        <p:spPr>
          <a:xfrm>
            <a:off x="8357616" y="2331720"/>
            <a:ext cx="3017520" cy="274320"/>
          </a:xfrm>
          <a:prstGeom prst="rect">
            <a:avLst/>
          </a:prstGeom>
          <a:noFill/>
          <a:ln/>
        </p:spPr>
        <p:txBody>
          <a:bodyPr wrap="square" lIns="0" tIns="0" rIns="0" bIns="0" rtlCol="0" anchor="ctr"/>
          <a:lstStyle/>
          <a:p>
            <a:pPr marL="0" indent="0">
              <a:buNone/>
            </a:pPr>
            <a:r>
              <a:rPr lang="en-US" sz="1200" i="1" dirty="0">
                <a:solidFill>
                  <a:srgbClr val="AC212E"/>
                </a:solidFill>
                <a:latin typeface="Calibri" pitchFamily="34" charset="0"/>
                <a:ea typeface="Calibri" pitchFamily="34" charset="-122"/>
                <a:cs typeface="Calibri" pitchFamily="34" charset="-120"/>
              </a:rPr>
              <a:t>Variables nuevas</a:t>
            </a:r>
            <a:endParaRPr lang="en-US" sz="1200" dirty="0"/>
          </a:p>
        </p:txBody>
      </p:sp>
      <p:sp>
        <p:nvSpPr>
          <p:cNvPr id="17" name="Text 15"/>
          <p:cNvSpPr/>
          <p:nvPr/>
        </p:nvSpPr>
        <p:spPr>
          <a:xfrm>
            <a:off x="8357616" y="2697480"/>
            <a:ext cx="3017520" cy="1005840"/>
          </a:xfrm>
          <a:prstGeom prst="rect">
            <a:avLst/>
          </a:prstGeom>
          <a:noFill/>
          <a:ln/>
        </p:spPr>
        <p:txBody>
          <a:bodyPr wrap="square" lIns="0" tIns="0" rIns="0" bIns="0" rtlCol="0" anchor="ctr"/>
          <a:lstStyle/>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Discretizar continuas o crear banderas con umbrales del dominio</a:t>
            </a:r>
            <a:endParaRPr lang="en-US" sz="1250" dirty="0"/>
          </a:p>
        </p:txBody>
      </p:sp>
      <p:sp>
        <p:nvSpPr>
          <p:cNvPr id="18" name="Text 16"/>
          <p:cNvSpPr/>
          <p:nvPr/>
        </p:nvSpPr>
        <p:spPr>
          <a:xfrm>
            <a:off x="8357616" y="3794760"/>
            <a:ext cx="3017520" cy="365760"/>
          </a:xfrm>
          <a:prstGeom prst="rect">
            <a:avLst/>
          </a:prstGeom>
          <a:noFill/>
          <a:ln/>
        </p:spPr>
        <p:txBody>
          <a:bodyPr wrap="square" lIns="0" tIns="0" rIns="0" bIns="0" rtlCol="0" anchor="ctr"/>
          <a:lstStyle/>
          <a:p>
            <a:pPr marL="0" indent="0">
              <a:buNone/>
            </a:pPr>
            <a:r>
              <a:rPr lang="en-US" sz="1150" dirty="0">
                <a:solidFill>
                  <a:srgbClr val="5A6B7B"/>
                </a:solidFill>
                <a:latin typeface="Calibri" pitchFamily="34" charset="0"/>
                <a:ea typeface="Calibri" pitchFamily="34" charset="-122"/>
                <a:cs typeface="Calibri" pitchFamily="34" charset="-120"/>
              </a:rPr>
              <a:t>Ejemplo: grupo etario</a:t>
            </a:r>
            <a:endParaRPr lang="en-US" sz="1150" dirty="0"/>
          </a:p>
        </p:txBody>
      </p:sp>
      <p:sp>
        <p:nvSpPr>
          <p:cNvPr id="19" name="Shape 17"/>
          <p:cNvSpPr/>
          <p:nvPr/>
        </p:nvSpPr>
        <p:spPr>
          <a:xfrm>
            <a:off x="548640" y="4663440"/>
            <a:ext cx="11064240" cy="1280160"/>
          </a:xfrm>
          <a:prstGeom prst="roundRect">
            <a:avLst>
              <a:gd name="adj" fmla="val 6429"/>
            </a:avLst>
          </a:prstGeom>
          <a:solidFill>
            <a:srgbClr val="0A1526"/>
          </a:solidFill>
          <a:ln w="12700">
            <a:solidFill>
              <a:srgbClr val="0A1526"/>
            </a:solidFill>
            <a:prstDash val="solid"/>
          </a:ln>
        </p:spPr>
        <p:txBody>
          <a:bodyPr/>
          <a:lstStyle/>
          <a:p>
            <a:endParaRPr lang="es-CL"/>
          </a:p>
        </p:txBody>
      </p:sp>
      <p:sp>
        <p:nvSpPr>
          <p:cNvPr id="20" name="Text 18"/>
          <p:cNvSpPr/>
          <p:nvPr/>
        </p:nvSpPr>
        <p:spPr>
          <a:xfrm>
            <a:off x="868680" y="4800600"/>
            <a:ext cx="457200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El error que más se repite</a:t>
            </a:r>
            <a:endParaRPr lang="en-US" sz="1400" dirty="0"/>
          </a:p>
        </p:txBody>
      </p:sp>
      <p:sp>
        <p:nvSpPr>
          <p:cNvPr id="21" name="Text 19"/>
          <p:cNvSpPr/>
          <p:nvPr/>
        </p:nvSpPr>
        <p:spPr>
          <a:xfrm>
            <a:off x="868680" y="5138928"/>
            <a:ext cx="10424160" cy="685800"/>
          </a:xfrm>
          <a:prstGeom prst="rect">
            <a:avLst/>
          </a:prstGeom>
          <a:noFill/>
          <a:ln/>
        </p:spPr>
        <p:txBody>
          <a:bodyPr wrap="square" lIns="0" tIns="0" rIns="0" bIns="0" rtlCol="0" anchor="ctr"/>
          <a:lstStyle/>
          <a:p>
            <a:pPr marL="0" indent="0">
              <a:lnSpc>
                <a:spcPts val="1800"/>
              </a:lnSpc>
              <a:buNone/>
            </a:pPr>
            <a:r>
              <a:rPr lang="en-US" sz="1300" dirty="0">
                <a:solidFill>
                  <a:srgbClr val="FFFFFF"/>
                </a:solidFill>
                <a:latin typeface="Calibri" pitchFamily="34" charset="0"/>
                <a:ea typeface="Calibri" pitchFamily="34" charset="-122"/>
                <a:cs typeface="Calibri" pitchFamily="34" charset="-120"/>
              </a:rPr>
              <a:t>Dejar que la librería ordene una variable ordinal por orden alfabético. «exfumador &lt; fumador &lt; nunca» no tiene ningún sentido en el dominio, y produce un análisis entrenado sobre una escala inventada. El orden lo declara el equipo, en un diccionario explícito.</a:t>
            </a:r>
            <a:endParaRPr lang="en-US" sz="13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Paso 9 · Escalamiento: comparar los tres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Igual que con la imputación: no hay uno mejor, hay uno que corresponde a sus datos.</a:t>
            </a:r>
            <a:endParaRPr lang="en-US" sz="1400" dirty="0"/>
          </a:p>
        </p:txBody>
      </p:sp>
      <p:graphicFrame>
        <p:nvGraphicFramePr>
          <p:cNvPr id="12" name="Table 0"/>
          <p:cNvGraphicFramePr>
            <a:graphicFrameLocks noGrp="1"/>
          </p:cNvGraphicFramePr>
          <p:nvPr/>
        </p:nvGraphicFramePr>
        <p:xfrm>
          <a:off x="548640" y="1783080"/>
          <a:ext cx="11064240" cy="2267712"/>
        </p:xfrm>
        <a:graphic>
          <a:graphicData uri="http://schemas.openxmlformats.org/drawingml/2006/table">
            <a:tbl>
              <a:tblPr/>
              <a:tblGrid>
                <a:gridCol w="265176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56692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Escalador</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Qué garantiza</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Cuándo conviene</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Riesgo</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extLst>
                  <a:ext uri="{0D108BD9-81ED-4DB2-BD59-A6C34878D82A}">
                    <a16:rowId xmlns:a16="http://schemas.microsoft.com/office/drawing/2014/main" val="10000"/>
                  </a:ext>
                </a:extLst>
              </a:tr>
              <a:tr h="566928">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StandardScaler</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Media 0, desviación 1</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Distribución aproximadamente simétrica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No acota el rango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MinMaxScaler</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Rango [0, 1]</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Se requiere un rango acotado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Un extremo comprime todo el resto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RobustScaler</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Mediana 0, RIC 1</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Hay valores extremos que no se eliminan</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Las cifras no quedan «redondas»</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548640" y="4114800"/>
            <a:ext cx="11064240" cy="1828800"/>
          </a:xfrm>
          <a:prstGeom prst="roundRect">
            <a:avLst>
              <a:gd name="adj" fmla="val 4500"/>
            </a:avLst>
          </a:prstGeom>
          <a:solidFill>
            <a:srgbClr val="F6E7E9"/>
          </a:solidFill>
          <a:ln w="12700">
            <a:solidFill>
              <a:srgbClr val="F6E7E9"/>
            </a:solidFill>
            <a:prstDash val="solid"/>
          </a:ln>
        </p:spPr>
        <p:txBody>
          <a:bodyPr/>
          <a:lstStyle/>
          <a:p>
            <a:endParaRPr lang="es-CL"/>
          </a:p>
        </p:txBody>
      </p:sp>
      <p:sp>
        <p:nvSpPr>
          <p:cNvPr id="6" name="Text 3"/>
          <p:cNvSpPr/>
          <p:nvPr/>
        </p:nvSpPr>
        <p:spPr>
          <a:xfrm>
            <a:off x="868680" y="4279392"/>
            <a:ext cx="5486400" cy="347472"/>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Coherencia entre decisiones</a:t>
            </a:r>
            <a:endParaRPr lang="en-US" sz="1500" dirty="0"/>
          </a:p>
        </p:txBody>
      </p:sp>
      <p:sp>
        <p:nvSpPr>
          <p:cNvPr id="7" name="Text 4"/>
          <p:cNvSpPr/>
          <p:nvPr/>
        </p:nvSpPr>
        <p:spPr>
          <a:xfrm>
            <a:off x="868680" y="4645152"/>
            <a:ext cx="10424160" cy="1188720"/>
          </a:xfrm>
          <a:prstGeom prst="rect">
            <a:avLst/>
          </a:prstGeom>
          <a:noFill/>
          <a:ln/>
        </p:spPr>
        <p:txBody>
          <a:bodyPr wrap="square" lIns="0" tIns="0" rIns="0" bIns="0" rtlCol="0" anchor="ctr"/>
          <a:lstStyle/>
          <a:p>
            <a:pPr marL="0" indent="0">
              <a:lnSpc>
                <a:spcPts val="1900"/>
              </a:lnSpc>
              <a:buNone/>
            </a:pPr>
            <a:r>
              <a:rPr lang="en-US" sz="1350" dirty="0">
                <a:solidFill>
                  <a:srgbClr val="06304A"/>
                </a:solidFill>
                <a:latin typeface="Calibri" pitchFamily="34" charset="0"/>
                <a:ea typeface="Calibri" pitchFamily="34" charset="-122"/>
                <a:cs typeface="Calibri" pitchFamily="34" charset="-120"/>
              </a:rPr>
              <a:t>La misma evidencia debería sostener las dos elecciones. Si reconocieron valores extremos para imputar con la mediana, tampoco tiene sentido centrar con la media al escalar.</a:t>
            </a:r>
            <a:endParaRPr lang="en-US" sz="1350" dirty="0"/>
          </a:p>
          <a:p>
            <a:pPr marL="0" indent="0">
              <a:lnSpc>
                <a:spcPts val="1900"/>
              </a:lnSpc>
              <a:buNone/>
            </a:pPr>
            <a:endParaRPr lang="en-US" sz="1350" dirty="0"/>
          </a:p>
          <a:p>
            <a:pPr marL="0" indent="0">
              <a:lnSpc>
                <a:spcPts val="1900"/>
              </a:lnSpc>
              <a:buNone/>
            </a:pPr>
            <a:r>
              <a:rPr lang="en-US" sz="1350" dirty="0">
                <a:solidFill>
                  <a:srgbClr val="06304A"/>
                </a:solidFill>
                <a:latin typeface="Calibri" pitchFamily="34" charset="0"/>
                <a:ea typeface="Calibri" pitchFamily="34" charset="-122"/>
                <a:cs typeface="Calibri" pitchFamily="34" charset="-120"/>
              </a:rPr>
              <a:t>Si eligen mediana para imputar y StandardScaler para escalar, tienen que explicar por qué el mismo hecho lleva a criterios distintos. Eso es lo que separa un pipeline pensado de una sucesión de pasos.</a:t>
            </a:r>
            <a:endParaRPr lang="en-US" sz="13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0A1526"/>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Paso 10 · Validar es demostrar, no afirmar</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D7E3EE"/>
                </a:solidFill>
                <a:latin typeface="Calibri" pitchFamily="34" charset="0"/>
                <a:ea typeface="Calibri" pitchFamily="34" charset="-122"/>
                <a:cs typeface="Calibri" pitchFamily="34" charset="-120"/>
              </a:rPr>
              <a:t>Criterio 11 de la rúbrica: 6 puntos que casi nadie cubre completos.</a:t>
            </a:r>
            <a:endParaRPr lang="en-US" sz="1400" dirty="0"/>
          </a:p>
        </p:txBody>
      </p:sp>
      <p:sp>
        <p:nvSpPr>
          <p:cNvPr id="4" name="Shape 2"/>
          <p:cNvSpPr/>
          <p:nvPr/>
        </p:nvSpPr>
        <p:spPr>
          <a:xfrm>
            <a:off x="548640" y="1828800"/>
            <a:ext cx="5394960" cy="2194560"/>
          </a:xfrm>
          <a:prstGeom prst="roundRect">
            <a:avLst>
              <a:gd name="adj" fmla="val 3750"/>
            </a:avLst>
          </a:prstGeom>
          <a:solidFill>
            <a:srgbClr val="12203A"/>
          </a:solidFill>
          <a:ln w="12700">
            <a:solidFill>
              <a:srgbClr val="12203A"/>
            </a:solidFill>
            <a:prstDash val="solid"/>
          </a:ln>
        </p:spPr>
        <p:txBody>
          <a:bodyPr/>
          <a:lstStyle/>
          <a:p>
            <a:endParaRPr lang="es-CL"/>
          </a:p>
        </p:txBody>
      </p:sp>
      <p:sp>
        <p:nvSpPr>
          <p:cNvPr id="5" name="Text 3"/>
          <p:cNvSpPr/>
          <p:nvPr/>
        </p:nvSpPr>
        <p:spPr>
          <a:xfrm>
            <a:off x="868680" y="1993392"/>
            <a:ext cx="4754880" cy="347472"/>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Validar el dataset</a:t>
            </a:r>
            <a:endParaRPr lang="en-US" sz="1500" dirty="0"/>
          </a:p>
        </p:txBody>
      </p:sp>
      <p:sp>
        <p:nvSpPr>
          <p:cNvPr id="6" name="Text 4"/>
          <p:cNvSpPr/>
          <p:nvPr/>
        </p:nvSpPr>
        <p:spPr>
          <a:xfrm>
            <a:off x="868680" y="2377440"/>
            <a:ext cx="685800" cy="292608"/>
          </a:xfrm>
          <a:prstGeom prst="rect">
            <a:avLst/>
          </a:prstGeom>
          <a:noFill/>
          <a:ln/>
        </p:spPr>
        <p:txBody>
          <a:bodyPr wrap="square" lIns="0" tIns="0" rIns="0" bIns="0" rtlCol="0" anchor="ctr"/>
          <a:lstStyle/>
          <a:p>
            <a:pPr marL="0" indent="0">
              <a:buNone/>
            </a:pPr>
            <a:r>
              <a:rPr lang="en-US" sz="1000" dirty="0">
                <a:solidFill>
                  <a:srgbClr val="AC212E"/>
                </a:solidFill>
                <a:latin typeface="Courier New" pitchFamily="34" charset="0"/>
                <a:ea typeface="Courier New" pitchFamily="34" charset="-122"/>
                <a:cs typeface="Courier New" pitchFamily="34" charset="-120"/>
              </a:rPr>
              <a:t>assert</a:t>
            </a:r>
            <a:endParaRPr lang="en-US" sz="1000" dirty="0"/>
          </a:p>
        </p:txBody>
      </p:sp>
      <p:sp>
        <p:nvSpPr>
          <p:cNvPr id="7" name="Text 5"/>
          <p:cNvSpPr/>
          <p:nvPr/>
        </p:nvSpPr>
        <p:spPr>
          <a:xfrm>
            <a:off x="1600200" y="2377440"/>
            <a:ext cx="4114800" cy="292608"/>
          </a:xfrm>
          <a:prstGeom prst="rect">
            <a:avLst/>
          </a:prstGeom>
          <a:noFill/>
          <a:ln/>
        </p:spPr>
        <p:txBody>
          <a:bodyPr wrap="square" lIns="0" tIns="0" rIns="0" bIns="0" rtlCol="0" anchor="ctr"/>
          <a:lstStyle/>
          <a:p>
            <a:pPr marL="0" indent="0">
              <a:buNone/>
            </a:pPr>
            <a:r>
              <a:rPr lang="en-US" sz="1150" dirty="0">
                <a:solidFill>
                  <a:srgbClr val="D7E3EE"/>
                </a:solidFill>
                <a:latin typeface="Calibri" pitchFamily="34" charset="0"/>
                <a:ea typeface="Calibri" pitchFamily="34" charset="-122"/>
                <a:cs typeface="Calibri" pitchFamily="34" charset="-120"/>
              </a:rPr>
              <a:t>No quedan valores nulos</a:t>
            </a:r>
            <a:endParaRPr lang="en-US" sz="1150" dirty="0"/>
          </a:p>
        </p:txBody>
      </p:sp>
      <p:sp>
        <p:nvSpPr>
          <p:cNvPr id="8" name="Text 6"/>
          <p:cNvSpPr/>
          <p:nvPr/>
        </p:nvSpPr>
        <p:spPr>
          <a:xfrm>
            <a:off x="868680" y="2688336"/>
            <a:ext cx="685800" cy="292608"/>
          </a:xfrm>
          <a:prstGeom prst="rect">
            <a:avLst/>
          </a:prstGeom>
          <a:noFill/>
          <a:ln/>
        </p:spPr>
        <p:txBody>
          <a:bodyPr wrap="square" lIns="0" tIns="0" rIns="0" bIns="0" rtlCol="0" anchor="ctr"/>
          <a:lstStyle/>
          <a:p>
            <a:pPr marL="0" indent="0">
              <a:buNone/>
            </a:pPr>
            <a:r>
              <a:rPr lang="en-US" sz="1000" dirty="0">
                <a:solidFill>
                  <a:srgbClr val="AC212E"/>
                </a:solidFill>
                <a:latin typeface="Courier New" pitchFamily="34" charset="0"/>
                <a:ea typeface="Courier New" pitchFamily="34" charset="-122"/>
                <a:cs typeface="Courier New" pitchFamily="34" charset="-120"/>
              </a:rPr>
              <a:t>assert</a:t>
            </a:r>
            <a:endParaRPr lang="en-US" sz="1000" dirty="0"/>
          </a:p>
        </p:txBody>
      </p:sp>
      <p:sp>
        <p:nvSpPr>
          <p:cNvPr id="9" name="Text 7"/>
          <p:cNvSpPr/>
          <p:nvPr/>
        </p:nvSpPr>
        <p:spPr>
          <a:xfrm>
            <a:off x="1600200" y="2688336"/>
            <a:ext cx="4114800" cy="292608"/>
          </a:xfrm>
          <a:prstGeom prst="rect">
            <a:avLst/>
          </a:prstGeom>
          <a:noFill/>
          <a:ln/>
        </p:spPr>
        <p:txBody>
          <a:bodyPr wrap="square" lIns="0" tIns="0" rIns="0" bIns="0" rtlCol="0" anchor="ctr"/>
          <a:lstStyle/>
          <a:p>
            <a:pPr marL="0" indent="0">
              <a:buNone/>
            </a:pPr>
            <a:r>
              <a:rPr lang="en-US" sz="1150" dirty="0">
                <a:solidFill>
                  <a:srgbClr val="D7E3EE"/>
                </a:solidFill>
                <a:latin typeface="Calibri" pitchFamily="34" charset="0"/>
                <a:ea typeface="Calibri" pitchFamily="34" charset="-122"/>
                <a:cs typeface="Calibri" pitchFamily="34" charset="-120"/>
              </a:rPr>
              <a:t>Todas las columnas de análisis son numéricas</a:t>
            </a:r>
            <a:endParaRPr lang="en-US" sz="1150" dirty="0"/>
          </a:p>
        </p:txBody>
      </p:sp>
      <p:sp>
        <p:nvSpPr>
          <p:cNvPr id="10" name="Text 8"/>
          <p:cNvSpPr/>
          <p:nvPr/>
        </p:nvSpPr>
        <p:spPr>
          <a:xfrm>
            <a:off x="868680" y="2999232"/>
            <a:ext cx="685800" cy="292608"/>
          </a:xfrm>
          <a:prstGeom prst="rect">
            <a:avLst/>
          </a:prstGeom>
          <a:noFill/>
          <a:ln/>
        </p:spPr>
        <p:txBody>
          <a:bodyPr wrap="square" lIns="0" tIns="0" rIns="0" bIns="0" rtlCol="0" anchor="ctr"/>
          <a:lstStyle/>
          <a:p>
            <a:pPr marL="0" indent="0">
              <a:buNone/>
            </a:pPr>
            <a:r>
              <a:rPr lang="en-US" sz="1000" dirty="0">
                <a:solidFill>
                  <a:srgbClr val="AC212E"/>
                </a:solidFill>
                <a:latin typeface="Courier New" pitchFamily="34" charset="0"/>
                <a:ea typeface="Courier New" pitchFamily="34" charset="-122"/>
                <a:cs typeface="Courier New" pitchFamily="34" charset="-120"/>
              </a:rPr>
              <a:t>assert</a:t>
            </a:r>
            <a:endParaRPr lang="en-US" sz="1000" dirty="0"/>
          </a:p>
        </p:txBody>
      </p:sp>
      <p:sp>
        <p:nvSpPr>
          <p:cNvPr id="11" name="Text 9"/>
          <p:cNvSpPr/>
          <p:nvPr/>
        </p:nvSpPr>
        <p:spPr>
          <a:xfrm>
            <a:off x="1600200" y="2999232"/>
            <a:ext cx="4114800" cy="292608"/>
          </a:xfrm>
          <a:prstGeom prst="rect">
            <a:avLst/>
          </a:prstGeom>
          <a:noFill/>
          <a:ln/>
        </p:spPr>
        <p:txBody>
          <a:bodyPr wrap="square" lIns="0" tIns="0" rIns="0" bIns="0" rtlCol="0" anchor="ctr"/>
          <a:lstStyle/>
          <a:p>
            <a:pPr marL="0" indent="0">
              <a:buNone/>
            </a:pPr>
            <a:r>
              <a:rPr lang="en-US" sz="1150" dirty="0">
                <a:solidFill>
                  <a:srgbClr val="D7E3EE"/>
                </a:solidFill>
                <a:latin typeface="Calibri" pitchFamily="34" charset="0"/>
                <a:ea typeface="Calibri" pitchFamily="34" charset="-122"/>
                <a:cs typeface="Calibri" pitchFamily="34" charset="-120"/>
              </a:rPr>
              <a:t>Cada grupo one-hot suma 1 por fila</a:t>
            </a:r>
            <a:endParaRPr lang="en-US" sz="1150" dirty="0"/>
          </a:p>
        </p:txBody>
      </p:sp>
      <p:sp>
        <p:nvSpPr>
          <p:cNvPr id="12" name="Text 10"/>
          <p:cNvSpPr/>
          <p:nvPr/>
        </p:nvSpPr>
        <p:spPr>
          <a:xfrm>
            <a:off x="868680" y="3310128"/>
            <a:ext cx="685800" cy="292608"/>
          </a:xfrm>
          <a:prstGeom prst="rect">
            <a:avLst/>
          </a:prstGeom>
          <a:noFill/>
          <a:ln/>
        </p:spPr>
        <p:txBody>
          <a:bodyPr wrap="square" lIns="0" tIns="0" rIns="0" bIns="0" rtlCol="0" anchor="ctr"/>
          <a:lstStyle/>
          <a:p>
            <a:pPr marL="0" indent="0">
              <a:buNone/>
            </a:pPr>
            <a:r>
              <a:rPr lang="en-US" sz="1000" dirty="0">
                <a:solidFill>
                  <a:srgbClr val="AC212E"/>
                </a:solidFill>
                <a:latin typeface="Courier New" pitchFamily="34" charset="0"/>
                <a:ea typeface="Courier New" pitchFamily="34" charset="-122"/>
                <a:cs typeface="Courier New" pitchFamily="34" charset="-120"/>
              </a:rPr>
              <a:t>assert</a:t>
            </a:r>
            <a:endParaRPr lang="en-US" sz="1000" dirty="0"/>
          </a:p>
        </p:txBody>
      </p:sp>
      <p:sp>
        <p:nvSpPr>
          <p:cNvPr id="13" name="Text 11"/>
          <p:cNvSpPr/>
          <p:nvPr/>
        </p:nvSpPr>
        <p:spPr>
          <a:xfrm>
            <a:off x="1600200" y="3310128"/>
            <a:ext cx="4114800" cy="292608"/>
          </a:xfrm>
          <a:prstGeom prst="rect">
            <a:avLst/>
          </a:prstGeom>
          <a:noFill/>
          <a:ln/>
        </p:spPr>
        <p:txBody>
          <a:bodyPr wrap="square" lIns="0" tIns="0" rIns="0" bIns="0" rtlCol="0" anchor="ctr"/>
          <a:lstStyle/>
          <a:p>
            <a:pPr marL="0" indent="0">
              <a:buNone/>
            </a:pPr>
            <a:r>
              <a:rPr lang="en-US" sz="1150" dirty="0">
                <a:solidFill>
                  <a:srgbClr val="D7E3EE"/>
                </a:solidFill>
                <a:latin typeface="Calibri" pitchFamily="34" charset="0"/>
                <a:ea typeface="Calibri" pitchFamily="34" charset="-122"/>
                <a:cs typeface="Calibri" pitchFamily="34" charset="-120"/>
              </a:rPr>
              <a:t>No hay filas duplicadas</a:t>
            </a:r>
            <a:endParaRPr lang="en-US" sz="1150" dirty="0"/>
          </a:p>
        </p:txBody>
      </p:sp>
      <p:sp>
        <p:nvSpPr>
          <p:cNvPr id="14" name="Text 12"/>
          <p:cNvSpPr/>
          <p:nvPr/>
        </p:nvSpPr>
        <p:spPr>
          <a:xfrm>
            <a:off x="868680" y="3621024"/>
            <a:ext cx="685800" cy="292608"/>
          </a:xfrm>
          <a:prstGeom prst="rect">
            <a:avLst/>
          </a:prstGeom>
          <a:noFill/>
          <a:ln/>
        </p:spPr>
        <p:txBody>
          <a:bodyPr wrap="square" lIns="0" tIns="0" rIns="0" bIns="0" rtlCol="0" anchor="ctr"/>
          <a:lstStyle/>
          <a:p>
            <a:pPr marL="0" indent="0">
              <a:buNone/>
            </a:pPr>
            <a:r>
              <a:rPr lang="en-US" sz="1000" dirty="0">
                <a:solidFill>
                  <a:srgbClr val="AC212E"/>
                </a:solidFill>
                <a:latin typeface="Courier New" pitchFamily="34" charset="0"/>
                <a:ea typeface="Courier New" pitchFamily="34" charset="-122"/>
                <a:cs typeface="Courier New" pitchFamily="34" charset="-120"/>
              </a:rPr>
              <a:t>assert</a:t>
            </a:r>
            <a:endParaRPr lang="en-US" sz="1000" dirty="0"/>
          </a:p>
        </p:txBody>
      </p:sp>
      <p:sp>
        <p:nvSpPr>
          <p:cNvPr id="15" name="Text 13"/>
          <p:cNvSpPr/>
          <p:nvPr/>
        </p:nvSpPr>
        <p:spPr>
          <a:xfrm>
            <a:off x="1600200" y="3621024"/>
            <a:ext cx="4114800" cy="292608"/>
          </a:xfrm>
          <a:prstGeom prst="rect">
            <a:avLst/>
          </a:prstGeom>
          <a:noFill/>
          <a:ln/>
        </p:spPr>
        <p:txBody>
          <a:bodyPr wrap="square" lIns="0" tIns="0" rIns="0" bIns="0" rtlCol="0" anchor="ctr"/>
          <a:lstStyle/>
          <a:p>
            <a:pPr marL="0" indent="0">
              <a:buNone/>
            </a:pPr>
            <a:r>
              <a:rPr lang="en-US" sz="1150" dirty="0">
                <a:solidFill>
                  <a:srgbClr val="D7E3EE"/>
                </a:solidFill>
                <a:latin typeface="Calibri" pitchFamily="34" charset="0"/>
                <a:ea typeface="Calibri" pitchFamily="34" charset="-122"/>
                <a:cs typeface="Calibri" pitchFamily="34" charset="-120"/>
              </a:rPr>
              <a:t>Se conservó el número de filas esperado</a:t>
            </a:r>
            <a:endParaRPr lang="en-US" sz="1150" dirty="0"/>
          </a:p>
        </p:txBody>
      </p:sp>
      <p:sp>
        <p:nvSpPr>
          <p:cNvPr id="16" name="Shape 14"/>
          <p:cNvSpPr/>
          <p:nvPr/>
        </p:nvSpPr>
        <p:spPr>
          <a:xfrm>
            <a:off x="6217920" y="1828800"/>
            <a:ext cx="5394960" cy="2194560"/>
          </a:xfrm>
          <a:prstGeom prst="roundRect">
            <a:avLst>
              <a:gd name="adj" fmla="val 3750"/>
            </a:avLst>
          </a:prstGeom>
          <a:solidFill>
            <a:srgbClr val="12203A"/>
          </a:solidFill>
          <a:ln w="12700">
            <a:solidFill>
              <a:srgbClr val="12203A"/>
            </a:solidFill>
            <a:prstDash val="solid"/>
          </a:ln>
        </p:spPr>
        <p:txBody>
          <a:bodyPr/>
          <a:lstStyle/>
          <a:p>
            <a:endParaRPr lang="es-CL"/>
          </a:p>
        </p:txBody>
      </p:sp>
      <p:sp>
        <p:nvSpPr>
          <p:cNvPr id="17" name="Text 15"/>
          <p:cNvSpPr/>
          <p:nvPr/>
        </p:nvSpPr>
        <p:spPr>
          <a:xfrm>
            <a:off x="6537960" y="1993392"/>
            <a:ext cx="4754880" cy="347472"/>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Probar las funciones</a:t>
            </a:r>
            <a:endParaRPr lang="en-US" sz="1500" dirty="0"/>
          </a:p>
        </p:txBody>
      </p:sp>
      <p:sp>
        <p:nvSpPr>
          <p:cNvPr id="18" name="Text 16"/>
          <p:cNvSpPr/>
          <p:nvPr/>
        </p:nvSpPr>
        <p:spPr>
          <a:xfrm>
            <a:off x="6537960" y="2423160"/>
            <a:ext cx="1463040" cy="29260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Caso normal</a:t>
            </a:r>
            <a:endParaRPr lang="en-US" sz="1250" dirty="0"/>
          </a:p>
        </p:txBody>
      </p:sp>
      <p:sp>
        <p:nvSpPr>
          <p:cNvPr id="19" name="Text 17"/>
          <p:cNvSpPr/>
          <p:nvPr/>
        </p:nvSpPr>
        <p:spPr>
          <a:xfrm>
            <a:off x="8001000" y="2423160"/>
            <a:ext cx="3291840" cy="411480"/>
          </a:xfrm>
          <a:prstGeom prst="rect">
            <a:avLst/>
          </a:prstGeom>
          <a:noFill/>
          <a:ln/>
        </p:spPr>
        <p:txBody>
          <a:bodyPr wrap="square" lIns="0" tIns="0" rIns="0" bIns="0" rtlCol="0" anchor="ctr"/>
          <a:lstStyle/>
          <a:p>
            <a:pPr marL="0" indent="0">
              <a:buNone/>
            </a:pPr>
            <a:r>
              <a:rPr lang="en-US" sz="1100" dirty="0">
                <a:solidFill>
                  <a:srgbClr val="D7E3EE"/>
                </a:solidFill>
                <a:latin typeface="Calibri" pitchFamily="34" charset="0"/>
                <a:ea typeface="Calibri" pitchFamily="34" charset="-122"/>
                <a:cs typeface="Calibri" pitchFamily="34" charset="-120"/>
              </a:rPr>
              <a:t>Funciona con la entrada esperada</a:t>
            </a:r>
            <a:endParaRPr lang="en-US" sz="1100" dirty="0"/>
          </a:p>
        </p:txBody>
      </p:sp>
      <p:sp>
        <p:nvSpPr>
          <p:cNvPr id="20" name="Text 18"/>
          <p:cNvSpPr/>
          <p:nvPr/>
        </p:nvSpPr>
        <p:spPr>
          <a:xfrm>
            <a:off x="6537960" y="2953512"/>
            <a:ext cx="1463040" cy="29260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Caso límite</a:t>
            </a:r>
            <a:endParaRPr lang="en-US" sz="1250" dirty="0"/>
          </a:p>
        </p:txBody>
      </p:sp>
      <p:sp>
        <p:nvSpPr>
          <p:cNvPr id="21" name="Text 19"/>
          <p:cNvSpPr/>
          <p:nvPr/>
        </p:nvSpPr>
        <p:spPr>
          <a:xfrm>
            <a:off x="8001000" y="2953512"/>
            <a:ext cx="3291840" cy="411480"/>
          </a:xfrm>
          <a:prstGeom prst="rect">
            <a:avLst/>
          </a:prstGeom>
          <a:noFill/>
          <a:ln/>
        </p:spPr>
        <p:txBody>
          <a:bodyPr wrap="square" lIns="0" tIns="0" rIns="0" bIns="0" rtlCol="0" anchor="ctr"/>
          <a:lstStyle/>
          <a:p>
            <a:pPr marL="0" indent="0">
              <a:buNone/>
            </a:pPr>
            <a:r>
              <a:rPr lang="en-US" sz="1100" dirty="0">
                <a:solidFill>
                  <a:srgbClr val="D7E3EE"/>
                </a:solidFill>
                <a:latin typeface="Calibri" pitchFamily="34" charset="0"/>
                <a:ea typeface="Calibri" pitchFamily="34" charset="-122"/>
                <a:cs typeface="Calibri" pitchFamily="34" charset="-120"/>
              </a:rPr>
              <a:t>Columna sin nulos, una sola categoría, conjunto vacío</a:t>
            </a:r>
            <a:endParaRPr lang="en-US" sz="1100" dirty="0"/>
          </a:p>
        </p:txBody>
      </p:sp>
      <p:sp>
        <p:nvSpPr>
          <p:cNvPr id="22" name="Text 20"/>
          <p:cNvSpPr/>
          <p:nvPr/>
        </p:nvSpPr>
        <p:spPr>
          <a:xfrm>
            <a:off x="6537960" y="3483864"/>
            <a:ext cx="1463040" cy="29260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Excepción</a:t>
            </a:r>
            <a:endParaRPr lang="en-US" sz="1250" dirty="0"/>
          </a:p>
        </p:txBody>
      </p:sp>
      <p:sp>
        <p:nvSpPr>
          <p:cNvPr id="23" name="Text 21"/>
          <p:cNvSpPr/>
          <p:nvPr/>
        </p:nvSpPr>
        <p:spPr>
          <a:xfrm>
            <a:off x="8001000" y="3483864"/>
            <a:ext cx="3291840" cy="411480"/>
          </a:xfrm>
          <a:prstGeom prst="rect">
            <a:avLst/>
          </a:prstGeom>
          <a:noFill/>
          <a:ln/>
        </p:spPr>
        <p:txBody>
          <a:bodyPr wrap="square" lIns="0" tIns="0" rIns="0" bIns="0" rtlCol="0" anchor="ctr"/>
          <a:lstStyle/>
          <a:p>
            <a:pPr marL="0" indent="0">
              <a:buNone/>
            </a:pPr>
            <a:r>
              <a:rPr lang="en-US" sz="1100" dirty="0">
                <a:solidFill>
                  <a:srgbClr val="D7E3EE"/>
                </a:solidFill>
                <a:latin typeface="Calibri" pitchFamily="34" charset="0"/>
                <a:ea typeface="Calibri" pitchFamily="34" charset="-122"/>
                <a:cs typeface="Calibri" pitchFamily="34" charset="-120"/>
              </a:rPr>
              <a:t>Lanza el error correcto ante una entrada inválida</a:t>
            </a:r>
            <a:endParaRPr lang="en-US" sz="1100" dirty="0"/>
          </a:p>
        </p:txBody>
      </p:sp>
      <p:sp>
        <p:nvSpPr>
          <p:cNvPr id="24" name="Shape 22"/>
          <p:cNvSpPr/>
          <p:nvPr/>
        </p:nvSpPr>
        <p:spPr>
          <a:xfrm>
            <a:off x="548640" y="4297680"/>
            <a:ext cx="11064240" cy="1554480"/>
          </a:xfrm>
          <a:prstGeom prst="roundRect">
            <a:avLst>
              <a:gd name="adj" fmla="val 5294"/>
            </a:avLst>
          </a:prstGeom>
          <a:solidFill>
            <a:srgbClr val="12203A"/>
          </a:solidFill>
          <a:ln w="12700">
            <a:solidFill>
              <a:srgbClr val="12203A"/>
            </a:solidFill>
            <a:prstDash val="solid"/>
          </a:ln>
        </p:spPr>
        <p:txBody>
          <a:bodyPr/>
          <a:lstStyle/>
          <a:p>
            <a:endParaRPr lang="es-CL"/>
          </a:p>
        </p:txBody>
      </p:sp>
      <p:sp>
        <p:nvSpPr>
          <p:cNvPr id="25" name="Text 23"/>
          <p:cNvSpPr/>
          <p:nvPr/>
        </p:nvSpPr>
        <p:spPr>
          <a:xfrm>
            <a:off x="868680" y="4462272"/>
            <a:ext cx="6400800" cy="347472"/>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Verificar la propiedad que corresponde</a:t>
            </a:r>
            <a:endParaRPr lang="en-US" sz="1400" dirty="0"/>
          </a:p>
        </p:txBody>
      </p:sp>
      <p:sp>
        <p:nvSpPr>
          <p:cNvPr id="26" name="Text 24"/>
          <p:cNvSpPr/>
          <p:nvPr/>
        </p:nvSpPr>
        <p:spPr>
          <a:xfrm>
            <a:off x="868680" y="4828032"/>
            <a:ext cx="10424160" cy="868680"/>
          </a:xfrm>
          <a:prstGeom prst="rect">
            <a:avLst/>
          </a:prstGeom>
          <a:noFill/>
          <a:ln/>
        </p:spPr>
        <p:txBody>
          <a:bodyPr wrap="square" lIns="0" tIns="0" rIns="0" bIns="0" rtlCol="0" anchor="ctr"/>
          <a:lstStyle/>
          <a:p>
            <a:pPr marL="0" indent="0">
              <a:lnSpc>
                <a:spcPts val="1800"/>
              </a:lnSpc>
              <a:buNone/>
            </a:pPr>
            <a:r>
              <a:rPr lang="en-US" sz="1300" dirty="0">
                <a:solidFill>
                  <a:srgbClr val="FFFFFF"/>
                </a:solidFill>
                <a:latin typeface="Calibri" pitchFamily="34" charset="0"/>
                <a:ea typeface="Calibri" pitchFamily="34" charset="-122"/>
                <a:cs typeface="Calibri" pitchFamily="34" charset="-120"/>
              </a:rPr>
              <a:t>Cada escalador garantiza algo distinto: StandardScaler deja media 0 y desviación 1; MinMaxScaler, valores entre 0 y 1; RobustScaler, mediana 0 y rango intercuartílico 1. Comprobar la propiedad correcta es lo que convierte esto en validación y no en trámite.</a:t>
            </a:r>
            <a:endParaRPr lang="en-US" sz="13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Paso 11 · Guardar, verificar y documentar</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El pipeline no termina con el DataFrame limpio: termina cuando queda guardado y trazable.</a:t>
            </a:r>
            <a:endParaRPr lang="en-US" sz="1400" dirty="0"/>
          </a:p>
        </p:txBody>
      </p:sp>
      <p:sp>
        <p:nvSpPr>
          <p:cNvPr id="4" name="Shape 2"/>
          <p:cNvSpPr/>
          <p:nvPr/>
        </p:nvSpPr>
        <p:spPr>
          <a:xfrm>
            <a:off x="548640" y="1783080"/>
            <a:ext cx="3520440" cy="1691640"/>
          </a:xfrm>
          <a:prstGeom prst="roundRect">
            <a:avLst>
              <a:gd name="adj" fmla="val 4865"/>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804672" y="1993392"/>
            <a:ext cx="420624" cy="420624"/>
          </a:xfrm>
          <a:prstGeom prst="ellipse">
            <a:avLst/>
          </a:prstGeom>
          <a:solidFill>
            <a:srgbClr val="06304A"/>
          </a:solidFill>
          <a:ln/>
        </p:spPr>
        <p:txBody>
          <a:bodyPr/>
          <a:lstStyle/>
          <a:p>
            <a:endParaRPr lang="es-CL"/>
          </a:p>
        </p:txBody>
      </p:sp>
      <p:sp>
        <p:nvSpPr>
          <p:cNvPr id="6" name="Text 4"/>
          <p:cNvSpPr/>
          <p:nvPr/>
        </p:nvSpPr>
        <p:spPr>
          <a:xfrm>
            <a:off x="804672" y="199339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71600" y="1975104"/>
            <a:ext cx="2468880" cy="45720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Guardar</a:t>
            </a:r>
            <a:endParaRPr lang="en-US" sz="1500" dirty="0"/>
          </a:p>
        </p:txBody>
      </p:sp>
      <p:sp>
        <p:nvSpPr>
          <p:cNvPr id="8" name="Text 6"/>
          <p:cNvSpPr/>
          <p:nvPr/>
        </p:nvSpPr>
        <p:spPr>
          <a:xfrm>
            <a:off x="804672" y="2542032"/>
            <a:ext cx="3017520" cy="86868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El resultado va a data/processed/, nunca sobre data/raw/.</a:t>
            </a:r>
            <a:endParaRPr lang="en-US" sz="1200" dirty="0"/>
          </a:p>
        </p:txBody>
      </p:sp>
      <p:sp>
        <p:nvSpPr>
          <p:cNvPr id="9" name="Shape 7"/>
          <p:cNvSpPr/>
          <p:nvPr/>
        </p:nvSpPr>
        <p:spPr>
          <a:xfrm>
            <a:off x="4325112" y="1783080"/>
            <a:ext cx="3520440" cy="1691640"/>
          </a:xfrm>
          <a:prstGeom prst="roundRect">
            <a:avLst>
              <a:gd name="adj" fmla="val 4865"/>
            </a:avLst>
          </a:prstGeom>
          <a:solidFill>
            <a:srgbClr val="F4F7FA"/>
          </a:solidFill>
          <a:ln w="12700">
            <a:solidFill>
              <a:srgbClr val="F4F7FA"/>
            </a:solidFill>
            <a:prstDash val="solid"/>
          </a:ln>
        </p:spPr>
        <p:txBody>
          <a:bodyPr/>
          <a:lstStyle/>
          <a:p>
            <a:endParaRPr lang="es-CL"/>
          </a:p>
        </p:txBody>
      </p:sp>
      <p:sp>
        <p:nvSpPr>
          <p:cNvPr id="10" name="Shape 8"/>
          <p:cNvSpPr/>
          <p:nvPr/>
        </p:nvSpPr>
        <p:spPr>
          <a:xfrm>
            <a:off x="4581144" y="1993392"/>
            <a:ext cx="420624" cy="420624"/>
          </a:xfrm>
          <a:prstGeom prst="ellipse">
            <a:avLst/>
          </a:prstGeom>
          <a:solidFill>
            <a:srgbClr val="06304A"/>
          </a:solidFill>
          <a:ln/>
        </p:spPr>
        <p:txBody>
          <a:bodyPr/>
          <a:lstStyle/>
          <a:p>
            <a:endParaRPr lang="es-CL"/>
          </a:p>
        </p:txBody>
      </p:sp>
      <p:sp>
        <p:nvSpPr>
          <p:cNvPr id="11" name="Text 9"/>
          <p:cNvSpPr/>
          <p:nvPr/>
        </p:nvSpPr>
        <p:spPr>
          <a:xfrm>
            <a:off x="4581144" y="199339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5148072" y="1975104"/>
            <a:ext cx="2468880" cy="45720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Verificar</a:t>
            </a:r>
            <a:endParaRPr lang="en-US" sz="1500" dirty="0"/>
          </a:p>
        </p:txBody>
      </p:sp>
      <p:sp>
        <p:nvSpPr>
          <p:cNvPr id="13" name="Text 11"/>
          <p:cNvSpPr/>
          <p:nvPr/>
        </p:nvSpPr>
        <p:spPr>
          <a:xfrm>
            <a:off x="4581144" y="2542032"/>
            <a:ext cx="3017520" cy="86868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Releer el archivo y comprobar forma y columnas. Guardar sin comprobar se descubre tarde.</a:t>
            </a:r>
            <a:endParaRPr lang="en-US" sz="1200" dirty="0"/>
          </a:p>
        </p:txBody>
      </p:sp>
      <p:sp>
        <p:nvSpPr>
          <p:cNvPr id="14" name="Shape 12"/>
          <p:cNvSpPr/>
          <p:nvPr/>
        </p:nvSpPr>
        <p:spPr>
          <a:xfrm>
            <a:off x="8101584" y="1783080"/>
            <a:ext cx="3520440" cy="1691640"/>
          </a:xfrm>
          <a:prstGeom prst="roundRect">
            <a:avLst>
              <a:gd name="adj" fmla="val 4865"/>
            </a:avLst>
          </a:prstGeom>
          <a:solidFill>
            <a:srgbClr val="F4F7FA"/>
          </a:solidFill>
          <a:ln w="12700">
            <a:solidFill>
              <a:srgbClr val="F4F7FA"/>
            </a:solidFill>
            <a:prstDash val="solid"/>
          </a:ln>
        </p:spPr>
        <p:txBody>
          <a:bodyPr/>
          <a:lstStyle/>
          <a:p>
            <a:endParaRPr lang="es-CL"/>
          </a:p>
        </p:txBody>
      </p:sp>
      <p:sp>
        <p:nvSpPr>
          <p:cNvPr id="15" name="Shape 13"/>
          <p:cNvSpPr/>
          <p:nvPr/>
        </p:nvSpPr>
        <p:spPr>
          <a:xfrm>
            <a:off x="8357616" y="1993392"/>
            <a:ext cx="420624" cy="420624"/>
          </a:xfrm>
          <a:prstGeom prst="ellipse">
            <a:avLst/>
          </a:prstGeom>
          <a:solidFill>
            <a:srgbClr val="06304A"/>
          </a:solidFill>
          <a:ln/>
        </p:spPr>
        <p:txBody>
          <a:bodyPr/>
          <a:lstStyle/>
          <a:p>
            <a:endParaRPr lang="es-CL"/>
          </a:p>
        </p:txBody>
      </p:sp>
      <p:sp>
        <p:nvSpPr>
          <p:cNvPr id="16" name="Text 14"/>
          <p:cNvSpPr/>
          <p:nvPr/>
        </p:nvSpPr>
        <p:spPr>
          <a:xfrm>
            <a:off x="8357616" y="199339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8924544" y="1975104"/>
            <a:ext cx="2468880" cy="45720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Registrar</a:t>
            </a:r>
            <a:endParaRPr lang="en-US" sz="1500" dirty="0"/>
          </a:p>
        </p:txBody>
      </p:sp>
      <p:sp>
        <p:nvSpPr>
          <p:cNvPr id="18" name="Text 16"/>
          <p:cNvSpPr/>
          <p:nvPr/>
        </p:nvSpPr>
        <p:spPr>
          <a:xfrm>
            <a:off x="8357616" y="2542032"/>
            <a:ext cx="3017520" cy="86868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Exportar la bitácora de decisiones y los metadatos del proyecto.</a:t>
            </a:r>
            <a:endParaRPr lang="en-US" sz="1200" dirty="0"/>
          </a:p>
        </p:txBody>
      </p:sp>
      <p:sp>
        <p:nvSpPr>
          <p:cNvPr id="19" name="Shape 17"/>
          <p:cNvSpPr/>
          <p:nvPr/>
        </p:nvSpPr>
        <p:spPr>
          <a:xfrm>
            <a:off x="548640" y="3703320"/>
            <a:ext cx="11064240" cy="2240280"/>
          </a:xfrm>
          <a:prstGeom prst="roundRect">
            <a:avLst>
              <a:gd name="adj" fmla="val 3673"/>
            </a:avLst>
          </a:prstGeom>
          <a:solidFill>
            <a:srgbClr val="F6E7E9"/>
          </a:solidFill>
          <a:ln w="12700">
            <a:solidFill>
              <a:srgbClr val="F6E7E9"/>
            </a:solidFill>
            <a:prstDash val="solid"/>
          </a:ln>
        </p:spPr>
        <p:txBody>
          <a:bodyPr/>
          <a:lstStyle/>
          <a:p>
            <a:endParaRPr lang="es-CL"/>
          </a:p>
        </p:txBody>
      </p:sp>
      <p:sp>
        <p:nvSpPr>
          <p:cNvPr id="20" name="Text 18"/>
          <p:cNvSpPr/>
          <p:nvPr/>
        </p:nvSpPr>
        <p:spPr>
          <a:xfrm>
            <a:off x="868680" y="3858768"/>
            <a:ext cx="6400800" cy="347472"/>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La bitácora: el atajo para escribir el informe</a:t>
            </a:r>
            <a:endParaRPr lang="en-US" sz="1500" dirty="0"/>
          </a:p>
        </p:txBody>
      </p:sp>
      <p:sp>
        <p:nvSpPr>
          <p:cNvPr id="21" name="Text 19"/>
          <p:cNvSpPr/>
          <p:nvPr/>
        </p:nvSpPr>
        <p:spPr>
          <a:xfrm>
            <a:off x="868680" y="4224528"/>
            <a:ext cx="10424160" cy="548640"/>
          </a:xfrm>
          <a:prstGeom prst="rect">
            <a:avLst/>
          </a:prstGeom>
          <a:noFill/>
          <a:ln/>
        </p:spPr>
        <p:txBody>
          <a:bodyPr wrap="square" lIns="0" tIns="0" rIns="0" bIns="0" rtlCol="0" anchor="ctr"/>
          <a:lstStyle/>
          <a:p>
            <a:pPr marL="0" indent="0">
              <a:lnSpc>
                <a:spcPts val="1800"/>
              </a:lnSpc>
              <a:buNone/>
            </a:pPr>
            <a:r>
              <a:rPr lang="en-US" sz="1300" dirty="0">
                <a:solidFill>
                  <a:srgbClr val="06304A"/>
                </a:solidFill>
                <a:latin typeface="Calibri" pitchFamily="34" charset="0"/>
                <a:ea typeface="Calibri" pitchFamily="34" charset="-122"/>
                <a:cs typeface="Calibri" pitchFamily="34" charset="-120"/>
              </a:rPr>
              <a:t>Una función que anota cada decisión mientras ocurre, con sus cifras. Al escribir el informe ya no hay que reconstruir de memoria cuántos nulos imputaron ni con qué valor.</a:t>
            </a:r>
            <a:endParaRPr lang="en-US" sz="1300" dirty="0"/>
          </a:p>
        </p:txBody>
      </p:sp>
      <p:sp>
        <p:nvSpPr>
          <p:cNvPr id="22" name="Shape 20"/>
          <p:cNvSpPr/>
          <p:nvPr/>
        </p:nvSpPr>
        <p:spPr>
          <a:xfrm>
            <a:off x="868680" y="4800600"/>
            <a:ext cx="10424160" cy="914400"/>
          </a:xfrm>
          <a:prstGeom prst="roundRect">
            <a:avLst>
              <a:gd name="adj" fmla="val 6000"/>
            </a:avLst>
          </a:prstGeom>
          <a:solidFill>
            <a:srgbClr val="FFFFFF"/>
          </a:solidFill>
          <a:ln w="12700">
            <a:solidFill>
              <a:srgbClr val="FFFFFF"/>
            </a:solidFill>
            <a:prstDash val="solid"/>
          </a:ln>
        </p:spPr>
        <p:txBody>
          <a:bodyPr/>
          <a:lstStyle/>
          <a:p>
            <a:endParaRPr lang="es-CL"/>
          </a:p>
        </p:txBody>
      </p:sp>
      <p:sp>
        <p:nvSpPr>
          <p:cNvPr id="23" name="Text 21"/>
          <p:cNvSpPr/>
          <p:nvPr/>
        </p:nvSpPr>
        <p:spPr>
          <a:xfrm>
            <a:off x="1097280" y="4892040"/>
            <a:ext cx="9966960" cy="731520"/>
          </a:xfrm>
          <a:prstGeom prst="rect">
            <a:avLst/>
          </a:prstGeom>
          <a:noFill/>
          <a:ln/>
        </p:spPr>
        <p:txBody>
          <a:bodyPr wrap="square" lIns="0" tIns="0" rIns="0" bIns="0" rtlCol="0" anchor="ctr"/>
          <a:lstStyle/>
          <a:p>
            <a:pPr marL="0" indent="0">
              <a:lnSpc>
                <a:spcPts val="1600"/>
              </a:lnSpc>
              <a:buNone/>
            </a:pPr>
            <a:r>
              <a:rPr lang="en-US" sz="1100" dirty="0">
                <a:solidFill>
                  <a:srgbClr val="06304A"/>
                </a:solidFill>
                <a:latin typeface="Courier New" pitchFamily="34" charset="0"/>
                <a:ea typeface="Courier New" pitchFamily="34" charset="-122"/>
                <a:cs typeface="Courier New" pitchFamily="34" charset="-120"/>
              </a:rPr>
              <a:t>[F2 · limpieza] 'bmi': 201 nulos (3.9%) imputados con la mediana = 28.10;</a:t>
            </a:r>
            <a:endParaRPr lang="en-US" sz="1100" dirty="0"/>
          </a:p>
          <a:p>
            <a:pPr marL="0" indent="0">
              <a:lnSpc>
                <a:spcPts val="1600"/>
              </a:lnSpc>
              <a:buNone/>
            </a:pPr>
            <a:r>
              <a:rPr lang="en-US" sz="1100" dirty="0">
                <a:solidFill>
                  <a:srgbClr val="06304A"/>
                </a:solidFill>
                <a:latin typeface="Courier New" pitchFamily="34" charset="0"/>
                <a:ea typeface="Courier New" pitchFamily="34" charset="-122"/>
                <a:cs typeface="Courier New" pitchFamily="34" charset="-120"/>
              </a:rPr>
              <a:t>                desviación estándar -1.98%</a:t>
            </a:r>
            <a:endParaRPr lang="en-US" sz="11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Paso 12 · El informe técnico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21 puntos que no dependen del código. Se escribe con lo que el notebook ya produjo.</a:t>
            </a:r>
            <a:endParaRPr lang="en-US" sz="1400" dirty="0"/>
          </a:p>
        </p:txBody>
      </p:sp>
      <p:graphicFrame>
        <p:nvGraphicFramePr>
          <p:cNvPr id="15" name="Table 0"/>
          <p:cNvGraphicFramePr>
            <a:graphicFrameLocks noGrp="1"/>
          </p:cNvGraphicFramePr>
          <p:nvPr/>
        </p:nvGraphicFramePr>
        <p:xfrm>
          <a:off x="548640" y="1719072"/>
          <a:ext cx="11064240" cy="3328416"/>
        </p:xfrm>
        <a:graphic>
          <a:graphicData uri="http://schemas.openxmlformats.org/drawingml/2006/table">
            <a:tbl>
              <a:tblPr/>
              <a:tblGrid>
                <a:gridCol w="3017520">
                  <a:extLst>
                    <a:ext uri="{9D8B030D-6E8A-4147-A177-3AD203B41FA5}">
                      <a16:colId xmlns:a16="http://schemas.microsoft.com/office/drawing/2014/main" val="20000"/>
                    </a:ext>
                  </a:extLst>
                </a:gridCol>
                <a:gridCol w="62179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7548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Sección del informe</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Qué debe contener</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Criterio</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extLst>
                  <a:ext uri="{0D108BD9-81ED-4DB2-BD59-A6C34878D82A}">
                    <a16:rowId xmlns:a16="http://schemas.microsoft.com/office/drawing/2014/main" val="10000"/>
                  </a:ext>
                </a:extLst>
              </a:tr>
              <a:tr h="475488">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Portada e índice</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Formato institucional, datos completos, índice actualizado</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1 · 3 pts</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Introducción y contexto</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Situación que origina la necesidad y relevancia del problema</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2 · 6 pts</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Problemática y objetivos</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Pregunta técnica, objetivo general y específicos, alcance y supuestos</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3 · 6 pts</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Metodología y decisiones</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Cada decisión del pipeline justificada con las cifras de la bitácora</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7 · 6 pts</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Vinculación con el mapa</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Qué del mapa se implementó y qué queda proyectado</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14 · 6 pts</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Bibliografía</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Mínimo 5 fuentes en APA 7, incluida la del conjunto de datos</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15 · 6 pts</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Shape 2"/>
          <p:cNvSpPr/>
          <p:nvPr/>
        </p:nvSpPr>
        <p:spPr>
          <a:xfrm>
            <a:off x="548640" y="5138928"/>
            <a:ext cx="11064240" cy="713232"/>
          </a:xfrm>
          <a:prstGeom prst="roundRect">
            <a:avLst>
              <a:gd name="adj" fmla="val 11538"/>
            </a:avLst>
          </a:prstGeom>
          <a:solidFill>
            <a:srgbClr val="0A1526"/>
          </a:solidFill>
          <a:ln w="12700">
            <a:solidFill>
              <a:srgbClr val="0A1526"/>
            </a:solidFill>
            <a:prstDash val="solid"/>
          </a:ln>
        </p:spPr>
        <p:txBody>
          <a:bodyPr/>
          <a:lstStyle/>
          <a:p>
            <a:endParaRPr lang="es-CL"/>
          </a:p>
        </p:txBody>
      </p:sp>
      <p:sp>
        <p:nvSpPr>
          <p:cNvPr id="6" name="Text 3"/>
          <p:cNvSpPr/>
          <p:nvPr/>
        </p:nvSpPr>
        <p:spPr>
          <a:xfrm>
            <a:off x="868680" y="5138928"/>
            <a:ext cx="10424160" cy="713232"/>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El informe y el notebook no pueden contradecirse: misma problemática, mismos objetivos, mismas cifras.</a:t>
            </a:r>
            <a:endParaRPr lang="en-US" sz="13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Los commits también se evalúan</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12 puntos entre control de versiones y repositorio. Se construyen durante las tres semanas, no al final.</a:t>
            </a:r>
            <a:endParaRPr lang="en-US" sz="1400" dirty="0"/>
          </a:p>
        </p:txBody>
      </p:sp>
      <p:sp>
        <p:nvSpPr>
          <p:cNvPr id="4" name="Shape 2"/>
          <p:cNvSpPr/>
          <p:nvPr/>
        </p:nvSpPr>
        <p:spPr>
          <a:xfrm>
            <a:off x="548640" y="1783080"/>
            <a:ext cx="5394960" cy="2377440"/>
          </a:xfrm>
          <a:prstGeom prst="roundRect">
            <a:avLst>
              <a:gd name="adj" fmla="val 3462"/>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68680" y="1938528"/>
            <a:ext cx="4754880" cy="347472"/>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Qué mira el evaluador</a:t>
            </a:r>
            <a:endParaRPr lang="en-US" sz="1500" dirty="0"/>
          </a:p>
        </p:txBody>
      </p:sp>
      <p:sp>
        <p:nvSpPr>
          <p:cNvPr id="6" name="Shape 4"/>
          <p:cNvSpPr/>
          <p:nvPr/>
        </p:nvSpPr>
        <p:spPr>
          <a:xfrm>
            <a:off x="896112" y="2478024"/>
            <a:ext cx="182880" cy="182880"/>
          </a:xfrm>
          <a:prstGeom prst="ellipse">
            <a:avLst/>
          </a:prstGeom>
          <a:solidFill>
            <a:srgbClr val="AC212E"/>
          </a:solidFill>
          <a:ln/>
        </p:spPr>
        <p:txBody>
          <a:bodyPr/>
          <a:lstStyle/>
          <a:p>
            <a:endParaRPr lang="es-CL"/>
          </a:p>
        </p:txBody>
      </p:sp>
      <p:sp>
        <p:nvSpPr>
          <p:cNvPr id="7" name="Text 5"/>
          <p:cNvSpPr/>
          <p:nvPr/>
        </p:nvSpPr>
        <p:spPr>
          <a:xfrm>
            <a:off x="1207008" y="2377440"/>
            <a:ext cx="4480560" cy="384048"/>
          </a:xfrm>
          <a:prstGeom prst="rect">
            <a:avLst/>
          </a:prstGeom>
          <a:noFill/>
          <a:ln/>
        </p:spPr>
        <p:txBody>
          <a:bodyPr wrap="square" lIns="0" tIns="0" rIns="0" bIns="0" rtlCol="0" anchor="ctr"/>
          <a:lstStyle/>
          <a:p>
            <a:pPr marL="0" indent="0">
              <a:buNone/>
            </a:pPr>
            <a:r>
              <a:rPr lang="en-US" sz="1250" dirty="0">
                <a:solidFill>
                  <a:srgbClr val="06304A"/>
                </a:solidFill>
                <a:latin typeface="Calibri" pitchFamily="34" charset="0"/>
                <a:ea typeface="Calibri" pitchFamily="34" charset="-122"/>
                <a:cs typeface="Calibri" pitchFamily="34" charset="-120"/>
              </a:rPr>
              <a:t>Que haya commits de cada integrante</a:t>
            </a:r>
            <a:endParaRPr lang="en-US" sz="1250" dirty="0"/>
          </a:p>
        </p:txBody>
      </p:sp>
      <p:sp>
        <p:nvSpPr>
          <p:cNvPr id="8" name="Shape 6"/>
          <p:cNvSpPr/>
          <p:nvPr/>
        </p:nvSpPr>
        <p:spPr>
          <a:xfrm>
            <a:off x="896112" y="2880360"/>
            <a:ext cx="182880" cy="182880"/>
          </a:xfrm>
          <a:prstGeom prst="ellipse">
            <a:avLst/>
          </a:prstGeom>
          <a:solidFill>
            <a:srgbClr val="AC212E"/>
          </a:solidFill>
          <a:ln/>
        </p:spPr>
        <p:txBody>
          <a:bodyPr/>
          <a:lstStyle/>
          <a:p>
            <a:endParaRPr lang="es-CL"/>
          </a:p>
        </p:txBody>
      </p:sp>
      <p:sp>
        <p:nvSpPr>
          <p:cNvPr id="9" name="Text 7"/>
          <p:cNvSpPr/>
          <p:nvPr/>
        </p:nvSpPr>
        <p:spPr>
          <a:xfrm>
            <a:off x="1207008" y="2779776"/>
            <a:ext cx="4480560" cy="384048"/>
          </a:xfrm>
          <a:prstGeom prst="rect">
            <a:avLst/>
          </a:prstGeom>
          <a:noFill/>
          <a:ln/>
        </p:spPr>
        <p:txBody>
          <a:bodyPr wrap="square" lIns="0" tIns="0" rIns="0" bIns="0" rtlCol="0" anchor="ctr"/>
          <a:lstStyle/>
          <a:p>
            <a:pPr marL="0" indent="0">
              <a:buNone/>
            </a:pPr>
            <a:r>
              <a:rPr lang="en-US" sz="1250" dirty="0">
                <a:solidFill>
                  <a:srgbClr val="06304A"/>
                </a:solidFill>
                <a:latin typeface="Calibri" pitchFamily="34" charset="0"/>
                <a:ea typeface="Calibri" pitchFamily="34" charset="-122"/>
                <a:cs typeface="Calibri" pitchFamily="34" charset="-120"/>
              </a:rPr>
              <a:t>Que los mensajes describan el cambio</a:t>
            </a:r>
            <a:endParaRPr lang="en-US" sz="1250" dirty="0"/>
          </a:p>
        </p:txBody>
      </p:sp>
      <p:sp>
        <p:nvSpPr>
          <p:cNvPr id="10" name="Shape 8"/>
          <p:cNvSpPr/>
          <p:nvPr/>
        </p:nvSpPr>
        <p:spPr>
          <a:xfrm>
            <a:off x="896112" y="3282696"/>
            <a:ext cx="182880" cy="182880"/>
          </a:xfrm>
          <a:prstGeom prst="ellipse">
            <a:avLst/>
          </a:prstGeom>
          <a:solidFill>
            <a:srgbClr val="AC212E"/>
          </a:solidFill>
          <a:ln/>
        </p:spPr>
        <p:txBody>
          <a:bodyPr/>
          <a:lstStyle/>
          <a:p>
            <a:endParaRPr lang="es-CL"/>
          </a:p>
        </p:txBody>
      </p:sp>
      <p:sp>
        <p:nvSpPr>
          <p:cNvPr id="11" name="Text 9"/>
          <p:cNvSpPr/>
          <p:nvPr/>
        </p:nvSpPr>
        <p:spPr>
          <a:xfrm>
            <a:off x="1207008" y="3182112"/>
            <a:ext cx="4480560" cy="384048"/>
          </a:xfrm>
          <a:prstGeom prst="rect">
            <a:avLst/>
          </a:prstGeom>
          <a:noFill/>
          <a:ln/>
        </p:spPr>
        <p:txBody>
          <a:bodyPr wrap="square" lIns="0" tIns="0" rIns="0" bIns="0" rtlCol="0" anchor="ctr"/>
          <a:lstStyle/>
          <a:p>
            <a:pPr marL="0" indent="0">
              <a:buNone/>
            </a:pPr>
            <a:r>
              <a:rPr lang="en-US" sz="1250" dirty="0">
                <a:solidFill>
                  <a:srgbClr val="06304A"/>
                </a:solidFill>
                <a:latin typeface="Calibri" pitchFamily="34" charset="0"/>
                <a:ea typeface="Calibri" pitchFamily="34" charset="-122"/>
                <a:cs typeface="Calibri" pitchFamily="34" charset="-120"/>
              </a:rPr>
              <a:t>Que estén repartidos en el tiempo</a:t>
            </a:r>
            <a:endParaRPr lang="en-US" sz="1250" dirty="0"/>
          </a:p>
        </p:txBody>
      </p:sp>
      <p:sp>
        <p:nvSpPr>
          <p:cNvPr id="12" name="Shape 10"/>
          <p:cNvSpPr/>
          <p:nvPr/>
        </p:nvSpPr>
        <p:spPr>
          <a:xfrm>
            <a:off x="896112" y="3685032"/>
            <a:ext cx="182880" cy="182880"/>
          </a:xfrm>
          <a:prstGeom prst="ellipse">
            <a:avLst/>
          </a:prstGeom>
          <a:solidFill>
            <a:srgbClr val="AC212E"/>
          </a:solidFill>
          <a:ln/>
        </p:spPr>
        <p:txBody>
          <a:bodyPr/>
          <a:lstStyle/>
          <a:p>
            <a:endParaRPr lang="es-CL"/>
          </a:p>
        </p:txBody>
      </p:sp>
      <p:sp>
        <p:nvSpPr>
          <p:cNvPr id="13" name="Text 11"/>
          <p:cNvSpPr/>
          <p:nvPr/>
        </p:nvSpPr>
        <p:spPr>
          <a:xfrm>
            <a:off x="1207008" y="3584448"/>
            <a:ext cx="4480560" cy="384048"/>
          </a:xfrm>
          <a:prstGeom prst="rect">
            <a:avLst/>
          </a:prstGeom>
          <a:noFill/>
          <a:ln/>
        </p:spPr>
        <p:txBody>
          <a:bodyPr wrap="square" lIns="0" tIns="0" rIns="0" bIns="0" rtlCol="0" anchor="ctr"/>
          <a:lstStyle/>
          <a:p>
            <a:pPr marL="0" indent="0">
              <a:buNone/>
            </a:pPr>
            <a:r>
              <a:rPr lang="en-US" sz="1250" dirty="0">
                <a:solidFill>
                  <a:srgbClr val="06304A"/>
                </a:solidFill>
                <a:latin typeface="Calibri" pitchFamily="34" charset="0"/>
                <a:ea typeface="Calibri" pitchFamily="34" charset="-122"/>
                <a:cs typeface="Calibri" pitchFamily="34" charset="-120"/>
              </a:rPr>
              <a:t>Que exista uso de ramas cuando corresponde</a:t>
            </a:r>
            <a:endParaRPr lang="en-US" sz="1250" dirty="0"/>
          </a:p>
        </p:txBody>
      </p:sp>
      <p:sp>
        <p:nvSpPr>
          <p:cNvPr id="14" name="Shape 12"/>
          <p:cNvSpPr/>
          <p:nvPr/>
        </p:nvSpPr>
        <p:spPr>
          <a:xfrm>
            <a:off x="6217920" y="1783080"/>
            <a:ext cx="5394960" cy="2377440"/>
          </a:xfrm>
          <a:prstGeom prst="roundRect">
            <a:avLst>
              <a:gd name="adj" fmla="val 3462"/>
            </a:avLst>
          </a:prstGeom>
          <a:solidFill>
            <a:srgbClr val="0A1526"/>
          </a:solidFill>
          <a:ln w="12700">
            <a:solidFill>
              <a:srgbClr val="0A1526"/>
            </a:solidFill>
            <a:prstDash val="solid"/>
          </a:ln>
        </p:spPr>
        <p:txBody>
          <a:bodyPr/>
          <a:lstStyle/>
          <a:p>
            <a:endParaRPr lang="es-CL"/>
          </a:p>
        </p:txBody>
      </p:sp>
      <p:sp>
        <p:nvSpPr>
          <p:cNvPr id="15" name="Text 13"/>
          <p:cNvSpPr/>
          <p:nvPr/>
        </p:nvSpPr>
        <p:spPr>
          <a:xfrm>
            <a:off x="6537960" y="1938528"/>
            <a:ext cx="4754880" cy="347472"/>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Convención del curso</a:t>
            </a:r>
            <a:endParaRPr lang="en-US" sz="1500" dirty="0"/>
          </a:p>
        </p:txBody>
      </p:sp>
      <p:sp>
        <p:nvSpPr>
          <p:cNvPr id="16" name="Text 14"/>
          <p:cNvSpPr/>
          <p:nvPr/>
        </p:nvSpPr>
        <p:spPr>
          <a:xfrm>
            <a:off x="6537960" y="2377440"/>
            <a:ext cx="4754880" cy="1554480"/>
          </a:xfrm>
          <a:prstGeom prst="rect">
            <a:avLst/>
          </a:prstGeom>
          <a:noFill/>
          <a:ln/>
        </p:spPr>
        <p:txBody>
          <a:bodyPr wrap="square" lIns="0" tIns="0" rIns="0" bIns="0" rtlCol="0" anchor="ctr"/>
          <a:lstStyle/>
          <a:p>
            <a:pPr marL="0" indent="0">
              <a:lnSpc>
                <a:spcPts val="1600"/>
              </a:lnSpc>
              <a:buNone/>
            </a:pPr>
            <a:r>
              <a:rPr lang="en-US" sz="1050" dirty="0">
                <a:solidFill>
                  <a:srgbClr val="D7E3EE"/>
                </a:solidFill>
                <a:latin typeface="Courier New" pitchFamily="34" charset="0"/>
                <a:ea typeface="Courier New" pitchFamily="34" charset="-122"/>
                <a:cs typeface="Courier New" pitchFamily="34" charset="-120"/>
              </a:rPr>
              <a:t>docs: crea estructura inicial del proyecto</a:t>
            </a:r>
            <a:endParaRPr lang="en-US" sz="1050" dirty="0"/>
          </a:p>
          <a:p>
            <a:pPr marL="0" indent="0">
              <a:lnSpc>
                <a:spcPts val="1600"/>
              </a:lnSpc>
              <a:buNone/>
            </a:pPr>
            <a:r>
              <a:rPr lang="en-US" sz="1050" dirty="0">
                <a:solidFill>
                  <a:srgbClr val="D7E3EE"/>
                </a:solidFill>
                <a:latin typeface="Courier New" pitchFamily="34" charset="0"/>
                <a:ea typeface="Courier New" pitchFamily="34" charset="-122"/>
                <a:cs typeface="Courier New" pitchFamily="34" charset="-120"/>
              </a:rPr>
              <a:t>data: incorpora dataset base en raw</a:t>
            </a:r>
            <a:endParaRPr lang="en-US" sz="1050" dirty="0"/>
          </a:p>
          <a:p>
            <a:pPr marL="0" indent="0">
              <a:lnSpc>
                <a:spcPts val="1600"/>
              </a:lnSpc>
              <a:buNone/>
            </a:pPr>
            <a:r>
              <a:rPr lang="en-US" sz="1050" dirty="0">
                <a:solidFill>
                  <a:srgbClr val="D7E3EE"/>
                </a:solidFill>
                <a:latin typeface="Courier New" pitchFamily="34" charset="0"/>
                <a:ea typeface="Courier New" pitchFamily="34" charset="-122"/>
                <a:cs typeface="Courier New" pitchFamily="34" charset="-120"/>
              </a:rPr>
              <a:t>feat: implementa pipeline de limpieza</a:t>
            </a:r>
            <a:endParaRPr lang="en-US" sz="1050" dirty="0"/>
          </a:p>
          <a:p>
            <a:pPr marL="0" indent="0">
              <a:lnSpc>
                <a:spcPts val="1600"/>
              </a:lnSpc>
              <a:buNone/>
            </a:pPr>
            <a:r>
              <a:rPr lang="en-US" sz="1050" dirty="0">
                <a:solidFill>
                  <a:srgbClr val="D7E3EE"/>
                </a:solidFill>
                <a:latin typeface="Courier New" pitchFamily="34" charset="0"/>
                <a:ea typeface="Courier New" pitchFamily="34" charset="-122"/>
                <a:cs typeface="Courier New" pitchFamily="34" charset="-120"/>
              </a:rPr>
              <a:t>fix: corrige lectura de valores N/A</a:t>
            </a:r>
            <a:endParaRPr lang="en-US" sz="1050" dirty="0"/>
          </a:p>
          <a:p>
            <a:pPr marL="0" indent="0">
              <a:lnSpc>
                <a:spcPts val="1600"/>
              </a:lnSpc>
              <a:buNone/>
            </a:pPr>
            <a:r>
              <a:rPr lang="en-US" sz="1050" dirty="0">
                <a:solidFill>
                  <a:srgbClr val="D7E3EE"/>
                </a:solidFill>
                <a:latin typeface="Courier New" pitchFamily="34" charset="0"/>
                <a:ea typeface="Courier New" pitchFamily="34" charset="-122"/>
                <a:cs typeface="Courier New" pitchFamily="34" charset="-120"/>
              </a:rPr>
              <a:t>test: agrega pruebas de las funciones</a:t>
            </a:r>
            <a:endParaRPr lang="en-US" sz="1050" dirty="0"/>
          </a:p>
        </p:txBody>
      </p:sp>
      <p:sp>
        <p:nvSpPr>
          <p:cNvPr id="17" name="Shape 15"/>
          <p:cNvSpPr/>
          <p:nvPr/>
        </p:nvSpPr>
        <p:spPr>
          <a:xfrm>
            <a:off x="548640" y="4343400"/>
            <a:ext cx="11064240" cy="1600200"/>
          </a:xfrm>
          <a:prstGeom prst="roundRect">
            <a:avLst>
              <a:gd name="adj" fmla="val 5143"/>
            </a:avLst>
          </a:prstGeom>
          <a:solidFill>
            <a:srgbClr val="F6E7E9"/>
          </a:solidFill>
          <a:ln w="12700">
            <a:solidFill>
              <a:srgbClr val="F6E7E9"/>
            </a:solidFill>
            <a:prstDash val="solid"/>
          </a:ln>
        </p:spPr>
        <p:txBody>
          <a:bodyPr/>
          <a:lstStyle/>
          <a:p>
            <a:endParaRPr lang="es-CL"/>
          </a:p>
        </p:txBody>
      </p:sp>
      <p:sp>
        <p:nvSpPr>
          <p:cNvPr id="18" name="Text 16"/>
          <p:cNvSpPr/>
          <p:nvPr/>
        </p:nvSpPr>
        <p:spPr>
          <a:xfrm>
            <a:off x="868680" y="4498848"/>
            <a:ext cx="5486400" cy="347472"/>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El patrón que cuesta puntos</a:t>
            </a:r>
            <a:endParaRPr lang="en-US" sz="1500" dirty="0"/>
          </a:p>
        </p:txBody>
      </p:sp>
      <p:sp>
        <p:nvSpPr>
          <p:cNvPr id="19" name="Text 17"/>
          <p:cNvSpPr/>
          <p:nvPr/>
        </p:nvSpPr>
        <p:spPr>
          <a:xfrm>
            <a:off x="868680" y="4864608"/>
            <a:ext cx="10424160" cy="868680"/>
          </a:xfrm>
          <a:prstGeom prst="rect">
            <a:avLst/>
          </a:prstGeom>
          <a:noFill/>
          <a:ln/>
        </p:spPr>
        <p:txBody>
          <a:bodyPr wrap="square" lIns="0" tIns="0" rIns="0" bIns="0" rtlCol="0" anchor="ctr"/>
          <a:lstStyle/>
          <a:p>
            <a:pPr marL="0" indent="0">
              <a:lnSpc>
                <a:spcPts val="1900"/>
              </a:lnSpc>
              <a:buNone/>
            </a:pPr>
            <a:r>
              <a:rPr lang="en-US" sz="1350" dirty="0">
                <a:solidFill>
                  <a:srgbClr val="06304A"/>
                </a:solidFill>
                <a:latin typeface="Calibri" pitchFamily="34" charset="0"/>
                <a:ea typeface="Calibri" pitchFamily="34" charset="-122"/>
                <a:cs typeface="Calibri" pitchFamily="34" charset="-120"/>
              </a:rPr>
              <a:t>Una persona recibe los archivos por mensajería y los sube. El repositorio queda con un solo autor y un puñado de commits gigantes la noche anterior. Por completo que esté el contenido, ese historial no alcanza el nivel superior: la solución es que los cuatro clonen el repositorio en la primera semana.</a:t>
            </a:r>
            <a:endParaRPr lang="en-US" sz="13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Errores que cuestan puntos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Los seis más frecuentes, y la corrección de cada uno.</a:t>
            </a:r>
            <a:endParaRPr lang="en-US" sz="1400" dirty="0"/>
          </a:p>
        </p:txBody>
      </p:sp>
      <p:sp>
        <p:nvSpPr>
          <p:cNvPr id="4" name="Shape 2"/>
          <p:cNvSpPr/>
          <p:nvPr/>
        </p:nvSpPr>
        <p:spPr>
          <a:xfrm>
            <a:off x="548640" y="1783080"/>
            <a:ext cx="5303520" cy="1143000"/>
          </a:xfrm>
          <a:prstGeom prst="roundRect">
            <a:avLst>
              <a:gd name="adj" fmla="val 7200"/>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786384" y="2084832"/>
            <a:ext cx="384048" cy="384048"/>
          </a:xfrm>
          <a:prstGeom prst="ellipse">
            <a:avLst/>
          </a:prstGeom>
          <a:solidFill>
            <a:srgbClr val="AC212E"/>
          </a:solidFill>
          <a:ln/>
        </p:spPr>
        <p:txBody>
          <a:bodyPr/>
          <a:lstStyle/>
          <a:p>
            <a:endParaRPr lang="es-CL"/>
          </a:p>
        </p:txBody>
      </p:sp>
      <p:sp>
        <p:nvSpPr>
          <p:cNvPr id="6" name="Text 4"/>
          <p:cNvSpPr/>
          <p:nvPr/>
        </p:nvSpPr>
        <p:spPr>
          <a:xfrm>
            <a:off x="786384" y="2084832"/>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1325880" y="1901952"/>
            <a:ext cx="4389120" cy="347472"/>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Rutas absolutas en el código</a:t>
            </a:r>
            <a:endParaRPr lang="en-US" sz="1350" dirty="0"/>
          </a:p>
        </p:txBody>
      </p:sp>
      <p:sp>
        <p:nvSpPr>
          <p:cNvPr id="8" name="Text 6"/>
          <p:cNvSpPr/>
          <p:nvPr/>
        </p:nvSpPr>
        <p:spPr>
          <a:xfrm>
            <a:off x="1325880" y="2258568"/>
            <a:ext cx="4389120" cy="566928"/>
          </a:xfrm>
          <a:prstGeom prst="rect">
            <a:avLst/>
          </a:prstGeom>
          <a:noFill/>
          <a:ln/>
        </p:spPr>
        <p:txBody>
          <a:bodyPr wrap="square" lIns="0" tIns="0" rIns="0" bIns="0" rtlCol="0" anchor="t"/>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Usar rutas relativas desde la raíz del proyecto.</a:t>
            </a:r>
            <a:endParaRPr lang="en-US" sz="1200" dirty="0"/>
          </a:p>
        </p:txBody>
      </p:sp>
      <p:sp>
        <p:nvSpPr>
          <p:cNvPr id="9" name="Shape 7"/>
          <p:cNvSpPr/>
          <p:nvPr/>
        </p:nvSpPr>
        <p:spPr>
          <a:xfrm>
            <a:off x="6309360" y="1783080"/>
            <a:ext cx="5303520" cy="1143000"/>
          </a:xfrm>
          <a:prstGeom prst="roundRect">
            <a:avLst>
              <a:gd name="adj" fmla="val 7200"/>
            </a:avLst>
          </a:prstGeom>
          <a:solidFill>
            <a:srgbClr val="F4F7FA"/>
          </a:solidFill>
          <a:ln w="12700">
            <a:solidFill>
              <a:srgbClr val="F4F7FA"/>
            </a:solidFill>
            <a:prstDash val="solid"/>
          </a:ln>
        </p:spPr>
        <p:txBody>
          <a:bodyPr/>
          <a:lstStyle/>
          <a:p>
            <a:endParaRPr lang="es-CL"/>
          </a:p>
        </p:txBody>
      </p:sp>
      <p:sp>
        <p:nvSpPr>
          <p:cNvPr id="10" name="Shape 8"/>
          <p:cNvSpPr/>
          <p:nvPr/>
        </p:nvSpPr>
        <p:spPr>
          <a:xfrm>
            <a:off x="6547104" y="2084832"/>
            <a:ext cx="384048" cy="384048"/>
          </a:xfrm>
          <a:prstGeom prst="ellipse">
            <a:avLst/>
          </a:prstGeom>
          <a:solidFill>
            <a:srgbClr val="AC212E"/>
          </a:solidFill>
          <a:ln/>
        </p:spPr>
        <p:txBody>
          <a:bodyPr/>
          <a:lstStyle/>
          <a:p>
            <a:endParaRPr lang="es-CL"/>
          </a:p>
        </p:txBody>
      </p:sp>
      <p:sp>
        <p:nvSpPr>
          <p:cNvPr id="11" name="Text 9"/>
          <p:cNvSpPr/>
          <p:nvPr/>
        </p:nvSpPr>
        <p:spPr>
          <a:xfrm>
            <a:off x="6547104" y="2084832"/>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7086600" y="1901952"/>
            <a:ext cx="4389120" cy="347472"/>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El notebook no corre de principio a fin</a:t>
            </a:r>
            <a:endParaRPr lang="en-US" sz="1350" dirty="0"/>
          </a:p>
        </p:txBody>
      </p:sp>
      <p:sp>
        <p:nvSpPr>
          <p:cNvPr id="13" name="Text 11"/>
          <p:cNvSpPr/>
          <p:nvPr/>
        </p:nvSpPr>
        <p:spPr>
          <a:xfrm>
            <a:off x="7086600" y="2258568"/>
            <a:ext cx="4389120" cy="566928"/>
          </a:xfrm>
          <a:prstGeom prst="rect">
            <a:avLst/>
          </a:prstGeom>
          <a:noFill/>
          <a:ln/>
        </p:spPr>
        <p:txBody>
          <a:bodyPr wrap="square" lIns="0" tIns="0" rIns="0" bIns="0" rtlCol="0" anchor="t"/>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Restart Kernel and Run All Cells antes de entregar.</a:t>
            </a:r>
            <a:endParaRPr lang="en-US" sz="1200" dirty="0"/>
          </a:p>
        </p:txBody>
      </p:sp>
      <p:sp>
        <p:nvSpPr>
          <p:cNvPr id="14" name="Shape 12"/>
          <p:cNvSpPr/>
          <p:nvPr/>
        </p:nvSpPr>
        <p:spPr>
          <a:xfrm>
            <a:off x="548640" y="3108960"/>
            <a:ext cx="5303520" cy="1143000"/>
          </a:xfrm>
          <a:prstGeom prst="roundRect">
            <a:avLst>
              <a:gd name="adj" fmla="val 7200"/>
            </a:avLst>
          </a:prstGeom>
          <a:solidFill>
            <a:srgbClr val="F4F7FA"/>
          </a:solidFill>
          <a:ln w="12700">
            <a:solidFill>
              <a:srgbClr val="F4F7FA"/>
            </a:solidFill>
            <a:prstDash val="solid"/>
          </a:ln>
        </p:spPr>
        <p:txBody>
          <a:bodyPr/>
          <a:lstStyle/>
          <a:p>
            <a:endParaRPr lang="es-CL"/>
          </a:p>
        </p:txBody>
      </p:sp>
      <p:sp>
        <p:nvSpPr>
          <p:cNvPr id="15" name="Shape 13"/>
          <p:cNvSpPr/>
          <p:nvPr/>
        </p:nvSpPr>
        <p:spPr>
          <a:xfrm>
            <a:off x="786384" y="3410712"/>
            <a:ext cx="384048" cy="384048"/>
          </a:xfrm>
          <a:prstGeom prst="ellipse">
            <a:avLst/>
          </a:prstGeom>
          <a:solidFill>
            <a:srgbClr val="AC212E"/>
          </a:solidFill>
          <a:ln/>
        </p:spPr>
        <p:txBody>
          <a:bodyPr/>
          <a:lstStyle/>
          <a:p>
            <a:endParaRPr lang="es-CL"/>
          </a:p>
        </p:txBody>
      </p:sp>
      <p:sp>
        <p:nvSpPr>
          <p:cNvPr id="16" name="Text 14"/>
          <p:cNvSpPr/>
          <p:nvPr/>
        </p:nvSpPr>
        <p:spPr>
          <a:xfrm>
            <a:off x="786384" y="3410712"/>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1325880" y="3227832"/>
            <a:ext cx="4389120" cy="347472"/>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Afirmar sin evidencia</a:t>
            </a:r>
            <a:endParaRPr lang="en-US" sz="1350" dirty="0"/>
          </a:p>
        </p:txBody>
      </p:sp>
      <p:sp>
        <p:nvSpPr>
          <p:cNvPr id="18" name="Text 16"/>
          <p:cNvSpPr/>
          <p:nvPr/>
        </p:nvSpPr>
        <p:spPr>
          <a:xfrm>
            <a:off x="1325880" y="3584448"/>
            <a:ext cx="4389120" cy="566928"/>
          </a:xfrm>
          <a:prstGeom prst="rect">
            <a:avLst/>
          </a:prstGeom>
          <a:noFill/>
          <a:ln/>
        </p:spPr>
        <p:txBody>
          <a:bodyPr wrap="square" lIns="0" tIns="0" rIns="0" bIns="0" rtlCol="0" anchor="t"/>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Si dicen «hay valores extremos», la tabla debe mostrarlos.</a:t>
            </a:r>
            <a:endParaRPr lang="en-US" sz="1200" dirty="0"/>
          </a:p>
        </p:txBody>
      </p:sp>
      <p:sp>
        <p:nvSpPr>
          <p:cNvPr id="19" name="Shape 17"/>
          <p:cNvSpPr/>
          <p:nvPr/>
        </p:nvSpPr>
        <p:spPr>
          <a:xfrm>
            <a:off x="6309360" y="3108960"/>
            <a:ext cx="5303520" cy="1143000"/>
          </a:xfrm>
          <a:prstGeom prst="roundRect">
            <a:avLst>
              <a:gd name="adj" fmla="val 7200"/>
            </a:avLst>
          </a:prstGeom>
          <a:solidFill>
            <a:srgbClr val="F4F7FA"/>
          </a:solidFill>
          <a:ln w="12700">
            <a:solidFill>
              <a:srgbClr val="F4F7FA"/>
            </a:solidFill>
            <a:prstDash val="solid"/>
          </a:ln>
        </p:spPr>
        <p:txBody>
          <a:bodyPr/>
          <a:lstStyle/>
          <a:p>
            <a:endParaRPr lang="es-CL"/>
          </a:p>
        </p:txBody>
      </p:sp>
      <p:sp>
        <p:nvSpPr>
          <p:cNvPr id="20" name="Shape 18"/>
          <p:cNvSpPr/>
          <p:nvPr/>
        </p:nvSpPr>
        <p:spPr>
          <a:xfrm>
            <a:off x="6547104" y="3410712"/>
            <a:ext cx="384048" cy="384048"/>
          </a:xfrm>
          <a:prstGeom prst="ellipse">
            <a:avLst/>
          </a:prstGeom>
          <a:solidFill>
            <a:srgbClr val="AC212E"/>
          </a:solidFill>
          <a:ln/>
        </p:spPr>
        <p:txBody>
          <a:bodyPr/>
          <a:lstStyle/>
          <a:p>
            <a:endParaRPr lang="es-CL"/>
          </a:p>
        </p:txBody>
      </p:sp>
      <p:sp>
        <p:nvSpPr>
          <p:cNvPr id="21" name="Text 19"/>
          <p:cNvSpPr/>
          <p:nvPr/>
        </p:nvSpPr>
        <p:spPr>
          <a:xfrm>
            <a:off x="6547104" y="3410712"/>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7086600" y="3227832"/>
            <a:ext cx="4389120" cy="347472"/>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Mezclar Fase 1 y Fase 2</a:t>
            </a:r>
            <a:endParaRPr lang="en-US" sz="1350" dirty="0"/>
          </a:p>
        </p:txBody>
      </p:sp>
      <p:sp>
        <p:nvSpPr>
          <p:cNvPr id="23" name="Text 21"/>
          <p:cNvSpPr/>
          <p:nvPr/>
        </p:nvSpPr>
        <p:spPr>
          <a:xfrm>
            <a:off x="7086600" y="3584448"/>
            <a:ext cx="4389120" cy="566928"/>
          </a:xfrm>
          <a:prstGeom prst="rect">
            <a:avLst/>
          </a:prstGeom>
          <a:noFill/>
          <a:ln/>
        </p:spPr>
        <p:txBody>
          <a:bodyPr wrap="square" lIns="0" tIns="0" rIns="0" bIns="0" rtlCol="0" anchor="t"/>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La Fase 1 no limpia ni transforma: solo define y documenta.</a:t>
            </a:r>
            <a:endParaRPr lang="en-US" sz="1200" dirty="0"/>
          </a:p>
        </p:txBody>
      </p:sp>
      <p:sp>
        <p:nvSpPr>
          <p:cNvPr id="24" name="Shape 22"/>
          <p:cNvSpPr/>
          <p:nvPr/>
        </p:nvSpPr>
        <p:spPr>
          <a:xfrm>
            <a:off x="548640" y="4434840"/>
            <a:ext cx="5303520" cy="1143000"/>
          </a:xfrm>
          <a:prstGeom prst="roundRect">
            <a:avLst>
              <a:gd name="adj" fmla="val 7200"/>
            </a:avLst>
          </a:prstGeom>
          <a:solidFill>
            <a:srgbClr val="F4F7FA"/>
          </a:solidFill>
          <a:ln w="12700">
            <a:solidFill>
              <a:srgbClr val="F4F7FA"/>
            </a:solidFill>
            <a:prstDash val="solid"/>
          </a:ln>
        </p:spPr>
        <p:txBody>
          <a:bodyPr/>
          <a:lstStyle/>
          <a:p>
            <a:endParaRPr lang="es-CL"/>
          </a:p>
        </p:txBody>
      </p:sp>
      <p:sp>
        <p:nvSpPr>
          <p:cNvPr id="25" name="Shape 23"/>
          <p:cNvSpPr/>
          <p:nvPr/>
        </p:nvSpPr>
        <p:spPr>
          <a:xfrm>
            <a:off x="786384" y="4736592"/>
            <a:ext cx="384048" cy="384048"/>
          </a:xfrm>
          <a:prstGeom prst="ellipse">
            <a:avLst/>
          </a:prstGeom>
          <a:solidFill>
            <a:srgbClr val="AC212E"/>
          </a:solidFill>
          <a:ln/>
        </p:spPr>
        <p:txBody>
          <a:bodyPr/>
          <a:lstStyle/>
          <a:p>
            <a:endParaRPr lang="es-CL"/>
          </a:p>
        </p:txBody>
      </p:sp>
      <p:sp>
        <p:nvSpPr>
          <p:cNvPr id="26" name="Text 24"/>
          <p:cNvSpPr/>
          <p:nvPr/>
        </p:nvSpPr>
        <p:spPr>
          <a:xfrm>
            <a:off x="786384" y="4736592"/>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7" name="Text 25"/>
          <p:cNvSpPr/>
          <p:nvPr/>
        </p:nvSpPr>
        <p:spPr>
          <a:xfrm>
            <a:off x="1325880" y="4553712"/>
            <a:ext cx="4389120" cy="347472"/>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Repositorio con un solo autor</a:t>
            </a:r>
            <a:endParaRPr lang="en-US" sz="1350" dirty="0"/>
          </a:p>
        </p:txBody>
      </p:sp>
      <p:sp>
        <p:nvSpPr>
          <p:cNvPr id="28" name="Text 26"/>
          <p:cNvSpPr/>
          <p:nvPr/>
        </p:nvSpPr>
        <p:spPr>
          <a:xfrm>
            <a:off x="1325880" y="4910328"/>
            <a:ext cx="4389120" cy="566928"/>
          </a:xfrm>
          <a:prstGeom prst="rect">
            <a:avLst/>
          </a:prstGeom>
          <a:noFill/>
          <a:ln/>
        </p:spPr>
        <p:txBody>
          <a:bodyPr wrap="square" lIns="0" tIns="0" rIns="0" bIns="0" rtlCol="0" anchor="t"/>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Los cuatro clonan y commitean desde la primera semana.</a:t>
            </a:r>
            <a:endParaRPr lang="en-US" sz="1200" dirty="0"/>
          </a:p>
        </p:txBody>
      </p:sp>
      <p:sp>
        <p:nvSpPr>
          <p:cNvPr id="29" name="Shape 27"/>
          <p:cNvSpPr/>
          <p:nvPr/>
        </p:nvSpPr>
        <p:spPr>
          <a:xfrm>
            <a:off x="6309360" y="4434840"/>
            <a:ext cx="5303520" cy="1143000"/>
          </a:xfrm>
          <a:prstGeom prst="roundRect">
            <a:avLst>
              <a:gd name="adj" fmla="val 7200"/>
            </a:avLst>
          </a:prstGeom>
          <a:solidFill>
            <a:srgbClr val="F4F7FA"/>
          </a:solidFill>
          <a:ln w="12700">
            <a:solidFill>
              <a:srgbClr val="F4F7FA"/>
            </a:solidFill>
            <a:prstDash val="solid"/>
          </a:ln>
        </p:spPr>
        <p:txBody>
          <a:bodyPr/>
          <a:lstStyle/>
          <a:p>
            <a:endParaRPr lang="es-CL"/>
          </a:p>
        </p:txBody>
      </p:sp>
      <p:sp>
        <p:nvSpPr>
          <p:cNvPr id="30" name="Shape 28"/>
          <p:cNvSpPr/>
          <p:nvPr/>
        </p:nvSpPr>
        <p:spPr>
          <a:xfrm>
            <a:off x="6547104" y="4736592"/>
            <a:ext cx="384048" cy="384048"/>
          </a:xfrm>
          <a:prstGeom prst="ellipse">
            <a:avLst/>
          </a:prstGeom>
          <a:solidFill>
            <a:srgbClr val="AC212E"/>
          </a:solidFill>
          <a:ln/>
        </p:spPr>
        <p:txBody>
          <a:bodyPr/>
          <a:lstStyle/>
          <a:p>
            <a:endParaRPr lang="es-CL"/>
          </a:p>
        </p:txBody>
      </p:sp>
      <p:sp>
        <p:nvSpPr>
          <p:cNvPr id="31" name="Text 29"/>
          <p:cNvSpPr/>
          <p:nvPr/>
        </p:nvSpPr>
        <p:spPr>
          <a:xfrm>
            <a:off x="6547104" y="4736592"/>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2" name="Text 30"/>
          <p:cNvSpPr/>
          <p:nvPr/>
        </p:nvSpPr>
        <p:spPr>
          <a:xfrm>
            <a:off x="7086600" y="4553712"/>
            <a:ext cx="4389120" cy="347472"/>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Informe escrito la última noche</a:t>
            </a:r>
            <a:endParaRPr lang="en-US" sz="1350" dirty="0"/>
          </a:p>
        </p:txBody>
      </p:sp>
      <p:sp>
        <p:nvSpPr>
          <p:cNvPr id="33" name="Text 31"/>
          <p:cNvSpPr/>
          <p:nvPr/>
        </p:nvSpPr>
        <p:spPr>
          <a:xfrm>
            <a:off x="7086600" y="4910328"/>
            <a:ext cx="4389120" cy="566928"/>
          </a:xfrm>
          <a:prstGeom prst="rect">
            <a:avLst/>
          </a:prstGeom>
          <a:noFill/>
          <a:ln/>
        </p:spPr>
        <p:txBody>
          <a:bodyPr wrap="square" lIns="0" tIns="0" rIns="0" bIns="0" rtlCol="0" anchor="t"/>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Se redacta desde la bitácora, que ya tiene las cifras.</a:t>
            </a:r>
            <a:endParaRPr lang="en-US" sz="12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0A152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8000"/>
          </a:blip>
          <a:stretch>
            <a:fillRect/>
          </a:stretch>
        </p:blipFill>
        <p:spPr>
          <a:xfrm>
            <a:off x="0" y="2331720"/>
            <a:ext cx="5468112" cy="3200400"/>
          </a:xfrm>
          <a:prstGeom prst="rect">
            <a:avLst/>
          </a:prstGeom>
        </p:spPr>
      </p:pic>
      <p:sp>
        <p:nvSpPr>
          <p:cNvPr id="3" name="Shape 0"/>
          <p:cNvSpPr/>
          <p:nvPr/>
        </p:nvSpPr>
        <p:spPr>
          <a:xfrm>
            <a:off x="0" y="2331720"/>
            <a:ext cx="5468112" cy="3200400"/>
          </a:xfrm>
          <a:prstGeom prst="rect">
            <a:avLst/>
          </a:prstGeom>
          <a:solidFill>
            <a:srgbClr val="0A1526">
              <a:alpha val="45000"/>
            </a:srgbClr>
          </a:solidFill>
          <a:ln w="12700">
            <a:solidFill>
              <a:srgbClr val="0A1526">
                <a:alpha val="0"/>
              </a:srgbClr>
            </a:solidFill>
            <a:prstDash val="solid"/>
          </a:ln>
        </p:spPr>
        <p:txBody>
          <a:bodyPr/>
          <a:lstStyle/>
          <a:p>
            <a:endParaRPr lang="es-CL"/>
          </a:p>
        </p:txBody>
      </p:sp>
      <p:pic>
        <p:nvPicPr>
          <p:cNvPr id="4" name="Image 1" descr="preencoded.png"/>
          <p:cNvPicPr>
            <a:picLocks noChangeAspect="1"/>
          </p:cNvPicPr>
          <p:nvPr/>
        </p:nvPicPr>
        <p:blipFill>
          <a:blip r:embed="rId4"/>
          <a:stretch>
            <a:fillRect/>
          </a:stretch>
        </p:blipFill>
        <p:spPr>
          <a:xfrm>
            <a:off x="548640" y="502920"/>
            <a:ext cx="4297680" cy="804672"/>
          </a:xfrm>
          <a:prstGeom prst="rect">
            <a:avLst/>
          </a:prstGeom>
        </p:spPr>
      </p:pic>
      <p:sp>
        <p:nvSpPr>
          <p:cNvPr id="5" name="Text 1"/>
          <p:cNvSpPr/>
          <p:nvPr/>
        </p:nvSpPr>
        <p:spPr>
          <a:xfrm>
            <a:off x="548640" y="1691640"/>
            <a:ext cx="11064240" cy="5943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Antes de entregar</a:t>
            </a:r>
            <a:endParaRPr lang="en-US" sz="3200" dirty="0"/>
          </a:p>
        </p:txBody>
      </p:sp>
      <p:sp>
        <p:nvSpPr>
          <p:cNvPr id="6" name="Shape 2"/>
          <p:cNvSpPr/>
          <p:nvPr/>
        </p:nvSpPr>
        <p:spPr>
          <a:xfrm>
            <a:off x="6400800" y="2313432"/>
            <a:ext cx="219456" cy="219456"/>
          </a:xfrm>
          <a:prstGeom prst="ellipse">
            <a:avLst/>
          </a:prstGeom>
          <a:solidFill>
            <a:srgbClr val="AC212E"/>
          </a:solidFill>
          <a:ln/>
        </p:spPr>
        <p:txBody>
          <a:bodyPr/>
          <a:lstStyle/>
          <a:p>
            <a:endParaRPr lang="es-CL"/>
          </a:p>
        </p:txBody>
      </p:sp>
      <p:sp>
        <p:nvSpPr>
          <p:cNvPr id="7" name="Text 3"/>
          <p:cNvSpPr/>
          <p:nvPr/>
        </p:nvSpPr>
        <p:spPr>
          <a:xfrm>
            <a:off x="6812280" y="2240280"/>
            <a:ext cx="5212080" cy="365760"/>
          </a:xfrm>
          <a:prstGeom prst="rect">
            <a:avLst/>
          </a:prstGeom>
          <a:noFill/>
          <a:ln/>
        </p:spPr>
        <p:txBody>
          <a:bodyPr wrap="square" lIns="0" tIns="0" rIns="0" bIns="0" rtlCol="0" anchor="ctr"/>
          <a:lstStyle/>
          <a:p>
            <a:pPr marL="0" indent="0">
              <a:buNone/>
            </a:pPr>
            <a:r>
              <a:rPr lang="en-US" sz="1300" dirty="0">
                <a:solidFill>
                  <a:srgbClr val="D7E3EE"/>
                </a:solidFill>
                <a:latin typeface="Calibri" pitchFamily="34" charset="0"/>
                <a:ea typeface="Calibri" pitchFamily="34" charset="-122"/>
                <a:cs typeface="Calibri" pitchFamily="34" charset="-120"/>
              </a:rPr>
              <a:t>El notebook corre completo tras Restart &amp; Run All</a:t>
            </a:r>
            <a:endParaRPr lang="en-US" sz="1300" dirty="0"/>
          </a:p>
        </p:txBody>
      </p:sp>
      <p:sp>
        <p:nvSpPr>
          <p:cNvPr id="8" name="Shape 4"/>
          <p:cNvSpPr/>
          <p:nvPr/>
        </p:nvSpPr>
        <p:spPr>
          <a:xfrm>
            <a:off x="6400800" y="2843784"/>
            <a:ext cx="219456" cy="219456"/>
          </a:xfrm>
          <a:prstGeom prst="ellipse">
            <a:avLst/>
          </a:prstGeom>
          <a:solidFill>
            <a:srgbClr val="AC212E"/>
          </a:solidFill>
          <a:ln/>
        </p:spPr>
        <p:txBody>
          <a:bodyPr/>
          <a:lstStyle/>
          <a:p>
            <a:endParaRPr lang="es-CL"/>
          </a:p>
        </p:txBody>
      </p:sp>
      <p:sp>
        <p:nvSpPr>
          <p:cNvPr id="9" name="Text 5"/>
          <p:cNvSpPr/>
          <p:nvPr/>
        </p:nvSpPr>
        <p:spPr>
          <a:xfrm>
            <a:off x="6812280" y="2770632"/>
            <a:ext cx="5212080" cy="365760"/>
          </a:xfrm>
          <a:prstGeom prst="rect">
            <a:avLst/>
          </a:prstGeom>
          <a:noFill/>
          <a:ln/>
        </p:spPr>
        <p:txBody>
          <a:bodyPr wrap="square" lIns="0" tIns="0" rIns="0" bIns="0" rtlCol="0" anchor="ctr"/>
          <a:lstStyle/>
          <a:p>
            <a:pPr marL="0" indent="0">
              <a:buNone/>
            </a:pPr>
            <a:r>
              <a:rPr lang="en-US" sz="1300" dirty="0">
                <a:solidFill>
                  <a:srgbClr val="D7E3EE"/>
                </a:solidFill>
                <a:latin typeface="Calibri" pitchFamily="34" charset="0"/>
                <a:ea typeface="Calibri" pitchFamily="34" charset="-122"/>
                <a:cs typeface="Calibri" pitchFamily="34" charset="-120"/>
              </a:rPr>
              <a:t>Las dos fases están claramente delimitadas</a:t>
            </a:r>
            <a:endParaRPr lang="en-US" sz="1300" dirty="0"/>
          </a:p>
        </p:txBody>
      </p:sp>
      <p:sp>
        <p:nvSpPr>
          <p:cNvPr id="10" name="Shape 6"/>
          <p:cNvSpPr/>
          <p:nvPr/>
        </p:nvSpPr>
        <p:spPr>
          <a:xfrm>
            <a:off x="6400800" y="3374136"/>
            <a:ext cx="219456" cy="219456"/>
          </a:xfrm>
          <a:prstGeom prst="ellipse">
            <a:avLst/>
          </a:prstGeom>
          <a:solidFill>
            <a:srgbClr val="AC212E"/>
          </a:solidFill>
          <a:ln/>
        </p:spPr>
        <p:txBody>
          <a:bodyPr/>
          <a:lstStyle/>
          <a:p>
            <a:endParaRPr lang="es-CL"/>
          </a:p>
        </p:txBody>
      </p:sp>
      <p:sp>
        <p:nvSpPr>
          <p:cNvPr id="11" name="Text 7"/>
          <p:cNvSpPr/>
          <p:nvPr/>
        </p:nvSpPr>
        <p:spPr>
          <a:xfrm>
            <a:off x="6812280" y="3300984"/>
            <a:ext cx="5212080" cy="365760"/>
          </a:xfrm>
          <a:prstGeom prst="rect">
            <a:avLst/>
          </a:prstGeom>
          <a:noFill/>
          <a:ln/>
        </p:spPr>
        <p:txBody>
          <a:bodyPr wrap="square" lIns="0" tIns="0" rIns="0" bIns="0" rtlCol="0" anchor="ctr"/>
          <a:lstStyle/>
          <a:p>
            <a:pPr marL="0" indent="0">
              <a:buNone/>
            </a:pPr>
            <a:r>
              <a:rPr lang="en-US" sz="1300" dirty="0">
                <a:solidFill>
                  <a:srgbClr val="D7E3EE"/>
                </a:solidFill>
                <a:latin typeface="Calibri" pitchFamily="34" charset="0"/>
                <a:ea typeface="Calibri" pitchFamily="34" charset="-122"/>
                <a:cs typeface="Calibri" pitchFamily="34" charset="-120"/>
              </a:rPr>
              <a:t>Cada decisión se justifica con cifras del propio análisis</a:t>
            </a:r>
            <a:endParaRPr lang="en-US" sz="1300" dirty="0"/>
          </a:p>
        </p:txBody>
      </p:sp>
      <p:sp>
        <p:nvSpPr>
          <p:cNvPr id="12" name="Shape 8"/>
          <p:cNvSpPr/>
          <p:nvPr/>
        </p:nvSpPr>
        <p:spPr>
          <a:xfrm>
            <a:off x="6400800" y="3904488"/>
            <a:ext cx="219456" cy="219456"/>
          </a:xfrm>
          <a:prstGeom prst="ellipse">
            <a:avLst/>
          </a:prstGeom>
          <a:solidFill>
            <a:srgbClr val="AC212E"/>
          </a:solidFill>
          <a:ln/>
        </p:spPr>
        <p:txBody>
          <a:bodyPr/>
          <a:lstStyle/>
          <a:p>
            <a:endParaRPr lang="es-CL"/>
          </a:p>
        </p:txBody>
      </p:sp>
      <p:sp>
        <p:nvSpPr>
          <p:cNvPr id="13" name="Text 9"/>
          <p:cNvSpPr/>
          <p:nvPr/>
        </p:nvSpPr>
        <p:spPr>
          <a:xfrm>
            <a:off x="6812280" y="3831336"/>
            <a:ext cx="5212080" cy="365760"/>
          </a:xfrm>
          <a:prstGeom prst="rect">
            <a:avLst/>
          </a:prstGeom>
          <a:noFill/>
          <a:ln/>
        </p:spPr>
        <p:txBody>
          <a:bodyPr wrap="square" lIns="0" tIns="0" rIns="0" bIns="0" rtlCol="0" anchor="ctr"/>
          <a:lstStyle/>
          <a:p>
            <a:pPr marL="0" indent="0">
              <a:buNone/>
            </a:pPr>
            <a:r>
              <a:rPr lang="en-US" sz="1300" dirty="0">
                <a:solidFill>
                  <a:srgbClr val="D7E3EE"/>
                </a:solidFill>
                <a:latin typeface="Calibri" pitchFamily="34" charset="0"/>
                <a:ea typeface="Calibri" pitchFamily="34" charset="-122"/>
                <a:cs typeface="Calibri" pitchFamily="34" charset="-120"/>
              </a:rPr>
              <a:t>data/raw sin modificar · data/processed con el resultado</a:t>
            </a:r>
            <a:endParaRPr lang="en-US" sz="1300" dirty="0"/>
          </a:p>
        </p:txBody>
      </p:sp>
      <p:sp>
        <p:nvSpPr>
          <p:cNvPr id="14" name="Shape 10"/>
          <p:cNvSpPr/>
          <p:nvPr/>
        </p:nvSpPr>
        <p:spPr>
          <a:xfrm>
            <a:off x="6400800" y="4434840"/>
            <a:ext cx="219456" cy="219456"/>
          </a:xfrm>
          <a:prstGeom prst="ellipse">
            <a:avLst/>
          </a:prstGeom>
          <a:solidFill>
            <a:srgbClr val="AC212E"/>
          </a:solidFill>
          <a:ln/>
        </p:spPr>
        <p:txBody>
          <a:bodyPr/>
          <a:lstStyle/>
          <a:p>
            <a:endParaRPr lang="es-CL"/>
          </a:p>
        </p:txBody>
      </p:sp>
      <p:sp>
        <p:nvSpPr>
          <p:cNvPr id="15" name="Text 11"/>
          <p:cNvSpPr/>
          <p:nvPr/>
        </p:nvSpPr>
        <p:spPr>
          <a:xfrm>
            <a:off x="6812280" y="4361688"/>
            <a:ext cx="5212080" cy="365760"/>
          </a:xfrm>
          <a:prstGeom prst="rect">
            <a:avLst/>
          </a:prstGeom>
          <a:noFill/>
          <a:ln/>
        </p:spPr>
        <p:txBody>
          <a:bodyPr wrap="square" lIns="0" tIns="0" rIns="0" bIns="0" rtlCol="0" anchor="ctr"/>
          <a:lstStyle/>
          <a:p>
            <a:pPr marL="0" indent="0">
              <a:buNone/>
            </a:pPr>
            <a:r>
              <a:rPr lang="en-US" sz="1300" dirty="0">
                <a:solidFill>
                  <a:srgbClr val="D7E3EE"/>
                </a:solidFill>
                <a:latin typeface="Calibri" pitchFamily="34" charset="0"/>
                <a:ea typeface="Calibri" pitchFamily="34" charset="-122"/>
                <a:cs typeface="Calibri" pitchFamily="34" charset="-120"/>
              </a:rPr>
              <a:t>Commits de los cuatro integrantes, repartidos en el tiempo</a:t>
            </a:r>
            <a:endParaRPr lang="en-US" sz="1300" dirty="0"/>
          </a:p>
        </p:txBody>
      </p:sp>
      <p:sp>
        <p:nvSpPr>
          <p:cNvPr id="16" name="Shape 12"/>
          <p:cNvSpPr/>
          <p:nvPr/>
        </p:nvSpPr>
        <p:spPr>
          <a:xfrm>
            <a:off x="6400800" y="4965192"/>
            <a:ext cx="219456" cy="219456"/>
          </a:xfrm>
          <a:prstGeom prst="ellipse">
            <a:avLst/>
          </a:prstGeom>
          <a:solidFill>
            <a:srgbClr val="AC212E"/>
          </a:solidFill>
          <a:ln/>
        </p:spPr>
        <p:txBody>
          <a:bodyPr/>
          <a:lstStyle/>
          <a:p>
            <a:endParaRPr lang="es-CL"/>
          </a:p>
        </p:txBody>
      </p:sp>
      <p:sp>
        <p:nvSpPr>
          <p:cNvPr id="17" name="Text 13"/>
          <p:cNvSpPr/>
          <p:nvPr/>
        </p:nvSpPr>
        <p:spPr>
          <a:xfrm>
            <a:off x="6812280" y="4892040"/>
            <a:ext cx="5212080" cy="365760"/>
          </a:xfrm>
          <a:prstGeom prst="rect">
            <a:avLst/>
          </a:prstGeom>
          <a:noFill/>
          <a:ln/>
        </p:spPr>
        <p:txBody>
          <a:bodyPr wrap="square" lIns="0" tIns="0" rIns="0" bIns="0" rtlCol="0" anchor="ctr"/>
          <a:lstStyle/>
          <a:p>
            <a:pPr marL="0" indent="0">
              <a:buNone/>
            </a:pPr>
            <a:r>
              <a:rPr lang="en-US" sz="1300" dirty="0">
                <a:solidFill>
                  <a:srgbClr val="D7E3EE"/>
                </a:solidFill>
                <a:latin typeface="Calibri" pitchFamily="34" charset="0"/>
                <a:ea typeface="Calibri" pitchFamily="34" charset="-122"/>
                <a:cs typeface="Calibri" pitchFamily="34" charset="-120"/>
              </a:rPr>
              <a:t>El informe dice lo mismo que el notebook</a:t>
            </a:r>
            <a:endParaRPr lang="en-US" sz="1300" dirty="0"/>
          </a:p>
        </p:txBody>
      </p:sp>
      <p:sp>
        <p:nvSpPr>
          <p:cNvPr id="18" name="Shape 14"/>
          <p:cNvSpPr/>
          <p:nvPr/>
        </p:nvSpPr>
        <p:spPr>
          <a:xfrm>
            <a:off x="6400800" y="5495544"/>
            <a:ext cx="219456" cy="219456"/>
          </a:xfrm>
          <a:prstGeom prst="ellipse">
            <a:avLst/>
          </a:prstGeom>
          <a:solidFill>
            <a:srgbClr val="AC212E"/>
          </a:solidFill>
          <a:ln/>
        </p:spPr>
        <p:txBody>
          <a:bodyPr/>
          <a:lstStyle/>
          <a:p>
            <a:endParaRPr lang="es-CL"/>
          </a:p>
        </p:txBody>
      </p:sp>
      <p:sp>
        <p:nvSpPr>
          <p:cNvPr id="19" name="Text 15"/>
          <p:cNvSpPr/>
          <p:nvPr/>
        </p:nvSpPr>
        <p:spPr>
          <a:xfrm>
            <a:off x="6812280" y="5422392"/>
            <a:ext cx="5212080" cy="365760"/>
          </a:xfrm>
          <a:prstGeom prst="rect">
            <a:avLst/>
          </a:prstGeom>
          <a:noFill/>
          <a:ln/>
        </p:spPr>
        <p:txBody>
          <a:bodyPr wrap="square" lIns="0" tIns="0" rIns="0" bIns="0" rtlCol="0" anchor="ctr"/>
          <a:lstStyle/>
          <a:p>
            <a:pPr marL="0" indent="0">
              <a:buNone/>
            </a:pPr>
            <a:r>
              <a:rPr lang="en-US" sz="1300" dirty="0">
                <a:solidFill>
                  <a:srgbClr val="D7E3EE"/>
                </a:solidFill>
                <a:latin typeface="Calibri" pitchFamily="34" charset="0"/>
                <a:ea typeface="Calibri" pitchFamily="34" charset="-122"/>
                <a:cs typeface="Calibri" pitchFamily="34" charset="-120"/>
              </a:rPr>
              <a:t>El enlace al repositorio funciona desde otra sesión</a:t>
            </a:r>
            <a:endParaRPr lang="en-US" sz="1300" dirty="0"/>
          </a:p>
        </p:txBody>
      </p:sp>
      <p:sp>
        <p:nvSpPr>
          <p:cNvPr id="20" name="Text 16"/>
          <p:cNvSpPr/>
          <p:nvPr/>
        </p:nvSpPr>
        <p:spPr>
          <a:xfrm>
            <a:off x="6400800" y="6035040"/>
            <a:ext cx="5486400" cy="365760"/>
          </a:xfrm>
          <a:prstGeom prst="rect">
            <a:avLst/>
          </a:prstGeom>
          <a:noFill/>
          <a:ln/>
        </p:spPr>
        <p:txBody>
          <a:bodyPr wrap="square" lIns="0" tIns="0" rIns="0" bIns="0" rtlCol="0" anchor="ctr"/>
          <a:lstStyle/>
          <a:p>
            <a:pPr marL="0" indent="0">
              <a:buNone/>
            </a:pPr>
            <a:r>
              <a:rPr lang="en-US" sz="1200" dirty="0">
                <a:solidFill>
                  <a:srgbClr val="5A6B7B"/>
                </a:solidFill>
                <a:latin typeface="Calibri" pitchFamily="34" charset="0"/>
                <a:ea typeface="Calibri" pitchFamily="34" charset="-122"/>
                <a:cs typeface="Calibri" pitchFamily="34" charset="-120"/>
              </a:rPr>
              <a:t>Dudas de contenido: Foro de Consultas   |   Plataforma: Foro de Tutoría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TotalTime>
  <Words>15149</Words>
  <Application>Microsoft Macintosh PowerPoint</Application>
  <PresentationFormat>Panorámica</PresentationFormat>
  <Paragraphs>1800</Paragraphs>
  <Slides>92</Slides>
  <Notes>92</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92</vt:i4>
      </vt:variant>
    </vt:vector>
  </HeadingPairs>
  <TitlesOfParts>
    <vt:vector size="97"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Bienvenida - MCDI500</dc:title>
  <dc:subject>PptxGenJS Presentation</dc:subject>
  <dc:creator>MCDI500 - UNAB</dc:creator>
  <cp:lastModifiedBy>Omar Iván Salinas Silva</cp:lastModifiedBy>
  <cp:revision>4</cp:revision>
  <dcterms:created xsi:type="dcterms:W3CDTF">2026-08-30T20:38:49Z</dcterms:created>
  <dcterms:modified xsi:type="dcterms:W3CDTF">2026-08-30T22:46:13Z</dcterms:modified>
</cp:coreProperties>
</file>